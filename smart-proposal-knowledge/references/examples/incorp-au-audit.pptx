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74" r:id="rId4"/>
  </p:sldMasterIdLst>
  <p:notesMasterIdLst>
    <p:notesMasterId r:id="rId26"/>
  </p:notesMasterIdLst>
  <p:handoutMasterIdLst>
    <p:handoutMasterId r:id="rId27"/>
  </p:handoutMasterIdLst>
  <p:sldIdLst>
    <p:sldId id="368" r:id="rId5"/>
    <p:sldId id="369" r:id="rId6"/>
    <p:sldId id="330" r:id="rId7"/>
    <p:sldId id="317" r:id="rId8"/>
    <p:sldId id="376" r:id="rId9"/>
    <p:sldId id="370" r:id="rId10"/>
    <p:sldId id="372" r:id="rId12"/>
    <p:sldId id="366" r:id="rId14"/>
    <p:sldId id="373" r:id="rId15"/>
    <p:sldId id="374" r:id="rId16"/>
    <p:sldId id="322" r:id="rId17"/>
    <p:sldId id="323" r:id="rId18"/>
    <p:sldId id="371" r:id="rId19"/>
    <p:sldId id="324" r:id="rId20"/>
    <p:sldId id="387"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2438C78-0394-4DB0-B92F-EEA3BAFB9E3C}">
          <p14:sldIdLst>
            <p14:sldId id="368"/>
            <p14:sldId id="369"/>
            <p14:sldId id="330"/>
            <p14:sldId id="317"/>
            <p14:sldId id="376"/>
            <p14:sldId id="370"/>
            <p14:sldId id="378"/>
            <p14:sldId id="372"/>
            <p14:sldId id="379"/>
            <p14:sldId id="366"/>
            <p14:sldId id="373"/>
            <p14:sldId id="374"/>
            <p14:sldId id="322"/>
            <p14:sldId id="323"/>
            <p14:sldId id="371"/>
            <p14:sldId id="324"/>
            <p14:sldId id="381"/>
            <p14:sldId id="387"/>
            <p14:sldId id="386"/>
            <p14:sldId id="388"/>
            <p14:sldId id="3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B2121"/>
    <a:srgbClr val="2F465A"/>
    <a:srgbClr val="C7D5ED"/>
    <a:srgbClr val="FFCC66"/>
    <a:srgbClr val="7D543B"/>
    <a:srgbClr val="503626"/>
    <a:srgbClr val="9C694A"/>
    <a:srgbClr val="B07A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6" autoAdjust="0"/>
    <p:restoredTop sz="95833" autoAdjust="0"/>
  </p:normalViewPr>
  <p:slideViewPr>
    <p:cSldViewPr snapToGrid="0">
      <p:cViewPr varScale="1">
        <p:scale>
          <a:sx n="127" d="100"/>
          <a:sy n="127" d="100"/>
        </p:scale>
        <p:origin x="56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2" Type="http://schemas.openxmlformats.org/officeDocument/2006/relationships/slide" Target="slides/slide8.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2" Type="http://schemas.openxmlformats.org/officeDocument/2006/relationships/slide" Target="slides/slide18.xml"/><Relationship Id="rId26" Type="http://schemas.openxmlformats.org/officeDocument/2006/relationships/notesMaster" Target="notesMasters/notesMaster1.xml"/><Relationship Id="rId27" Type="http://schemas.openxmlformats.org/officeDocument/2006/relationships/handoutMaster" Target="handoutMasters/handout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D3FBA8A-EC3F-4152-844C-91CB88F539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a:extLst>
              <a:ext uri="{FF2B5EF4-FFF2-40B4-BE49-F238E27FC236}">
                <a16:creationId xmlns:a16="http://schemas.microsoft.com/office/drawing/2014/main" id="{631D4CC1-0059-4DD2-B8E5-EAABAA5DCC2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5ABC54-4790-4884-8CB7-09FF14842DBD}" type="datetimeFigureOut">
              <a:rPr lang="en-AU" smtClean="0"/>
              <a:t>28/5/2026</a:t>
            </a:fld>
            <a:endParaRPr lang="en-AU" dirty="0"/>
          </a:p>
        </p:txBody>
      </p:sp>
      <p:sp>
        <p:nvSpPr>
          <p:cNvPr id="4" name="Footer Placeholder 3">
            <a:extLst>
              <a:ext uri="{FF2B5EF4-FFF2-40B4-BE49-F238E27FC236}">
                <a16:creationId xmlns:a16="http://schemas.microsoft.com/office/drawing/2014/main" id="{D6FAA36E-06D3-40D7-A874-47B9743CA84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5" name="Slide Number Placeholder 4">
            <a:extLst>
              <a:ext uri="{FF2B5EF4-FFF2-40B4-BE49-F238E27FC236}">
                <a16:creationId xmlns:a16="http://schemas.microsoft.com/office/drawing/2014/main" id="{0F5D18E7-7781-4474-804E-41CA95345E7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5B9A791-F9CB-4D55-96A5-17ADF385BEAD}" type="slidenum">
              <a:rPr lang="en-AU" smtClean="0"/>
              <a:t>‹#›</a:t>
            </a:fld>
            <a:endParaRPr lang="en-AU" dirty="0"/>
          </a:p>
        </p:txBody>
      </p:sp>
    </p:spTree>
    <p:extLst>
      <p:ext uri="{BB962C8B-B14F-4D97-AF65-F5344CB8AC3E}">
        <p14:creationId xmlns:p14="http://schemas.microsoft.com/office/powerpoint/2010/main" val="397950401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DC9F11-88D0-472B-A1BC-E2979B471ECF}" type="datetimeFigureOut">
              <a:rPr lang="en-AU" smtClean="0"/>
              <a:t>28/5/2026</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930A1E-11AF-4EC0-AB30-8CFD796CAF74}" type="slidenum">
              <a:rPr lang="en-AU" smtClean="0"/>
              <a:t>‹#›</a:t>
            </a:fld>
            <a:endParaRPr lang="en-AU" dirty="0"/>
          </a:p>
        </p:txBody>
      </p:sp>
    </p:spTree>
    <p:extLst>
      <p:ext uri="{BB962C8B-B14F-4D97-AF65-F5344CB8AC3E}">
        <p14:creationId xmlns:p14="http://schemas.microsoft.com/office/powerpoint/2010/main" val="170171683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651F642-EBFF-4A25-BDB7-36CD8BA5CE6E}" type="datetimeFigureOut">
              <a:rPr lang="en-AU" smtClean="0"/>
              <a:t>28/5/2026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E66336A0-064C-4C08-9300-5BDA19DF95D4}" type="slidenum">
              <a:rPr lang="en-AU" smtClean="0"/>
              <a:t>‹#›</a:t>
            </a:fld>
            <a:endParaRPr lang="en-AU" dirty="0"/>
          </a:p>
        </p:txBody>
      </p:sp>
    </p:spTree>
    <p:extLst>
      <p:ext uri="{BB962C8B-B14F-4D97-AF65-F5344CB8AC3E}">
        <p14:creationId xmlns:p14="http://schemas.microsoft.com/office/powerpoint/2010/main" val="2017574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51F642-EBFF-4A25-BDB7-36CD8BA5CE6E}" type="datetimeFigureOut">
              <a:rPr lang="en-AU" smtClean="0"/>
              <a:t>28/5/2026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E66336A0-064C-4C08-9300-5BDA19DF95D4}" type="slidenum">
              <a:rPr lang="en-AU" smtClean="0"/>
              <a:t>‹#›</a:t>
            </a:fld>
            <a:endParaRPr lang="en-AU" dirty="0"/>
          </a:p>
        </p:txBody>
      </p:sp>
    </p:spTree>
    <p:extLst>
      <p:ext uri="{BB962C8B-B14F-4D97-AF65-F5344CB8AC3E}">
        <p14:creationId xmlns:p14="http://schemas.microsoft.com/office/powerpoint/2010/main" val="37165092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651F642-EBFF-4A25-BDB7-36CD8BA5CE6E}" type="datetimeFigureOut">
              <a:rPr lang="en-AU" smtClean="0"/>
              <a:t>28/5/2026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E66336A0-064C-4C08-9300-5BDA19DF95D4}" type="slidenum">
              <a:rPr lang="en-AU" smtClean="0"/>
              <a:t>‹#›</a:t>
            </a:fld>
            <a:endParaRPr lang="en-AU" dirty="0"/>
          </a:p>
        </p:txBody>
      </p:sp>
    </p:spTree>
    <p:extLst>
      <p:ext uri="{BB962C8B-B14F-4D97-AF65-F5344CB8AC3E}">
        <p14:creationId xmlns:p14="http://schemas.microsoft.com/office/powerpoint/2010/main" val="29151567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651F642-EBFF-4A25-BDB7-36CD8BA5CE6E}" type="datetimeFigureOut">
              <a:rPr lang="en-AU" smtClean="0"/>
              <a:t>28/5/2026</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E66336A0-064C-4C08-9300-5BDA19DF95D4}" type="slidenum">
              <a:rPr lang="en-AU" smtClean="0"/>
              <a:t>‹#›</a:t>
            </a:fld>
            <a:endParaRPr lang="en-AU" dirty="0"/>
          </a:p>
        </p:txBody>
      </p:sp>
    </p:spTree>
    <p:extLst>
      <p:ext uri="{BB962C8B-B14F-4D97-AF65-F5344CB8AC3E}">
        <p14:creationId xmlns:p14="http://schemas.microsoft.com/office/powerpoint/2010/main" val="2550813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651F642-EBFF-4A25-BDB7-36CD8BA5CE6E}" type="datetimeFigureOut">
              <a:rPr lang="en-AU" smtClean="0"/>
              <a:t>28/5/2026</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E66336A0-064C-4C08-9300-5BDA19DF95D4}" type="slidenum">
              <a:rPr lang="en-AU" smtClean="0"/>
              <a:t>‹#›</a:t>
            </a:fld>
            <a:endParaRPr lang="en-AU" dirty="0"/>
          </a:p>
        </p:txBody>
      </p:sp>
    </p:spTree>
    <p:extLst>
      <p:ext uri="{BB962C8B-B14F-4D97-AF65-F5344CB8AC3E}">
        <p14:creationId xmlns:p14="http://schemas.microsoft.com/office/powerpoint/2010/main" val="3338143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651F642-EBFF-4A25-BDB7-36CD8BA5CE6E}" type="datetimeFigureOut">
              <a:rPr lang="en-AU" smtClean="0"/>
              <a:t>28/5/2026</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E66336A0-064C-4C08-9300-5BDA19DF95D4}" type="slidenum">
              <a:rPr lang="en-AU" smtClean="0"/>
              <a:t>‹#›</a:t>
            </a:fld>
            <a:endParaRPr lang="en-AU" dirty="0"/>
          </a:p>
        </p:txBody>
      </p:sp>
    </p:spTree>
    <p:extLst>
      <p:ext uri="{BB962C8B-B14F-4D97-AF65-F5344CB8AC3E}">
        <p14:creationId xmlns:p14="http://schemas.microsoft.com/office/powerpoint/2010/main" val="2517478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51F642-EBFF-4A25-BDB7-36CD8BA5CE6E}" type="datetimeFigureOut">
              <a:rPr lang="en-AU" smtClean="0"/>
              <a:t>28/5/2026</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E66336A0-064C-4C08-9300-5BDA19DF95D4}" type="slidenum">
              <a:rPr lang="en-AU" smtClean="0"/>
              <a:t>‹#›</a:t>
            </a:fld>
            <a:endParaRPr lang="en-AU" dirty="0"/>
          </a:p>
        </p:txBody>
      </p:sp>
    </p:spTree>
    <p:extLst>
      <p:ext uri="{BB962C8B-B14F-4D97-AF65-F5344CB8AC3E}">
        <p14:creationId xmlns:p14="http://schemas.microsoft.com/office/powerpoint/2010/main" val="16361263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651F642-EBFF-4A25-BDB7-36CD8BA5CE6E}" type="datetimeFigureOut">
              <a:rPr lang="en-AU" smtClean="0"/>
              <a:t>28/5/2026</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E66336A0-064C-4C08-9300-5BDA19DF95D4}" type="slidenum">
              <a:rPr lang="en-AU" smtClean="0"/>
              <a:t>‹#›</a:t>
            </a:fld>
            <a:endParaRPr lang="en-AU" dirty="0"/>
          </a:p>
        </p:txBody>
      </p:sp>
    </p:spTree>
    <p:extLst>
      <p:ext uri="{BB962C8B-B14F-4D97-AF65-F5344CB8AC3E}">
        <p14:creationId xmlns:p14="http://schemas.microsoft.com/office/powerpoint/2010/main" val="577512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651F642-EBFF-4A25-BDB7-36CD8BA5CE6E}" type="datetimeFigureOut">
              <a:rPr lang="en-AU" smtClean="0"/>
              <a:t>28/5/2026</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E66336A0-064C-4C08-9300-5BDA19DF95D4}" type="slidenum">
              <a:rPr lang="en-AU" smtClean="0"/>
              <a:t>‹#›</a:t>
            </a:fld>
            <a:endParaRPr lang="en-AU" dirty="0"/>
          </a:p>
        </p:txBody>
      </p:sp>
    </p:spTree>
    <p:extLst>
      <p:ext uri="{BB962C8B-B14F-4D97-AF65-F5344CB8AC3E}">
        <p14:creationId xmlns:p14="http://schemas.microsoft.com/office/powerpoint/2010/main" val="4245302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51F642-EBFF-4A25-BDB7-36CD8BA5CE6E}" type="datetimeFigureOut">
              <a:rPr lang="en-AU" smtClean="0"/>
              <a:t>28/5/2026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E66336A0-064C-4C08-9300-5BDA19DF95D4}" type="slidenum">
              <a:rPr lang="en-AU" smtClean="0"/>
              <a:t>‹#›</a:t>
            </a:fld>
            <a:endParaRPr lang="en-AU" dirty="0"/>
          </a:p>
        </p:txBody>
      </p:sp>
    </p:spTree>
    <p:extLst>
      <p:ext uri="{BB962C8B-B14F-4D97-AF65-F5344CB8AC3E}">
        <p14:creationId xmlns:p14="http://schemas.microsoft.com/office/powerpoint/2010/main" val="4200885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51F642-EBFF-4A25-BDB7-36CD8BA5CE6E}" type="datetimeFigureOut">
              <a:rPr lang="en-AU" smtClean="0"/>
              <a:t>28/5/2026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E66336A0-064C-4C08-9300-5BDA19DF95D4}" type="slidenum">
              <a:rPr lang="en-AU" smtClean="0"/>
              <a:t>‹#›</a:t>
            </a:fld>
            <a:endParaRPr lang="en-AU" dirty="0"/>
          </a:p>
        </p:txBody>
      </p:sp>
    </p:spTree>
    <p:extLst>
      <p:ext uri="{BB962C8B-B14F-4D97-AF65-F5344CB8AC3E}">
        <p14:creationId xmlns:p14="http://schemas.microsoft.com/office/powerpoint/2010/main" val="9902365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51F642-EBFF-4A25-BDB7-36CD8BA5CE6E}" type="datetimeFigureOut">
              <a:rPr lang="en-AU" smtClean="0"/>
              <a:t>28/5/2026</a:t>
            </a:fld>
            <a:endParaRPr lang="en-AU"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6336A0-064C-4C08-9300-5BDA19DF95D4}" type="slidenum">
              <a:rPr lang="en-AU" smtClean="0"/>
              <a:t>‹#›</a:t>
            </a:fld>
            <a:endParaRPr lang="en-AU" dirty="0"/>
          </a:p>
        </p:txBody>
      </p:sp>
    </p:spTree>
    <p:extLst>
      <p:ext uri="{BB962C8B-B14F-4D97-AF65-F5344CB8AC3E}">
        <p14:creationId xmlns:p14="http://schemas.microsoft.com/office/powerpoint/2010/main" val="20981191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hyperlink" Target="http://www.incorpadvisory.au/" TargetMode="External"/><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mailto:team@incorpadvisory.au" TargetMode="External"/><Relationship Id="rId3" Type="http://schemas.openxmlformats.org/officeDocument/2006/relationships/hyperlink" Target="https://australia.incorp.asia/" TargetMode="Externa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5.png"/><Relationship Id="rId7" Type="http://schemas.openxmlformats.org/officeDocument/2006/relationships/image" Target="../media/image8.png"/><Relationship Id="rId8"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emf"/><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microsoft.com/office/2007/relationships/hdphoto" Target="../media/hdphoto1.wdp"/><Relationship Id="rId4" Type="http://schemas.openxmlformats.org/officeDocument/2006/relationships/image" Target="../media/image5.png"/><Relationship Id="rId5" Type="http://schemas.openxmlformats.org/officeDocument/2006/relationships/image" Target="../media/image19.jpg"/><Relationship Id="rId6" Type="http://schemas.openxmlformats.org/officeDocument/2006/relationships/image" Target="../media/image20.jpg"/><Relationship Id="rId7" Type="http://schemas.openxmlformats.org/officeDocument/2006/relationships/image" Target="../media/image21.jpg"/><Relationship Id="rId8" Type="http://schemas.openxmlformats.org/officeDocument/2006/relationships/image" Target="../media/image2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jpeg"/><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ustralia.incorp.asia/wp-content/uploads/2025/09/In.Corp-Transparency-Report-2025.pdf" TargetMode="Externa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75000">
              <a:srgbClr val="CAD8EE"/>
            </a:gs>
            <a:gs pos="70000">
              <a:srgbClr val="CDDAEF"/>
            </a:gs>
            <a:gs pos="98000">
              <a:srgbClr val="D3DEF1"/>
            </a:gs>
            <a:gs pos="48000">
              <a:srgbClr val="DFE7F5"/>
            </a:gs>
            <a:gs pos="0">
              <a:schemeClr val="accent1">
                <a:lumMod val="5000"/>
                <a:lumOff val="95000"/>
              </a:schemeClr>
            </a:gs>
            <a:gs pos="100000">
              <a:srgbClr val="C7D5ED"/>
            </a:gs>
          </a:gsLst>
          <a:lin ang="5400000" scaled="1"/>
        </a:gradFill>
        <a:effectLst/>
      </p:bgPr>
    </p:bg>
    <p:spTree>
      <p:nvGrpSpPr>
        <p:cNvPr id="1" name=""/>
        <p:cNvGrpSpPr/>
        <p:nvPr/>
      </p:nvGrpSpPr>
      <p:grpSpPr>
        <a:xfrm>
          <a:off x="0" y="0"/>
          <a:ext cx="0" cy="0"/>
          <a:chOff x="0" y="0"/>
          <a:chExt cx="0" cy="0"/>
        </a:xfrm>
      </p:grpSpPr>
      <p:pic>
        <p:nvPicPr>
          <p:cNvPr id="10" name="Picture 9" descr="A view of the earth from space&#10;&#10;Description automatically generated">
            <a:extLst>
              <a:ext uri="{FF2B5EF4-FFF2-40B4-BE49-F238E27FC236}">
                <a16:creationId xmlns:a16="http://schemas.microsoft.com/office/drawing/2014/main" id="{6E12996D-CEBC-3396-91BE-5907D07DAE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Arc 4">
            <a:extLst>
              <a:ext uri="{FF2B5EF4-FFF2-40B4-BE49-F238E27FC236}">
                <a16:creationId xmlns:a16="http://schemas.microsoft.com/office/drawing/2014/main" id="{CFF19142-72C6-0007-C14F-0483BD60FACE}"/>
              </a:ext>
            </a:extLst>
          </p:cNvPr>
          <p:cNvSpPr/>
          <p:nvPr/>
        </p:nvSpPr>
        <p:spPr>
          <a:xfrm>
            <a:off x="-2524219" y="2149813"/>
            <a:ext cx="9046724" cy="8373595"/>
          </a:xfrm>
          <a:prstGeom prst="arc">
            <a:avLst>
              <a:gd name="adj1" fmla="val 15608626"/>
              <a:gd name="adj2" fmla="val 372026"/>
            </a:avLst>
          </a:prstGeom>
          <a:no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AU"/>
          </a:p>
        </p:txBody>
      </p:sp>
      <p:pic>
        <p:nvPicPr>
          <p:cNvPr id="4" name="Picture 3">
            <a:extLst>
              <a:ext uri="{FF2B5EF4-FFF2-40B4-BE49-F238E27FC236}">
                <a16:creationId xmlns:a16="http://schemas.microsoft.com/office/drawing/2014/main" id="{03366432-2D81-B399-33EC-375F6D59DB5A}"/>
              </a:ext>
            </a:extLst>
          </p:cNvPr>
          <p:cNvPicPr>
            <a:picLocks noChangeAspect="1"/>
          </p:cNvPicPr>
          <p:nvPr/>
        </p:nvPicPr>
        <p:blipFill rotWithShape="1">
          <a:blip r:embed="rId3">
            <a:extLst>
              <a:ext uri="{28A0092B-C50C-407E-A947-70E740481C1C}">
                <a14:useLocalDpi xmlns:a14="http://schemas.microsoft.com/office/drawing/2010/main" val="0"/>
              </a:ext>
            </a:extLst>
          </a:blip>
          <a:srcRect t="27304" r="25052"/>
          <a:stretch/>
        </p:blipFill>
        <p:spPr bwMode="auto">
          <a:xfrm rot="16200000">
            <a:off x="-311224" y="311224"/>
            <a:ext cx="4953378" cy="4330930"/>
          </a:xfrm>
          <a:prstGeom prst="rect">
            <a:avLst/>
          </a:prstGeom>
          <a:noFill/>
          <a:ln>
            <a:noFill/>
          </a:ln>
        </p:spPr>
      </p:pic>
      <p:sp>
        <p:nvSpPr>
          <p:cNvPr id="7" name="Rectangle 6">
            <a:extLst>
              <a:ext uri="{FF2B5EF4-FFF2-40B4-BE49-F238E27FC236}">
                <a16:creationId xmlns:a16="http://schemas.microsoft.com/office/drawing/2014/main" id="{73709C88-06E4-36C1-2380-BBB16BF88FD6}"/>
              </a:ext>
            </a:extLst>
          </p:cNvPr>
          <p:cNvSpPr/>
          <p:nvPr/>
        </p:nvSpPr>
        <p:spPr>
          <a:xfrm>
            <a:off x="7292868" y="4613822"/>
            <a:ext cx="9046724" cy="15438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34290" rIns="0" bIns="34290" numCol="1" spcCol="0" rtlCol="0" fromWordArt="0" anchor="ctr" anchorCtr="0" forceAA="0" compatLnSpc="1">
            <a:prstTxWarp prst="textNoShape">
              <a:avLst/>
            </a:prstTxWarp>
            <a:noAutofit/>
          </a:bodyPr>
          <a:lstStyle/>
          <a:p>
            <a:pPr>
              <a:spcAft>
                <a:spcPts val="600"/>
              </a:spcAft>
            </a:pPr>
            <a:r>
              <a:rPr sz="2400" b="1">
                <a:solidFill>
                  <a:schemeClr val="bg1"/>
                </a:solidFill>
                <a:latin typeface="Arial"/>
              </a:rPr>
              <a:t>SRJ Technologies Group Plc</a:t>
            </a:r>
            <a:br/>
            <a:r>
              <a:rPr sz="1400">
                <a:solidFill>
                  <a:schemeClr val="bg1"/>
                </a:solidFill>
                <a:latin typeface="Arial"/>
              </a:rPr>
              <a:t>Proposal for the Provision of Audit and Assurance Services</a:t>
            </a:r>
          </a:p>
        </p:txBody>
      </p:sp>
      <p:sp>
        <p:nvSpPr>
          <p:cNvPr id="8" name="Rectangle 7">
            <a:extLst>
              <a:ext uri="{FF2B5EF4-FFF2-40B4-BE49-F238E27FC236}">
                <a16:creationId xmlns:a16="http://schemas.microsoft.com/office/drawing/2014/main" id="{7EE95182-EA42-72F1-849C-FFB2335E44DB}"/>
              </a:ext>
            </a:extLst>
          </p:cNvPr>
          <p:cNvSpPr/>
          <p:nvPr/>
        </p:nvSpPr>
        <p:spPr>
          <a:xfrm>
            <a:off x="7278351" y="5958355"/>
            <a:ext cx="4469476" cy="7565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34290" rIns="0" bIns="34290" numCol="1" spcCol="0" rtlCol="0" fromWordArt="0" anchor="t" anchorCtr="0" forceAA="0" compatLnSpc="1">
            <a:prstTxWarp prst="textNoShape">
              <a:avLst/>
            </a:prstTxWarp>
            <a:noAutofit/>
          </a:bodyPr>
          <a:lstStyle/>
          <a:p>
            <a:pPr>
              <a:spcAft>
                <a:spcPts val="600"/>
              </a:spcAft>
            </a:pPr>
            <a:r>
              <a:rPr sz="1100">
                <a:solidFill>
                  <a:schemeClr val="bg1"/>
                </a:solidFill>
                <a:latin typeface="Arial"/>
              </a:rPr>
              <a:t>13 July 2026</a:t>
            </a:r>
          </a:p>
          <a:p>
            <a:r>
              <a:rPr lang="en-SG" sz="1100" u="sng" dirty="0">
                <a:solidFill>
                  <a:schemeClr val="bg1"/>
                </a:solidFill>
                <a:latin typeface="Arial" panose="020B0604020202020204" pitchFamily="34" charset="0"/>
                <a:ea typeface="Roboto" panose="02000000000000000000" pitchFamily="2" charset="0"/>
                <a:cs typeface="Arial" panose="020B0604020202020204" pitchFamily="34" charset="0"/>
                <a:hlinkClick r:id="rId4">
                  <a:extLst>
                    <a:ext uri="{A12FA001-AC4F-418D-AE19-62706E023703}">
                      <ahyp:hlinkClr xmlns:ahyp="http://schemas.microsoft.com/office/drawing/2018/hyperlinkcolor" val="tx"/>
                    </a:ext>
                  </a:extLst>
                </a:hlinkClick>
              </a:rPr>
              <a:t>www.incorpadvisory.au</a:t>
            </a:r>
            <a:r>
              <a:rPr lang="en-SG" u="sng" dirty="0">
                <a:solidFill>
                  <a:schemeClr val="bg1"/>
                </a:solidFill>
                <a:latin typeface="Arial" panose="020B0604020202020204" pitchFamily="34" charset="0"/>
                <a:ea typeface="Roboto" panose="02000000000000000000" pitchFamily="2" charset="0"/>
                <a:cs typeface="Arial" panose="020B0604020202020204" pitchFamily="34" charset="0"/>
              </a:rPr>
              <a:t> </a:t>
            </a:r>
          </a:p>
        </p:txBody>
      </p:sp>
      <p:pic>
        <p:nvPicPr>
          <p:cNvPr id="3" name="Picture 2" descr="A white text with a red globe and a black background&#10;&#10;AI-generated content may be incorrect.">
            <a:extLst>
              <a:ext uri="{FF2B5EF4-FFF2-40B4-BE49-F238E27FC236}">
                <a16:creationId xmlns:a16="http://schemas.microsoft.com/office/drawing/2014/main" id="{AE55E694-BAF7-915F-2CDD-E5190CCF4C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24303" y="153492"/>
            <a:ext cx="2090189" cy="900885"/>
          </a:xfrm>
          <a:prstGeom prst="rect">
            <a:avLst/>
          </a:prstGeom>
        </p:spPr>
      </p:pic>
    </p:spTree>
    <p:extLst>
      <p:ext uri="{BB962C8B-B14F-4D97-AF65-F5344CB8AC3E}">
        <p14:creationId xmlns:p14="http://schemas.microsoft.com/office/powerpoint/2010/main" val="542621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typing on a computer&#10;&#10;Description automatically generated">
            <a:extLst>
              <a:ext uri="{FF2B5EF4-FFF2-40B4-BE49-F238E27FC236}">
                <a16:creationId xmlns:a16="http://schemas.microsoft.com/office/drawing/2014/main" id="{CC0F85F7-5F2D-8F6D-C695-2B4EF72DA1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58" y="-1"/>
            <a:ext cx="12241316" cy="6858002"/>
          </a:xfrm>
          <a:prstGeom prst="rect">
            <a:avLst/>
          </a:prstGeom>
        </p:spPr>
      </p:pic>
      <p:sp>
        <p:nvSpPr>
          <p:cNvPr id="7" name="Rectangle 6">
            <a:extLst>
              <a:ext uri="{FF2B5EF4-FFF2-40B4-BE49-F238E27FC236}">
                <a16:creationId xmlns:a16="http://schemas.microsoft.com/office/drawing/2014/main" id="{F9E17569-EE91-0CDA-774B-1C450A78C4E7}"/>
              </a:ext>
            </a:extLst>
          </p:cNvPr>
          <p:cNvSpPr/>
          <p:nvPr/>
        </p:nvSpPr>
        <p:spPr>
          <a:xfrm>
            <a:off x="6856779" y="3794548"/>
            <a:ext cx="5359879" cy="1900534"/>
          </a:xfrm>
          <a:prstGeom prst="rec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AU" sz="1350" dirty="0"/>
          </a:p>
        </p:txBody>
      </p:sp>
      <p:sp>
        <p:nvSpPr>
          <p:cNvPr id="4" name="Rectangle 3">
            <a:extLst>
              <a:ext uri="{FF2B5EF4-FFF2-40B4-BE49-F238E27FC236}">
                <a16:creationId xmlns:a16="http://schemas.microsoft.com/office/drawing/2014/main" id="{0AC181D2-DB9D-7282-50A2-ED64883D779F}"/>
              </a:ext>
            </a:extLst>
          </p:cNvPr>
          <p:cNvSpPr/>
          <p:nvPr/>
        </p:nvSpPr>
        <p:spPr>
          <a:xfrm>
            <a:off x="-24658" y="1247801"/>
            <a:ext cx="5825704" cy="2254523"/>
          </a:xfrm>
          <a:prstGeom prst="rect">
            <a:avLst/>
          </a:prstGeom>
          <a:solidFill>
            <a:srgbClr val="BB212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r>
              <a:rPr lang="en-US" sz="3200" dirty="0">
                <a:solidFill>
                  <a:srgbClr val="2F465A"/>
                </a:solidFill>
                <a:latin typeface="Trebuchet MS" panose="020B0603020202020204" pitchFamily="34" charset="0"/>
              </a:rPr>
              <a:t>“” </a:t>
            </a:r>
          </a:p>
          <a:p>
            <a:r>
              <a:rPr lang="en-GB" sz="1200" dirty="0">
                <a:latin typeface="Arial" panose="020B0604020202020204" pitchFamily="34" charset="0"/>
                <a:cs typeface="Arial" panose="020B0604020202020204" pitchFamily="34" charset="0"/>
              </a:rPr>
              <a:t>Thank you for being so accommodating with our audits. I know there were many late nights and you have been so dedicated and wanted to turnaround information quickly for our benefit. It has been such a pleasure working with you.</a:t>
            </a:r>
            <a:r>
              <a:rPr lang="en-US" sz="1200" dirty="0">
                <a:latin typeface="Arial" panose="020B0604020202020204" pitchFamily="34" charset="0"/>
                <a:cs typeface="Arial" panose="020B0604020202020204" pitchFamily="34" charset="0"/>
              </a:rPr>
              <a:t> </a:t>
            </a:r>
          </a:p>
          <a:p>
            <a:pPr>
              <a:spcBef>
                <a:spcPts val="1000"/>
              </a:spcBef>
            </a:pPr>
            <a:r>
              <a:rPr lang="en-US" sz="1200" b="1" dirty="0">
                <a:latin typeface="Arial" panose="020B0604020202020204" pitchFamily="34" charset="0"/>
                <a:cs typeface="Arial" panose="020B0604020202020204" pitchFamily="34" charset="0"/>
              </a:rPr>
              <a:t>Janet Yuen</a:t>
            </a:r>
            <a:br>
              <a:rPr lang="en-US" sz="1200" b="1" dirty="0">
                <a:latin typeface="Arial" panose="020B0604020202020204" pitchFamily="34" charset="0"/>
                <a:cs typeface="Arial" panose="020B0604020202020204" pitchFamily="34" charset="0"/>
              </a:rPr>
            </a:br>
            <a:r>
              <a:rPr lang="en-US" sz="1200" b="1" dirty="0">
                <a:latin typeface="Arial" panose="020B0604020202020204" pitchFamily="34" charset="0"/>
                <a:cs typeface="Arial" panose="020B0604020202020204" pitchFamily="34" charset="0"/>
              </a:rPr>
              <a:t>Financial Planning and Analysis Manager</a:t>
            </a:r>
            <a:br>
              <a:rPr lang="en-US" sz="1200" b="1" dirty="0">
                <a:latin typeface="Arial" panose="020B0604020202020204" pitchFamily="34" charset="0"/>
                <a:cs typeface="Arial" panose="020B0604020202020204" pitchFamily="34" charset="0"/>
              </a:rPr>
            </a:br>
            <a:r>
              <a:rPr lang="en-US" sz="1200" b="1" dirty="0">
                <a:latin typeface="Arial" panose="020B0604020202020204" pitchFamily="34" charset="0"/>
                <a:cs typeface="Arial" panose="020B0604020202020204" pitchFamily="34" charset="0"/>
              </a:rPr>
              <a:t>Home Consortium</a:t>
            </a:r>
          </a:p>
        </p:txBody>
      </p:sp>
      <p:sp>
        <p:nvSpPr>
          <p:cNvPr id="5" name="Content Placeholder 2">
            <a:extLst>
              <a:ext uri="{FF2B5EF4-FFF2-40B4-BE49-F238E27FC236}">
                <a16:creationId xmlns:a16="http://schemas.microsoft.com/office/drawing/2014/main" id="{5BFB63AA-24BE-7489-328C-8004C4310761}"/>
              </a:ext>
            </a:extLst>
          </p:cNvPr>
          <p:cNvSpPr txBox="1">
            <a:spLocks/>
          </p:cNvSpPr>
          <p:nvPr/>
        </p:nvSpPr>
        <p:spPr>
          <a:xfrm>
            <a:off x="7039155" y="3870537"/>
            <a:ext cx="5040925" cy="14192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dirty="0">
                <a:solidFill>
                  <a:srgbClr val="FF0000"/>
                </a:solidFill>
                <a:latin typeface="Trebuchet MS" panose="020B0603020202020204" pitchFamily="34" charset="0"/>
                <a:cs typeface="Arial" panose="020B0604020202020204" pitchFamily="34" charset="0"/>
              </a:rPr>
              <a:t>“”</a:t>
            </a:r>
            <a:br>
              <a:rPr lang="en-US" sz="1400" dirty="0">
                <a:latin typeface="Arial" panose="020B0604020202020204" pitchFamily="34" charset="0"/>
                <a:cs typeface="Arial" panose="020B0604020202020204" pitchFamily="34" charset="0"/>
              </a:rPr>
            </a:br>
            <a:r>
              <a:rPr lang="en-US" sz="1200" dirty="0">
                <a:solidFill>
                  <a:schemeClr val="bg1"/>
                </a:solidFill>
                <a:latin typeface="Arial" panose="020B0604020202020204" pitchFamily="34" charset="0"/>
                <a:cs typeface="Arial" panose="020B0604020202020204" pitchFamily="34" charset="0"/>
              </a:rPr>
              <a:t>I have been nothing short of impressed with your work to date, this has been a great audit experience.”</a:t>
            </a:r>
          </a:p>
          <a:p>
            <a:pPr marL="0" indent="0">
              <a:buNone/>
            </a:pPr>
            <a:r>
              <a:rPr lang="en-US" sz="1200" b="1" dirty="0">
                <a:solidFill>
                  <a:schemeClr val="bg1"/>
                </a:solidFill>
                <a:latin typeface="Arial" panose="020B0604020202020204" pitchFamily="34" charset="0"/>
                <a:cs typeface="Arial" panose="020B0604020202020204" pitchFamily="34" charset="0"/>
              </a:rPr>
              <a:t>Mark Burwood-Smith</a:t>
            </a:r>
            <a:br>
              <a:rPr lang="en-US" sz="1200" b="1" dirty="0">
                <a:solidFill>
                  <a:schemeClr val="bg1"/>
                </a:solidFill>
                <a:latin typeface="Arial" panose="020B0604020202020204" pitchFamily="34" charset="0"/>
                <a:cs typeface="Arial" panose="020B0604020202020204" pitchFamily="34" charset="0"/>
              </a:rPr>
            </a:br>
            <a:r>
              <a:rPr lang="en-US" sz="1200" b="1" dirty="0">
                <a:solidFill>
                  <a:schemeClr val="bg1"/>
                </a:solidFill>
                <a:latin typeface="Arial" panose="020B0604020202020204" pitchFamily="34" charset="0"/>
                <a:cs typeface="Arial" panose="020B0604020202020204" pitchFamily="34" charset="0"/>
              </a:rPr>
              <a:t>Director</a:t>
            </a:r>
            <a:br>
              <a:rPr lang="en-US" sz="1200" b="1" dirty="0">
                <a:solidFill>
                  <a:schemeClr val="bg1"/>
                </a:solidFill>
                <a:latin typeface="Arial" panose="020B0604020202020204" pitchFamily="34" charset="0"/>
                <a:cs typeface="Arial" panose="020B0604020202020204" pitchFamily="34" charset="0"/>
              </a:rPr>
            </a:br>
            <a:r>
              <a:rPr lang="en-US" sz="1200" b="1" dirty="0">
                <a:solidFill>
                  <a:schemeClr val="bg1"/>
                </a:solidFill>
                <a:latin typeface="Arial" panose="020B0604020202020204" pitchFamily="34" charset="0"/>
                <a:cs typeface="Arial" panose="020B0604020202020204" pitchFamily="34" charset="0"/>
              </a:rPr>
              <a:t>Hayden Enterprises</a:t>
            </a:r>
          </a:p>
          <a:p>
            <a:endParaRPr lang="en-AU" sz="1400" dirty="0">
              <a:latin typeface="Arial" panose="020B0604020202020204" pitchFamily="34" charset="0"/>
              <a:cs typeface="Arial" panose="020B0604020202020204" pitchFamily="34" charset="0"/>
            </a:endParaRPr>
          </a:p>
        </p:txBody>
      </p:sp>
      <p:pic>
        <p:nvPicPr>
          <p:cNvPr id="3" name="Picture 2" descr="A white and red globe with a black background&#10;&#10;AI-generated content may be incorrect.">
            <a:extLst>
              <a:ext uri="{FF2B5EF4-FFF2-40B4-BE49-F238E27FC236}">
                <a16:creationId xmlns:a16="http://schemas.microsoft.com/office/drawing/2014/main" id="{26C071B5-7C7A-699A-B4BC-831B9BE378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0226" y="134508"/>
            <a:ext cx="2049854" cy="883410"/>
          </a:xfrm>
          <a:prstGeom prst="rect">
            <a:avLst/>
          </a:prstGeom>
        </p:spPr>
      </p:pic>
    </p:spTree>
    <p:extLst>
      <p:ext uri="{BB962C8B-B14F-4D97-AF65-F5344CB8AC3E}">
        <p14:creationId xmlns:p14="http://schemas.microsoft.com/office/powerpoint/2010/main" val="2978876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20">
            <a:extLst>
              <a:ext uri="{FF2B5EF4-FFF2-40B4-BE49-F238E27FC236}">
                <a16:creationId xmlns:a16="http://schemas.microsoft.com/office/drawing/2014/main" id="{238FA477-AEDA-478B-BB22-4CDD6B85997A}"/>
              </a:ext>
            </a:extLst>
          </p:cNvPr>
          <p:cNvSpPr txBox="1">
            <a:spLocks/>
          </p:cNvSpPr>
          <p:nvPr/>
        </p:nvSpPr>
        <p:spPr>
          <a:xfrm>
            <a:off x="487126" y="1460569"/>
            <a:ext cx="5118543" cy="1482335"/>
          </a:xfrm>
          <a:prstGeom prst="rect">
            <a:avLst/>
          </a:prstGeom>
        </p:spPr>
        <p:txBody>
          <a:bodyPr numCol="2"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defRPr/>
            </a:pPr>
            <a:r>
              <a:rPr lang="en-GB" sz="900" b="1" dirty="0">
                <a:solidFill>
                  <a:srgbClr val="FF0000"/>
                </a:solidFill>
                <a:latin typeface="Arial" panose="020B0604020202020204" pitchFamily="34" charset="0"/>
                <a:cs typeface="Arial" panose="020B0604020202020204" pitchFamily="34" charset="0"/>
              </a:rPr>
              <a:t>Private &amp; Confidential </a:t>
            </a:r>
          </a:p>
          <a:p>
            <a:pPr marL="0" indent="0">
              <a:spcBef>
                <a:spcPts val="0"/>
              </a:spcBef>
              <a:buNone/>
              <a:defRPr/>
            </a:pPr>
            <a:endParaRPr lang="en-GB" sz="900" dirty="0">
              <a:latin typeface="Arial" panose="020B0604020202020204" pitchFamily="34" charset="0"/>
              <a:cs typeface="Arial" panose="020B0604020202020204" pitchFamily="34" charset="0"/>
            </a:endParaRPr>
          </a:p>
          <a:p>
            <a:pPr marL="0" indent="0">
              <a:spcBef>
                <a:spcPts val="0"/>
              </a:spcBef>
              <a:buNone/>
              <a:defRPr/>
            </a:pPr>
            <a:endParaRPr lang="en-GB" sz="900" dirty="0">
              <a:latin typeface="Arial" panose="020B0604020202020204" pitchFamily="34" charset="0"/>
              <a:cs typeface="Arial" panose="020B0604020202020204" pitchFamily="34" charset="0"/>
            </a:endParaRPr>
          </a:p>
          <a:p>
            <a:pPr marL="0" indent="0">
              <a:spcBef>
                <a:spcPts val="0"/>
              </a:spcBef>
              <a:buNone/>
              <a:defRPr/>
            </a:pPr>
            <a:r>
              <a:rPr sz="900">
                <a:latin typeface="Arial"/>
              </a:rPr>
              <a:t>Stefan McGreevy</a:t>
            </a:r>
            <a:br/>
            <a:r>
              <a:rPr sz="900">
                <a:latin typeface="Arial"/>
              </a:rPr>
              <a:t>SRJ Technologies Group Plc</a:t>
            </a:r>
          </a:p>
          <a:p>
            <a:pPr marL="0" indent="0">
              <a:spcBef>
                <a:spcPts val="0"/>
              </a:spcBef>
              <a:buNone/>
              <a:defRPr/>
            </a:pPr>
          </a:p>
        </p:txBody>
      </p:sp>
      <p:sp>
        <p:nvSpPr>
          <p:cNvPr id="8" name="intro_letter_body">
            <a:extLst>
              <a:ext uri="{FF2B5EF4-FFF2-40B4-BE49-F238E27FC236}">
                <a16:creationId xmlns:a16="http://schemas.microsoft.com/office/drawing/2014/main" id="{1D51F961-0966-4453-84AD-C2D3543EB000}"/>
              </a:ext>
            </a:extLst>
          </p:cNvPr>
          <p:cNvSpPr txBox="1">
            <a:spLocks/>
          </p:cNvSpPr>
          <p:nvPr/>
        </p:nvSpPr>
        <p:spPr>
          <a:xfrm>
            <a:off x="546277" y="2883942"/>
            <a:ext cx="10871135" cy="2896711"/>
          </a:xfrm>
          <a:prstGeom prst="rect">
            <a:avLst/>
          </a:prstGeom>
        </p:spPr>
        <p:txBody>
          <a:bodyPr vert="horz" lIns="68580" tIns="34290" rIns="68580" bIns="34290" numCol="1" rtlCol="0" anchor="t" anchorCtr="0"/>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196"/>
              </a:spcAft>
              <a:tabLst>
                <a:tab pos="2828855" algn="r"/>
              </a:tabLst>
              <a:defRPr/>
            </a:pPr>
            <a:r>
              <a:rPr sz="900">
                <a:solidFill>
                  <a:schemeClr val="tx1"/>
                </a:solidFill>
                <a:latin typeface="Arial"/>
              </a:rPr>
              <a:t>Dear Stefan McGreevy</a:t>
            </a:r>
          </a:p>
          <a:p>
            <a:pPr>
              <a:spcAft>
                <a:spcPts val="196"/>
              </a:spcAft>
              <a:tabLst>
                <a:tab pos="2828855" algn="r"/>
              </a:tabLst>
              <a:defRPr/>
            </a:pPr>
            <a:endParaRPr lang="en-AU" altLang="en-US" sz="900" dirty="0">
              <a:solidFill>
                <a:schemeClr val="tx1"/>
              </a:solidFill>
              <a:latin typeface="Arial" panose="020B0604020202020204" pitchFamily="34" charset="0"/>
              <a:cs typeface="Arial" panose="020B0604020202020204" pitchFamily="34" charset="0"/>
            </a:endParaRPr>
          </a:p>
          <a:p>
            <a:pPr>
              <a:spcAft>
                <a:spcPts val="196"/>
              </a:spcAft>
              <a:tabLst>
                <a:tab pos="2828855" algn="r"/>
              </a:tabLst>
              <a:defRPr/>
            </a:pPr>
            <a:r>
              <a:rPr lang="en-AU" altLang="en-US" sz="900" b="1" dirty="0">
                <a:solidFill>
                  <a:schemeClr val="tx1"/>
                </a:solidFill>
                <a:latin typeface="Arial" panose="020B0604020202020204" pitchFamily="34" charset="0"/>
                <a:cs typeface="Arial" panose="020B0604020202020204" pitchFamily="34" charset="0"/>
              </a:rPr>
              <a:t>Proposal for the Provision of Independent Audit and Assurance Services</a:t>
            </a:r>
          </a:p>
          <a:p>
            <a:pPr>
              <a:defRPr/>
            </a:pPr>
            <a:br/>
            <a:r>
              <a:rPr sz="900">
                <a:solidFill>
                  <a:schemeClr val="tx1"/>
                </a:solidFill>
                <a:latin typeface="Arial"/>
              </a:rPr>
              <a:t>Thank you for the opportunity to provide this proposal for the provision of independent audit and assurance services to </a:t>
            </a:r>
            <a:r>
              <a:rPr sz="900">
                <a:solidFill>
                  <a:schemeClr val="tx1"/>
                </a:solidFill>
                <a:latin typeface="Arial"/>
              </a:rPr>
              <a:t>SRJ Technologies Group Plc.</a:t>
            </a:r>
            <a:r>
              <a:rPr sz="900">
                <a:solidFill>
                  <a:schemeClr val="tx1"/>
                </a:solidFill>
                <a:latin typeface="Arial"/>
              </a:rPr>
              <a:t> We recognise the importance of this engagement in </a:t>
            </a:r>
            <a:r>
              <a:rPr sz="900">
                <a:solidFill>
                  <a:schemeClr val="tx1"/>
                </a:solidFill>
                <a:latin typeface="Arial"/>
              </a:rPr>
              <a:t>ensuring </a:t>
            </a:r>
            <a:r>
              <a:rPr sz="900">
                <a:solidFill>
                  <a:schemeClr val="tx1"/>
                </a:solidFill>
                <a:latin typeface="Arial"/>
              </a:rPr>
              <a:t>SRJ Technologies Group Plc</a:t>
            </a:r>
            <a:r>
              <a:rPr sz="900">
                <a:solidFill>
                  <a:schemeClr val="tx1"/>
                </a:solidFill>
                <a:latin typeface="Arial"/>
              </a:rPr>
              <a:t> meets its reporting obligations whilst also identifying any potential areas of improvement within its financial reporting framework.  </a:t>
            </a:r>
          </a:p>
          <a:p>
            <a:pPr>
              <a:spcAft>
                <a:spcPts val="196"/>
              </a:spcAft>
              <a:tabLst>
                <a:tab pos="3093167" algn="r"/>
              </a:tabLst>
              <a:defRPr/>
            </a:pPr>
            <a:endParaRPr lang="en-US" altLang="en-US" sz="900" dirty="0">
              <a:solidFill>
                <a:schemeClr val="tx1"/>
              </a:solidFill>
              <a:latin typeface="Arial" panose="020B0604020202020204" pitchFamily="34" charset="0"/>
              <a:cs typeface="Arial" panose="020B0604020202020204" pitchFamily="34" charset="0"/>
            </a:endParaRPr>
          </a:p>
          <a:p>
            <a:pPr>
              <a:spcAft>
                <a:spcPts val="196"/>
              </a:spcAft>
              <a:tabLst>
                <a:tab pos="3093167" algn="r"/>
              </a:tabLst>
              <a:defRPr/>
            </a:pPr>
            <a:r>
              <a:rPr lang="en-US" altLang="en-US" sz="900" dirty="0">
                <a:solidFill>
                  <a:schemeClr val="tx1"/>
                </a:solidFill>
                <a:latin typeface="Arial" panose="020B0604020202020204" pitchFamily="34" charset="0"/>
                <a:cs typeface="Arial" panose="020B0604020202020204" pitchFamily="34" charset="0"/>
              </a:rPr>
              <a:t>We trust this proposal demonstrates our team’s professional capabilities and experience. Our commitment to our clients remains paramount, which is demonstrated through the delivery of a high quality, timely and cost-effective service that remains partner-led from start to finish. </a:t>
            </a:r>
          </a:p>
          <a:p>
            <a:pPr>
              <a:spcAft>
                <a:spcPts val="196"/>
              </a:spcAft>
              <a:tabLst>
                <a:tab pos="3093167" algn="r"/>
              </a:tabLst>
              <a:defRPr/>
            </a:pPr>
            <a:endParaRPr lang="en-US" altLang="en-US" sz="900" dirty="0">
              <a:solidFill>
                <a:schemeClr val="tx1"/>
              </a:solidFill>
              <a:latin typeface="Arial" panose="020B0604020202020204" pitchFamily="34" charset="0"/>
              <a:cs typeface="Arial" panose="020B0604020202020204" pitchFamily="34" charset="0"/>
            </a:endParaRPr>
          </a:p>
          <a:p>
            <a:pPr>
              <a:spcAft>
                <a:spcPts val="196"/>
              </a:spcAft>
              <a:tabLst>
                <a:tab pos="3093167" algn="r"/>
              </a:tabLst>
              <a:defRPr/>
            </a:pPr>
            <a:r>
              <a:rPr sz="900">
                <a:solidFill>
                  <a:schemeClr val="tx1"/>
                </a:solidFill>
                <a:latin typeface="Arial"/>
              </a:rPr>
              <a:t>If you have any queries in relation to our enclosed proposal, or would like to discuss any matters further, please contact the In.Corp team. </a:t>
            </a:r>
          </a:p>
          <a:p>
            <a:pPr>
              <a:spcAft>
                <a:spcPts val="196"/>
              </a:spcAft>
              <a:tabLst>
                <a:tab pos="3093167" algn="r"/>
              </a:tabLst>
              <a:defRPr/>
            </a:pPr>
            <a:endParaRPr lang="en-US" altLang="en-US" sz="900" dirty="0">
              <a:solidFill>
                <a:schemeClr val="tx1"/>
              </a:solidFill>
              <a:latin typeface="Arial" panose="020B0604020202020204" pitchFamily="34" charset="0"/>
              <a:cs typeface="Arial" panose="020B0604020202020204" pitchFamily="34" charset="0"/>
            </a:endParaRPr>
          </a:p>
          <a:p>
            <a:pPr>
              <a:spcAft>
                <a:spcPts val="196"/>
              </a:spcAft>
              <a:tabLst>
                <a:tab pos="3093167" algn="r"/>
              </a:tabLst>
              <a:defRPr/>
            </a:pPr>
            <a:r>
              <a:rPr sz="900">
                <a:solidFill>
                  <a:schemeClr val="tx1"/>
                </a:solidFill>
                <a:latin typeface="Arial"/>
              </a:rPr>
              <a:t>We welcome the opportunity to work with SRJ Technologies Group Plc and develop a strong mutually beneficial relationship with the board and management. </a:t>
            </a:r>
          </a:p>
          <a:p>
            <a:pPr>
              <a:spcAft>
                <a:spcPts val="196"/>
              </a:spcAft>
              <a:tabLst>
                <a:tab pos="3093167" algn="r"/>
              </a:tabLst>
              <a:defRPr/>
            </a:pPr>
            <a:endParaRPr lang="en-AU" sz="900" dirty="0">
              <a:solidFill>
                <a:schemeClr val="tx1"/>
              </a:solidFill>
              <a:latin typeface="Arial" panose="020B0604020202020204" pitchFamily="34" charset="0"/>
              <a:cs typeface="Arial" panose="020B0604020202020204" pitchFamily="34" charset="0"/>
            </a:endParaRPr>
          </a:p>
          <a:p>
            <a:pPr>
              <a:spcAft>
                <a:spcPts val="196"/>
              </a:spcAft>
              <a:tabLst>
                <a:tab pos="3093167" algn="r"/>
              </a:tabLst>
              <a:defRPr/>
            </a:pPr>
            <a:r>
              <a:rPr lang="en-AU" sz="900" dirty="0">
                <a:solidFill>
                  <a:schemeClr val="tx1"/>
                </a:solidFill>
                <a:latin typeface="Arial" panose="020B0604020202020204" pitchFamily="34" charset="0"/>
                <a:cs typeface="Arial" panose="020B0604020202020204" pitchFamily="34" charset="0"/>
              </a:rPr>
              <a:t>Yours faithfully</a:t>
            </a:r>
          </a:p>
          <a:p>
            <a:pPr>
              <a:spcAft>
                <a:spcPts val="196"/>
              </a:spcAft>
              <a:tabLst>
                <a:tab pos="3093167" algn="r"/>
              </a:tabLst>
              <a:defRPr/>
            </a:pPr>
            <a:endParaRPr lang="en-US" altLang="en-US" sz="900" dirty="0">
              <a:solidFill>
                <a:schemeClr val="tx1"/>
              </a:solidFill>
              <a:latin typeface="Arial" panose="020B0604020202020204" pitchFamily="34" charset="0"/>
              <a:cs typeface="Arial" panose="020B0604020202020204" pitchFamily="34" charset="0"/>
            </a:endParaRPr>
          </a:p>
          <a:p>
            <a:pPr>
              <a:spcAft>
                <a:spcPts val="196"/>
              </a:spcAft>
              <a:tabLst>
                <a:tab pos="3093167" algn="r"/>
              </a:tabLst>
              <a:defRPr/>
            </a:pPr>
            <a:endParaRPr lang="en-US" altLang="en-US" sz="900" dirty="0">
              <a:solidFill>
                <a:schemeClr val="tx1"/>
              </a:solidFill>
              <a:latin typeface="Arial" panose="020B0604020202020204" pitchFamily="34" charset="0"/>
              <a:cs typeface="Arial" panose="020B0604020202020204" pitchFamily="34" charset="0"/>
            </a:endParaRPr>
          </a:p>
          <a:p>
            <a:pPr>
              <a:spcAft>
                <a:spcPts val="196"/>
              </a:spcAft>
              <a:tabLst>
                <a:tab pos="3093167" algn="r"/>
              </a:tabLst>
              <a:defRPr/>
            </a:pPr>
            <a:br>
              <a:rPr lang="en-US" altLang="en-US" sz="900" dirty="0">
                <a:solidFill>
                  <a:schemeClr val="tx1"/>
                </a:solidFill>
                <a:latin typeface="Arial" panose="020B0604020202020204" pitchFamily="34" charset="0"/>
                <a:cs typeface="Arial" panose="020B0604020202020204" pitchFamily="34" charset="0"/>
              </a:rPr>
            </a:br>
            <a:endParaRPr lang="en-US" altLang="en-US" sz="900" dirty="0">
              <a:solidFill>
                <a:schemeClr val="tx1"/>
              </a:solidFill>
              <a:latin typeface="Arial" panose="020B0604020202020204" pitchFamily="34" charset="0"/>
              <a:cs typeface="Arial" panose="020B0604020202020204" pitchFamily="34" charset="0"/>
            </a:endParaRPr>
          </a:p>
          <a:p/>
          <a:p/>
          <a:p>
            <a:pPr>
              <a:spcAft>
                <a:spcPts val="196"/>
              </a:spcAft>
              <a:tabLst>
                <a:tab pos="3093167" algn="r"/>
              </a:tabLst>
              <a:defRPr/>
            </a:pPr>
            <a:endParaRPr lang="en-US" altLang="en-US" sz="900" dirty="0">
              <a:solidFill>
                <a:schemeClr val="tx1"/>
              </a:solidFill>
              <a:latin typeface="Arial" panose="020B0604020202020204" pitchFamily="34" charset="0"/>
              <a:cs typeface="Arial" panose="020B0604020202020204" pitchFamily="34" charset="0"/>
            </a:endParaRPr>
          </a:p>
          <a:p>
            <a:pPr>
              <a:defRPr/>
            </a:pPr>
            <a:endParaRPr lang="en-AU" sz="900" dirty="0">
              <a:latin typeface="Arial" panose="020B0604020202020204" pitchFamily="34" charset="0"/>
              <a:cs typeface="Arial" panose="020B0604020202020204" pitchFamily="34" charset="0"/>
            </a:endParaRPr>
          </a:p>
        </p:txBody>
      </p:sp>
      <p:sp>
        <p:nvSpPr>
          <p:cNvPr id="10" name="Text Placeholder 20">
            <a:extLst>
              <a:ext uri="{FF2B5EF4-FFF2-40B4-BE49-F238E27FC236}">
                <a16:creationId xmlns:a16="http://schemas.microsoft.com/office/drawing/2014/main" id="{AAE35675-75EB-47F1-8521-847805A48121}"/>
              </a:ext>
            </a:extLst>
          </p:cNvPr>
          <p:cNvSpPr txBox="1">
            <a:spLocks/>
          </p:cNvSpPr>
          <p:nvPr/>
        </p:nvSpPr>
        <p:spPr>
          <a:xfrm>
            <a:off x="506969" y="1310866"/>
            <a:ext cx="1388928" cy="239481"/>
          </a:xfrm>
          <a:prstGeom prst="rect">
            <a:avLst/>
          </a:prstGeom>
        </p:spPr>
        <p:txBody>
          <a:bodyPr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defRPr/>
            </a:pPr>
            <a:r>
              <a:rPr sz="900" b="1">
                <a:latin typeface="Arial"/>
              </a:rPr>
              <a:t>13 July 2026</a:t>
            </a:r>
            <a:br/>
            <a:endParaRPr lang="en-GB" sz="900" dirty="0">
              <a:highlight>
                <a:srgbClr val="FFFF00"/>
              </a:highlight>
              <a:latin typeface="Arial" panose="020B0604020202020204" pitchFamily="34" charset="0"/>
              <a:cs typeface="Arial" panose="020B0604020202020204" pitchFamily="34" charset="0"/>
            </a:endParaRPr>
          </a:p>
          <a:p>
            <a:pPr marL="0" indent="0">
              <a:spcBef>
                <a:spcPts val="0"/>
              </a:spcBef>
              <a:buNone/>
              <a:defRPr/>
            </a:pPr>
            <a:endParaRPr lang="en-GB" sz="900" dirty="0">
              <a:highlight>
                <a:srgbClr val="FFFF00"/>
              </a:highlight>
              <a:latin typeface="Arial" panose="020B0604020202020204" pitchFamily="34" charset="0"/>
              <a:cs typeface="Arial" panose="020B0604020202020204" pitchFamily="34" charset="0"/>
            </a:endParaRPr>
          </a:p>
          <a:p>
            <a:pPr marL="0" indent="0">
              <a:spcBef>
                <a:spcPts val="0"/>
              </a:spcBef>
              <a:buNone/>
              <a:defRPr/>
            </a:pPr>
            <a:endParaRPr lang="en-GB" sz="900" dirty="0">
              <a:solidFill>
                <a:srgbClr val="FF0000"/>
              </a:solidFill>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AEAEAB9F-1499-82C1-BD6A-986B050D217B}"/>
              </a:ext>
            </a:extLst>
          </p:cNvPr>
          <p:cNvGraphicFramePr>
            <a:graphicFrameLocks noGrp="1"/>
          </p:cNvGraphicFramePr>
          <p:nvPr>
            <p:extLst>
              <p:ext uri="{D42A27DB-BD31-4B8C-83A1-F6EECF244321}">
                <p14:modId xmlns:p14="http://schemas.microsoft.com/office/powerpoint/2010/main" val="898745159"/>
              </p:ext>
            </p:extLst>
          </p:nvPr>
        </p:nvGraphicFramePr>
        <p:xfrm>
          <a:off x="9680713" y="1077347"/>
          <a:ext cx="2219242" cy="2380234"/>
        </p:xfrm>
        <a:graphic>
          <a:graphicData uri="http://schemas.openxmlformats.org/drawingml/2006/table">
            <a:tbl>
              <a:tblPr>
                <a:tableStyleId>{5C22544A-7EE6-4342-B048-85BDC9FD1C3A}</a:tableStyleId>
              </a:tblPr>
              <a:tblGrid>
                <a:gridCol w="2219242">
                  <a:extLst>
                    <a:ext uri="{9D8B030D-6E8A-4147-A177-3AD203B41FA5}">
                      <a16:colId xmlns:a16="http://schemas.microsoft.com/office/drawing/2014/main" val="3460224015"/>
                    </a:ext>
                  </a:extLst>
                </a:gridCol>
              </a:tblGrid>
              <a:tr h="2162589">
                <a:tc>
                  <a:txBody>
                    <a:bodyPr/>
                    <a:lstStyle/>
                    <a:p>
                      <a:pPr marR="180340" algn="l">
                        <a:lnSpc>
                          <a:spcPts val="1000"/>
                        </a:lnSpc>
                      </a:pPr>
                      <a:r>
                        <a:rPr lang="en-US" sz="800" b="1" u="none" dirty="0" err="1">
                          <a:effectLst/>
                          <a:latin typeface="Arial" panose="020B0604020202020204" pitchFamily="34" charset="0"/>
                          <a:cs typeface="Arial" panose="020B0604020202020204" pitchFamily="34" charset="0"/>
                        </a:rPr>
                        <a:t>In.Corp</a:t>
                      </a:r>
                      <a:r>
                        <a:rPr lang="en-US" sz="800" b="1" u="none" dirty="0">
                          <a:effectLst/>
                          <a:latin typeface="Arial" panose="020B0604020202020204" pitchFamily="34" charset="0"/>
                          <a:cs typeface="Arial" panose="020B0604020202020204" pitchFamily="34" charset="0"/>
                        </a:rPr>
                        <a:t> Audit &amp; Assurance Pty Ltd</a:t>
                      </a:r>
                      <a:endParaRPr lang="en-AU" sz="800" b="1" u="none" dirty="0">
                        <a:effectLst/>
                        <a:latin typeface="Arial" panose="020B0604020202020204" pitchFamily="34" charset="0"/>
                        <a:cs typeface="Arial" panose="020B0604020202020204" pitchFamily="34" charset="0"/>
                      </a:endParaRPr>
                    </a:p>
                    <a:p>
                      <a:pPr marR="180340" algn="l">
                        <a:lnSpc>
                          <a:spcPts val="1000"/>
                        </a:lnSpc>
                      </a:pPr>
                      <a:r>
                        <a:rPr lang="en-GB" sz="800" b="1" dirty="0">
                          <a:effectLst/>
                          <a:latin typeface="Arial" panose="020B0604020202020204" pitchFamily="34" charset="0"/>
                          <a:cs typeface="Arial" panose="020B0604020202020204" pitchFamily="34" charset="0"/>
                        </a:rPr>
                        <a:t>ABN 14 129 769 151</a:t>
                      </a:r>
                      <a:endParaRPr lang="en-AU" sz="800" b="1" dirty="0">
                        <a:effectLst/>
                        <a:latin typeface="Arial" panose="020B0604020202020204" pitchFamily="34" charset="0"/>
                        <a:cs typeface="Arial" panose="020B0604020202020204" pitchFamily="34" charset="0"/>
                      </a:endParaRPr>
                    </a:p>
                    <a:p>
                      <a:pPr marR="180340" algn="l">
                        <a:lnSpc>
                          <a:spcPts val="1000"/>
                        </a:lnSpc>
                      </a:pPr>
                      <a:r>
                        <a:rPr lang="en-GB" sz="800" b="1" dirty="0">
                          <a:effectLst/>
                          <a:latin typeface="Arial" panose="020B0604020202020204" pitchFamily="34" charset="0"/>
                          <a:cs typeface="Arial" panose="020B0604020202020204" pitchFamily="34" charset="0"/>
                        </a:rPr>
                        <a:t> </a:t>
                      </a:r>
                      <a:endParaRPr lang="en-AU" sz="800" b="1" dirty="0">
                        <a:effectLst/>
                        <a:latin typeface="Arial" panose="020B0604020202020204" pitchFamily="34" charset="0"/>
                        <a:cs typeface="Arial" panose="020B0604020202020204" pitchFamily="34" charset="0"/>
                      </a:endParaRPr>
                    </a:p>
                    <a:p>
                      <a:pPr marR="180340" algn="l">
                        <a:lnSpc>
                          <a:spcPts val="1000"/>
                        </a:lnSpc>
                      </a:pPr>
                      <a:r>
                        <a:rPr lang="en-GB" sz="800" b="1" dirty="0">
                          <a:effectLst/>
                          <a:latin typeface="Arial" panose="020B0604020202020204" pitchFamily="34" charset="0"/>
                          <a:cs typeface="Arial" panose="020B0604020202020204" pitchFamily="34" charset="0"/>
                        </a:rPr>
                        <a:t>Level 1</a:t>
                      </a:r>
                      <a:endParaRPr lang="en-AU" sz="800" b="1" dirty="0">
                        <a:effectLst/>
                        <a:latin typeface="Arial" panose="020B0604020202020204" pitchFamily="34" charset="0"/>
                        <a:cs typeface="Arial" panose="020B0604020202020204" pitchFamily="34" charset="0"/>
                      </a:endParaRPr>
                    </a:p>
                    <a:p>
                      <a:pPr marR="180340" algn="l">
                        <a:lnSpc>
                          <a:spcPts val="1000"/>
                        </a:lnSpc>
                      </a:pPr>
                      <a:r>
                        <a:rPr lang="en-GB" sz="800" b="1" dirty="0">
                          <a:effectLst/>
                          <a:latin typeface="Arial" panose="020B0604020202020204" pitchFamily="34" charset="0"/>
                          <a:cs typeface="Arial" panose="020B0604020202020204" pitchFamily="34" charset="0"/>
                        </a:rPr>
                        <a:t>6-10 O’Connell Street </a:t>
                      </a:r>
                      <a:endParaRPr lang="en-AU" sz="800" b="1" dirty="0">
                        <a:effectLst/>
                        <a:latin typeface="Arial" panose="020B0604020202020204" pitchFamily="34" charset="0"/>
                        <a:cs typeface="Arial" panose="020B0604020202020204" pitchFamily="34" charset="0"/>
                      </a:endParaRPr>
                    </a:p>
                    <a:p>
                      <a:pPr marR="180340" algn="l">
                        <a:lnSpc>
                          <a:spcPts val="1000"/>
                        </a:lnSpc>
                      </a:pPr>
                      <a:r>
                        <a:rPr lang="en-GB" sz="800" b="1" dirty="0">
                          <a:effectLst/>
                          <a:latin typeface="Arial" panose="020B0604020202020204" pitchFamily="34" charset="0"/>
                          <a:cs typeface="Arial" panose="020B0604020202020204" pitchFamily="34" charset="0"/>
                        </a:rPr>
                        <a:t>SYDNEY  NSW  2000</a:t>
                      </a:r>
                      <a:endParaRPr lang="en-AU" sz="800" b="1" dirty="0">
                        <a:effectLst/>
                        <a:latin typeface="Arial" panose="020B0604020202020204" pitchFamily="34" charset="0"/>
                        <a:cs typeface="Arial" panose="020B0604020202020204" pitchFamily="34" charset="0"/>
                      </a:endParaRPr>
                    </a:p>
                    <a:p>
                      <a:pPr marR="180340" algn="l">
                        <a:lnSpc>
                          <a:spcPts val="1000"/>
                        </a:lnSpc>
                      </a:pPr>
                      <a:endParaRPr lang="en-GB" sz="800" b="1" dirty="0">
                        <a:effectLst/>
                        <a:latin typeface="Arial" panose="020B0604020202020204" pitchFamily="34" charset="0"/>
                        <a:cs typeface="Arial" panose="020B0604020202020204" pitchFamily="34" charset="0"/>
                      </a:endParaRPr>
                    </a:p>
                    <a:p>
                      <a:pPr marL="0" marR="180340" algn="l" defTabSz="914400" rtl="0" eaLnBrk="1" latinLnBrk="0" hangingPunct="1">
                        <a:lnSpc>
                          <a:spcPts val="1000"/>
                        </a:lnSpc>
                      </a:pPr>
                      <a:r>
                        <a:rPr lang="en-US" sz="800" b="1" kern="1200" dirty="0">
                          <a:solidFill>
                            <a:schemeClr val="dk1"/>
                          </a:solidFill>
                          <a:effectLst/>
                          <a:latin typeface="Arial" panose="020B0604020202020204" pitchFamily="34" charset="0"/>
                          <a:ea typeface="+mn-ea"/>
                          <a:cs typeface="Arial" panose="020B0604020202020204" pitchFamily="34" charset="0"/>
                        </a:rPr>
                        <a:t>Suite 11, Level 1</a:t>
                      </a:r>
                    </a:p>
                    <a:p>
                      <a:pPr marL="0" marR="180340" algn="l" defTabSz="914400" rtl="0" eaLnBrk="1" latinLnBrk="0" hangingPunct="1">
                        <a:lnSpc>
                          <a:spcPts val="1000"/>
                        </a:lnSpc>
                      </a:pPr>
                      <a:r>
                        <a:rPr lang="en-US" sz="800" b="1" kern="1200" dirty="0">
                          <a:solidFill>
                            <a:schemeClr val="dk1"/>
                          </a:solidFill>
                          <a:effectLst/>
                          <a:latin typeface="Arial" panose="020B0604020202020204" pitchFamily="34" charset="0"/>
                          <a:ea typeface="+mn-ea"/>
                          <a:cs typeface="Arial" panose="020B0604020202020204" pitchFamily="34" charset="0"/>
                        </a:rPr>
                        <a:t>4 Ventnor Avenue</a:t>
                      </a:r>
                    </a:p>
                    <a:p>
                      <a:pPr marL="0" marR="180340" algn="l" defTabSz="914400" rtl="0" eaLnBrk="1" latinLnBrk="0" hangingPunct="1">
                        <a:lnSpc>
                          <a:spcPts val="1000"/>
                        </a:lnSpc>
                      </a:pPr>
                      <a:r>
                        <a:rPr lang="en-US" sz="800" b="1" kern="1200" dirty="0">
                          <a:solidFill>
                            <a:schemeClr val="dk1"/>
                          </a:solidFill>
                          <a:effectLst/>
                          <a:latin typeface="Arial" panose="020B0604020202020204" pitchFamily="34" charset="0"/>
                          <a:ea typeface="+mn-ea"/>
                          <a:cs typeface="Arial" panose="020B0604020202020204" pitchFamily="34" charset="0"/>
                        </a:rPr>
                        <a:t>WEST PERTH  WA  6005</a:t>
                      </a:r>
                    </a:p>
                    <a:p>
                      <a:pPr marR="180340" algn="l">
                        <a:lnSpc>
                          <a:spcPts val="1000"/>
                        </a:lnSpc>
                      </a:pPr>
                      <a:br>
                        <a:rPr lang="en-GB" sz="800" b="1" dirty="0">
                          <a:effectLst/>
                          <a:latin typeface="Arial" panose="020B0604020202020204" pitchFamily="34" charset="0"/>
                          <a:cs typeface="Arial" panose="020B0604020202020204" pitchFamily="34" charset="0"/>
                        </a:rPr>
                      </a:br>
                      <a:r>
                        <a:rPr lang="en-GB" sz="800" b="1" dirty="0">
                          <a:effectLst/>
                          <a:latin typeface="Arial" panose="020B0604020202020204" pitchFamily="34" charset="0"/>
                          <a:cs typeface="Arial" panose="020B0604020202020204" pitchFamily="34" charset="0"/>
                        </a:rPr>
                        <a:t>GPO BOX 542</a:t>
                      </a:r>
                      <a:endParaRPr lang="en-AU" sz="800" b="1" dirty="0">
                        <a:effectLst/>
                        <a:latin typeface="Arial" panose="020B0604020202020204" pitchFamily="34" charset="0"/>
                        <a:cs typeface="Arial" panose="020B0604020202020204" pitchFamily="34" charset="0"/>
                      </a:endParaRPr>
                    </a:p>
                    <a:p>
                      <a:pPr marR="180340" algn="l">
                        <a:lnSpc>
                          <a:spcPts val="1000"/>
                        </a:lnSpc>
                      </a:pPr>
                      <a:r>
                        <a:rPr lang="en-GB" sz="800" b="1" dirty="0">
                          <a:effectLst/>
                          <a:latin typeface="Arial" panose="020B0604020202020204" pitchFamily="34" charset="0"/>
                          <a:cs typeface="Arial" panose="020B0604020202020204" pitchFamily="34" charset="0"/>
                        </a:rPr>
                        <a:t>SYDNEY  NSW 2001</a:t>
                      </a:r>
                      <a:endParaRPr lang="en-AU" sz="800" b="1" dirty="0">
                        <a:effectLst/>
                        <a:latin typeface="Arial" panose="020B0604020202020204" pitchFamily="34" charset="0"/>
                        <a:cs typeface="Arial" panose="020B0604020202020204" pitchFamily="34" charset="0"/>
                      </a:endParaRPr>
                    </a:p>
                    <a:p>
                      <a:pPr marR="180340" algn="l">
                        <a:lnSpc>
                          <a:spcPts val="1000"/>
                        </a:lnSpc>
                      </a:pPr>
                      <a:r>
                        <a:rPr lang="en-GB" sz="800" dirty="0">
                          <a:effectLst/>
                          <a:latin typeface="Arial" panose="020B0604020202020204" pitchFamily="34" charset="0"/>
                          <a:cs typeface="Arial" panose="020B0604020202020204" pitchFamily="34" charset="0"/>
                        </a:rPr>
                        <a:t> </a:t>
                      </a:r>
                      <a:endParaRPr lang="en-AU" sz="800" dirty="0">
                        <a:effectLst/>
                        <a:latin typeface="Arial" panose="020B0604020202020204" pitchFamily="34" charset="0"/>
                        <a:cs typeface="Arial" panose="020B0604020202020204" pitchFamily="34" charset="0"/>
                      </a:endParaRPr>
                    </a:p>
                    <a:p>
                      <a:pPr marR="180340" algn="l">
                        <a:lnSpc>
                          <a:spcPts val="1000"/>
                        </a:lnSpc>
                      </a:pPr>
                      <a:r>
                        <a:rPr lang="en-GB" sz="800" dirty="0">
                          <a:effectLst/>
                          <a:latin typeface="Arial" panose="020B0604020202020204" pitchFamily="34" charset="0"/>
                          <a:cs typeface="Arial" panose="020B0604020202020204" pitchFamily="34" charset="0"/>
                        </a:rPr>
                        <a:t>T    +61 2 8</a:t>
                      </a:r>
                      <a:r>
                        <a:rPr lang="en-AU" sz="800" dirty="0">
                          <a:effectLst/>
                          <a:latin typeface="Arial" panose="020B0604020202020204" pitchFamily="34" charset="0"/>
                          <a:cs typeface="Arial" panose="020B0604020202020204" pitchFamily="34" charset="0"/>
                        </a:rPr>
                        <a:t>999 1199</a:t>
                      </a:r>
                    </a:p>
                    <a:p>
                      <a:pPr marR="180340" algn="l">
                        <a:lnSpc>
                          <a:spcPts val="1000"/>
                        </a:lnSpc>
                      </a:pPr>
                      <a:r>
                        <a:rPr lang="en-GB" sz="800" dirty="0">
                          <a:effectLst/>
                          <a:latin typeface="Arial" panose="020B0604020202020204" pitchFamily="34" charset="0"/>
                          <a:cs typeface="Arial" panose="020B0604020202020204" pitchFamily="34" charset="0"/>
                        </a:rPr>
                        <a:t>E    </a:t>
                      </a:r>
                      <a:r>
                        <a:rPr lang="en-AU" sz="800" u="sng" dirty="0">
                          <a:effectLst/>
                          <a:latin typeface="Arial" panose="020B0604020202020204" pitchFamily="34" charset="0"/>
                          <a:cs typeface="Arial" panose="020B0604020202020204" pitchFamily="34" charset="0"/>
                          <a:hlinkClick r:id="rId2"/>
                        </a:rPr>
                        <a:t>team@incorpadvisory.au</a:t>
                      </a:r>
                      <a:endParaRPr lang="en-AU" sz="800" dirty="0">
                        <a:effectLst/>
                        <a:latin typeface="Arial" panose="020B0604020202020204" pitchFamily="34" charset="0"/>
                        <a:cs typeface="Arial" panose="020B0604020202020204" pitchFamily="34" charset="0"/>
                      </a:endParaRPr>
                    </a:p>
                    <a:p>
                      <a:pPr marR="180340" algn="l">
                        <a:lnSpc>
                          <a:spcPts val="1000"/>
                        </a:lnSpc>
                      </a:pPr>
                      <a:r>
                        <a:rPr lang="en-GB" sz="800" dirty="0">
                          <a:effectLst/>
                          <a:latin typeface="Arial" panose="020B0604020202020204" pitchFamily="34" charset="0"/>
                          <a:cs typeface="Arial" panose="020B0604020202020204" pitchFamily="34" charset="0"/>
                        </a:rPr>
                        <a:t>W   </a:t>
                      </a:r>
                      <a:r>
                        <a:rPr lang="en-AU" sz="800" u="sng" dirty="0">
                          <a:effectLst/>
                          <a:latin typeface="Arial" panose="020B0604020202020204" pitchFamily="34" charset="0"/>
                          <a:cs typeface="Arial" panose="020B0604020202020204" pitchFamily="34" charset="0"/>
                          <a:hlinkClick r:id="rId3"/>
                        </a:rPr>
                        <a:t>incorpadvisory.au</a:t>
                      </a:r>
                      <a:endParaRPr lang="en-AU" sz="800" dirty="0">
                        <a:effectLst/>
                        <a:latin typeface="Arial" panose="020B0604020202020204" pitchFamily="34" charset="0"/>
                        <a:ea typeface="Times New Roman" panose="02020603050405020304" pitchFamily="18" charset="0"/>
                        <a:cs typeface="Arial" panose="020B0604020202020204" pitchFamily="34" charset="0"/>
                      </a:endParaRPr>
                    </a:p>
                  </a:txBody>
                  <a:tcPr marL="114935" marR="114935" marT="114935" marB="11493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9514970"/>
                  </a:ext>
                </a:extLst>
              </a:tr>
            </a:tbl>
          </a:graphicData>
        </a:graphic>
      </p:graphicFrame>
      <p:cxnSp>
        <p:nvCxnSpPr>
          <p:cNvPr id="5" name="Line 15">
            <a:extLst>
              <a:ext uri="{FF2B5EF4-FFF2-40B4-BE49-F238E27FC236}">
                <a16:creationId xmlns:a16="http://schemas.microsoft.com/office/drawing/2014/main" id="{101FC622-A241-D240-61B1-3A5C8A1F1442}"/>
              </a:ext>
            </a:extLst>
          </p:cNvPr>
          <p:cNvCxnSpPr>
            <a:cxnSpLocks noChangeShapeType="1"/>
          </p:cNvCxnSpPr>
          <p:nvPr/>
        </p:nvCxnSpPr>
        <p:spPr bwMode="auto">
          <a:xfrm flipV="1">
            <a:off x="546277" y="1077347"/>
            <a:ext cx="11108010" cy="47266"/>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pic>
        <p:nvPicPr>
          <p:cNvPr id="14" name="Picture 13" descr="A logo with a black background&#10;&#10;Description automatically generated">
            <a:extLst>
              <a:ext uri="{FF2B5EF4-FFF2-40B4-BE49-F238E27FC236}">
                <a16:creationId xmlns:a16="http://schemas.microsoft.com/office/drawing/2014/main" id="{A6BED620-E08C-D623-78BF-B6C909DEAED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311430" y="400470"/>
            <a:ext cx="963295" cy="634365"/>
          </a:xfrm>
          <a:prstGeom prst="rect">
            <a:avLst/>
          </a:prstGeom>
          <a:noFill/>
          <a:ln>
            <a:noFill/>
          </a:ln>
        </p:spPr>
      </p:pic>
      <p:sp>
        <p:nvSpPr>
          <p:cNvPr id="6" name="Rectangle 5">
            <a:extLst>
              <a:ext uri="{FF2B5EF4-FFF2-40B4-BE49-F238E27FC236}">
                <a16:creationId xmlns:a16="http://schemas.microsoft.com/office/drawing/2014/main" id="{9827790E-C12C-6E79-5CD8-B30B1D1690FA}"/>
              </a:ext>
            </a:extLst>
          </p:cNvPr>
          <p:cNvSpPr/>
          <p:nvPr/>
        </p:nvSpPr>
        <p:spPr>
          <a:xfrm rot="16200000" flipV="1">
            <a:off x="-2847475" y="3158896"/>
            <a:ext cx="5752282" cy="75438"/>
          </a:xfrm>
          <a:prstGeom prst="rec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350" dirty="0"/>
              <a:t>-</a:t>
            </a:r>
          </a:p>
        </p:txBody>
      </p:sp>
      <p:sp>
        <p:nvSpPr>
          <p:cNvPr id="11" name="Rectangle 10">
            <a:extLst>
              <a:ext uri="{FF2B5EF4-FFF2-40B4-BE49-F238E27FC236}">
                <a16:creationId xmlns:a16="http://schemas.microsoft.com/office/drawing/2014/main" id="{E41889A3-0B25-260D-DC12-1F747A1201C3}"/>
              </a:ext>
            </a:extLst>
          </p:cNvPr>
          <p:cNvSpPr/>
          <p:nvPr/>
        </p:nvSpPr>
        <p:spPr>
          <a:xfrm rot="16200000" flipV="1">
            <a:off x="9298408" y="3236774"/>
            <a:ext cx="5752282" cy="75438"/>
          </a:xfrm>
          <a:prstGeom prst="rec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350" dirty="0"/>
          </a:p>
        </p:txBody>
      </p:sp>
      <p:pic>
        <p:nvPicPr>
          <p:cNvPr id="9" name="Picture 8" descr="A white and red globe with a black background&#10;&#10;AI-generated content may be incorrect.">
            <a:extLst>
              <a:ext uri="{FF2B5EF4-FFF2-40B4-BE49-F238E27FC236}">
                <a16:creationId xmlns:a16="http://schemas.microsoft.com/office/drawing/2014/main" id="{35B0A84C-CC44-4870-325C-99BF57D410F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6969" y="361432"/>
            <a:ext cx="1634286" cy="704316"/>
          </a:xfrm>
          <a:prstGeom prst="rect">
            <a:avLst/>
          </a:prstGeom>
        </p:spPr>
      </p:pic>
    </p:spTree>
    <p:extLst>
      <p:ext uri="{BB962C8B-B14F-4D97-AF65-F5344CB8AC3E}">
        <p14:creationId xmlns:p14="http://schemas.microsoft.com/office/powerpoint/2010/main" val="116026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4E5BC1-1561-42F3-A4D1-C6F220077021}"/>
              </a:ext>
            </a:extLst>
          </p:cNvPr>
          <p:cNvSpPr>
            <a:spLocks noGrp="1"/>
          </p:cNvSpPr>
          <p:nvPr>
            <p:ph type="sldNum" sz="quarter" idx="12"/>
          </p:nvPr>
        </p:nvSpPr>
        <p:spPr/>
        <p:txBody>
          <a:bodyPr/>
          <a:lstStyle/>
          <a:p>
            <a:pPr/>
            <a:r>
              <a:rPr lang="en-AU" dirty="0">
                <a:solidFill/>
              </a:rPr>
              <a:t>1</a:t>
            </a:r>
          </a:p>
        </p:txBody>
      </p:sp>
      <p:sp>
        <p:nvSpPr>
          <p:cNvPr id="8" name="executive_summary_title">
            <a:extLst>
              <a:ext uri="{FF2B5EF4-FFF2-40B4-BE49-F238E27FC236}">
                <a16:creationId xmlns:a16="http://schemas.microsoft.com/office/drawing/2014/main" id="{C342DEC7-1171-49C7-87D8-52315D5DF2C4}"/>
              </a:ext>
            </a:extLst>
          </p:cNvPr>
          <p:cNvSpPr txBox="1">
            <a:spLocks/>
          </p:cNvSpPr>
          <p:nvPr/>
        </p:nvSpPr>
        <p:spPr>
          <a:xfrm>
            <a:off x="413393" y="320474"/>
            <a:ext cx="8316912" cy="432000"/>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spc="-150" dirty="0">
                <a:solidFill>
                  <a:srgbClr val="BB2121"/>
                </a:solidFill>
                <a:latin typeface="Arial" panose="020B0604020202020204" pitchFamily="34" charset="0"/>
                <a:cs typeface="Arial" panose="020B0604020202020204" pitchFamily="34" charset="0"/>
              </a:rPr>
              <a:t>EXECUTIVE SUMMARY</a:t>
            </a:r>
            <a:endParaRPr lang="en-AU" sz="2800" b="1" spc="-150" dirty="0">
              <a:solidFill>
                <a:srgbClr val="BB2121"/>
              </a:solidFill>
              <a:latin typeface="Arial" panose="020B0604020202020204" pitchFamily="34" charset="0"/>
              <a:cs typeface="Arial" panose="020B0604020202020204" pitchFamily="34" charset="0"/>
            </a:endParaRPr>
          </a:p>
        </p:txBody>
      </p:sp>
      <p:sp>
        <p:nvSpPr>
          <p:cNvPr id="7" name="Text Placeholder 11">
            <a:extLst>
              <a:ext uri="{FF2B5EF4-FFF2-40B4-BE49-F238E27FC236}">
                <a16:creationId xmlns:a16="http://schemas.microsoft.com/office/drawing/2014/main" id="{927B68E5-B136-48B9-999E-EC8111F56E0B}"/>
              </a:ext>
            </a:extLst>
          </p:cNvPr>
          <p:cNvSpPr txBox="1">
            <a:spLocks/>
          </p:cNvSpPr>
          <p:nvPr/>
        </p:nvSpPr>
        <p:spPr>
          <a:xfrm>
            <a:off x="413393" y="767826"/>
            <a:ext cx="11361663" cy="249300"/>
          </a:xfrm>
          <a:prstGeom prst="rect">
            <a:avLst/>
          </a:prstGeom>
        </p:spPr>
        <p:txBody>
          <a:bodyPr lIns="0" r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50" i="1" dirty="0" err="1">
                <a:solidFill>
                  <a:schemeClr val="bg1">
                    <a:lumMod val="50000"/>
                  </a:schemeClr>
                </a:solidFill>
                <a:latin typeface="Arial" panose="020B0604020202020204" pitchFamily="34" charset="0"/>
                <a:cs typeface="Arial" panose="020B0604020202020204" pitchFamily="34" charset="0"/>
              </a:rPr>
              <a:t>In.Corp</a:t>
            </a:r>
            <a:r>
              <a:rPr lang="en-US" sz="1050" i="1" dirty="0">
                <a:solidFill>
                  <a:schemeClr val="bg1">
                    <a:lumMod val="50000"/>
                  </a:schemeClr>
                </a:solidFill>
                <a:latin typeface="Arial" panose="020B0604020202020204" pitchFamily="34" charset="0"/>
                <a:cs typeface="Arial" panose="020B0604020202020204" pitchFamily="34" charset="0"/>
              </a:rPr>
              <a:t> strives to promote a service delivery model that is professional, dedicated and personable placing our client needs as paramount.</a:t>
            </a:r>
            <a:endParaRPr lang="en-AU" sz="1050" i="1" dirty="0">
              <a:solidFill>
                <a:schemeClr val="bg1">
                  <a:lumMod val="50000"/>
                </a:schemeClr>
              </a:solidFill>
              <a:latin typeface="Arial" panose="020B060402020202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02ACECE6-71C8-41DA-8C57-23181427BAD2}"/>
              </a:ext>
            </a:extLst>
          </p:cNvPr>
          <p:cNvSpPr txBox="1">
            <a:spLocks/>
          </p:cNvSpPr>
          <p:nvPr/>
        </p:nvSpPr>
        <p:spPr>
          <a:xfrm>
            <a:off x="413394" y="1169777"/>
            <a:ext cx="11361663" cy="1235553"/>
          </a:xfrm>
          <a:prstGeom prst="rect">
            <a:avLst/>
          </a:prstGeom>
        </p:spPr>
        <p:txBody>
          <a:bodyPr vert="horz" lIns="0" tIns="45720" rIns="0" bIns="45720" rtlCol="0" anchor="t" anchorCtr="0"/>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1600" b="1" dirty="0">
                <a:solidFill>
                  <a:srgbClr val="2F465A"/>
                </a:solidFill>
                <a:latin typeface="Arial" panose="020B0604020202020204" pitchFamily="34" charset="0"/>
                <a:cs typeface="Arial" panose="020B0604020202020204" pitchFamily="34" charset="0"/>
              </a:rPr>
              <a:t>YOUR NEEDS</a:t>
            </a:r>
          </a:p>
          <a:p>
            <a:pPr algn="l"/>
            <a:endParaRPr lang="en-US" sz="600" dirty="0">
              <a:solidFill>
                <a:schemeClr val="tx1"/>
              </a:solidFill>
              <a:latin typeface="Arial" panose="020B0604020202020204" pitchFamily="34" charset="0"/>
              <a:cs typeface="Arial" panose="020B0604020202020204" pitchFamily="34" charset="0"/>
            </a:endParaRPr>
          </a:p>
          <a:p>
            <a:pPr algn="l"/>
            <a:r>
              <a:rPr sz="900">
                <a:solidFill>
                  <a:schemeClr val="tx1"/>
                </a:solidFill>
                <a:latin typeface="Arial"/>
              </a:rPr>
              <a:t>This proposal demonstrates how </a:t>
            </a:r>
            <a:r>
              <a:rPr sz="900">
                <a:solidFill>
                  <a:schemeClr val="tx1"/>
                </a:solidFill>
                <a:latin typeface="Arial"/>
              </a:rPr>
              <a:t>In.Corp</a:t>
            </a:r>
            <a:r>
              <a:rPr sz="900">
                <a:solidFill>
                  <a:schemeClr val="tx1"/>
                </a:solidFill>
                <a:latin typeface="Arial"/>
              </a:rPr>
              <a:t>, and its assurance team, are best placed to provide independent audit &amp; assurance services to SRJ Technologies Group Plc. We trust this proposal provides all the information you require, and we would be happy to discuss any points further. </a:t>
            </a:r>
          </a:p>
          <a:p>
            <a:pPr algn="l"/>
            <a:endParaRPr lang="en-US" sz="600" dirty="0">
              <a:solidFill>
                <a:schemeClr val="tx1"/>
              </a:solidFill>
              <a:latin typeface="Arial" panose="020B0604020202020204" pitchFamily="34" charset="0"/>
              <a:cs typeface="Arial" panose="020B0604020202020204" pitchFamily="34" charset="0"/>
            </a:endParaRPr>
          </a:p>
          <a:p>
            <a:pPr algn="l"/>
            <a:r>
              <a:rPr lang="en-US" sz="900" dirty="0">
                <a:solidFill>
                  <a:schemeClr val="tx1"/>
                </a:solidFill>
                <a:latin typeface="Arial" panose="020B0604020202020204" pitchFamily="34" charset="0"/>
                <a:cs typeface="Arial" panose="020B0604020202020204" pitchFamily="34" charset="0"/>
              </a:rPr>
              <a:t>Our assurance team specialises in the provision of professional advisory services.  We pride ourselves on being an independent resource to management and a ‘steady-hand’ in an uncertain market. </a:t>
            </a:r>
          </a:p>
        </p:txBody>
      </p:sp>
      <p:sp>
        <p:nvSpPr>
          <p:cNvPr id="11" name="Text Placeholder 9">
            <a:extLst>
              <a:ext uri="{FF2B5EF4-FFF2-40B4-BE49-F238E27FC236}">
                <a16:creationId xmlns:a16="http://schemas.microsoft.com/office/drawing/2014/main" id="{9B69B1DD-44F6-49A7-817B-B8092E053476}"/>
              </a:ext>
            </a:extLst>
          </p:cNvPr>
          <p:cNvSpPr txBox="1">
            <a:spLocks/>
          </p:cNvSpPr>
          <p:nvPr/>
        </p:nvSpPr>
        <p:spPr>
          <a:xfrm>
            <a:off x="444914" y="2551721"/>
            <a:ext cx="5382351" cy="3512085"/>
          </a:xfrm>
          <a:prstGeom prst="rect">
            <a:avLst/>
          </a:prstGeom>
        </p:spPr>
        <p:txBody>
          <a:bodyPr vert="horz" lIns="0" tIns="45720" rIns="0" bIns="45720" numCol="1" rtlCol="0" anchor="t" anchorCtr="0"/>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1600" b="1" dirty="0">
                <a:solidFill>
                  <a:srgbClr val="2F465A"/>
                </a:solidFill>
                <a:latin typeface="Arial" panose="020B0604020202020204" pitchFamily="34" charset="0"/>
                <a:cs typeface="Arial" panose="020B0604020202020204" pitchFamily="34" charset="0"/>
              </a:rPr>
              <a:t>ADDRESSING YOUR NEEDS</a:t>
            </a:r>
            <a:endParaRPr lang="en-AU" sz="1600" dirty="0">
              <a:solidFill>
                <a:srgbClr val="2F465A"/>
              </a:solidFill>
              <a:latin typeface="Arial" panose="020B0604020202020204" pitchFamily="34" charset="0"/>
              <a:cs typeface="Arial" panose="020B0604020202020204" pitchFamily="34" charset="0"/>
            </a:endParaRPr>
          </a:p>
          <a:p>
            <a:pPr algn="l"/>
            <a:endParaRPr lang="en-AU" sz="700" dirty="0">
              <a:solidFill>
                <a:srgbClr val="2F465A"/>
              </a:solidFill>
              <a:latin typeface="Arial" panose="020B0604020202020204" pitchFamily="34" charset="0"/>
              <a:cs typeface="Arial" panose="020B0604020202020204" pitchFamily="34" charset="0"/>
            </a:endParaRPr>
          </a:p>
          <a:p>
            <a:pPr algn="l"/>
            <a:r>
              <a:rPr lang="en-US" sz="900" i="1" dirty="0">
                <a:solidFill>
                  <a:srgbClr val="2F465A"/>
                </a:solidFill>
                <a:latin typeface="Arial" panose="020B0604020202020204" pitchFamily="34" charset="0"/>
                <a:cs typeface="Arial" panose="020B0604020202020204" pitchFamily="34" charset="0"/>
              </a:rPr>
              <a:t>EXPERIENCED &amp; SENIOR TEAM</a:t>
            </a:r>
          </a:p>
          <a:p>
            <a:pPr algn="l"/>
            <a:endParaRPr lang="en-US" sz="700" i="1" dirty="0">
              <a:solidFill>
                <a:srgbClr val="B07A59"/>
              </a:solidFill>
              <a:latin typeface="Arial" panose="020B0604020202020204" pitchFamily="34" charset="0"/>
              <a:cs typeface="Arial" panose="020B0604020202020204" pitchFamily="34" charset="0"/>
            </a:endParaRPr>
          </a:p>
          <a:p>
            <a:pPr algn="l"/>
            <a:r>
              <a:rPr sz="900">
                <a:solidFill>
                  <a:schemeClr val="tx1"/>
                </a:solidFill>
                <a:latin typeface="Arial"/>
              </a:rPr>
              <a:t>The </a:t>
            </a:r>
            <a:r>
              <a:rPr sz="900">
                <a:solidFill>
                  <a:schemeClr val="tx1"/>
                </a:solidFill>
                <a:latin typeface="Arial"/>
              </a:rPr>
              <a:t>In.Corp</a:t>
            </a:r>
            <a:r>
              <a:rPr sz="900">
                <a:solidFill>
                  <a:schemeClr val="tx1"/>
                </a:solidFill>
                <a:latin typeface="Arial"/>
              </a:rPr>
              <a:t> Client Service Team has the technical skills, commercial knowledge and experience to meet your service requirements.  The team has extensive experience in providing audit and assurance and other professional services to the software and manufacturing sectors</a:t>
            </a:r>
            <a:r>
              <a:rPr sz="900">
                <a:solidFill>
                  <a:schemeClr val="tx1"/>
                </a:solidFill>
                <a:latin typeface="Arial"/>
              </a:rPr>
              <a:t> as well as many other wide and varied industries</a:t>
            </a:r>
            <a:r>
              <a:rPr sz="900">
                <a:solidFill>
                  <a:schemeClr val="tx1"/>
                </a:solidFill>
                <a:latin typeface="Arial"/>
              </a:rPr>
              <a:t> and will provide value added services by providing feedback on areas of risk management and internal controls.</a:t>
            </a:r>
          </a:p>
          <a:p>
            <a:pPr algn="l"/>
            <a:endParaRPr lang="en-AU" sz="700" dirty="0">
              <a:solidFill>
                <a:schemeClr val="tx1"/>
              </a:solidFill>
              <a:latin typeface="Arial" panose="020B0604020202020204" pitchFamily="34" charset="0"/>
              <a:cs typeface="Arial" panose="020B0604020202020204" pitchFamily="34" charset="0"/>
            </a:endParaRPr>
          </a:p>
          <a:p>
            <a:pPr algn="l"/>
            <a:r>
              <a:rPr lang="en-AU" sz="900" dirty="0">
                <a:solidFill>
                  <a:schemeClr val="tx1"/>
                </a:solidFill>
                <a:latin typeface="Arial" panose="020B0604020202020204" pitchFamily="34" charset="0"/>
                <a:cs typeface="Arial" panose="020B0604020202020204" pitchFamily="34" charset="0"/>
              </a:rPr>
              <a:t>We will utilise our range of resources, knowledge and experience gained to deliver a seamless service that adds value to your business while meeting your assurance and financial reporting requirements.</a:t>
            </a:r>
          </a:p>
          <a:p>
            <a:pPr algn="l"/>
            <a:endParaRPr lang="en-AU" sz="700" dirty="0">
              <a:solidFill>
                <a:schemeClr val="tx1"/>
              </a:solidFill>
              <a:latin typeface="Arial" panose="020B0604020202020204" pitchFamily="34" charset="0"/>
              <a:cs typeface="Arial" panose="020B0604020202020204" pitchFamily="34" charset="0"/>
            </a:endParaRPr>
          </a:p>
          <a:p>
            <a:pPr algn="l"/>
            <a:r>
              <a:rPr lang="en-US" sz="900" i="1" dirty="0">
                <a:solidFill>
                  <a:srgbClr val="2F465A"/>
                </a:solidFill>
                <a:latin typeface="Arial" panose="020B0604020202020204" pitchFamily="34" charset="0"/>
                <a:cs typeface="Arial" panose="020B0604020202020204" pitchFamily="34" charset="0"/>
              </a:rPr>
              <a:t>REGULAR COMMUNICATION</a:t>
            </a:r>
          </a:p>
          <a:p>
            <a:pPr algn="l"/>
            <a:endParaRPr lang="en-AU" sz="700" i="1" dirty="0">
              <a:latin typeface="Arial" panose="020B0604020202020204" pitchFamily="34" charset="0"/>
              <a:cs typeface="Arial" panose="020B0604020202020204" pitchFamily="34" charset="0"/>
            </a:endParaRPr>
          </a:p>
          <a:p>
            <a:pPr algn="l"/>
            <a:r>
              <a:rPr lang="en-AU" sz="900" dirty="0">
                <a:solidFill>
                  <a:schemeClr val="tx1"/>
                </a:solidFill>
                <a:latin typeface="Arial" panose="020B0604020202020204" pitchFamily="34" charset="0"/>
                <a:cs typeface="Arial" panose="020B0604020202020204" pitchFamily="34" charset="0"/>
              </a:rPr>
              <a:t>You can expect the highest quality communication from your </a:t>
            </a:r>
            <a:r>
              <a:rPr lang="en-AU" sz="900" dirty="0" err="1">
                <a:solidFill>
                  <a:schemeClr val="tx1"/>
                </a:solidFill>
                <a:latin typeface="Arial" panose="020B0604020202020204" pitchFamily="34" charset="0"/>
                <a:cs typeface="Arial" panose="020B0604020202020204" pitchFamily="34" charset="0"/>
              </a:rPr>
              <a:t>In.Corp</a:t>
            </a:r>
            <a:r>
              <a:rPr lang="en-AU" sz="900" dirty="0">
                <a:solidFill>
                  <a:schemeClr val="tx1"/>
                </a:solidFill>
                <a:latin typeface="Arial" panose="020B0604020202020204" pitchFamily="34" charset="0"/>
                <a:cs typeface="Arial" panose="020B0604020202020204" pitchFamily="34" charset="0"/>
              </a:rPr>
              <a:t> Client Service Team in terms of information, reporting and accessibility. We will be in contact with you regularly, including meeting with you face to face to keep management across the direction of our work.</a:t>
            </a:r>
          </a:p>
        </p:txBody>
      </p:sp>
      <p:sp>
        <p:nvSpPr>
          <p:cNvPr id="9" name="Text Placeholder 9">
            <a:extLst>
              <a:ext uri="{FF2B5EF4-FFF2-40B4-BE49-F238E27FC236}">
                <a16:creationId xmlns:a16="http://schemas.microsoft.com/office/drawing/2014/main" id="{07E01797-141F-4E67-9976-B7E3B05B88C5}"/>
              </a:ext>
            </a:extLst>
          </p:cNvPr>
          <p:cNvSpPr txBox="1">
            <a:spLocks/>
          </p:cNvSpPr>
          <p:nvPr/>
        </p:nvSpPr>
        <p:spPr>
          <a:xfrm>
            <a:off x="6094224" y="2909621"/>
            <a:ext cx="5609836" cy="3086100"/>
          </a:xfrm>
          <a:prstGeom prst="rect">
            <a:avLst/>
          </a:prstGeom>
        </p:spPr>
        <p:txBody>
          <a:bodyPr vert="horz" lIns="0" tIns="45720" rIns="0" bIns="45720" numCol="1" rtlCol="0" anchor="t" anchorCtr="0"/>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900" i="1" dirty="0">
                <a:solidFill>
                  <a:srgbClr val="2F465A"/>
                </a:solidFill>
                <a:latin typeface="Arial" panose="020B0604020202020204" pitchFamily="34" charset="0"/>
                <a:cs typeface="Arial" panose="020B0604020202020204" pitchFamily="34" charset="0"/>
              </a:rPr>
              <a:t>SMOOTH TRANSITION</a:t>
            </a:r>
          </a:p>
          <a:p>
            <a:pPr algn="l"/>
            <a:endParaRPr lang="en-US" sz="700" dirty="0">
              <a:solidFill>
                <a:schemeClr val="tx1"/>
              </a:solidFill>
              <a:latin typeface="Arial" panose="020B0604020202020204" pitchFamily="34" charset="0"/>
              <a:cs typeface="Arial" panose="020B0604020202020204" pitchFamily="34" charset="0"/>
            </a:endParaRPr>
          </a:p>
          <a:p>
            <a:pPr algn="l"/>
            <a:r>
              <a:rPr lang="en-US" sz="900" dirty="0">
                <a:solidFill>
                  <a:schemeClr val="tx1"/>
                </a:solidFill>
                <a:latin typeface="Arial" panose="020B0604020202020204" pitchFamily="34" charset="0"/>
                <a:cs typeface="Arial" panose="020B0604020202020204" pitchFamily="34" charset="0"/>
              </a:rPr>
              <a:t>We have a proven track record in the transition of assurance providers. We will manage the transition process with the least possible disruption to your business, ensuring key deadlines are met.</a:t>
            </a:r>
          </a:p>
          <a:p>
            <a:pPr algn="l"/>
            <a:endParaRPr lang="en-US" sz="700" i="1" dirty="0">
              <a:solidFill>
                <a:srgbClr val="B07A59"/>
              </a:solidFill>
              <a:latin typeface="Arial" panose="020B0604020202020204" pitchFamily="34" charset="0"/>
              <a:cs typeface="Arial" panose="020B0604020202020204" pitchFamily="34" charset="0"/>
            </a:endParaRPr>
          </a:p>
          <a:p>
            <a:pPr algn="l"/>
            <a:r>
              <a:rPr lang="en-US" sz="900" i="1" dirty="0">
                <a:solidFill>
                  <a:srgbClr val="2F465A"/>
                </a:solidFill>
                <a:latin typeface="Arial" panose="020B0604020202020204" pitchFamily="34" charset="0"/>
                <a:cs typeface="Arial" panose="020B0604020202020204" pitchFamily="34" charset="0"/>
              </a:rPr>
              <a:t>VALUE</a:t>
            </a:r>
          </a:p>
          <a:p>
            <a:pPr algn="l"/>
            <a:endParaRPr lang="en-US" sz="700" i="1" dirty="0">
              <a:solidFill>
                <a:srgbClr val="B07A59"/>
              </a:solidFill>
              <a:latin typeface="Arial" panose="020B0604020202020204" pitchFamily="34" charset="0"/>
              <a:cs typeface="Arial" panose="020B0604020202020204" pitchFamily="34" charset="0"/>
            </a:endParaRPr>
          </a:p>
          <a:p>
            <a:pPr algn="l"/>
            <a:r>
              <a:rPr lang="en-US" sz="900" dirty="0">
                <a:solidFill>
                  <a:schemeClr val="tx1"/>
                </a:solidFill>
                <a:latin typeface="Arial" panose="020B0604020202020204" pitchFamily="34" charset="0"/>
                <a:cs typeface="Arial" panose="020B0604020202020204" pitchFamily="34" charset="0"/>
              </a:rPr>
              <a:t>You can be assured that the delivery of our services will be driven by a senior and experienced team and conducted to the highest quality and standard.  </a:t>
            </a:r>
          </a:p>
          <a:p>
            <a:pPr algn="l"/>
            <a:endParaRPr lang="en-US" sz="700" dirty="0">
              <a:solidFill>
                <a:schemeClr val="tx1"/>
              </a:solidFill>
              <a:latin typeface="Arial" panose="020B0604020202020204" pitchFamily="34" charset="0"/>
              <a:cs typeface="Arial" panose="020B0604020202020204" pitchFamily="34" charset="0"/>
            </a:endParaRPr>
          </a:p>
          <a:p>
            <a:pPr algn="l"/>
            <a:r>
              <a:rPr lang="en-US" sz="900" dirty="0">
                <a:solidFill>
                  <a:schemeClr val="tx1"/>
                </a:solidFill>
                <a:latin typeface="Arial" panose="020B0604020202020204" pitchFamily="34" charset="0"/>
                <a:cs typeface="Arial" panose="020B0604020202020204" pitchFamily="34" charset="0"/>
              </a:rPr>
              <a:t>As part of our communications you will receive regular feedback during the audit and a formal report near completion which will document our approach and provide feedback on matters of governance interest. </a:t>
            </a:r>
          </a:p>
          <a:p>
            <a:pPr algn="l"/>
            <a:endParaRPr lang="en-US" sz="700" dirty="0">
              <a:solidFill>
                <a:schemeClr val="tx1"/>
              </a:solidFill>
              <a:latin typeface="Arial" panose="020B0604020202020204" pitchFamily="34" charset="0"/>
              <a:cs typeface="Arial" panose="020B0604020202020204" pitchFamily="34" charset="0"/>
            </a:endParaRPr>
          </a:p>
          <a:p>
            <a:pPr algn="l"/>
            <a:r>
              <a:rPr lang="en-US" sz="900" dirty="0">
                <a:solidFill>
                  <a:schemeClr val="tx1"/>
                </a:solidFill>
                <a:latin typeface="Arial" panose="020B0604020202020204" pitchFamily="34" charset="0"/>
                <a:cs typeface="Arial" panose="020B0604020202020204" pitchFamily="34" charset="0"/>
              </a:rPr>
              <a:t>We also seek to provide feedback to management in areas that controls can be improved as early as possible, to help management in performing its responsibilities to maintain effective controls, and leverage any changes made by management early in our audit process. </a:t>
            </a:r>
          </a:p>
        </p:txBody>
      </p:sp>
      <p:sp>
        <p:nvSpPr>
          <p:cNvPr id="6" name="Rectangle 5">
            <a:extLst>
              <a:ext uri="{FF2B5EF4-FFF2-40B4-BE49-F238E27FC236}">
                <a16:creationId xmlns:a16="http://schemas.microsoft.com/office/drawing/2014/main" id="{DF0445A8-6281-23C9-7A5C-B6870E007208}"/>
              </a:ext>
            </a:extLst>
          </p:cNvPr>
          <p:cNvSpPr/>
          <p:nvPr/>
        </p:nvSpPr>
        <p:spPr>
          <a:xfrm rot="16200000" flipV="1">
            <a:off x="-2847475" y="3158896"/>
            <a:ext cx="5752282" cy="75438"/>
          </a:xfrm>
          <a:prstGeom prst="rec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350" dirty="0"/>
              <a:t>-</a:t>
            </a:r>
          </a:p>
        </p:txBody>
      </p:sp>
      <p:sp>
        <p:nvSpPr>
          <p:cNvPr id="12" name="Rectangle 11">
            <a:extLst>
              <a:ext uri="{FF2B5EF4-FFF2-40B4-BE49-F238E27FC236}">
                <a16:creationId xmlns:a16="http://schemas.microsoft.com/office/drawing/2014/main" id="{0CA62989-E3B5-B5C0-6807-5BD3368B5399}"/>
              </a:ext>
            </a:extLst>
          </p:cNvPr>
          <p:cNvSpPr/>
          <p:nvPr/>
        </p:nvSpPr>
        <p:spPr>
          <a:xfrm rot="16200000" flipV="1">
            <a:off x="9298408" y="3236774"/>
            <a:ext cx="5752282" cy="75438"/>
          </a:xfrm>
          <a:prstGeom prst="rec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350" dirty="0"/>
          </a:p>
        </p:txBody>
      </p:sp>
      <p:pic>
        <p:nvPicPr>
          <p:cNvPr id="3" name="Picture 2" descr="A white and red globe with a black background&#10;&#10;AI-generated content may be incorrect.">
            <a:extLst>
              <a:ext uri="{FF2B5EF4-FFF2-40B4-BE49-F238E27FC236}">
                <a16:creationId xmlns:a16="http://schemas.microsoft.com/office/drawing/2014/main" id="{5F1363A0-CA52-4DD8-8EDC-42A4C0ACF7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386" y="6219147"/>
            <a:ext cx="1052953" cy="453783"/>
          </a:xfrm>
          <a:prstGeom prst="rect">
            <a:avLst/>
          </a:prstGeom>
        </p:spPr>
      </p:pic>
    </p:spTree>
    <p:extLst>
      <p:ext uri="{BB962C8B-B14F-4D97-AF65-F5344CB8AC3E}">
        <p14:creationId xmlns:p14="http://schemas.microsoft.com/office/powerpoint/2010/main" val="881791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4E5BC1-1561-42F3-A4D1-C6F220077021}"/>
              </a:ext>
            </a:extLst>
          </p:cNvPr>
          <p:cNvSpPr>
            <a:spLocks noGrp="1"/>
          </p:cNvSpPr>
          <p:nvPr>
            <p:ph type="sldNum" sz="quarter" idx="12"/>
          </p:nvPr>
        </p:nvSpPr>
        <p:spPr/>
        <p:txBody>
          <a:bodyPr/>
          <a:lstStyle/>
          <a:p>
            <a:pPr/>
            <a:r>
              <a:rPr lang="en-US" dirty="0">
                <a:solidFill/>
              </a:rPr>
              <a:t>2</a:t>
            </a:r>
            <a:endParaRPr lang="en-AU" dirty="0"/>
          </a:p>
        </p:txBody>
      </p:sp>
      <p:sp>
        <p:nvSpPr>
          <p:cNvPr id="8" name="about_our_firm_title">
            <a:extLst>
              <a:ext uri="{FF2B5EF4-FFF2-40B4-BE49-F238E27FC236}">
                <a16:creationId xmlns:a16="http://schemas.microsoft.com/office/drawing/2014/main" id="{C342DEC7-1171-49C7-87D8-52315D5DF2C4}"/>
              </a:ext>
            </a:extLst>
          </p:cNvPr>
          <p:cNvSpPr txBox="1">
            <a:spLocks/>
          </p:cNvSpPr>
          <p:nvPr/>
        </p:nvSpPr>
        <p:spPr>
          <a:xfrm>
            <a:off x="538098" y="539492"/>
            <a:ext cx="8316912" cy="432000"/>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spc="-150" dirty="0">
                <a:solidFill>
                  <a:srgbClr val="BB2121"/>
                </a:solidFill>
                <a:latin typeface="Arial" panose="020B0604020202020204" pitchFamily="34" charset="0"/>
                <a:cs typeface="Arial" panose="020B0604020202020204" pitchFamily="34" charset="0"/>
              </a:rPr>
              <a:t>ABOUT OUR FIRM – </a:t>
            </a:r>
            <a:r>
              <a:rPr lang="en-US" sz="2800" b="1" spc="-150" dirty="0" err="1">
                <a:solidFill>
                  <a:srgbClr val="BB2121"/>
                </a:solidFill>
                <a:latin typeface="Arial" panose="020B0604020202020204" pitchFamily="34" charset="0"/>
                <a:cs typeface="Arial" panose="020B0604020202020204" pitchFamily="34" charset="0"/>
              </a:rPr>
              <a:t>In.Corp</a:t>
            </a:r>
            <a:r>
              <a:rPr lang="en-US" sz="2800" b="1" spc="-150" dirty="0">
                <a:solidFill>
                  <a:srgbClr val="BB2121"/>
                </a:solidFill>
                <a:latin typeface="Arial" panose="020B0604020202020204" pitchFamily="34" charset="0"/>
                <a:cs typeface="Arial" panose="020B0604020202020204" pitchFamily="34" charset="0"/>
              </a:rPr>
              <a:t> </a:t>
            </a:r>
            <a:endParaRPr lang="en-AU" sz="2800" b="1" spc="-150" dirty="0">
              <a:solidFill>
                <a:srgbClr val="BB2121"/>
              </a:solidFill>
              <a:latin typeface="Arial" panose="020B0604020202020204" pitchFamily="34" charset="0"/>
              <a:cs typeface="Arial" panose="020B0604020202020204" pitchFamily="34" charset="0"/>
            </a:endParaRPr>
          </a:p>
        </p:txBody>
      </p:sp>
      <p:sp>
        <p:nvSpPr>
          <p:cNvPr id="7" name="Text Placeholder 11">
            <a:extLst>
              <a:ext uri="{FF2B5EF4-FFF2-40B4-BE49-F238E27FC236}">
                <a16:creationId xmlns:a16="http://schemas.microsoft.com/office/drawing/2014/main" id="{927B68E5-B136-48B9-999E-EC8111F56E0B}"/>
              </a:ext>
            </a:extLst>
          </p:cNvPr>
          <p:cNvSpPr txBox="1">
            <a:spLocks/>
          </p:cNvSpPr>
          <p:nvPr/>
        </p:nvSpPr>
        <p:spPr>
          <a:xfrm>
            <a:off x="578679" y="969462"/>
            <a:ext cx="8316912" cy="249300"/>
          </a:xfrm>
          <a:prstGeom prst="rect">
            <a:avLst/>
          </a:prstGeom>
        </p:spPr>
        <p:txBody>
          <a:bodyPr lIns="0" rIns="0"/>
          <a:lstStyle>
            <a:defPPr>
              <a:defRPr lang="en-US"/>
            </a:defPPr>
            <a:lvl1pPr indent="0" defTabSz="914400">
              <a:lnSpc>
                <a:spcPct val="90000"/>
              </a:lnSpc>
              <a:spcBef>
                <a:spcPts val="1000"/>
              </a:spcBef>
              <a:buFont typeface="Arial" panose="020B0604020202020204" pitchFamily="34" charset="0"/>
              <a:buNone/>
              <a:defRPr sz="1100" i="1">
                <a:solidFill>
                  <a:schemeClr val="bg1">
                    <a:lumMod val="50000"/>
                  </a:schemeClr>
                </a:solidFill>
              </a:defRPr>
            </a:lvl1pPr>
            <a:lvl2pPr marL="685800" indent="-228600" defTabSz="914400">
              <a:lnSpc>
                <a:spcPct val="90000"/>
              </a:lnSpc>
              <a:spcBef>
                <a:spcPts val="500"/>
              </a:spcBef>
              <a:buFont typeface="Arial" panose="020B0604020202020204" pitchFamily="34" charset="0"/>
              <a:buChar char="•"/>
              <a:defRPr sz="2400"/>
            </a:lvl2pPr>
            <a:lvl3pPr marL="1143000" indent="-228600" defTabSz="914400">
              <a:lnSpc>
                <a:spcPct val="90000"/>
              </a:lnSpc>
              <a:spcBef>
                <a:spcPts val="500"/>
              </a:spcBef>
              <a:buFont typeface="Arial" panose="020B0604020202020204" pitchFamily="34" charset="0"/>
              <a:buChar char="•"/>
              <a:defRPr sz="2000"/>
            </a:lvl3pPr>
            <a:lvl4pPr marL="1600200" indent="-228600" defTabSz="914400">
              <a:lnSpc>
                <a:spcPct val="90000"/>
              </a:lnSpc>
              <a:spcBef>
                <a:spcPts val="500"/>
              </a:spcBef>
              <a:buFont typeface="Arial" panose="020B0604020202020204" pitchFamily="34" charset="0"/>
              <a:buChar char="•"/>
            </a:lvl4pPr>
            <a:lvl5pPr marL="2057400" indent="-228600" defTabSz="914400">
              <a:lnSpc>
                <a:spcPct val="90000"/>
              </a:lnSpc>
              <a:spcBef>
                <a:spcPts val="500"/>
              </a:spcBef>
              <a:buFont typeface="Arial" panose="020B0604020202020204" pitchFamily="34" charset="0"/>
              <a:buChar cha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r>
              <a:rPr lang="en-SG" sz="1050" dirty="0" err="1">
                <a:latin typeface="Arial" panose="020B0604020202020204" pitchFamily="34" charset="0"/>
                <a:cs typeface="Arial" panose="020B0604020202020204" pitchFamily="34" charset="0"/>
              </a:rPr>
              <a:t>In.Corp</a:t>
            </a:r>
            <a:r>
              <a:rPr lang="en-SG" sz="1050" dirty="0">
                <a:latin typeface="Arial" panose="020B0604020202020204" pitchFamily="34" charset="0"/>
                <a:cs typeface="Arial" panose="020B0604020202020204" pitchFamily="34" charset="0"/>
              </a:rPr>
              <a:t> is a leading provider of a wide range of professional corporate solutions and services across Asia Pacific</a:t>
            </a:r>
            <a:endParaRPr lang="en-US" sz="1050" dirty="0">
              <a:latin typeface="Arial" panose="020B0604020202020204" pitchFamily="34" charset="0"/>
              <a:cs typeface="Arial" panose="020B0604020202020204" pitchFamily="34" charset="0"/>
            </a:endParaRPr>
          </a:p>
        </p:txBody>
      </p:sp>
      <p:sp>
        <p:nvSpPr>
          <p:cNvPr id="9" name="Text Placeholder 9">
            <a:extLst>
              <a:ext uri="{FF2B5EF4-FFF2-40B4-BE49-F238E27FC236}">
                <a16:creationId xmlns:a16="http://schemas.microsoft.com/office/drawing/2014/main" id="{E8404F6A-5FB5-43DA-B723-EBC12DBAA6E8}"/>
              </a:ext>
            </a:extLst>
          </p:cNvPr>
          <p:cNvSpPr txBox="1">
            <a:spLocks/>
          </p:cNvSpPr>
          <p:nvPr/>
        </p:nvSpPr>
        <p:spPr>
          <a:xfrm>
            <a:off x="597984" y="1228692"/>
            <a:ext cx="11055918" cy="1480411"/>
          </a:xfrm>
          <a:prstGeom prst="rect">
            <a:avLst/>
          </a:prstGeom>
        </p:spPr>
        <p:txBody>
          <a:bodyPr vert="horz" lIns="0" tIns="45720" rIns="0" bIns="45720" rtlCol="0" anchor="t" anchorCtr="0"/>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SG" sz="1000" dirty="0">
                <a:solidFill>
                  <a:schemeClr val="tx1"/>
                </a:solidFill>
                <a:latin typeface="Arial" panose="020B0604020202020204" pitchFamily="34" charset="0"/>
                <a:cs typeface="Arial" panose="020B0604020202020204" pitchFamily="34" charset="0"/>
              </a:rPr>
              <a:t>We maintain operational presence across 8 countries. Our award-winning capabilities and resources provide organisations and individuals a full suite of comprehensive services to help them turn their “Vision To Reality”.</a:t>
            </a:r>
            <a:endParaRPr lang="en-AU" sz="1000" dirty="0">
              <a:solidFill>
                <a:schemeClr val="tx1"/>
              </a:solidFill>
              <a:latin typeface="Arial" panose="020B0604020202020204" pitchFamily="34" charset="0"/>
              <a:cs typeface="Arial" panose="020B0604020202020204" pitchFamily="34" charset="0"/>
            </a:endParaRPr>
          </a:p>
          <a:p>
            <a:pPr algn="l"/>
            <a:endParaRPr lang="en-SG" sz="1000" dirty="0">
              <a:solidFill>
                <a:schemeClr val="tx1"/>
              </a:solidFill>
              <a:latin typeface="Arial" panose="020B0604020202020204" pitchFamily="34" charset="0"/>
              <a:cs typeface="Arial" panose="020B0604020202020204" pitchFamily="34" charset="0"/>
            </a:endParaRPr>
          </a:p>
          <a:p>
            <a:pPr algn="l"/>
            <a:endParaRPr lang="en-US" sz="1000" dirty="0">
              <a:solidFill>
                <a:schemeClr val="tx1"/>
              </a:solidFill>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C6D6155A-CBD3-57BD-1E79-7D49D25320AB}"/>
              </a:ext>
            </a:extLst>
          </p:cNvPr>
          <p:cNvPicPr>
            <a:picLocks noChangeAspect="1"/>
          </p:cNvPicPr>
          <p:nvPr/>
        </p:nvPicPr>
        <p:blipFill>
          <a:blip r:embed="rId2"/>
          <a:stretch>
            <a:fillRect/>
          </a:stretch>
        </p:blipFill>
        <p:spPr>
          <a:xfrm>
            <a:off x="3046288" y="1554269"/>
            <a:ext cx="6228849" cy="792480"/>
          </a:xfrm>
          <a:prstGeom prst="rect">
            <a:avLst/>
          </a:prstGeom>
        </p:spPr>
      </p:pic>
      <p:sp>
        <p:nvSpPr>
          <p:cNvPr id="6" name="Rectangle 5">
            <a:extLst>
              <a:ext uri="{FF2B5EF4-FFF2-40B4-BE49-F238E27FC236}">
                <a16:creationId xmlns:a16="http://schemas.microsoft.com/office/drawing/2014/main" id="{5E8A060D-1AA1-7A1C-10FF-1ADC8A2BCD6F}"/>
              </a:ext>
            </a:extLst>
          </p:cNvPr>
          <p:cNvSpPr/>
          <p:nvPr/>
        </p:nvSpPr>
        <p:spPr>
          <a:xfrm rot="16200000" flipV="1">
            <a:off x="-2847475" y="3158896"/>
            <a:ext cx="5752282" cy="75438"/>
          </a:xfrm>
          <a:prstGeom prst="rec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350" dirty="0"/>
              <a:t>-</a:t>
            </a:r>
          </a:p>
        </p:txBody>
      </p:sp>
      <p:sp>
        <p:nvSpPr>
          <p:cNvPr id="10" name="Rectangle 9">
            <a:extLst>
              <a:ext uri="{FF2B5EF4-FFF2-40B4-BE49-F238E27FC236}">
                <a16:creationId xmlns:a16="http://schemas.microsoft.com/office/drawing/2014/main" id="{FE280C3F-AE33-C90E-D700-FCB652B614C3}"/>
              </a:ext>
            </a:extLst>
          </p:cNvPr>
          <p:cNvSpPr/>
          <p:nvPr/>
        </p:nvSpPr>
        <p:spPr>
          <a:xfrm rot="16200000" flipV="1">
            <a:off x="9298408" y="3236774"/>
            <a:ext cx="5752282" cy="75438"/>
          </a:xfrm>
          <a:prstGeom prst="rec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350" dirty="0"/>
          </a:p>
        </p:txBody>
      </p:sp>
      <p:sp>
        <p:nvSpPr>
          <p:cNvPr id="12" name="Text Placeholder 9">
            <a:extLst>
              <a:ext uri="{FF2B5EF4-FFF2-40B4-BE49-F238E27FC236}">
                <a16:creationId xmlns:a16="http://schemas.microsoft.com/office/drawing/2014/main" id="{8504520B-15EF-896E-0651-78B14393214D}"/>
              </a:ext>
            </a:extLst>
          </p:cNvPr>
          <p:cNvSpPr txBox="1">
            <a:spLocks/>
          </p:cNvSpPr>
          <p:nvPr/>
        </p:nvSpPr>
        <p:spPr>
          <a:xfrm>
            <a:off x="538098" y="1819145"/>
            <a:ext cx="2508190" cy="311590"/>
          </a:xfrm>
          <a:prstGeom prst="rect">
            <a:avLst/>
          </a:prstGeom>
        </p:spPr>
        <p:txBody>
          <a:bodyPr vert="horz" lIns="0" tIns="0" rIns="0" bIns="0" rtlCol="0" anchor="t" anchorCtr="0"/>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1600" b="1" dirty="0">
                <a:solidFill>
                  <a:srgbClr val="2F465A"/>
                </a:solidFill>
                <a:latin typeface="Arial" panose="020B0604020202020204" pitchFamily="34" charset="0"/>
                <a:cs typeface="Arial" panose="020B0604020202020204" pitchFamily="34" charset="0"/>
              </a:rPr>
              <a:t>OUR SERVICES</a:t>
            </a: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100" dirty="0">
              <a:solidFill>
                <a:schemeClr val="tx1"/>
              </a:solidFill>
              <a:latin typeface="Arial" panose="020B0604020202020204" pitchFamily="34" charset="0"/>
              <a:cs typeface="Arial" panose="020B0604020202020204" pitchFamily="34" charset="0"/>
            </a:endParaRPr>
          </a:p>
          <a:p>
            <a:pPr algn="l"/>
            <a:endParaRPr lang="en-US" sz="900" i="1"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p:txBody>
      </p:sp>
      <p:sp>
        <p:nvSpPr>
          <p:cNvPr id="13" name="Text Placeholder 9">
            <a:extLst>
              <a:ext uri="{FF2B5EF4-FFF2-40B4-BE49-F238E27FC236}">
                <a16:creationId xmlns:a16="http://schemas.microsoft.com/office/drawing/2014/main" id="{ED652EB4-468C-491C-13AB-8E0A0D38D7E9}"/>
              </a:ext>
            </a:extLst>
          </p:cNvPr>
          <p:cNvSpPr txBox="1">
            <a:spLocks/>
          </p:cNvSpPr>
          <p:nvPr/>
        </p:nvSpPr>
        <p:spPr>
          <a:xfrm>
            <a:off x="7725649" y="2370299"/>
            <a:ext cx="2508190" cy="311590"/>
          </a:xfrm>
          <a:prstGeom prst="rect">
            <a:avLst/>
          </a:prstGeom>
        </p:spPr>
        <p:txBody>
          <a:bodyPr vert="horz" lIns="0" tIns="0" rIns="0" bIns="0" rtlCol="0" anchor="t" anchorCtr="0"/>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1600" b="1" dirty="0">
                <a:solidFill>
                  <a:srgbClr val="2F465A"/>
                </a:solidFill>
                <a:latin typeface="Arial" panose="020B0604020202020204" pitchFamily="34" charset="0"/>
                <a:cs typeface="Arial" panose="020B0604020202020204" pitchFamily="34" charset="0"/>
              </a:rPr>
              <a:t>QUALITY CONTROL</a:t>
            </a: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100" dirty="0">
              <a:solidFill>
                <a:schemeClr val="tx1"/>
              </a:solidFill>
              <a:latin typeface="Arial" panose="020B0604020202020204" pitchFamily="34" charset="0"/>
              <a:cs typeface="Arial" panose="020B0604020202020204" pitchFamily="34" charset="0"/>
            </a:endParaRPr>
          </a:p>
          <a:p>
            <a:pPr algn="l"/>
            <a:endParaRPr lang="en-US" sz="900" i="1"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p:txBody>
      </p:sp>
      <p:sp>
        <p:nvSpPr>
          <p:cNvPr id="17" name="Text Placeholder 9">
            <a:extLst>
              <a:ext uri="{FF2B5EF4-FFF2-40B4-BE49-F238E27FC236}">
                <a16:creationId xmlns:a16="http://schemas.microsoft.com/office/drawing/2014/main" id="{3404D61E-5397-AEBA-5587-7CE855FA582B}"/>
              </a:ext>
            </a:extLst>
          </p:cNvPr>
          <p:cNvSpPr txBox="1">
            <a:spLocks/>
          </p:cNvSpPr>
          <p:nvPr/>
        </p:nvSpPr>
        <p:spPr>
          <a:xfrm>
            <a:off x="3947057" y="2378421"/>
            <a:ext cx="2508190" cy="311590"/>
          </a:xfrm>
          <a:prstGeom prst="rect">
            <a:avLst/>
          </a:prstGeom>
        </p:spPr>
        <p:txBody>
          <a:bodyPr vert="horz" lIns="0" tIns="0" rIns="0" bIns="0" rtlCol="0" anchor="t" anchorCtr="0"/>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1600" b="1" dirty="0">
                <a:solidFill>
                  <a:srgbClr val="2F465A"/>
                </a:solidFill>
                <a:latin typeface="Arial" panose="020B0604020202020204" pitchFamily="34" charset="0"/>
                <a:cs typeface="Arial" panose="020B0604020202020204" pitchFamily="34" charset="0"/>
              </a:rPr>
              <a:t>IN.CORP</a:t>
            </a: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100" dirty="0">
              <a:solidFill>
                <a:schemeClr val="tx1"/>
              </a:solidFill>
              <a:latin typeface="Arial" panose="020B0604020202020204" pitchFamily="34" charset="0"/>
              <a:cs typeface="Arial" panose="020B0604020202020204" pitchFamily="34" charset="0"/>
            </a:endParaRPr>
          </a:p>
          <a:p>
            <a:pPr algn="l"/>
            <a:endParaRPr lang="en-US" sz="900" i="1"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p:txBody>
      </p:sp>
      <p:pic>
        <p:nvPicPr>
          <p:cNvPr id="25" name="Picture 24" descr="A screenshot of a computer&#10;&#10;Description automatically generated">
            <a:extLst>
              <a:ext uri="{FF2B5EF4-FFF2-40B4-BE49-F238E27FC236}">
                <a16:creationId xmlns:a16="http://schemas.microsoft.com/office/drawing/2014/main" id="{123B557B-D3FF-E8D3-ECBD-FA974DEC842F}"/>
              </a:ext>
            </a:extLst>
          </p:cNvPr>
          <p:cNvPicPr>
            <a:picLocks noChangeAspect="1"/>
          </p:cNvPicPr>
          <p:nvPr/>
        </p:nvPicPr>
        <p:blipFill rotWithShape="1">
          <a:blip r:embed="rId3">
            <a:extLst>
              <a:ext uri="{28A0092B-C50C-407E-A947-70E740481C1C}">
                <a14:useLocalDpi xmlns:a14="http://schemas.microsoft.com/office/drawing/2010/main" val="0"/>
              </a:ext>
            </a:extLst>
          </a:blip>
          <a:srcRect l="45066" t="14062" r="46519" b="71223"/>
          <a:stretch/>
        </p:blipFill>
        <p:spPr>
          <a:xfrm>
            <a:off x="4210482" y="5075319"/>
            <a:ext cx="1302524" cy="1281031"/>
          </a:xfrm>
          <a:prstGeom prst="rect">
            <a:avLst/>
          </a:prstGeom>
        </p:spPr>
      </p:pic>
      <p:pic>
        <p:nvPicPr>
          <p:cNvPr id="26" name="Picture 25" descr="A screenshot of a computer&#10;&#10;Description automatically generated">
            <a:extLst>
              <a:ext uri="{FF2B5EF4-FFF2-40B4-BE49-F238E27FC236}">
                <a16:creationId xmlns:a16="http://schemas.microsoft.com/office/drawing/2014/main" id="{C458A1A1-49BA-1DD8-47F0-A769CDF6AADF}"/>
              </a:ext>
            </a:extLst>
          </p:cNvPr>
          <p:cNvPicPr>
            <a:picLocks noChangeAspect="1"/>
          </p:cNvPicPr>
          <p:nvPr/>
        </p:nvPicPr>
        <p:blipFill rotWithShape="1">
          <a:blip r:embed="rId3">
            <a:extLst>
              <a:ext uri="{28A0092B-C50C-407E-A947-70E740481C1C}">
                <a14:useLocalDpi xmlns:a14="http://schemas.microsoft.com/office/drawing/2010/main" val="0"/>
              </a:ext>
            </a:extLst>
          </a:blip>
          <a:srcRect l="57541" t="13373" r="34148" b="71912"/>
          <a:stretch/>
        </p:blipFill>
        <p:spPr>
          <a:xfrm>
            <a:off x="5541343" y="5033683"/>
            <a:ext cx="1290228" cy="1284825"/>
          </a:xfrm>
          <a:prstGeom prst="rect">
            <a:avLst/>
          </a:prstGeom>
        </p:spPr>
      </p:pic>
      <p:pic>
        <p:nvPicPr>
          <p:cNvPr id="5" name="Picture 4">
            <a:extLst>
              <a:ext uri="{FF2B5EF4-FFF2-40B4-BE49-F238E27FC236}">
                <a16:creationId xmlns:a16="http://schemas.microsoft.com/office/drawing/2014/main" id="{CB1FD570-F30B-CE0D-E7DE-3B248CEF09F7}"/>
              </a:ext>
              <a:ext uri="{C183D7F6-B498-43B3-948B-1728B52AA6E4}">
                <adec:decorative xmlns:adec="http://schemas.microsoft.com/office/drawing/2017/decorative" val="1"/>
              </a:ext>
            </a:extLst>
          </p:cNvPr>
          <p:cNvPicPr>
            <a:picLocks noChangeAspect="1"/>
          </p:cNvPicPr>
          <p:nvPr/>
        </p:nvPicPr>
        <p:blipFill rotWithShape="1">
          <a:blip r:embed="rId4">
            <a:extLst>
              <a:ext uri="{28A0092B-C50C-407E-A947-70E740481C1C}">
                <a14:useLocalDpi xmlns:a14="http://schemas.microsoft.com/office/drawing/2010/main" val="0"/>
              </a:ext>
            </a:extLst>
          </a:blip>
          <a:srcRect l="1036" t="22664" r="64340" b="7315"/>
          <a:stretch/>
        </p:blipFill>
        <p:spPr>
          <a:xfrm>
            <a:off x="64837" y="2130735"/>
            <a:ext cx="3593131" cy="4087351"/>
          </a:xfrm>
          <a:prstGeom prst="rect">
            <a:avLst/>
          </a:prstGeom>
        </p:spPr>
      </p:pic>
      <p:sp>
        <p:nvSpPr>
          <p:cNvPr id="11" name="Text Placeholder 9">
            <a:extLst>
              <a:ext uri="{FF2B5EF4-FFF2-40B4-BE49-F238E27FC236}">
                <a16:creationId xmlns:a16="http://schemas.microsoft.com/office/drawing/2014/main" id="{6B283BD1-C51D-8839-1B5B-0AD75B42321E}"/>
              </a:ext>
            </a:extLst>
          </p:cNvPr>
          <p:cNvSpPr txBox="1">
            <a:spLocks/>
          </p:cNvSpPr>
          <p:nvPr/>
        </p:nvSpPr>
        <p:spPr>
          <a:xfrm>
            <a:off x="3939153" y="2703441"/>
            <a:ext cx="3435056" cy="1552121"/>
          </a:xfrm>
          <a:prstGeom prst="rect">
            <a:avLst/>
          </a:prstGeom>
        </p:spPr>
        <p:txBody>
          <a:bodyPr vert="horz" lIns="0" tIns="0" rIns="0" bIns="0" rtlCol="0" anchor="t" anchorCtr="0"/>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endParaRPr lang="en-US" sz="300" dirty="0">
              <a:solidFill>
                <a:schemeClr val="tx1"/>
              </a:solidFill>
              <a:latin typeface="Arial" panose="020B0604020202020204" pitchFamily="34" charset="0"/>
              <a:cs typeface="Arial" panose="020B0604020202020204" pitchFamily="34" charset="0"/>
            </a:endParaRPr>
          </a:p>
          <a:p>
            <a:pPr algn="just"/>
            <a:r>
              <a:rPr lang="en-US" sz="900" dirty="0">
                <a:solidFill>
                  <a:schemeClr val="tx1"/>
                </a:solidFill>
                <a:latin typeface="Arial" panose="020B0604020202020204" pitchFamily="34" charset="0"/>
                <a:cs typeface="Arial" panose="020B0604020202020204" pitchFamily="34" charset="0"/>
              </a:rPr>
              <a:t>For over 30 years, </a:t>
            </a:r>
            <a:r>
              <a:rPr lang="en-US" sz="900" dirty="0" err="1">
                <a:solidFill>
                  <a:schemeClr val="tx1"/>
                </a:solidFill>
                <a:latin typeface="Arial" panose="020B0604020202020204" pitchFamily="34" charset="0"/>
                <a:cs typeface="Arial" panose="020B0604020202020204" pitchFamily="34" charset="0"/>
              </a:rPr>
              <a:t>In.Corp</a:t>
            </a:r>
            <a:r>
              <a:rPr lang="en-US" sz="900" dirty="0">
                <a:solidFill>
                  <a:schemeClr val="tx1"/>
                </a:solidFill>
                <a:latin typeface="Arial" panose="020B0604020202020204" pitchFamily="34" charset="0"/>
                <a:cs typeface="Arial" panose="020B0604020202020204" pitchFamily="34" charset="0"/>
              </a:rPr>
              <a:t> Advisory (AU) has established itself as a leading boutique advisory practice to emerging and growth stage businesses in </a:t>
            </a:r>
            <a:r>
              <a:rPr lang="en-AU" sz="900" dirty="0">
                <a:solidFill>
                  <a:schemeClr val="tx1"/>
                </a:solidFill>
                <a:latin typeface="Arial" panose="020B0604020202020204" pitchFamily="34" charset="0"/>
                <a:cs typeface="Arial" panose="020B0604020202020204" pitchFamily="34" charset="0"/>
              </a:rPr>
              <a:t>Australia and beyond.</a:t>
            </a:r>
          </a:p>
          <a:p>
            <a:pPr algn="just"/>
            <a:endParaRPr lang="en-AU" sz="900" dirty="0">
              <a:solidFill>
                <a:schemeClr val="tx1"/>
              </a:solidFill>
              <a:latin typeface="Arial" panose="020B0604020202020204" pitchFamily="34" charset="0"/>
              <a:cs typeface="Arial" panose="020B0604020202020204" pitchFamily="34" charset="0"/>
            </a:endParaRPr>
          </a:p>
          <a:p>
            <a:pPr algn="just"/>
            <a:r>
              <a:rPr lang="en-US" sz="900" dirty="0">
                <a:solidFill>
                  <a:schemeClr val="tx1"/>
                </a:solidFill>
                <a:latin typeface="Arial" panose="020B0604020202020204" pitchFamily="34" charset="0"/>
                <a:cs typeface="Arial" panose="020B0604020202020204" pitchFamily="34" charset="0"/>
              </a:rPr>
              <a:t>Our team has a celebrated list of clientele, including over 30 ASX-listed companies, subsidiaries of multinational corporations, small to medium-sized businesses including those which hold an AFSL and not for profits. We employ outstanding and diverse professional staff, with offices headquartered in Sydney, Melbourne and Perth.</a:t>
            </a:r>
          </a:p>
          <a:p>
            <a:pPr algn="just"/>
            <a:endParaRPr lang="en-US" sz="900" dirty="0">
              <a:solidFill>
                <a:schemeClr val="tx1"/>
              </a:solidFill>
              <a:latin typeface="Arial" panose="020B0604020202020204" pitchFamily="34" charset="0"/>
              <a:cs typeface="Arial" panose="020B0604020202020204" pitchFamily="34" charset="0"/>
            </a:endParaRPr>
          </a:p>
          <a:p>
            <a:pPr algn="just"/>
            <a:r>
              <a:rPr lang="en-US" sz="900" dirty="0">
                <a:solidFill>
                  <a:schemeClr val="tx1"/>
                </a:solidFill>
                <a:latin typeface="Arial" panose="020B0604020202020204" pitchFamily="34" charset="0"/>
                <a:cs typeface="Arial" panose="020B0604020202020204" pitchFamily="34" charset="0"/>
              </a:rPr>
              <a:t>Our reputable team of 120+ full-time professionals come from a range of backgrounds across accounting, finance, science, engineering and technology. This breadth of skills and background enables us to provide a responsive and high quality service that is always tailored </a:t>
            </a:r>
            <a:r>
              <a:rPr lang="en-AU" sz="900" dirty="0">
                <a:solidFill>
                  <a:schemeClr val="tx1"/>
                </a:solidFill>
                <a:latin typeface="Arial" panose="020B0604020202020204" pitchFamily="34" charset="0"/>
                <a:cs typeface="Arial" panose="020B0604020202020204" pitchFamily="34" charset="0"/>
              </a:rPr>
              <a:t>to the individual client’s needs.</a:t>
            </a: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p:txBody>
      </p:sp>
      <p:pic>
        <p:nvPicPr>
          <p:cNvPr id="2" name="Picture 1" descr="A white and red globe with a black background&#10;&#10;AI-generated content may be incorrect.">
            <a:extLst>
              <a:ext uri="{FF2B5EF4-FFF2-40B4-BE49-F238E27FC236}">
                <a16:creationId xmlns:a16="http://schemas.microsoft.com/office/drawing/2014/main" id="{6CDFC5E1-87A4-84E4-6239-8FDCB9CE378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935" y="6269691"/>
            <a:ext cx="1052953" cy="453783"/>
          </a:xfrm>
          <a:prstGeom prst="rect">
            <a:avLst/>
          </a:prstGeom>
        </p:spPr>
      </p:pic>
      <p:sp>
        <p:nvSpPr>
          <p:cNvPr id="3" name="Text Placeholder 9">
            <a:extLst>
              <a:ext uri="{FF2B5EF4-FFF2-40B4-BE49-F238E27FC236}">
                <a16:creationId xmlns:a16="http://schemas.microsoft.com/office/drawing/2014/main" id="{72F2D47A-DCA7-8E31-192A-426D7B5FC228}"/>
              </a:ext>
            </a:extLst>
          </p:cNvPr>
          <p:cNvSpPr txBox="1">
            <a:spLocks/>
          </p:cNvSpPr>
          <p:nvPr/>
        </p:nvSpPr>
        <p:spPr>
          <a:xfrm>
            <a:off x="7725649" y="2681889"/>
            <a:ext cx="3879583" cy="1732452"/>
          </a:xfrm>
          <a:prstGeom prst="rect">
            <a:avLst/>
          </a:prstGeom>
        </p:spPr>
        <p:txBody>
          <a:bodyPr vert="horz" lIns="0" tIns="0" rIns="0" bIns="0" rtlCol="0" anchor="t" anchorCtr="0"/>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endParaRPr lang="en-US" sz="300" dirty="0">
              <a:solidFill>
                <a:schemeClr val="tx1"/>
              </a:solidFill>
              <a:latin typeface="Arial" panose="020B0604020202020204" pitchFamily="34" charset="0"/>
              <a:cs typeface="Arial" panose="020B0604020202020204" pitchFamily="34" charset="0"/>
            </a:endParaRPr>
          </a:p>
          <a:p>
            <a:pPr algn="just"/>
            <a:r>
              <a:rPr lang="en-US" sz="900" dirty="0">
                <a:solidFill>
                  <a:schemeClr val="tx1"/>
                </a:solidFill>
                <a:latin typeface="Arial" panose="020B0604020202020204" pitchFamily="34" charset="0"/>
                <a:cs typeface="Arial" panose="020B0604020202020204" pitchFamily="34" charset="0"/>
              </a:rPr>
              <a:t>We believe that quality control is an integral part of our objective to deliver a professional service to our clients. Partners and qualified staff are required to comply with the Chartered Accountants of Australia and New Zealand (“CAANZ”) continuing professional development (“CPD”) requirements which comprise 120 hours of CPD, 90 hours of which need to be formal training and development, in the respective field of expertise, over a three-year period. At least 20 hours (including no more than 10 hours of technical reading) must be completed annually.</a:t>
            </a:r>
          </a:p>
          <a:p>
            <a:pPr algn="just"/>
            <a:endParaRPr lang="en-US" sz="900" dirty="0">
              <a:solidFill>
                <a:schemeClr val="tx1"/>
              </a:solidFill>
              <a:latin typeface="Arial" panose="020B0604020202020204" pitchFamily="34" charset="0"/>
              <a:cs typeface="Arial" panose="020B0604020202020204" pitchFamily="34" charset="0"/>
            </a:endParaRPr>
          </a:p>
          <a:p>
            <a:pPr algn="just"/>
            <a:r>
              <a:rPr lang="en-US" sz="900" dirty="0">
                <a:solidFill>
                  <a:schemeClr val="tx1"/>
                </a:solidFill>
                <a:latin typeface="Arial" panose="020B0604020202020204" pitchFamily="34" charset="0"/>
                <a:cs typeface="Arial" panose="020B0604020202020204" pitchFamily="34" charset="0"/>
              </a:rPr>
              <a:t>All listed company audits require an Engagement Quality Control Reviewer (“EQCR”). In accordance with legislation and professional standards, the lead engagement Partner and the EQCR on listed entity audit engagements are rotated from the audit as required by our internal policies and the requirements of APES110. The results of internal and external quality control procedures are made available and presented to the other partners.</a:t>
            </a:r>
          </a:p>
          <a:p>
            <a:pPr algn="just"/>
            <a:endParaRPr lang="en-US" sz="900" dirty="0">
              <a:solidFill>
                <a:schemeClr val="tx1"/>
              </a:solidFill>
              <a:latin typeface="Arial" panose="020B0604020202020204" pitchFamily="34" charset="0"/>
              <a:cs typeface="Arial" panose="020B0604020202020204" pitchFamily="34" charset="0"/>
            </a:endParaRPr>
          </a:p>
          <a:p>
            <a:pPr algn="just"/>
            <a:r>
              <a:rPr lang="en-US" sz="900" dirty="0">
                <a:solidFill>
                  <a:schemeClr val="tx1"/>
                </a:solidFill>
                <a:latin typeface="Arial" panose="020B0604020202020204" pitchFamily="34" charset="0"/>
                <a:cs typeface="Arial" panose="020B0604020202020204" pitchFamily="34" charset="0"/>
              </a:rPr>
              <a:t>Our client acceptance and continuance process is instrumental in ensuring that we only accept engagements where we have the competency and capacity to deliver a high standard of work and where the independence requirements of the APES 110 </a:t>
            </a:r>
            <a:r>
              <a:rPr lang="en-US" sz="900" i="1" dirty="0">
                <a:solidFill>
                  <a:schemeClr val="tx1"/>
                </a:solidFill>
                <a:latin typeface="Arial" panose="020B0604020202020204" pitchFamily="34" charset="0"/>
                <a:cs typeface="Arial" panose="020B0604020202020204" pitchFamily="34" charset="0"/>
              </a:rPr>
              <a:t>Code of Ethics for Professional Accountants (Including Independence Standards)</a:t>
            </a:r>
            <a:r>
              <a:rPr lang="en-US" sz="900" dirty="0">
                <a:solidFill>
                  <a:schemeClr val="tx1"/>
                </a:solidFill>
                <a:latin typeface="Arial" panose="020B0604020202020204" pitchFamily="34" charset="0"/>
                <a:cs typeface="Arial" panose="020B0604020202020204" pitchFamily="34" charset="0"/>
              </a:rPr>
              <a:t> (“the Code”) are maintained.</a:t>
            </a: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31703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4E5BC1-1561-42F3-A4D1-C6F220077021}"/>
              </a:ext>
            </a:extLst>
          </p:cNvPr>
          <p:cNvSpPr>
            <a:spLocks noGrp="1"/>
          </p:cNvSpPr>
          <p:nvPr>
            <p:ph type="sldNum" sz="quarter" idx="12"/>
          </p:nvPr>
        </p:nvSpPr>
        <p:spPr/>
        <p:txBody>
          <a:bodyPr/>
          <a:lstStyle/>
          <a:p>
            <a:pPr/>
            <a:r>
              <a:rPr lang="en-AU" dirty="0">
                <a:solidFill/>
              </a:rPr>
              <a:t>3</a:t>
            </a:r>
          </a:p>
        </p:txBody>
      </p:sp>
      <p:sp>
        <p:nvSpPr>
          <p:cNvPr id="8" name="value_added_service_title">
            <a:extLst>
              <a:ext uri="{FF2B5EF4-FFF2-40B4-BE49-F238E27FC236}">
                <a16:creationId xmlns:a16="http://schemas.microsoft.com/office/drawing/2014/main" id="{C342DEC7-1171-49C7-87D8-52315D5DF2C4}"/>
              </a:ext>
            </a:extLst>
          </p:cNvPr>
          <p:cNvSpPr txBox="1">
            <a:spLocks/>
          </p:cNvSpPr>
          <p:nvPr/>
        </p:nvSpPr>
        <p:spPr>
          <a:xfrm>
            <a:off x="422156" y="337749"/>
            <a:ext cx="8316912" cy="432000"/>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spc="-150" dirty="0">
                <a:solidFill>
                  <a:srgbClr val="BB2121"/>
                </a:solidFill>
                <a:latin typeface="Arial" panose="020B0604020202020204" pitchFamily="34" charset="0"/>
                <a:cs typeface="Arial" panose="020B0604020202020204" pitchFamily="34" charset="0"/>
              </a:rPr>
              <a:t>VALUE ADDED SERVICE</a:t>
            </a:r>
            <a:endParaRPr lang="en-AU" sz="2800" b="1" spc="-150" dirty="0">
              <a:solidFill>
                <a:srgbClr val="BB2121"/>
              </a:solidFill>
              <a:latin typeface="Arial" panose="020B0604020202020204" pitchFamily="34" charset="0"/>
              <a:cs typeface="Arial" panose="020B0604020202020204" pitchFamily="34" charset="0"/>
            </a:endParaRPr>
          </a:p>
        </p:txBody>
      </p:sp>
      <p:sp>
        <p:nvSpPr>
          <p:cNvPr id="6" name="Text Placeholder 11">
            <a:extLst>
              <a:ext uri="{FF2B5EF4-FFF2-40B4-BE49-F238E27FC236}">
                <a16:creationId xmlns:a16="http://schemas.microsoft.com/office/drawing/2014/main" id="{F23D62B9-A28C-F5C0-CB6A-A6EBC27B2CC1}"/>
              </a:ext>
            </a:extLst>
          </p:cNvPr>
          <p:cNvSpPr txBox="1">
            <a:spLocks/>
          </p:cNvSpPr>
          <p:nvPr/>
        </p:nvSpPr>
        <p:spPr>
          <a:xfrm>
            <a:off x="422156" y="740252"/>
            <a:ext cx="8316912" cy="249300"/>
          </a:xfrm>
          <a:prstGeom prst="rect">
            <a:avLst/>
          </a:prstGeom>
        </p:spPr>
        <p:txBody>
          <a:bodyPr lIns="0" r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50" i="1" dirty="0">
                <a:solidFill>
                  <a:schemeClr val="bg1">
                    <a:lumMod val="50000"/>
                  </a:schemeClr>
                </a:solidFill>
                <a:latin typeface="Arial" panose="020B0604020202020204" pitchFamily="34" charset="0"/>
                <a:cs typeface="Arial" panose="020B0604020202020204" pitchFamily="34" charset="0"/>
              </a:rPr>
              <a:t>Our fees are highly competitive without compromising quality while delivering value add to your business.</a:t>
            </a:r>
          </a:p>
        </p:txBody>
      </p:sp>
      <p:sp>
        <p:nvSpPr>
          <p:cNvPr id="12" name="Text Placeholder 9">
            <a:extLst>
              <a:ext uri="{FF2B5EF4-FFF2-40B4-BE49-F238E27FC236}">
                <a16:creationId xmlns:a16="http://schemas.microsoft.com/office/drawing/2014/main" id="{5BA78814-D5E5-158F-18FA-8D0BE8194BDF}"/>
              </a:ext>
            </a:extLst>
          </p:cNvPr>
          <p:cNvSpPr txBox="1">
            <a:spLocks/>
          </p:cNvSpPr>
          <p:nvPr/>
        </p:nvSpPr>
        <p:spPr>
          <a:xfrm>
            <a:off x="651370" y="1018564"/>
            <a:ext cx="10522658" cy="677046"/>
          </a:xfrm>
          <a:prstGeom prst="rect">
            <a:avLst/>
          </a:prstGeom>
        </p:spPr>
        <p:txBody>
          <a:bodyPr vert="horz" lIns="0" tIns="0" rIns="0" bIns="0" rtlCol="0" anchor="t" anchorCtr="0"/>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en-US" sz="900" dirty="0">
                <a:solidFill>
                  <a:schemeClr val="tx1"/>
                </a:solidFill>
                <a:latin typeface="Arial" panose="020B0604020202020204" pitchFamily="34" charset="0"/>
                <a:cs typeface="Arial" panose="020B0604020202020204" pitchFamily="34" charset="0"/>
              </a:rPr>
              <a:t>We have the resources and experience to ensure that we complete our engagements on time and delivering it to our clients at a quality that they would expect. This is primarily attributable to our approach of ensuring partner participation and oversight throughout the audit process.</a:t>
            </a:r>
          </a:p>
          <a:p>
            <a:pPr algn="just"/>
            <a:endParaRPr lang="en-US" sz="400" dirty="0">
              <a:solidFill>
                <a:schemeClr val="tx1"/>
              </a:solidFill>
              <a:latin typeface="Arial" panose="020B0604020202020204" pitchFamily="34" charset="0"/>
              <a:cs typeface="Arial" panose="020B0604020202020204" pitchFamily="34" charset="0"/>
            </a:endParaRPr>
          </a:p>
          <a:p>
            <a:pPr algn="just"/>
            <a:r>
              <a:rPr sz="900">
                <a:solidFill>
                  <a:schemeClr val="tx1"/>
                </a:solidFill>
                <a:latin typeface="Arial"/>
              </a:rPr>
              <a:t>In order to provide a smooth transition, we propose to provide the following at no charge as a gesture of goodwill in demonstrating our commitment to building a long-term mutually rewarding business relationship with SRJ Technologies Group Plc:</a:t>
            </a: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1600" b="1" dirty="0">
              <a:solidFill>
                <a:srgbClr val="B07A59"/>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a:p>
            <a:pPr algn="just"/>
            <a:endParaRPr lang="en-US" sz="900" dirty="0">
              <a:solidFill>
                <a:schemeClr val="tx1"/>
              </a:solidFill>
              <a:latin typeface="Arial" panose="020B0604020202020204" pitchFamily="34" charset="0"/>
              <a:cs typeface="Arial" panose="020B0604020202020204" pitchFamily="34" charset="0"/>
            </a:endParaRPr>
          </a:p>
        </p:txBody>
      </p:sp>
      <p:graphicFrame>
        <p:nvGraphicFramePr>
          <p:cNvPr id="13" name="complimentary_services_table">
            <a:extLst>
              <a:ext uri="{FF2B5EF4-FFF2-40B4-BE49-F238E27FC236}">
                <a16:creationId xmlns:a16="http://schemas.microsoft.com/office/drawing/2014/main" id="{8E96CB94-B003-CFAD-335D-B20C3B80F813}"/>
              </a:ext>
            </a:extLst>
          </p:cNvPr>
          <p:cNvGraphicFramePr>
            <a:graphicFrameLocks noGrp="1"/>
          </p:cNvGraphicFramePr>
          <p:nvPr>
            <p:extLst>
              <p:ext uri="{D42A27DB-BD31-4B8C-83A1-F6EECF244321}">
                <p14:modId xmlns:p14="http://schemas.microsoft.com/office/powerpoint/2010/main" val="2727857169"/>
              </p:ext>
            </p:extLst>
          </p:nvPr>
        </p:nvGraphicFramePr>
        <p:xfrm>
          <a:off x="1660074" y="1828159"/>
          <a:ext cx="7958014" cy="997031"/>
        </p:xfrm>
        <a:graphic>
          <a:graphicData uri="http://schemas.openxmlformats.org/drawingml/2006/table">
            <a:tbl>
              <a:tblPr firstRow="1" bandRow="1"/>
              <a:tblGrid>
                <a:gridCol w="6829741">
                  <a:extLst>
                    <a:ext uri="{9D8B030D-6E8A-4147-A177-3AD203B41FA5}">
                      <a16:colId xmlns:a16="http://schemas.microsoft.com/office/drawing/2014/main" val="741595845"/>
                    </a:ext>
                  </a:extLst>
                </a:gridCol>
                <a:gridCol w="1128273">
                  <a:extLst>
                    <a:ext uri="{9D8B030D-6E8A-4147-A177-3AD203B41FA5}">
                      <a16:colId xmlns:a16="http://schemas.microsoft.com/office/drawing/2014/main" val="287772007"/>
                    </a:ext>
                  </a:extLst>
                </a:gridCol>
              </a:tblGrid>
              <a:tr h="323169">
                <a:tc>
                  <a:txBody>
                    <a:bodyPr/>
                    <a:lstStyle/>
                    <a:p>
                      <a:r>
                        <a:rPr lang="en-US" sz="900" b="1" dirty="0">
                          <a:solidFill>
                            <a:srgbClr val="2F465A"/>
                          </a:solidFill>
                          <a:latin typeface="Arial" panose="020B0604020202020204" pitchFamily="34" charset="0"/>
                          <a:cs typeface="Arial" panose="020B0604020202020204" pitchFamily="34" charset="0"/>
                        </a:rPr>
                        <a:t>Nature of service</a:t>
                      </a:r>
                      <a:endParaRPr lang="en-AU" sz="900" b="1" dirty="0">
                        <a:solidFill>
                          <a:srgbClr val="2F465A"/>
                        </a:solidFill>
                        <a:latin typeface="Arial" panose="020B0604020202020204" pitchFamily="34" charset="0"/>
                        <a:cs typeface="Arial" panose="020B0604020202020204" pitchFamily="34" charset="0"/>
                      </a:endParaRPr>
                    </a:p>
                  </a:txBody>
                  <a:tcPr anchor="ctr">
                    <a:lnL w="1270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1270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tcPr>
                </a:tc>
                <a:tc>
                  <a:txBody>
                    <a:bodyPr/>
                    <a:lstStyle/>
                    <a:p>
                      <a:pPr algn="r"/>
                      <a:r>
                        <a:rPr lang="en-US" sz="900" b="1" dirty="0">
                          <a:solidFill>
                            <a:srgbClr val="2F465A"/>
                          </a:solidFill>
                          <a:latin typeface="Arial" panose="020B0604020202020204" pitchFamily="34" charset="0"/>
                          <a:cs typeface="Arial" panose="020B0604020202020204" pitchFamily="34" charset="0"/>
                        </a:rPr>
                        <a:t>Amount</a:t>
                      </a:r>
                    </a:p>
                    <a:p>
                      <a:pPr algn="r"/>
                      <a:r>
                        <a:rPr lang="en-US" sz="900" b="1" dirty="0">
                          <a:solidFill>
                            <a:srgbClr val="2F465A"/>
                          </a:solidFill>
                          <a:latin typeface="Arial" panose="020B0604020202020204" pitchFamily="34" charset="0"/>
                          <a:cs typeface="Arial" panose="020B0604020202020204" pitchFamily="34" charset="0"/>
                        </a:rPr>
                        <a:t>$</a:t>
                      </a:r>
                      <a:endParaRPr lang="en-AU" sz="900" b="1" dirty="0">
                        <a:solidFill>
                          <a:srgbClr val="2F465A"/>
                        </a:solidFill>
                        <a:latin typeface="Arial" panose="020B0604020202020204" pitchFamily="34" charset="0"/>
                        <a:cs typeface="Arial" panose="020B0604020202020204" pitchFamily="34" charset="0"/>
                      </a:endParaRPr>
                    </a:p>
                  </a:txBody>
                  <a:tcPr>
                    <a:lnL w="6350" cap="flat" cmpd="sng" algn="ctr">
                      <a:solidFill>
                        <a:srgbClr val="2F465A"/>
                      </a:solidFill>
                      <a:prstDash val="solid"/>
                      <a:round/>
                      <a:headEnd type="none" w="med" len="med"/>
                      <a:tailEnd type="none" w="med" len="med"/>
                    </a:lnL>
                    <a:lnR w="12700" cap="flat" cmpd="sng" algn="ctr">
                      <a:solidFill>
                        <a:srgbClr val="2F465A"/>
                      </a:solidFill>
                      <a:prstDash val="solid"/>
                      <a:round/>
                      <a:headEnd type="none" w="med" len="med"/>
                      <a:tailEnd type="none" w="med" len="med"/>
                    </a:lnR>
                    <a:lnT w="1270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tcPr>
                </a:tc>
                <a:extLst>
                  <a:ext uri="{0D108BD9-81ED-4DB2-BD59-A6C34878D82A}">
                    <a16:rowId xmlns:a16="http://schemas.microsoft.com/office/drawing/2014/main" val="2476943905"/>
                  </a:ext>
                </a:extLst>
              </a:tr>
              <a:tr h="336931">
                <a:tc>
                  <a:txBody>
                    <a:bodyPr/>
                    <a:lstStyle/>
                    <a:p>
                      <a:pPr/>
                      <a:r>
                        <a:rPr lang="en-US" sz="900" kern="1200" dirty="0">
                          <a:solidFill/>
                          <a:effectLst/>
                          <a:latin typeface="Arial" panose="020B0604020202020204" pitchFamily="34" charset="0"/>
                          <a:cs typeface="Arial" panose="020B0604020202020204" pitchFamily="34" charset="0"/>
                        </a:rPr>
                        <a:t>Review of prior year balances as required under Australian Auditing Standards in order to be able to provide an unmodified audit opinion.</a:t>
                      </a:r>
                      <a:endParaRPr lang="en-US" sz="900" kern="1200" dirty="0">
                        <a:solidFill>
                          <a:schemeClr val="dk1"/>
                        </a:solidFill>
                        <a:effectLst/>
                        <a:latin typeface="Arial" panose="020B0604020202020204" pitchFamily="34" charset="0"/>
                        <a:ea typeface="+mn-ea"/>
                        <a:cs typeface="Arial" panose="020B0604020202020204" pitchFamily="34" charset="0"/>
                      </a:endParaRPr>
                    </a:p>
                  </a:txBody>
                  <a:tcPr>
                    <a:lnL w="1270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tcPr>
                </a:tc>
                <a:tc>
                  <a:txBody>
                    <a:bodyPr/>
                    <a:lstStyle/>
                    <a:p>
                      <a:pPr algn="r"/>
                      <a:r>
                        <a:rPr lang="en-US" sz="900" dirty="0">
                          <a:solidFill/>
                          <a:latin typeface="Arial" panose="020B0604020202020204" pitchFamily="34" charset="0"/>
                          <a:cs typeface="Arial" panose="020B0604020202020204" pitchFamily="34" charset="0"/>
                        </a:rPr>
                        <a:t>No charge</a:t>
                      </a:r>
                      <a:endParaRPr lang="en-AU" sz="900" dirty="0">
                        <a:solidFill>
                          <a:schemeClr val="tx1"/>
                        </a:solidFill>
                        <a:latin typeface="Arial" panose="020B0604020202020204" pitchFamily="34" charset="0"/>
                        <a:cs typeface="Arial" panose="020B0604020202020204" pitchFamily="34" charset="0"/>
                      </a:endParaRPr>
                    </a:p>
                  </a:txBody>
                  <a:tcPr>
                    <a:lnL w="6350" cap="flat" cmpd="sng" algn="ctr">
                      <a:solidFill>
                        <a:srgbClr val="2F465A"/>
                      </a:solidFill>
                      <a:prstDash val="solid"/>
                      <a:round/>
                      <a:headEnd type="none" w="med" len="med"/>
                      <a:tailEnd type="none" w="med" len="med"/>
                    </a:lnL>
                    <a:lnR w="1270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tcPr>
                </a:tc>
                <a:extLst>
                  <a:ext uri="{0D108BD9-81ED-4DB2-BD59-A6C34878D82A}">
                    <a16:rowId xmlns:a16="http://schemas.microsoft.com/office/drawing/2014/main" val="2848835220"/>
                  </a:ext>
                </a:extLst>
              </a:tr>
              <a:tr h="336931">
                <a:tc>
                  <a:txBody>
                    <a:bodyPr/>
                    <a:lstStyle/>
                    <a:p>
                      <a:pPr/>
                      <a:r>
                        <a:rPr lang="en-US" sz="900" kern="1200" dirty="0">
                          <a:solidFill/>
                          <a:effectLst/>
                          <a:latin typeface="Arial" panose="020B0604020202020204" pitchFamily="34" charset="0"/>
                          <a:cs typeface="Arial" panose="020B0604020202020204" pitchFamily="34" charset="0"/>
                        </a:rPr>
                        <a:t>Review of the impact of the new accounting standards</a:t>
                      </a:r>
                      <a:endParaRPr lang="en-US" sz="900" kern="1200" dirty="0">
                        <a:solidFill>
                          <a:schemeClr val="dk1"/>
                        </a:solidFill>
                        <a:effectLst/>
                        <a:latin typeface="Arial" panose="020B0604020202020204" pitchFamily="34" charset="0"/>
                        <a:ea typeface="+mn-ea"/>
                        <a:cs typeface="Arial" panose="020B0604020202020204" pitchFamily="34" charset="0"/>
                      </a:endParaRPr>
                    </a:p>
                  </a:txBody>
                  <a:tcPr>
                    <a:lnL w="1270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tcPr>
                </a:tc>
                <a:tc>
                  <a:txBody>
                    <a:bodyPr/>
                    <a:lstStyle/>
                    <a:p>
                      <a:pPr algn="r"/>
                      <a:r>
                        <a:rPr lang="en-US" sz="900" dirty="0">
                          <a:solidFill/>
                          <a:latin typeface="Arial" panose="020B0604020202020204" pitchFamily="34" charset="0"/>
                          <a:cs typeface="Arial" panose="020B0604020202020204" pitchFamily="34" charset="0"/>
                        </a:rPr>
                        <a:t>No charge</a:t>
                      </a:r>
                      <a:endParaRPr lang="en-AU" sz="900" dirty="0">
                        <a:solidFill>
                          <a:schemeClr val="tx1"/>
                        </a:solidFill>
                        <a:latin typeface="Arial" panose="020B0604020202020204" pitchFamily="34" charset="0"/>
                        <a:cs typeface="Arial" panose="020B0604020202020204" pitchFamily="34" charset="0"/>
                      </a:endParaRPr>
                    </a:p>
                  </a:txBody>
                  <a:tcPr>
                    <a:lnL w="6350" cap="flat" cmpd="sng" algn="ctr">
                      <a:solidFill>
                        <a:srgbClr val="2F465A"/>
                      </a:solidFill>
                      <a:prstDash val="solid"/>
                      <a:round/>
                      <a:headEnd type="none" w="med" len="med"/>
                      <a:tailEnd type="none" w="med" len="med"/>
                    </a:lnL>
                    <a:lnR w="1270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tcPr>
                </a:tc>
                <a:extLst>
                  <a:ext uri="{0D108BD9-81ED-4DB2-BD59-A6C34878D82A}">
                    <a16:rowId xmlns:a16="http://schemas.microsoft.com/office/drawing/2014/main" val="2848835220"/>
                  </a:ext>
                </a:extLst>
              </a:tr>
              <a:tr h="0">
                <a:tc>
                  <a:txBody>
                    <a:bodyPr/>
                    <a:lstStyle/>
                    <a:p>
                      <a:pPr/>
                      <a:r>
                        <a:rPr lang="en-AU" sz="900" b="1" kern="1200" dirty="0">
                          <a:solidFill>
                            <a:srgbClr val="2F465A"/>
                          </a:solidFill>
                          <a:effectLst/>
                          <a:latin typeface="Arial" panose="020B0604020202020204" pitchFamily="34" charset="0"/>
                          <a:cs typeface="Arial" panose="020B0604020202020204" pitchFamily="34" charset="0"/>
                        </a:rPr>
                        <a:t>Total</a:t>
                      </a:r>
                      <a:endParaRPr lang="en-AU" sz="900" b="1" dirty="0">
                        <a:solidFill>
                          <a:srgbClr val="2F465A"/>
                        </a:solidFill>
                        <a:latin typeface="Arial" panose="020B0604020202020204" pitchFamily="34" charset="0"/>
                        <a:cs typeface="Arial" panose="020B0604020202020204" pitchFamily="34" charset="0"/>
                      </a:endParaRPr>
                    </a:p>
                  </a:txBody>
                  <a:tcPr>
                    <a:lnL w="1270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12700" cap="flat" cmpd="sng" algn="ctr">
                      <a:solidFill>
                        <a:srgbClr val="2F465A"/>
                      </a:solidFill>
                      <a:prstDash val="solid"/>
                      <a:round/>
                      <a:headEnd type="none" w="med" len="med"/>
                      <a:tailEnd type="none" w="med" len="med"/>
                    </a:lnB>
                  </a:tcPr>
                </a:tc>
                <a:tc>
                  <a:txBody>
                    <a:bodyPr/>
                    <a:lstStyle/>
                    <a:p>
                      <a:pPr algn="r"/>
                      <a:r>
                        <a:rPr lang="en-US" sz="900" b="1" dirty="0">
                          <a:solidFill>
                            <a:srgbClr val="2F465A"/>
                          </a:solidFill>
                          <a:latin typeface="Arial" panose="020B0604020202020204" pitchFamily="34" charset="0"/>
                          <a:cs typeface="Arial" panose="020B0604020202020204" pitchFamily="34" charset="0"/>
                        </a:rPr>
                        <a:t>No charge</a:t>
                      </a:r>
                      <a:endParaRPr lang="en-AU" sz="900" b="1" dirty="0">
                        <a:solidFill>
                          <a:srgbClr val="2F465A"/>
                        </a:solidFill>
                        <a:latin typeface="Arial" panose="020B0604020202020204" pitchFamily="34" charset="0"/>
                        <a:cs typeface="Arial" panose="020B0604020202020204" pitchFamily="34" charset="0"/>
                      </a:endParaRPr>
                    </a:p>
                  </a:txBody>
                  <a:tcPr>
                    <a:lnL w="6350" cap="flat" cmpd="sng" algn="ctr">
                      <a:solidFill>
                        <a:srgbClr val="2F465A"/>
                      </a:solidFill>
                      <a:prstDash val="solid"/>
                      <a:round/>
                      <a:headEnd type="none" w="med" len="med"/>
                      <a:tailEnd type="none" w="med" len="med"/>
                    </a:lnL>
                    <a:lnR w="1270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12700" cap="flat" cmpd="sng" algn="ctr">
                      <a:solidFill>
                        <a:srgbClr val="2F465A"/>
                      </a:solidFill>
                      <a:prstDash val="solid"/>
                      <a:round/>
                      <a:headEnd type="none" w="med" len="med"/>
                      <a:tailEnd type="none" w="med" len="med"/>
                    </a:lnB>
                  </a:tcPr>
                </a:tc>
                <a:extLst>
                  <a:ext uri="{0D108BD9-81ED-4DB2-BD59-A6C34878D82A}">
                    <a16:rowId xmlns:a16="http://schemas.microsoft.com/office/drawing/2014/main" val="1328876990"/>
                  </a:ext>
                </a:extLst>
              </a:tr>
            </a:tbl>
          </a:graphicData>
        </a:graphic>
      </p:graphicFrame>
      <p:graphicFrame>
        <p:nvGraphicFramePr>
          <p:cNvPr id="14" name="fee_services_table_start">
            <a:extLst>
              <a:ext uri="{FF2B5EF4-FFF2-40B4-BE49-F238E27FC236}">
                <a16:creationId xmlns:a16="http://schemas.microsoft.com/office/drawing/2014/main" id="{96E1EF20-CBA4-86C8-F092-AC5C187371CB}"/>
              </a:ext>
            </a:extLst>
          </p:cNvPr>
          <p:cNvGraphicFramePr>
            <a:graphicFrameLocks noGrp="1"/>
          </p:cNvGraphicFramePr>
          <p:nvPr>
            <p:extLst>
              <p:ext uri="{D42A27DB-BD31-4B8C-83A1-F6EECF244321}">
                <p14:modId xmlns:p14="http://schemas.microsoft.com/office/powerpoint/2010/main" val="806847305"/>
              </p:ext>
            </p:extLst>
          </p:nvPr>
        </p:nvGraphicFramePr>
        <p:xfrm>
          <a:off x="1660074" y="4021916"/>
          <a:ext cx="7958014" cy="746140"/>
        </p:xfrm>
        <a:graphic>
          <a:graphicData uri="http://schemas.openxmlformats.org/drawingml/2006/table">
            <a:tbl>
              <a:tblPr firstRow="1" bandRow="1"/>
              <a:tblGrid>
                <a:gridCol w="6829741">
                  <a:extLst>
                    <a:ext uri="{9D8B030D-6E8A-4147-A177-3AD203B41FA5}">
                      <a16:colId xmlns:a16="http://schemas.microsoft.com/office/drawing/2014/main" val="741595845"/>
                    </a:ext>
                  </a:extLst>
                </a:gridCol>
                <a:gridCol w="1128273">
                  <a:extLst>
                    <a:ext uri="{9D8B030D-6E8A-4147-A177-3AD203B41FA5}">
                      <a16:colId xmlns:a16="http://schemas.microsoft.com/office/drawing/2014/main" val="2179407823"/>
                    </a:ext>
                  </a:extLst>
                </a:gridCol>
              </a:tblGrid>
              <a:tr h="334660">
                <a:tc>
                  <a:txBody>
                    <a:bodyPr/>
                    <a:lstStyle/>
                    <a:p>
                      <a:r>
                        <a:rPr lang="en-US" sz="900" b="1" dirty="0">
                          <a:solidFill>
                            <a:srgbClr val="2F465A"/>
                          </a:solidFill>
                          <a:latin typeface="Arial" panose="020B0604020202020204" pitchFamily="34" charset="0"/>
                          <a:cs typeface="Arial" panose="020B0604020202020204" pitchFamily="34" charset="0"/>
                        </a:rPr>
                        <a:t>Nature of service</a:t>
                      </a:r>
                      <a:endParaRPr lang="en-AU" sz="900" b="1" dirty="0">
                        <a:solidFill>
                          <a:srgbClr val="2F465A"/>
                        </a:solidFill>
                        <a:latin typeface="Arial" panose="020B0604020202020204" pitchFamily="34" charset="0"/>
                        <a:cs typeface="Arial" panose="020B0604020202020204" pitchFamily="34" charset="0"/>
                      </a:endParaRPr>
                    </a:p>
                  </a:txBody>
                  <a:tcPr anchor="ctr">
                    <a:lnL w="1270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1270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tcPr>
                </a:tc>
                <a:tc>
                  <a:txBody>
                    <a:bodyPr/>
                    <a:lstStyle/>
                    <a:p>
                      <a:pPr algn="r"/>
                      <a:r>
                        <a:rPr lang="en-US" sz="900" b="1" dirty="0">
                          <a:solidFill>
                            <a:srgbClr val="2F465A"/>
                          </a:solidFill>
                          <a:latin typeface="Arial" panose="020B0604020202020204" pitchFamily="34" charset="0"/>
                          <a:cs typeface="Arial" panose="020B0604020202020204" pitchFamily="34" charset="0"/>
                        </a:rPr>
                        <a:t>Amount</a:t>
                      </a:r>
                    </a:p>
                    <a:p>
                      <a:pPr algn="r"/>
                      <a:r>
                        <a:rPr lang="en-US" sz="900" b="1" dirty="0">
                          <a:solidFill>
                            <a:srgbClr val="2F465A"/>
                          </a:solidFill>
                          <a:latin typeface="Arial" panose="020B0604020202020204" pitchFamily="34" charset="0"/>
                          <a:cs typeface="Arial" panose="020B0604020202020204" pitchFamily="34" charset="0"/>
                        </a:rPr>
                        <a:t>$</a:t>
                      </a:r>
                      <a:endParaRPr lang="en-AU" sz="900" b="1" dirty="0">
                        <a:solidFill>
                          <a:srgbClr val="2F465A"/>
                        </a:solidFill>
                        <a:latin typeface="Arial" panose="020B0604020202020204" pitchFamily="34" charset="0"/>
                        <a:cs typeface="Arial" panose="020B0604020202020204" pitchFamily="34" charset="0"/>
                      </a:endParaRPr>
                    </a:p>
                  </a:txBody>
                  <a:tcPr>
                    <a:lnL w="635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1270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tcPr>
                </a:tc>
                <a:extLst>
                  <a:ext uri="{0D108BD9-81ED-4DB2-BD59-A6C34878D82A}">
                    <a16:rowId xmlns:a16="http://schemas.microsoft.com/office/drawing/2014/main" val="2476943905"/>
                  </a:ext>
                </a:extLst>
              </a:tr>
              <a:tr h="205740">
                <a:tc>
                  <a:txBody>
                    <a:bodyPr/>
                    <a:lstStyle/>
                    <a:p>
                      <a:pPr>
                        <a:buNone/>
                      </a:pPr>
                      <a:r>
                        <a:rPr lang="en-US" sz="900" kern="1200" dirty="0">
                          <a:solidFill/>
                          <a:effectLst/>
                          <a:latin typeface="Arial" panose="020B0604020202020204" pitchFamily="34" charset="0"/>
                          <a:cs typeface="Arial" panose="020B0604020202020204" pitchFamily="34" charset="0"/>
                        </a:rPr>
                        <a:t>Audit of the consolidated financial report for the year ending 31 December 2026 for SRJ Technologies Group Plc.</a:t>
                      </a:r>
                      <a:endParaRPr lang="en-AU" sz="900" dirty="0">
                        <a:solidFill>
                          <a:schemeClr val="tx1"/>
                        </a:solidFill>
                        <a:latin typeface="Arial" panose="020B0604020202020204" pitchFamily="34" charset="0"/>
                        <a:cs typeface="Arial" panose="020B0604020202020204" pitchFamily="34" charset="0"/>
                      </a:endParaRPr>
                    </a:p>
                  </a:txBody>
                  <a:tcPr anchor="ctr">
                    <a:lnL w="1270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tcPr>
                </a:tc>
                <a:tc>
                  <a:txBody>
                    <a:bodyPr/>
                    <a:lstStyle/>
                    <a:p>
                      <a:pPr algn="r"/>
                      <a:r>
                        <a:rPr lang="en-US" sz="900" dirty="0">
                          <a:solidFill>
                            <a:schemeClr val="tx1"/>
                          </a:solidFill>
                          <a:latin typeface="Arial" panose="020B0604020202020204" pitchFamily="34" charset="0"/>
                          <a:cs typeface="Arial" panose="020B0604020202020204" pitchFamily="34" charset="0"/>
                        </a:rPr>
                        <a:t>40,000</a:t>
                      </a:r>
                      <a:endParaRPr lang="en-AU" sz="900" dirty="0">
                        <a:solidFill>
                          <a:schemeClr val="tx1"/>
                        </a:solidFill>
                        <a:latin typeface="Arial" panose="020B0604020202020204" pitchFamily="34" charset="0"/>
                        <a:cs typeface="Arial" panose="020B0604020202020204" pitchFamily="34" charset="0"/>
                      </a:endParaRPr>
                    </a:p>
                  </a:txBody>
                  <a:tcPr anchor="ctr">
                    <a:lnL w="635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tcPr>
                </a:tc>
                <a:extLst>
                  <a:ext uri="{0D108BD9-81ED-4DB2-BD59-A6C34878D82A}">
                    <a16:rowId xmlns:a16="http://schemas.microsoft.com/office/drawing/2014/main" val="784591145"/>
                  </a:ext>
                </a:extLst>
              </a:tr>
              <a:tr h="205740">
                <a:tc>
                  <a:txBody>
                    <a:bodyPr/>
                    <a:lstStyle/>
                    <a:p>
                      <a:pPr>
                        <a:buNone/>
                      </a:pPr>
                      <a:r>
                        <a:rPr lang="en-US" sz="900" kern="1200" dirty="0">
                          <a:solidFill/>
                          <a:effectLst/>
                          <a:latin typeface="Arial" panose="020B0604020202020204" pitchFamily="34" charset="0"/>
                          <a:cs typeface="Arial" panose="020B0604020202020204" pitchFamily="34" charset="0"/>
                        </a:rPr>
                        <a:t>Review of the consolidated financial report for the half-year ended 30 June 2026 for SRJ Technologies Group Plc.</a:t>
                      </a:r>
                      <a:endParaRPr lang="en-AU" sz="900" dirty="0">
                        <a:solidFill>
                          <a:schemeClr val="tx1"/>
                        </a:solidFill>
                        <a:latin typeface="Arial" panose="020B0604020202020204" pitchFamily="34" charset="0"/>
                        <a:cs typeface="Arial" panose="020B0604020202020204" pitchFamily="34" charset="0"/>
                      </a:endParaRPr>
                    </a:p>
                  </a:txBody>
                  <a:tcPr anchor="ctr">
                    <a:lnL w="1270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tcPr>
                </a:tc>
                <a:tc>
                  <a:txBody>
                    <a:bodyPr/>
                    <a:lstStyle/>
                    <a:p>
                      <a:pPr algn="r"/>
                      <a:r>
                        <a:rPr lang="en-US" sz="900" dirty="0">
                          <a:solidFill>
                            <a:schemeClr val="tx1"/>
                          </a:solidFill>
                          <a:latin typeface="Arial" panose="020B0604020202020204" pitchFamily="34" charset="0"/>
                          <a:cs typeface="Arial" panose="020B0604020202020204" pitchFamily="34" charset="0"/>
                        </a:rPr>
                        <a:t>20,000</a:t>
                      </a:r>
                      <a:endParaRPr lang="en-AU" sz="900" dirty="0">
                        <a:solidFill>
                          <a:schemeClr val="tx1"/>
                        </a:solidFill>
                        <a:latin typeface="Arial" panose="020B0604020202020204" pitchFamily="34" charset="0"/>
                        <a:cs typeface="Arial" panose="020B0604020202020204" pitchFamily="34" charset="0"/>
                      </a:endParaRPr>
                    </a:p>
                  </a:txBody>
                  <a:tcPr anchor="ctr">
                    <a:lnL w="635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tcPr>
                </a:tc>
                <a:extLst>
                  <a:ext uri="{0D108BD9-81ED-4DB2-BD59-A6C34878D82A}">
                    <a16:rowId xmlns:a16="http://schemas.microsoft.com/office/drawing/2014/main" val="784591145"/>
                  </a:ext>
                </a:extLst>
              </a:tr>
            </a:tbl>
          </a:graphicData>
        </a:graphic>
      </p:graphicFrame>
      <p:sp>
        <p:nvSpPr>
          <p:cNvPr id="7" name="Rectangle 6">
            <a:extLst>
              <a:ext uri="{FF2B5EF4-FFF2-40B4-BE49-F238E27FC236}">
                <a16:creationId xmlns:a16="http://schemas.microsoft.com/office/drawing/2014/main" id="{84266D81-B39B-1617-BE81-1882D8F1E202}"/>
              </a:ext>
            </a:extLst>
          </p:cNvPr>
          <p:cNvSpPr/>
          <p:nvPr/>
        </p:nvSpPr>
        <p:spPr>
          <a:xfrm rot="16200000" flipV="1">
            <a:off x="-2847475" y="3158896"/>
            <a:ext cx="5752282" cy="75438"/>
          </a:xfrm>
          <a:prstGeom prst="rec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350" dirty="0"/>
              <a:t>-</a:t>
            </a:r>
          </a:p>
        </p:txBody>
      </p:sp>
      <p:sp>
        <p:nvSpPr>
          <p:cNvPr id="9" name="Rectangle 8">
            <a:extLst>
              <a:ext uri="{FF2B5EF4-FFF2-40B4-BE49-F238E27FC236}">
                <a16:creationId xmlns:a16="http://schemas.microsoft.com/office/drawing/2014/main" id="{61822EFC-3FD4-C276-37E7-F54C164153DC}"/>
              </a:ext>
            </a:extLst>
          </p:cNvPr>
          <p:cNvSpPr/>
          <p:nvPr/>
        </p:nvSpPr>
        <p:spPr>
          <a:xfrm rot="16200000" flipV="1">
            <a:off x="9298408" y="3236774"/>
            <a:ext cx="5752282" cy="75438"/>
          </a:xfrm>
          <a:prstGeom prst="rec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350" dirty="0"/>
          </a:p>
        </p:txBody>
      </p:sp>
      <p:pic>
        <p:nvPicPr>
          <p:cNvPr id="2" name="Picture 1" descr="A white and red globe with a black background&#10;&#10;AI-generated content may be incorrect.">
            <a:extLst>
              <a:ext uri="{FF2B5EF4-FFF2-40B4-BE49-F238E27FC236}">
                <a16:creationId xmlns:a16="http://schemas.microsoft.com/office/drawing/2014/main" id="{6285B1E1-7D9F-4860-36B6-5D2E56A986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386" y="6219147"/>
            <a:ext cx="1052953" cy="453783"/>
          </a:xfrm>
          <a:prstGeom prst="rect">
            <a:avLst/>
          </a:prstGeom>
        </p:spPr>
      </p:pic>
      <p:sp>
        <p:nvSpPr>
          <p:cNvPr id="3" name="disclaimer_text">
            <a:extLst>
              <a:ext uri="{FF2B5EF4-FFF2-40B4-BE49-F238E27FC236}">
                <a16:creationId xmlns:a16="http://schemas.microsoft.com/office/drawing/2014/main" id="{5317A456-3CA2-B6F3-E805-04D2CB4C5509}"/>
              </a:ext>
            </a:extLst>
          </p:cNvPr>
          <p:cNvSpPr txBox="1">
            <a:spLocks/>
          </p:cNvSpPr>
          <p:nvPr/>
        </p:nvSpPr>
        <p:spPr>
          <a:xfrm>
            <a:off x="636853" y="5582662"/>
            <a:ext cx="10522658" cy="770066"/>
          </a:xfrm>
          <a:prstGeom prst="rect">
            <a:avLst/>
          </a:prstGeom>
        </p:spPr>
        <p:txBody>
          <a:bodyPr vert="horz" lIns="0" tIns="0" rIns="0" bIns="0" rtlCol="0" anchor="t" anchorCtr="0"/>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en-US" sz="900" i="1" dirty="0">
                <a:solidFill>
                  <a:schemeClr val="tx1"/>
                </a:solidFill>
                <a:latin typeface="Arial" panose="020B0604020202020204" pitchFamily="34" charset="0"/>
                <a:cs typeface="Arial" panose="020B0604020202020204" pitchFamily="34" charset="0"/>
              </a:rPr>
              <a:t>The above amounts are exclusive of GST and administration costs and disbursements.</a:t>
            </a:r>
          </a:p>
          <a:p>
            <a:pPr algn="just">
              <a:spcBef>
                <a:spcPts val="600"/>
              </a:spcBef>
            </a:pPr>
            <a:r>
              <a:rPr lang="en-US" sz="900" i="1" dirty="0">
                <a:solidFill>
                  <a:schemeClr val="tx1"/>
                </a:solidFill>
                <a:latin typeface="Arial" panose="020B0604020202020204" pitchFamily="34" charset="0"/>
                <a:cs typeface="Arial" panose="020B0604020202020204" pitchFamily="34" charset="0"/>
              </a:rPr>
              <a:t>Our fee proposal assumes no significant changes to the operations of the business from that advised up to the date of this proposal and allows for time costs to perform audit procedures and consideration of accounting issues that may arise. If there is any indication that our fees may exceed the amount detailed, we will discuss the cause and potential additional fees with you to determine actions to minimise their impact. </a:t>
            </a:r>
          </a:p>
        </p:txBody>
      </p:sp>
      <p:sp>
        <p:nvSpPr>
          <p:cNvPr id="11" name="fee_proposal_title">
            <a:extLst>
              <a:ext uri="{FF2B5EF4-FFF2-40B4-BE49-F238E27FC236}">
                <a16:creationId xmlns:a16="http://schemas.microsoft.com/office/drawing/2014/main" id="{64D74453-3D68-8DF8-E072-954DED817B93}"/>
              </a:ext>
            </a:extLst>
          </p:cNvPr>
          <p:cNvSpPr txBox="1">
            <a:spLocks/>
          </p:cNvSpPr>
          <p:nvPr/>
        </p:nvSpPr>
        <p:spPr>
          <a:xfrm>
            <a:off x="651370" y="3241143"/>
            <a:ext cx="10522658" cy="660340"/>
          </a:xfrm>
          <a:prstGeom prst="rect">
            <a:avLst/>
          </a:prstGeom>
        </p:spPr>
        <p:txBody>
          <a:bodyPr vert="horz" lIns="0" tIns="0" rIns="0" bIns="0" rtlCol="0" anchor="t" anchorCtr="0"/>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en-US" sz="1600" b="1" dirty="0">
                <a:solidFill>
                  <a:srgbClr val="2F465A"/>
                </a:solidFill>
                <a:latin typeface="Arial" panose="020B0604020202020204" pitchFamily="34" charset="0"/>
                <a:cs typeface="Arial" panose="020B0604020202020204" pitchFamily="34" charset="0"/>
              </a:rPr>
              <a:t>FEE PROPOSAL </a:t>
            </a:r>
          </a:p>
          <a:p>
            <a:pPr algn="just"/>
            <a:endParaRPr lang="en-US" sz="300" dirty="0">
              <a:solidFill>
                <a:schemeClr val="tx1"/>
              </a:solidFill>
              <a:latin typeface="Arial" panose="020B0604020202020204" pitchFamily="34" charset="0"/>
              <a:cs typeface="Arial" panose="020B0604020202020204" pitchFamily="34" charset="0"/>
            </a:endParaRPr>
          </a:p>
          <a:p>
            <a:pPr algn="just"/>
            <a:r>
              <a:rPr lang="en-US" sz="900" dirty="0">
                <a:solidFill>
                  <a:schemeClr val="tx1"/>
                </a:solidFill>
                <a:latin typeface="Arial" panose="020B0604020202020204" pitchFamily="34" charset="0"/>
                <a:cs typeface="Arial" panose="020B0604020202020204" pitchFamily="34" charset="0"/>
              </a:rPr>
              <a:t>We are committed to providing you with a high-quality service in a cost effective and transparent manner.  To provide you with certainty on your future costs we have provided our fee estimate for the next three financial years.  Our fee proposal is as follows: </a:t>
            </a:r>
          </a:p>
        </p:txBody>
      </p:sp>
    </p:spTree>
    <p:extLst>
      <p:ext uri="{BB962C8B-B14F-4D97-AF65-F5344CB8AC3E}">
        <p14:creationId xmlns:p14="http://schemas.microsoft.com/office/powerpoint/2010/main" val="1268921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4E5BC1-1561-42F3-A4D1-C6F220077021}"/>
              </a:ext>
            </a:extLst>
          </p:cNvPr>
          <p:cNvSpPr>
            <a:spLocks noGrp="1"/>
          </p:cNvSpPr>
          <p:nvPr>
            <p:ph type="sldNum" sz="quarter" idx="12"/>
          </p:nvPr>
        </p:nvSpPr>
        <p:spPr/>
        <p:txBody>
          <a:bodyPr/>
          <a:lstStyle/>
          <a:p>
            <a:pPr/>
            <a:r>
              <a:rPr lang="en-AU" dirty="0">
                <a:solidFill/>
              </a:rPr>
              <a:t>4</a:t>
            </a:r>
          </a:p>
        </p:txBody>
      </p:sp>
      <p:sp>
        <p:nvSpPr>
          <p:cNvPr id="8" name="Title 7">
            <a:extLst>
              <a:ext uri="{FF2B5EF4-FFF2-40B4-BE49-F238E27FC236}">
                <a16:creationId xmlns:a16="http://schemas.microsoft.com/office/drawing/2014/main" id="{C342DEC7-1171-49C7-87D8-52315D5DF2C4}"/>
              </a:ext>
            </a:extLst>
          </p:cNvPr>
          <p:cNvSpPr txBox="1">
            <a:spLocks/>
          </p:cNvSpPr>
          <p:nvPr/>
        </p:nvSpPr>
        <p:spPr>
          <a:xfrm>
            <a:off x="413393" y="320474"/>
            <a:ext cx="8316912" cy="432000"/>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spc="-150" dirty="0">
                <a:solidFill>
                  <a:srgbClr val="BB2121"/>
                </a:solidFill>
                <a:latin typeface="Arial" panose="020B0604020202020204" pitchFamily="34" charset="0"/>
                <a:cs typeface="Arial" panose="020B0604020202020204" pitchFamily="34" charset="0"/>
              </a:rPr>
              <a:t>VALUE ADDED SERVICE (continued)</a:t>
            </a:r>
            <a:endParaRPr lang="en-AU" sz="2800" b="1" spc="-150" dirty="0">
              <a:solidFill>
                <a:srgbClr val="BB2121"/>
              </a:solidFill>
              <a:latin typeface="Arial" panose="020B0604020202020204" pitchFamily="34" charset="0"/>
              <a:cs typeface="Arial" panose="020B0604020202020204" pitchFamily="34" charset="0"/>
            </a:endParaRPr>
          </a:p>
        </p:txBody>
      </p:sp>
      <p:sp>
        <p:nvSpPr>
          <p:cNvPr id="6" name="Text Placeholder 11">
            <a:extLst>
              <a:ext uri="{FF2B5EF4-FFF2-40B4-BE49-F238E27FC236}">
                <a16:creationId xmlns:a16="http://schemas.microsoft.com/office/drawing/2014/main" id="{F23D62B9-A28C-F5C0-CB6A-A6EBC27B2CC1}"/>
              </a:ext>
            </a:extLst>
          </p:cNvPr>
          <p:cNvSpPr txBox="1">
            <a:spLocks/>
          </p:cNvSpPr>
          <p:nvPr/>
        </p:nvSpPr>
        <p:spPr>
          <a:xfrm>
            <a:off x="413393" y="771466"/>
            <a:ext cx="8316912" cy="249300"/>
          </a:xfrm>
          <a:prstGeom prst="rect">
            <a:avLst/>
          </a:prstGeom>
        </p:spPr>
        <p:txBody>
          <a:bodyPr lIns="0" r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50" i="1" dirty="0">
                <a:solidFill>
                  <a:schemeClr val="bg1">
                    <a:lumMod val="50000"/>
                  </a:schemeClr>
                </a:solidFill>
                <a:latin typeface="Arial" panose="020B0604020202020204" pitchFamily="34" charset="0"/>
                <a:cs typeface="Arial" panose="020B0604020202020204" pitchFamily="34" charset="0"/>
              </a:rPr>
              <a:t>Our fees are highly competitive without compromising quality while delivering value add to your business.</a:t>
            </a:r>
          </a:p>
        </p:txBody>
      </p:sp>
      <p:sp>
        <p:nvSpPr>
          <p:cNvPr id="7" name="Text Placeholder 9">
            <a:extLst>
              <a:ext uri="{FF2B5EF4-FFF2-40B4-BE49-F238E27FC236}">
                <a16:creationId xmlns:a16="http://schemas.microsoft.com/office/drawing/2014/main" id="{F43C352C-6CF1-757B-B8EB-807B3E2C0C25}"/>
              </a:ext>
            </a:extLst>
          </p:cNvPr>
          <p:cNvSpPr txBox="1">
            <a:spLocks/>
          </p:cNvSpPr>
          <p:nvPr/>
        </p:nvSpPr>
        <p:spPr>
          <a:xfrm>
            <a:off x="875551" y="1290418"/>
            <a:ext cx="9495083" cy="4860216"/>
          </a:xfrm>
          <a:prstGeom prst="rect">
            <a:avLst/>
          </a:prstGeom>
        </p:spPr>
        <p:txBody>
          <a:bodyPr vert="horz" lIns="0" tIns="0" rIns="0" bIns="0" rtlCol="0" anchor="t" anchorCtr="0"/>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1600" b="1" dirty="0">
                <a:solidFill>
                  <a:srgbClr val="2F465A"/>
                </a:solidFill>
                <a:latin typeface="Arial" panose="020B0604020202020204" pitchFamily="34" charset="0"/>
                <a:cs typeface="Arial" panose="020B0604020202020204" pitchFamily="34" charset="0"/>
              </a:rPr>
              <a:t>GOING ABOVE AND BEYOND</a:t>
            </a:r>
          </a:p>
          <a:p>
            <a:pPr algn="l"/>
            <a:endParaRPr lang="en-US" sz="300" dirty="0">
              <a:solidFill>
                <a:schemeClr val="tx1"/>
              </a:solidFill>
              <a:latin typeface="Arial" panose="020B0604020202020204" pitchFamily="34" charset="0"/>
              <a:cs typeface="Arial" panose="020B0604020202020204" pitchFamily="34" charset="0"/>
            </a:endParaRPr>
          </a:p>
          <a:p>
            <a:pPr algn="l"/>
            <a:r>
              <a:rPr sz="900">
                <a:solidFill>
                  <a:schemeClr val="tx1"/>
                </a:solidFill>
                <a:latin typeface="Arial"/>
              </a:rPr>
              <a:t>The following table demonstrates what services normally comprise a statutory audit and value added services that </a:t>
            </a:r>
            <a:r>
              <a:rPr sz="900">
                <a:solidFill>
                  <a:schemeClr val="tx1"/>
                </a:solidFill>
                <a:latin typeface="Arial"/>
              </a:rPr>
              <a:t>In.Corp</a:t>
            </a:r>
            <a:r>
              <a:rPr sz="900">
                <a:solidFill>
                  <a:schemeClr val="tx1"/>
                </a:solidFill>
                <a:latin typeface="Arial"/>
              </a:rPr>
              <a:t> will provide as part of our ongoing commitment to the directors and management of SRJ Technologies Group Plc.</a:t>
            </a: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100" dirty="0">
              <a:solidFill>
                <a:schemeClr val="tx1"/>
              </a:solidFill>
              <a:latin typeface="Arial" panose="020B0604020202020204" pitchFamily="34" charset="0"/>
              <a:cs typeface="Arial" panose="020B0604020202020204" pitchFamily="34" charset="0"/>
            </a:endParaRPr>
          </a:p>
          <a:p>
            <a:pPr algn="l"/>
            <a:endParaRPr lang="en-US" sz="900" i="1"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p:txBody>
      </p:sp>
      <p:graphicFrame>
        <p:nvGraphicFramePr>
          <p:cNvPr id="9" name="value_add_comparison_table">
            <a:extLst>
              <a:ext uri="{FF2B5EF4-FFF2-40B4-BE49-F238E27FC236}">
                <a16:creationId xmlns:a16="http://schemas.microsoft.com/office/drawing/2014/main" id="{EE41908D-74BE-77E3-F603-AF20CFFE390E}"/>
              </a:ext>
            </a:extLst>
          </p:cNvPr>
          <p:cNvGraphicFramePr>
            <a:graphicFrameLocks noGrp="1"/>
          </p:cNvGraphicFramePr>
          <p:nvPr>
            <p:extLst>
              <p:ext uri="{D42A27DB-BD31-4B8C-83A1-F6EECF244321}">
                <p14:modId xmlns:p14="http://schemas.microsoft.com/office/powerpoint/2010/main" val="3793857726"/>
              </p:ext>
            </p:extLst>
          </p:nvPr>
        </p:nvGraphicFramePr>
        <p:xfrm>
          <a:off x="2018507" y="2221286"/>
          <a:ext cx="8154986" cy="1714219"/>
        </p:xfrm>
        <a:graphic>
          <a:graphicData uri="http://schemas.openxmlformats.org/drawingml/2006/table">
            <a:tbl>
              <a:tblPr firstRow="1" bandRow="1">
                <a:tableStyleId>{073A0DAA-6AF3-43AB-8588-CEC1D06C72B9}</a:tableStyleId>
              </a:tblPr>
              <a:tblGrid>
                <a:gridCol w="5232570">
                  <a:extLst>
                    <a:ext uri="{9D8B030D-6E8A-4147-A177-3AD203B41FA5}">
                      <a16:colId xmlns:a16="http://schemas.microsoft.com/office/drawing/2014/main" val="741595845"/>
                    </a:ext>
                  </a:extLst>
                </a:gridCol>
                <a:gridCol w="1473693">
                  <a:extLst>
                    <a:ext uri="{9D8B030D-6E8A-4147-A177-3AD203B41FA5}">
                      <a16:colId xmlns:a16="http://schemas.microsoft.com/office/drawing/2014/main" val="2179407823"/>
                    </a:ext>
                  </a:extLst>
                </a:gridCol>
                <a:gridCol w="1448723">
                  <a:extLst>
                    <a:ext uri="{9D8B030D-6E8A-4147-A177-3AD203B41FA5}">
                      <a16:colId xmlns:a16="http://schemas.microsoft.com/office/drawing/2014/main" val="1104069452"/>
                    </a:ext>
                  </a:extLst>
                </a:gridCol>
              </a:tblGrid>
              <a:tr h="490974">
                <a:tc>
                  <a:txBody>
                    <a:bodyPr/>
                    <a:lstStyle/>
                    <a:p>
                      <a:r>
                        <a:rPr lang="en-US" sz="900" dirty="0">
                          <a:solidFill>
                            <a:srgbClr val="2F465A"/>
                          </a:solidFill>
                          <a:latin typeface="Arial" panose="020B0604020202020204" pitchFamily="34" charset="0"/>
                          <a:cs typeface="Arial" panose="020B0604020202020204" pitchFamily="34" charset="0"/>
                        </a:rPr>
                        <a:t>Nature of service</a:t>
                      </a:r>
                      <a:endParaRPr lang="en-AU" sz="900" dirty="0">
                        <a:solidFill>
                          <a:srgbClr val="2F465A"/>
                        </a:solidFill>
                        <a:latin typeface="Arial" panose="020B0604020202020204" pitchFamily="34" charset="0"/>
                        <a:cs typeface="Arial" panose="020B0604020202020204" pitchFamily="34" charset="0"/>
                      </a:endParaRPr>
                    </a:p>
                  </a:txBody>
                  <a:tcPr anchor="ctr">
                    <a:lnL w="1270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1270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dirty="0">
                          <a:solidFill>
                            <a:srgbClr val="2F465A"/>
                          </a:solidFill>
                          <a:latin typeface="Arial" panose="020B0604020202020204" pitchFamily="34" charset="0"/>
                          <a:cs typeface="Arial" panose="020B0604020202020204" pitchFamily="34" charset="0"/>
                        </a:rPr>
                        <a:t>Statutory Audit</a:t>
                      </a:r>
                      <a:endParaRPr lang="en-AU" sz="900" dirty="0">
                        <a:solidFill>
                          <a:srgbClr val="2F465A"/>
                        </a:solidFill>
                        <a:latin typeface="Arial" panose="020B0604020202020204" pitchFamily="34" charset="0"/>
                        <a:cs typeface="Arial" panose="020B0604020202020204" pitchFamily="34" charset="0"/>
                      </a:endParaRPr>
                    </a:p>
                  </a:txBody>
                  <a:tcPr anchor="ctr">
                    <a:lnL w="635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1270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dirty="0" err="1">
                          <a:solidFill>
                            <a:srgbClr val="2F465A"/>
                          </a:solidFill>
                          <a:latin typeface="Arial" panose="020B0604020202020204" pitchFamily="34" charset="0"/>
                          <a:cs typeface="Arial" panose="020B0604020202020204" pitchFamily="34" charset="0"/>
                        </a:rPr>
                        <a:t>In.Corp</a:t>
                      </a:r>
                      <a:r>
                        <a:rPr lang="en-US" sz="900" dirty="0">
                          <a:solidFill>
                            <a:srgbClr val="2F465A"/>
                          </a:solidFill>
                          <a:latin typeface="Arial" panose="020B0604020202020204" pitchFamily="34" charset="0"/>
                          <a:cs typeface="Arial" panose="020B0604020202020204" pitchFamily="34" charset="0"/>
                        </a:rPr>
                        <a:t> Value Add</a:t>
                      </a:r>
                      <a:endParaRPr lang="en-AU" sz="900" dirty="0">
                        <a:solidFill>
                          <a:srgbClr val="2F465A"/>
                        </a:solidFill>
                        <a:latin typeface="Arial" panose="020B0604020202020204" pitchFamily="34" charset="0"/>
                        <a:cs typeface="Arial" panose="020B0604020202020204" pitchFamily="34" charset="0"/>
                      </a:endParaRPr>
                    </a:p>
                  </a:txBody>
                  <a:tcPr anchor="ctr">
                    <a:lnL w="6350" cap="flat" cmpd="sng" algn="ctr">
                      <a:solidFill>
                        <a:srgbClr val="2F465A"/>
                      </a:solidFill>
                      <a:prstDash val="solid"/>
                      <a:round/>
                      <a:headEnd type="none" w="med" len="med"/>
                      <a:tailEnd type="none" w="med" len="med"/>
                    </a:lnL>
                    <a:lnR w="12700" cap="flat" cmpd="sng" algn="ctr">
                      <a:solidFill>
                        <a:srgbClr val="2F465A"/>
                      </a:solidFill>
                      <a:prstDash val="solid"/>
                      <a:round/>
                      <a:headEnd type="none" w="med" len="med"/>
                      <a:tailEnd type="none" w="med" len="med"/>
                    </a:lnR>
                    <a:lnT w="1270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6943905"/>
                  </a:ext>
                </a:extLst>
              </a:tr>
              <a:tr h="244649">
                <a:tc>
                  <a:txBody>
                    <a:bodyPr/>
                    <a:lstStyle/>
                    <a:p>
                      <a:pPr/>
                      <a:r>
                        <a:rPr lang="en-AU" sz="900" kern="1200" dirty="0">
                          <a:solidFill>
                            <a:schemeClr val="dk1"/>
                          </a:solidFill>
                          <a:effectLst/>
                          <a:latin typeface="Arial" panose="020B0604020202020204" pitchFamily="34" charset="0"/>
                          <a:ea typeface="+mn-ea"/>
                          <a:cs typeface="Arial" panose="020B0604020202020204" pitchFamily="34" charset="0"/>
                        </a:rPr>
                        <a:t>Reasonable Assurance on Financial Report</a:t>
                      </a:r>
                    </a:p>
                  </a:txBody>
                  <a:tcPr anchor="ctr">
                    <a:lnL w="1270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400" dirty="0">
                          <a:solidFill>
                            <a:srgbClr val="00B050"/>
                          </a:solidFill>
                          <a:latin typeface="Arial" panose="020B0604020202020204" pitchFamily="34" charset="0"/>
                          <a:cs typeface="Arial" panose="020B0604020202020204" pitchFamily="34" charset="0"/>
                          <a:sym typeface="Wingdings" panose="05000000000000000000" pitchFamily="2" charset="2"/>
                        </a:rPr>
                        <a:t></a:t>
                      </a:r>
                      <a:endParaRPr lang="en-AU" sz="1400" dirty="0">
                        <a:solidFill>
                          <a:srgbClr val="00B050"/>
                        </a:solidFill>
                        <a:latin typeface="Arial" panose="020B0604020202020204" pitchFamily="34" charset="0"/>
                        <a:cs typeface="Arial" panose="020B0604020202020204" pitchFamily="34" charset="0"/>
                      </a:endParaRPr>
                    </a:p>
                  </a:txBody>
                  <a:tcPr anchor="ctr">
                    <a:lnL w="635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B050"/>
                          </a:solidFill>
                          <a:effectLst/>
                          <a:uLnTx/>
                          <a:uFillTx/>
                          <a:latin typeface="Arial" panose="020B0604020202020204" pitchFamily="34" charset="0"/>
                          <a:ea typeface="+mn-ea"/>
                          <a:cs typeface="Arial" panose="020B0604020202020204" pitchFamily="34" charset="0"/>
                          <a:sym typeface="Wingdings" panose="05000000000000000000" pitchFamily="2" charset="2"/>
                        </a:rPr>
                        <a:t></a:t>
                      </a:r>
                      <a:endParaRPr kumimoji="0" lang="en-AU" sz="1400" b="0" i="0" u="none" strike="noStrike" kern="1200" cap="none" spc="0" normalizeH="0" baseline="0" noProof="0" dirty="0">
                        <a:ln>
                          <a:noFill/>
                        </a:ln>
                        <a:solidFill>
                          <a:srgbClr val="00B050"/>
                        </a:solidFill>
                        <a:effectLst/>
                        <a:uLnTx/>
                        <a:uFillTx/>
                        <a:latin typeface="Arial" panose="020B0604020202020204" pitchFamily="34" charset="0"/>
                        <a:ea typeface="+mn-ea"/>
                        <a:cs typeface="Arial" panose="020B0604020202020204" pitchFamily="34" charset="0"/>
                      </a:endParaRPr>
                    </a:p>
                  </a:txBody>
                  <a:tcPr anchor="ctr">
                    <a:lnL w="6350" cap="flat" cmpd="sng" algn="ctr">
                      <a:solidFill>
                        <a:srgbClr val="2F465A"/>
                      </a:solidFill>
                      <a:prstDash val="solid"/>
                      <a:round/>
                      <a:headEnd type="none" w="med" len="med"/>
                      <a:tailEnd type="none" w="med" len="med"/>
                    </a:lnL>
                    <a:lnR w="1270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8835220"/>
                  </a:ext>
                </a:extLst>
              </a:tr>
              <a:tr h="244649">
                <a:tc>
                  <a:txBody>
                    <a:bodyPr/>
                    <a:lstStyle/>
                    <a:p>
                      <a:pPr/>
                      <a:r>
                        <a:rPr lang="en-AU" sz="900" kern="1200" dirty="0">
                          <a:solidFill>
                            <a:schemeClr val="dk1"/>
                          </a:solidFill>
                          <a:effectLst/>
                          <a:latin typeface="Arial" panose="020B0604020202020204" pitchFamily="34" charset="0"/>
                          <a:ea typeface="+mn-ea"/>
                          <a:cs typeface="Arial" panose="020B0604020202020204" pitchFamily="34" charset="0"/>
                        </a:rPr>
                        <a:t>Communication of Process and Findings to Directors and Management</a:t>
                      </a:r>
                    </a:p>
                  </a:txBody>
                  <a:tcPr anchor="ctr">
                    <a:lnL w="1270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400" dirty="0">
                          <a:solidFill>
                            <a:srgbClr val="00B050"/>
                          </a:solidFill>
                          <a:latin typeface="Arial" panose="020B0604020202020204" pitchFamily="34" charset="0"/>
                          <a:cs typeface="Arial" panose="020B0604020202020204" pitchFamily="34" charset="0"/>
                          <a:sym typeface="Wingdings" panose="05000000000000000000" pitchFamily="2" charset="2"/>
                        </a:rPr>
                        <a:t></a:t>
                      </a:r>
                      <a:endParaRPr lang="en-AU" sz="1400" dirty="0">
                        <a:solidFill>
                          <a:srgbClr val="00B050"/>
                        </a:solidFill>
                        <a:latin typeface="Arial" panose="020B0604020202020204" pitchFamily="34" charset="0"/>
                        <a:cs typeface="Arial" panose="020B0604020202020204" pitchFamily="34" charset="0"/>
                      </a:endParaRPr>
                    </a:p>
                  </a:txBody>
                  <a:tcPr anchor="ctr">
                    <a:lnL w="635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B050"/>
                          </a:solidFill>
                          <a:effectLst/>
                          <a:uLnTx/>
                          <a:uFillTx/>
                          <a:latin typeface="Arial" panose="020B0604020202020204" pitchFamily="34" charset="0"/>
                          <a:ea typeface="+mn-ea"/>
                          <a:cs typeface="Arial" panose="020B0604020202020204" pitchFamily="34" charset="0"/>
                          <a:sym typeface="Wingdings" panose="05000000000000000000" pitchFamily="2" charset="2"/>
                        </a:rPr>
                        <a:t></a:t>
                      </a:r>
                      <a:endParaRPr kumimoji="0" lang="en-AU" sz="1400" b="0" i="0" u="none" strike="noStrike" kern="1200" cap="none" spc="0" normalizeH="0" baseline="0" noProof="0" dirty="0">
                        <a:ln>
                          <a:noFill/>
                        </a:ln>
                        <a:solidFill>
                          <a:srgbClr val="00B050"/>
                        </a:solidFill>
                        <a:effectLst/>
                        <a:uLnTx/>
                        <a:uFillTx/>
                        <a:latin typeface="Arial" panose="020B0604020202020204" pitchFamily="34" charset="0"/>
                        <a:ea typeface="+mn-ea"/>
                        <a:cs typeface="Arial" panose="020B0604020202020204" pitchFamily="34" charset="0"/>
                      </a:endParaRPr>
                    </a:p>
                  </a:txBody>
                  <a:tcPr anchor="ctr">
                    <a:lnL w="6350" cap="flat" cmpd="sng" algn="ctr">
                      <a:solidFill>
                        <a:srgbClr val="2F465A"/>
                      </a:solidFill>
                      <a:prstDash val="solid"/>
                      <a:round/>
                      <a:headEnd type="none" w="med" len="med"/>
                      <a:tailEnd type="none" w="med" len="med"/>
                    </a:lnL>
                    <a:lnR w="1270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8835220"/>
                  </a:ext>
                </a:extLst>
              </a:tr>
              <a:tr h="244649">
                <a:tc>
                  <a:txBody>
                    <a:bodyPr/>
                    <a:lstStyle/>
                    <a:p>
                      <a:pPr/>
                      <a:r>
                        <a:rPr lang="en-AU" sz="900" kern="1200" dirty="0">
                          <a:solidFill>
                            <a:schemeClr val="dk1"/>
                          </a:solidFill>
                          <a:effectLst/>
                          <a:latin typeface="Arial" panose="020B0604020202020204" pitchFamily="34" charset="0"/>
                          <a:ea typeface="+mn-ea"/>
                          <a:cs typeface="Arial" panose="020B0604020202020204" pitchFamily="34" charset="0"/>
                        </a:rPr>
                        <a:t>Understanding of Internal Controls</a:t>
                      </a:r>
                    </a:p>
                  </a:txBody>
                  <a:tcPr anchor="ctr">
                    <a:lnL w="1270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400" dirty="0">
                          <a:solidFill>
                            <a:srgbClr val="00B050"/>
                          </a:solidFill>
                          <a:latin typeface="Arial" panose="020B0604020202020204" pitchFamily="34" charset="0"/>
                          <a:cs typeface="Arial" panose="020B0604020202020204" pitchFamily="34" charset="0"/>
                          <a:sym typeface="Wingdings" panose="05000000000000000000" pitchFamily="2" charset="2"/>
                        </a:rPr>
                        <a:t></a:t>
                      </a:r>
                      <a:endParaRPr lang="en-AU" sz="1400" dirty="0">
                        <a:solidFill>
                          <a:srgbClr val="00B050"/>
                        </a:solidFill>
                        <a:latin typeface="Arial" panose="020B0604020202020204" pitchFamily="34" charset="0"/>
                        <a:cs typeface="Arial" panose="020B0604020202020204" pitchFamily="34" charset="0"/>
                      </a:endParaRPr>
                    </a:p>
                  </a:txBody>
                  <a:tcPr anchor="ctr">
                    <a:lnL w="635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B050"/>
                          </a:solidFill>
                          <a:effectLst/>
                          <a:uLnTx/>
                          <a:uFillTx/>
                          <a:latin typeface="Arial" panose="020B0604020202020204" pitchFamily="34" charset="0"/>
                          <a:ea typeface="+mn-ea"/>
                          <a:cs typeface="Arial" panose="020B0604020202020204" pitchFamily="34" charset="0"/>
                          <a:sym typeface="Wingdings" panose="05000000000000000000" pitchFamily="2" charset="2"/>
                        </a:rPr>
                        <a:t></a:t>
                      </a:r>
                      <a:endParaRPr kumimoji="0" lang="en-AU" sz="1400" b="0" i="0" u="none" strike="noStrike" kern="1200" cap="none" spc="0" normalizeH="0" baseline="0" noProof="0" dirty="0">
                        <a:ln>
                          <a:noFill/>
                        </a:ln>
                        <a:solidFill>
                          <a:srgbClr val="00B050"/>
                        </a:solidFill>
                        <a:effectLst/>
                        <a:uLnTx/>
                        <a:uFillTx/>
                        <a:latin typeface="Arial" panose="020B0604020202020204" pitchFamily="34" charset="0"/>
                        <a:ea typeface="+mn-ea"/>
                        <a:cs typeface="Arial" panose="020B0604020202020204" pitchFamily="34" charset="0"/>
                      </a:endParaRPr>
                    </a:p>
                  </a:txBody>
                  <a:tcPr anchor="ctr">
                    <a:lnL w="6350" cap="flat" cmpd="sng" algn="ctr">
                      <a:solidFill>
                        <a:srgbClr val="2F465A"/>
                      </a:solidFill>
                      <a:prstDash val="solid"/>
                      <a:round/>
                      <a:headEnd type="none" w="med" len="med"/>
                      <a:tailEnd type="none" w="med" len="med"/>
                    </a:lnL>
                    <a:lnR w="1270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8835220"/>
                  </a:ext>
                </a:extLst>
              </a:tr>
              <a:tr h="244649">
                <a:tc>
                  <a:txBody>
                    <a:bodyPr/>
                    <a:lstStyle/>
                    <a:p>
                      <a:pPr/>
                      <a:r>
                        <a:rPr lang="en-AU" sz="900" kern="1200" dirty="0">
                          <a:solidFill>
                            <a:schemeClr val="dk1"/>
                          </a:solidFill>
                          <a:effectLst/>
                          <a:latin typeface="Arial" panose="020B0604020202020204" pitchFamily="34" charset="0"/>
                          <a:ea typeface="+mn-ea"/>
                          <a:cs typeface="Arial" panose="020B0604020202020204" pitchFamily="34" charset="0"/>
                        </a:rPr>
                        <a:t>Internal Control Review Report – with key focus on:
  - Revenue recognition
  - Cash and treasury operations
  - Payroll
  - Payments</a:t>
                      </a:r>
                    </a:p>
                  </a:txBody>
                  <a:tcPr anchor="ctr">
                    <a:lnL w="1270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400" dirty="0">
                          <a:solidFill>
                            <a:srgbClr val="FF0000"/>
                          </a:solidFill>
                          <a:latin typeface="Arial" panose="020B0604020202020204" pitchFamily="34" charset="0"/>
                          <a:cs typeface="Arial" panose="020B0604020202020204" pitchFamily="34" charset="0"/>
                          <a:sym typeface="Wingdings" panose="05000000000000000000" pitchFamily="2" charset="2"/>
                        </a:rPr>
                        <a:t></a:t>
                      </a:r>
                      <a:endParaRPr lang="en-AU" sz="1400" dirty="0">
                        <a:solidFill>
                          <a:srgbClr val="00B050"/>
                        </a:solidFill>
                        <a:latin typeface="Arial" panose="020B0604020202020204" pitchFamily="34" charset="0"/>
                        <a:cs typeface="Arial" panose="020B0604020202020204" pitchFamily="34" charset="0"/>
                      </a:endParaRPr>
                    </a:p>
                  </a:txBody>
                  <a:tcPr anchor="ctr">
                    <a:lnL w="635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B050"/>
                          </a:solidFill>
                          <a:effectLst/>
                          <a:uLnTx/>
                          <a:uFillTx/>
                          <a:latin typeface="Arial" panose="020B0604020202020204" pitchFamily="34" charset="0"/>
                          <a:ea typeface="+mn-ea"/>
                          <a:cs typeface="Arial" panose="020B0604020202020204" pitchFamily="34" charset="0"/>
                          <a:sym typeface="Wingdings" panose="05000000000000000000" pitchFamily="2" charset="2"/>
                        </a:rPr>
                        <a:t></a:t>
                      </a:r>
                      <a:endParaRPr kumimoji="0" lang="en-AU" sz="1400" b="0" i="0" u="none" strike="noStrike" kern="1200" cap="none" spc="0" normalizeH="0" baseline="0" noProof="0" dirty="0">
                        <a:ln>
                          <a:noFill/>
                        </a:ln>
                        <a:solidFill>
                          <a:srgbClr val="00B050"/>
                        </a:solidFill>
                        <a:effectLst/>
                        <a:uLnTx/>
                        <a:uFillTx/>
                        <a:latin typeface="Arial" panose="020B0604020202020204" pitchFamily="34" charset="0"/>
                        <a:ea typeface="+mn-ea"/>
                        <a:cs typeface="Arial" panose="020B0604020202020204" pitchFamily="34" charset="0"/>
                      </a:endParaRPr>
                    </a:p>
                  </a:txBody>
                  <a:tcPr anchor="ctr">
                    <a:lnL w="6350" cap="flat" cmpd="sng" algn="ctr">
                      <a:solidFill>
                        <a:srgbClr val="2F465A"/>
                      </a:solidFill>
                      <a:prstDash val="solid"/>
                      <a:round/>
                      <a:headEnd type="none" w="med" len="med"/>
                      <a:tailEnd type="none" w="med" len="med"/>
                    </a:lnL>
                    <a:lnR w="1270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8835220"/>
                  </a:ext>
                </a:extLst>
              </a:tr>
              <a:tr h="244649">
                <a:tc>
                  <a:txBody>
                    <a:bodyPr/>
                    <a:lstStyle/>
                    <a:p>
                      <a:pPr/>
                      <a:r>
                        <a:rPr lang="en-AU" sz="900" kern="1200" dirty="0">
                          <a:solidFill>
                            <a:schemeClr val="dk1"/>
                          </a:solidFill>
                          <a:effectLst/>
                          <a:latin typeface="Arial" panose="020B0604020202020204" pitchFamily="34" charset="0"/>
                          <a:ea typeface="+mn-ea"/>
                          <a:cs typeface="Arial" panose="020B0604020202020204" pitchFamily="34" charset="0"/>
                        </a:rPr>
                        <a:t>Access to partners and senior staff at In.Corp without the worry that the 'clock is ticking'. As we do not complete timesheets it has allowed us to focus more on our philosophy of providing value add service to our clients without you having to worry about additional costs.</a:t>
                      </a:r>
                    </a:p>
                  </a:txBody>
                  <a:tcPr anchor="ctr">
                    <a:lnL w="1270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400" dirty="0">
                          <a:solidFill>
                            <a:srgbClr val="FF0000"/>
                          </a:solidFill>
                          <a:latin typeface="Arial" panose="020B0604020202020204" pitchFamily="34" charset="0"/>
                          <a:cs typeface="Arial" panose="020B0604020202020204" pitchFamily="34" charset="0"/>
                          <a:sym typeface="Wingdings" panose="05000000000000000000" pitchFamily="2" charset="2"/>
                        </a:rPr>
                        <a:t></a:t>
                      </a:r>
                      <a:endParaRPr lang="en-AU" sz="1400" dirty="0">
                        <a:solidFill>
                          <a:srgbClr val="00B050"/>
                        </a:solidFill>
                        <a:latin typeface="Arial" panose="020B0604020202020204" pitchFamily="34" charset="0"/>
                        <a:cs typeface="Arial" panose="020B0604020202020204" pitchFamily="34" charset="0"/>
                      </a:endParaRPr>
                    </a:p>
                  </a:txBody>
                  <a:tcPr anchor="ctr">
                    <a:lnL w="635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B050"/>
                          </a:solidFill>
                          <a:effectLst/>
                          <a:uLnTx/>
                          <a:uFillTx/>
                          <a:latin typeface="Arial" panose="020B0604020202020204" pitchFamily="34" charset="0"/>
                          <a:ea typeface="+mn-ea"/>
                          <a:cs typeface="Arial" panose="020B0604020202020204" pitchFamily="34" charset="0"/>
                          <a:sym typeface="Wingdings" panose="05000000000000000000" pitchFamily="2" charset="2"/>
                        </a:rPr>
                        <a:t></a:t>
                      </a:r>
                      <a:endParaRPr kumimoji="0" lang="en-AU" sz="1400" b="0" i="0" u="none" strike="noStrike" kern="1200" cap="none" spc="0" normalizeH="0" baseline="0" noProof="0" dirty="0">
                        <a:ln>
                          <a:noFill/>
                        </a:ln>
                        <a:solidFill>
                          <a:srgbClr val="00B050"/>
                        </a:solidFill>
                        <a:effectLst/>
                        <a:uLnTx/>
                        <a:uFillTx/>
                        <a:latin typeface="Arial" panose="020B0604020202020204" pitchFamily="34" charset="0"/>
                        <a:ea typeface="+mn-ea"/>
                        <a:cs typeface="Arial" panose="020B0604020202020204" pitchFamily="34" charset="0"/>
                      </a:endParaRPr>
                    </a:p>
                  </a:txBody>
                  <a:tcPr anchor="ctr">
                    <a:lnL w="6350" cap="flat" cmpd="sng" algn="ctr">
                      <a:solidFill>
                        <a:srgbClr val="2F465A"/>
                      </a:solidFill>
                      <a:prstDash val="solid"/>
                      <a:round/>
                      <a:headEnd type="none" w="med" len="med"/>
                      <a:tailEnd type="none" w="med" len="med"/>
                    </a:lnL>
                    <a:lnR w="1270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8835220"/>
                  </a:ext>
                </a:extLst>
              </a:tr>
            </a:tbl>
          </a:graphicData>
        </a:graphic>
      </p:graphicFrame>
      <p:sp>
        <p:nvSpPr>
          <p:cNvPr id="11" name="Rectangle 10">
            <a:extLst>
              <a:ext uri="{FF2B5EF4-FFF2-40B4-BE49-F238E27FC236}">
                <a16:creationId xmlns:a16="http://schemas.microsoft.com/office/drawing/2014/main" id="{16FE1B7C-8F74-0198-D5A2-0132567C097B}"/>
              </a:ext>
            </a:extLst>
          </p:cNvPr>
          <p:cNvSpPr/>
          <p:nvPr/>
        </p:nvSpPr>
        <p:spPr>
          <a:xfrm rot="16200000" flipV="1">
            <a:off x="9298408" y="3236774"/>
            <a:ext cx="5752282" cy="75438"/>
          </a:xfrm>
          <a:prstGeom prst="rec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350" dirty="0"/>
          </a:p>
        </p:txBody>
      </p:sp>
      <p:sp>
        <p:nvSpPr>
          <p:cNvPr id="13" name="Rectangle 12">
            <a:extLst>
              <a:ext uri="{FF2B5EF4-FFF2-40B4-BE49-F238E27FC236}">
                <a16:creationId xmlns:a16="http://schemas.microsoft.com/office/drawing/2014/main" id="{14D5822A-CBEA-1EE9-6BDA-3280854A24BC}"/>
              </a:ext>
            </a:extLst>
          </p:cNvPr>
          <p:cNvSpPr/>
          <p:nvPr/>
        </p:nvSpPr>
        <p:spPr>
          <a:xfrm rot="16200000" flipV="1">
            <a:off x="-2847475" y="3158896"/>
            <a:ext cx="5752282" cy="75438"/>
          </a:xfrm>
          <a:prstGeom prst="rec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350" dirty="0"/>
              <a:t>-</a:t>
            </a:r>
          </a:p>
        </p:txBody>
      </p:sp>
      <p:pic>
        <p:nvPicPr>
          <p:cNvPr id="3" name="Picture 2" descr="A white and red globe with a black background&#10;&#10;AI-generated content may be incorrect.">
            <a:extLst>
              <a:ext uri="{FF2B5EF4-FFF2-40B4-BE49-F238E27FC236}">
                <a16:creationId xmlns:a16="http://schemas.microsoft.com/office/drawing/2014/main" id="{76882F5F-56CB-54D4-DB51-207D2C9877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386" y="6219147"/>
            <a:ext cx="1052953" cy="453783"/>
          </a:xfrm>
          <a:prstGeom prst="rect">
            <a:avLst/>
          </a:prstGeom>
        </p:spPr>
      </p:pic>
    </p:spTree>
    <p:extLst>
      <p:ext uri="{BB962C8B-B14F-4D97-AF65-F5344CB8AC3E}">
        <p14:creationId xmlns:p14="http://schemas.microsoft.com/office/powerpoint/2010/main" val="25787131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4E5BC1-1561-42F3-A4D1-C6F220077021}"/>
              </a:ext>
            </a:extLst>
          </p:cNvPr>
          <p:cNvSpPr>
            <a:spLocks noGrp="1"/>
          </p:cNvSpPr>
          <p:nvPr>
            <p:ph type="sldNum" sz="quarter" idx="12"/>
          </p:nvPr>
        </p:nvSpPr>
        <p:spPr/>
        <p:txBody>
          <a:bodyPr/>
          <a:lstStyle/>
          <a:p>
            <a:pPr/>
            <a:r>
              <a:rPr lang="en-US" dirty="0">
                <a:solidFill/>
              </a:rPr>
              <a:t>5</a:t>
            </a:r>
            <a:endParaRPr lang="en-AU" dirty="0"/>
          </a:p>
        </p:txBody>
      </p:sp>
      <p:sp>
        <p:nvSpPr>
          <p:cNvPr id="8" name="Title 7">
            <a:extLst>
              <a:ext uri="{FF2B5EF4-FFF2-40B4-BE49-F238E27FC236}">
                <a16:creationId xmlns:a16="http://schemas.microsoft.com/office/drawing/2014/main" id="{C342DEC7-1171-49C7-87D8-52315D5DF2C4}"/>
              </a:ext>
            </a:extLst>
          </p:cNvPr>
          <p:cNvSpPr txBox="1">
            <a:spLocks/>
          </p:cNvSpPr>
          <p:nvPr/>
        </p:nvSpPr>
        <p:spPr>
          <a:xfrm>
            <a:off x="538098" y="427039"/>
            <a:ext cx="8316912" cy="432000"/>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spc="-150" dirty="0">
                <a:solidFill>
                  <a:srgbClr val="BB2121"/>
                </a:solidFill>
                <a:latin typeface="Corbel" panose="020B0503020204020204" pitchFamily="34" charset="0"/>
              </a:rPr>
              <a:t>OUR CLIENT SERVICE TEAM</a:t>
            </a:r>
            <a:endParaRPr lang="en-AU" sz="3200" b="1" spc="-150" dirty="0">
              <a:solidFill>
                <a:srgbClr val="BB2121"/>
              </a:solidFill>
              <a:latin typeface="Corbel" panose="020B0503020204020204" pitchFamily="34" charset="0"/>
            </a:endParaRPr>
          </a:p>
        </p:txBody>
      </p:sp>
      <p:sp>
        <p:nvSpPr>
          <p:cNvPr id="22" name="team_4_team_member_1_bio">
            <a:extLst>
              <a:ext uri="{FF2B5EF4-FFF2-40B4-BE49-F238E27FC236}">
                <a16:creationId xmlns:a16="http://schemas.microsoft.com/office/drawing/2014/main" id="{688A4608-1658-4B30-92CC-D381B40DAB66}"/>
              </a:ext>
            </a:extLst>
          </p:cNvPr>
          <p:cNvSpPr txBox="1">
            <a:spLocks/>
          </p:cNvSpPr>
          <p:nvPr/>
        </p:nvSpPr>
        <p:spPr>
          <a:xfrm>
            <a:off x="1884363" y="2142356"/>
            <a:ext cx="3941064" cy="1521353"/>
          </a:xfrm>
          <a:prstGeom prst="rect">
            <a:avLst/>
          </a:prstGeom>
        </p:spPr>
        <p:txBody>
          <a:bodyPr vert="horz" lIns="0" tIns="45720" rIns="0" bIns="45720" rtlCol="0" anchor="t" anchorCtr="0"/>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900" dirty="0">
                <a:solidFill>
                  <a:schemeClr val="tx1"/>
                </a:solidFill>
                <a:latin typeface="Arial" panose="020B0604020202020204" pitchFamily="34" charset="0"/>
                <a:cs typeface="Arial" panose="020B0604020202020204" pitchFamily="34" charset="0"/>
              </a:rPr>
              <a:t>Daniel has over 25 years' experience in Audit, Assurance and Corporate Advisory. Having spent 15 years working at both Deloitte and HLB Mann Judd, Daniel has gained exposure to servicing a broad range of clients and industries.  </a:t>
            </a:r>
          </a:p>
          <a:p>
            <a:pPr algn="l"/>
            <a:r>
              <a:rPr lang="en-US" sz="900" dirty="0">
                <a:solidFill>
                  <a:schemeClr val="tx1"/>
                </a:solidFill>
                <a:latin typeface="Arial" panose="020B0604020202020204" pitchFamily="34" charset="0"/>
                <a:cs typeface="Arial" panose="020B0604020202020204" pitchFamily="34" charset="0"/>
              </a:rPr>
              <a:t/>
            </a:r>
          </a:p>
          <a:p>
            <a:pPr algn="l"/>
            <a:r>
              <a:rPr lang="en-US" sz="900" dirty="0">
                <a:solidFill>
                  <a:schemeClr val="tx1"/>
                </a:solidFill>
                <a:latin typeface="Arial" panose="020B0604020202020204" pitchFamily="34" charset="0"/>
                <a:cs typeface="Arial" panose="020B0604020202020204" pitchFamily="34" charset="0"/>
              </a:rPr>
              <a:t>As an assurance practitioner Daniel has specialised in the areas of financial services, fund management, retail, technology, private equity, mining and exploration and building and construction.  Daniel is also responsible for the audits of a number of ASX listed entities and has helped clients prepare for ASX listing. </a:t>
            </a:r>
          </a:p>
          <a:p>
            <a:pPr algn="l"/>
            <a:r>
              <a:rPr lang="en-US" sz="900" dirty="0">
                <a:solidFill>
                  <a:schemeClr val="tx1"/>
                </a:solidFill>
                <a:latin typeface="Arial" panose="020B0604020202020204" pitchFamily="34" charset="0"/>
                <a:cs typeface="Arial" panose="020B0604020202020204" pitchFamily="34" charset="0"/>
              </a:rPr>
              <a:t/>
            </a:r>
          </a:p>
          <a:p>
            <a:pPr algn="l"/>
            <a:r>
              <a:rPr lang="en-US" sz="900" dirty="0">
                <a:solidFill>
                  <a:schemeClr val="tx1"/>
                </a:solidFill>
                <a:latin typeface="Arial" panose="020B0604020202020204" pitchFamily="34" charset="0"/>
                <a:cs typeface="Arial" panose="020B0604020202020204" pitchFamily="34" charset="0"/>
              </a:rPr>
              <a:t>Daniel is a Registered Company Auditor and a CA Business Valuation Specialist.</a:t>
            </a:r>
          </a:p>
        </p:txBody>
      </p:sp>
      <p:sp>
        <p:nvSpPr>
          <p:cNvPr id="2" name="team_4_team_member_1_info">
            <a:extLst>
              <a:ext uri="{FF2B5EF4-FFF2-40B4-BE49-F238E27FC236}">
                <a16:creationId xmlns:a16="http://schemas.microsoft.com/office/drawing/2014/main" id="{ABF58EBA-F31F-B1A0-97E5-DCEBA2C15D98}"/>
              </a:ext>
            </a:extLst>
          </p:cNvPr>
          <p:cNvSpPr/>
          <p:nvPr/>
        </p:nvSpPr>
        <p:spPr>
          <a:xfrm>
            <a:off x="2552595" y="1393227"/>
            <a:ext cx="3263204" cy="689239"/>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r>
              <a:rPr lang="en-AU" sz="1000" b="1" dirty="0">
                <a:solidFill>
                  <a:srgbClr val="2F465A"/>
                </a:solidFill>
                <a:latin typeface="Candara" panose="020E0502030303020204" pitchFamily="34" charset="0"/>
                <a:cs typeface="Arial" panose="020B0604020202020204" pitchFamily="34" charset="0"/>
              </a:rPr>
              <a:t>Daniel Dalla</a:t>
            </a:r>
          </a:p>
          <a:p>
            <a:pPr/>
            <a:r>
              <a:rPr lang="en-AU" sz="1000" b="1" i="1" dirty="0">
                <a:solidFill>
                  <a:schemeClr val="tx1"/>
                </a:solidFill>
                <a:latin typeface="Candara" panose="020E0502030303020204" pitchFamily="34" charset="0"/>
                <a:cs typeface="Arial" panose="020B0604020202020204" pitchFamily="34" charset="0"/>
              </a:rPr>
              <a:t>Engagement Partner</a:t>
            </a:r>
          </a:p>
          <a:p>
            <a:pPr marR="180340">
              <a:lnSpc>
                <a:spcPts val="1000"/>
              </a:lnSpc>
            </a:pPr>
            <a:r>
              <a:rPr lang="en-AU" sz="1000" dirty="0">
                <a:solidFill>
                  <a:schemeClr val="tx1"/>
                </a:solidFill>
                <a:cs typeface="Arial" panose="020B0604020202020204" pitchFamily="34" charset="0"/>
              </a:rPr>
              <a:t>daniel.dalla@incorpadvisory.au</a:t>
            </a:r>
          </a:p>
        </p:txBody>
      </p:sp>
      <p:sp>
        <p:nvSpPr>
          <p:cNvPr id="10" name="team_description">
            <a:extLst>
              <a:ext uri="{FF2B5EF4-FFF2-40B4-BE49-F238E27FC236}">
                <a16:creationId xmlns:a16="http://schemas.microsoft.com/office/drawing/2014/main" id="{FCC8D585-8FBD-BB5B-34BB-E14F26AA404F}"/>
              </a:ext>
            </a:extLst>
          </p:cNvPr>
          <p:cNvSpPr txBox="1">
            <a:spLocks/>
          </p:cNvSpPr>
          <p:nvPr/>
        </p:nvSpPr>
        <p:spPr>
          <a:xfrm>
            <a:off x="558525" y="877648"/>
            <a:ext cx="10073913" cy="249300"/>
          </a:xfrm>
          <a:prstGeom prst="rect">
            <a:avLst/>
          </a:prstGeom>
        </p:spPr>
        <p:txBody>
          <a:bodyPr lIns="0" r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i="1" dirty="0">
                <a:solidFill>
                  <a:schemeClr val="bg1">
                    <a:lumMod val="50000"/>
                  </a:schemeClr>
                </a:solidFill>
                <a:latin typeface="Arial" panose="020B0604020202020204" pitchFamily="34" charset="0"/>
                <a:cs typeface="Arial" panose="020B0604020202020204" pitchFamily="34" charset="0"/>
              </a:rPr>
              <a:t>Our team has the experience and capability to meet your requirements. Our engagements are directed and conducted by senior qualified professional staff.</a:t>
            </a:r>
          </a:p>
        </p:txBody>
      </p:sp>
      <p:sp>
        <p:nvSpPr>
          <p:cNvPr id="11" name="Rectangle 10">
            <a:extLst>
              <a:ext uri="{FF2B5EF4-FFF2-40B4-BE49-F238E27FC236}">
                <a16:creationId xmlns:a16="http://schemas.microsoft.com/office/drawing/2014/main" id="{7DFFC0A2-4145-BBFF-AA38-D6497294B699}"/>
              </a:ext>
            </a:extLst>
          </p:cNvPr>
          <p:cNvSpPr/>
          <p:nvPr/>
        </p:nvSpPr>
        <p:spPr>
          <a:xfrm rot="16200000" flipV="1">
            <a:off x="-2847475" y="3158896"/>
            <a:ext cx="5752282" cy="75438"/>
          </a:xfrm>
          <a:prstGeom prst="rec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350" dirty="0"/>
              <a:t>-</a:t>
            </a:r>
          </a:p>
        </p:txBody>
      </p:sp>
      <p:sp>
        <p:nvSpPr>
          <p:cNvPr id="14" name="Rectangle 13">
            <a:extLst>
              <a:ext uri="{FF2B5EF4-FFF2-40B4-BE49-F238E27FC236}">
                <a16:creationId xmlns:a16="http://schemas.microsoft.com/office/drawing/2014/main" id="{13067428-B149-869A-694F-1B8CC2F80E4D}"/>
              </a:ext>
            </a:extLst>
          </p:cNvPr>
          <p:cNvSpPr/>
          <p:nvPr/>
        </p:nvSpPr>
        <p:spPr>
          <a:xfrm rot="16200000" flipV="1">
            <a:off x="9298408" y="3236774"/>
            <a:ext cx="5752282" cy="75438"/>
          </a:xfrm>
          <a:prstGeom prst="rec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350" dirty="0"/>
          </a:p>
        </p:txBody>
      </p:sp>
      <p:pic>
        <p:nvPicPr>
          <p:cNvPr id="7" name="Picture 6" descr="A white and red globe with a black background&#10;&#10;AI-generated content may be incorrect.">
            <a:extLst>
              <a:ext uri="{FF2B5EF4-FFF2-40B4-BE49-F238E27FC236}">
                <a16:creationId xmlns:a16="http://schemas.microsoft.com/office/drawing/2014/main" id="{C9FB1DB4-5049-29A2-8A1E-E4AC9A9CA5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386" y="6219147"/>
            <a:ext cx="1052953" cy="453783"/>
          </a:xfrm>
          <a:prstGeom prst="rect">
            <a:avLst/>
          </a:prstGeom>
        </p:spPr>
      </p:pic>
      <p:sp>
        <p:nvSpPr>
          <p:cNvPr id="23" name="team_4_team_member_2_bio">
            <a:extLst>
              <a:ext uri="{FF2B5EF4-FFF2-40B4-BE49-F238E27FC236}">
                <a16:creationId xmlns:a16="http://schemas.microsoft.com/office/drawing/2014/main" id="{688A4608-1658-4B30-92CC-D381B40DAB66}"/>
              </a:ext>
            </a:extLst>
          </p:cNvPr>
          <p:cNvSpPr txBox="1">
            <a:spLocks/>
          </p:cNvSpPr>
          <p:nvPr/>
        </p:nvSpPr>
        <p:spPr>
          <a:xfrm>
            <a:off x="6096000" y="2174831"/>
            <a:ext cx="3941064" cy="1521353"/>
          </a:xfrm>
          <a:prstGeom prst="rect">
            <a:avLst/>
          </a:prstGeom>
        </p:spPr>
        <p:txBody>
          <a:bodyPr vert="horz" lIns="0" tIns="45720" rIns="0" bIns="45720" rtlCol="0" anchor="t" anchorCtr="0"/>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900" dirty="0">
                <a:solidFill>
                  <a:schemeClr val="tx1"/>
                </a:solidFill>
              </a:rPr>
              <a:t>Graham is a registered company auditor with over 20 years experience at Hall Chadwick prior to joining In.Corp in 2022. ​ </a:t>
            </a:r>
          </a:p>
          <a:p>
            <a:pPr algn="l"/>
            <a:r>
              <a:rPr lang="en-US" sz="900" dirty="0">
                <a:solidFill>
                  <a:schemeClr val="tx1"/>
                </a:solidFill>
              </a:rPr>
              <a:t/>
            </a:r>
          </a:p>
          <a:p>
            <a:pPr algn="l"/>
            <a:r>
              <a:rPr lang="en-US" sz="900" dirty="0">
                <a:solidFill>
                  <a:schemeClr val="tx1"/>
                </a:solidFill>
              </a:rPr>
              <a:t>Graham has extensive experience in working with ASX listed public companies, AFSL entities, large private companies and not for profit entities across a broad range of industries including agricultural sector, technology, financial services and mining and exploration.​ </a:t>
            </a:r>
          </a:p>
          <a:p>
            <a:pPr algn="l"/>
            <a:r>
              <a:rPr lang="en-US" sz="900" dirty="0">
                <a:solidFill>
                  <a:schemeClr val="tx1"/>
                </a:solidFill>
              </a:rPr>
              <a:t/>
            </a:r>
          </a:p>
          <a:p>
            <a:pPr algn="l"/>
            <a:r>
              <a:rPr lang="en-US" sz="900" dirty="0">
                <a:solidFill>
                  <a:schemeClr val="tx1"/>
                </a:solidFill>
              </a:rPr>
              <a:t>Graham’s professionalism and communication skills are critical in allowing him to navigate clients through complex accounting issues.</a:t>
            </a:r>
          </a:p>
        </p:txBody>
      </p:sp>
      <p:sp>
        <p:nvSpPr>
          <p:cNvPr id="24" name="team_4_team_member_2_info">
            <a:extLst>
              <a:ext uri="{FF2B5EF4-FFF2-40B4-BE49-F238E27FC236}">
                <a16:creationId xmlns:a16="http://schemas.microsoft.com/office/drawing/2014/main" id="{ABF58EBA-F31F-B1A0-97E5-DCEBA2C15D98}"/>
              </a:ext>
            </a:extLst>
          </p:cNvPr>
          <p:cNvSpPr/>
          <p:nvPr/>
        </p:nvSpPr>
        <p:spPr>
          <a:xfrm>
            <a:off x="6773860" y="1393227"/>
            <a:ext cx="3263204" cy="689239"/>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r>
              <a:rPr lang="en-AU" sz="1000" b="1" dirty="0">
                <a:solidFill>
                  <a:srgbClr val="2F465A"/>
                </a:solidFill>
                <a:latin typeface="Candara" panose="020E0502030303020204" pitchFamily="34" charset="0"/>
                <a:cs typeface="Arial" panose="020B0604020202020204" pitchFamily="34" charset="0"/>
              </a:rPr>
              <a:t>Graham Webb</a:t>
            </a:r>
          </a:p>
          <a:p>
            <a:pPr/>
            <a:r>
              <a:rPr lang="en-AU" sz="1000" b="1" i="1" dirty="0">
                <a:solidFill>
                  <a:schemeClr val="tx1"/>
                </a:solidFill>
                <a:latin typeface="Candara" panose="020E0502030303020204" pitchFamily="34" charset="0"/>
                <a:cs typeface="Arial" panose="020B0604020202020204" pitchFamily="34" charset="0"/>
              </a:rPr>
              <a:t>Audit Partner</a:t>
            </a:r>
          </a:p>
          <a:p>
            <a:pPr marR="180340">
              <a:lnSpc>
                <a:spcPts val="1000"/>
              </a:lnSpc>
            </a:pPr>
            <a:r>
              <a:rPr lang="en-AU" sz="1000" dirty="0">
                <a:solidFill>
                  <a:schemeClr val="tx1"/>
                </a:solidFill>
                <a:cs typeface="Arial" panose="020B0604020202020204" pitchFamily="34" charset="0"/>
              </a:rPr>
              <a:t>graham.webb@incorpadvisory.au</a:t>
            </a:r>
          </a:p>
        </p:txBody>
      </p:sp>
      <p:sp>
        <p:nvSpPr>
          <p:cNvPr id="26" name="team_4_team_member_3_bio">
            <a:extLst>
              <a:ext uri="{FF2B5EF4-FFF2-40B4-BE49-F238E27FC236}">
                <a16:creationId xmlns:a16="http://schemas.microsoft.com/office/drawing/2014/main" id="{688A4608-1658-4B30-92CC-D381B40DAB66}"/>
              </a:ext>
            </a:extLst>
          </p:cNvPr>
          <p:cNvSpPr txBox="1">
            <a:spLocks/>
          </p:cNvSpPr>
          <p:nvPr/>
        </p:nvSpPr>
        <p:spPr>
          <a:xfrm>
            <a:off x="1884363" y="4630077"/>
            <a:ext cx="3941064" cy="1521353"/>
          </a:xfrm>
          <a:prstGeom prst="rect">
            <a:avLst/>
          </a:prstGeom>
        </p:spPr>
        <p:txBody>
          <a:bodyPr vert="horz" lIns="0" tIns="45720" rIns="0" bIns="45720" rtlCol="0" anchor="t" anchorCtr="0"/>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900" dirty="0">
                <a:solidFill>
                  <a:schemeClr val="tx1"/>
                </a:solidFill>
                <a:latin typeface="Arial" panose="020B0604020202020204" pitchFamily="34" charset="0"/>
                <a:cs typeface="Arial" panose="020B0604020202020204" pitchFamily="34" charset="0"/>
              </a:rPr>
              <a:t>Stella is CA qualified after having completed her schooling in Bandung, Indonesia and Bachelor of Commerce at the University of New South Wales, completing the degree with a distinction average.​</a:t>
            </a:r>
          </a:p>
          <a:p>
            <a:pPr algn="l"/>
            <a:r>
              <a:rPr lang="en-US" sz="900" dirty="0">
                <a:solidFill>
                  <a:schemeClr val="tx1"/>
                </a:solidFill>
                <a:latin typeface="Arial" panose="020B0604020202020204" pitchFamily="34" charset="0"/>
                <a:cs typeface="Arial" panose="020B0604020202020204" pitchFamily="34" charset="0"/>
              </a:rPr>
              <a:t/>
            </a:r>
          </a:p>
          <a:p>
            <a:pPr algn="l"/>
            <a:r>
              <a:rPr lang="en-US" sz="900" dirty="0">
                <a:solidFill>
                  <a:schemeClr val="tx1"/>
                </a:solidFill>
                <a:latin typeface="Arial" panose="020B0604020202020204" pitchFamily="34" charset="0"/>
                <a:cs typeface="Arial" panose="020B0604020202020204" pitchFamily="34" charset="0"/>
              </a:rPr>
              <a:t>Stella joined the In.Corp team in 2019 and has since worked on a broad range of clients and industries including ASX listed retail and telecommunication services, financial services, transport and logistics and large private building and construction. ​</a:t>
            </a:r>
          </a:p>
          <a:p>
            <a:pPr algn="l"/>
            <a:r>
              <a:rPr lang="en-US" sz="900" dirty="0">
                <a:solidFill>
                  <a:schemeClr val="tx1"/>
                </a:solidFill>
                <a:latin typeface="Arial" panose="020B0604020202020204" pitchFamily="34" charset="0"/>
                <a:cs typeface="Arial" panose="020B0604020202020204" pitchFamily="34" charset="0"/>
              </a:rPr>
              <a:t/>
            </a:r>
          </a:p>
          <a:p>
            <a:pPr algn="l"/>
            <a:r>
              <a:rPr lang="en-US" sz="900" dirty="0">
                <a:solidFill>
                  <a:schemeClr val="tx1"/>
                </a:solidFill>
                <a:latin typeface="Arial" panose="020B0604020202020204" pitchFamily="34" charset="0"/>
                <a:cs typeface="Arial" panose="020B0604020202020204" pitchFamily="34" charset="0"/>
              </a:rPr>
              <a:t>Stella was responsible for the set-up, implementation and ongoing performance of In.Corp’s offshore team in Jakarta.</a:t>
            </a:r>
          </a:p>
        </p:txBody>
      </p:sp>
      <p:sp>
        <p:nvSpPr>
          <p:cNvPr id="27" name="team_4_team_member_3_info">
            <a:extLst>
              <a:ext uri="{FF2B5EF4-FFF2-40B4-BE49-F238E27FC236}">
                <a16:creationId xmlns:a16="http://schemas.microsoft.com/office/drawing/2014/main" id="{ABF58EBA-F31F-B1A0-97E5-DCEBA2C15D98}"/>
              </a:ext>
            </a:extLst>
          </p:cNvPr>
          <p:cNvSpPr/>
          <p:nvPr/>
        </p:nvSpPr>
        <p:spPr>
          <a:xfrm>
            <a:off x="2562223" y="3858552"/>
            <a:ext cx="3263204" cy="689239"/>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r>
              <a:rPr lang="en-AU" sz="1000" b="1" dirty="0">
                <a:solidFill>
                  <a:srgbClr val="2F465A"/>
                </a:solidFill>
                <a:latin typeface="Candara" panose="020E0502030303020204" pitchFamily="34" charset="0"/>
                <a:cs typeface="Arial" panose="020B0604020202020204" pitchFamily="34" charset="0"/>
              </a:rPr>
              <a:t>Stella Wongso</a:t>
            </a:r>
          </a:p>
          <a:p>
            <a:pPr/>
            <a:r>
              <a:rPr lang="en-AU" sz="1000" b="1" i="1" dirty="0">
                <a:solidFill>
                  <a:schemeClr val="tx1"/>
                </a:solidFill>
                <a:latin typeface="Candara" panose="020E0502030303020204" pitchFamily="34" charset="0"/>
                <a:cs typeface="Arial" panose="020B0604020202020204" pitchFamily="34" charset="0"/>
              </a:rPr>
              <a:t>Senior Manager</a:t>
            </a:r>
          </a:p>
          <a:p>
            <a:pPr marR="180340">
              <a:lnSpc>
                <a:spcPts val="1000"/>
              </a:lnSpc>
            </a:pPr>
            <a:r>
              <a:rPr lang="en-AU" sz="1000" dirty="0">
                <a:solidFill>
                  <a:schemeClr val="tx1"/>
                </a:solidFill>
                <a:cs typeface="Arial" panose="020B0604020202020204" pitchFamily="34" charset="0"/>
              </a:rPr>
              <a:t>stella.wongso@incorpadvisory.au</a:t>
            </a:r>
          </a:p>
        </p:txBody>
      </p:sp>
      <p:sp>
        <p:nvSpPr>
          <p:cNvPr id="29" name="team_4_team_member_4_bio">
            <a:extLst>
              <a:ext uri="{FF2B5EF4-FFF2-40B4-BE49-F238E27FC236}">
                <a16:creationId xmlns:a16="http://schemas.microsoft.com/office/drawing/2014/main" id="{688A4608-1658-4B30-92CC-D381B40DAB66}"/>
              </a:ext>
            </a:extLst>
          </p:cNvPr>
          <p:cNvSpPr txBox="1">
            <a:spLocks/>
          </p:cNvSpPr>
          <p:nvPr/>
        </p:nvSpPr>
        <p:spPr>
          <a:xfrm>
            <a:off x="6096000" y="4630077"/>
            <a:ext cx="3941064" cy="1521353"/>
          </a:xfrm>
          <a:prstGeom prst="rect">
            <a:avLst/>
          </a:prstGeom>
        </p:spPr>
        <p:txBody>
          <a:bodyPr vert="horz" lIns="0" tIns="45720" rIns="0" bIns="45720" rtlCol="0" anchor="t" anchorCtr="0"/>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900" dirty="0">
                <a:solidFill>
                  <a:schemeClr val="tx1"/>
                </a:solidFill>
                <a:latin typeface="Arial" panose="020B0604020202020204" pitchFamily="34" charset="0"/>
                <a:cs typeface="Arial" panose="020B0604020202020204" pitchFamily="34" charset="0"/>
              </a:rPr>
              <a:t>Jessica has completed all Chartered Accountant program requirements and has over 4 years of experience supporting audit and assurance engagements.  </a:t>
            </a:r>
          </a:p>
          <a:p>
            <a:pPr algn="l"/>
            <a:r>
              <a:rPr lang="en-US" sz="900" dirty="0">
                <a:solidFill>
                  <a:schemeClr val="tx1"/>
                </a:solidFill>
                <a:latin typeface="Arial" panose="020B0604020202020204" pitchFamily="34" charset="0"/>
                <a:cs typeface="Arial" panose="020B0604020202020204" pitchFamily="34" charset="0"/>
              </a:rPr>
              <a:t/>
            </a:r>
          </a:p>
          <a:p>
            <a:pPr algn="l"/>
            <a:r>
              <a:rPr lang="en-US" sz="900" dirty="0">
                <a:solidFill>
                  <a:schemeClr val="tx1"/>
                </a:solidFill>
                <a:latin typeface="Arial" panose="020B0604020202020204" pitchFamily="34" charset="0"/>
                <a:cs typeface="Arial" panose="020B0604020202020204" pitchFamily="34" charset="0"/>
              </a:rPr>
              <a:t>Jessica joined the In.Corp team in 2021 and has since worked across a broad range of industries, including financial services, consumer products, construction, and ASX‑listed mining and exploration. She is also involved in managing SMSF audit engagements.  </a:t>
            </a:r>
          </a:p>
          <a:p>
            <a:pPr algn="l"/>
            <a:r>
              <a:rPr lang="en-US" sz="900" dirty="0">
                <a:solidFill>
                  <a:schemeClr val="tx1"/>
                </a:solidFill>
                <a:latin typeface="Arial" panose="020B0604020202020204" pitchFamily="34" charset="0"/>
                <a:cs typeface="Arial" panose="020B0604020202020204" pitchFamily="34" charset="0"/>
              </a:rPr>
              <a:t/>
            </a:r>
          </a:p>
          <a:p>
            <a:pPr algn="l"/>
            <a:r>
              <a:rPr lang="en-US" sz="900" dirty="0">
                <a:solidFill>
                  <a:schemeClr val="tx1"/>
                </a:solidFill>
                <a:latin typeface="Arial" panose="020B0604020202020204" pitchFamily="34" charset="0"/>
                <a:cs typeface="Arial" panose="020B0604020202020204" pitchFamily="34" charset="0"/>
              </a:rPr>
              <a:t>After developing her expertise in Australia, Jessica now leads the offshore team in Jakarta, ensuring efficient execution of audit procedures, strong team performance, and the consistent delivery of high‑quality audit outcomes.</a:t>
            </a:r>
          </a:p>
        </p:txBody>
      </p:sp>
      <p:sp>
        <p:nvSpPr>
          <p:cNvPr id="30" name="team_4_team_member_4_info">
            <a:extLst>
              <a:ext uri="{FF2B5EF4-FFF2-40B4-BE49-F238E27FC236}">
                <a16:creationId xmlns:a16="http://schemas.microsoft.com/office/drawing/2014/main" id="{ABF58EBA-F31F-B1A0-97E5-DCEBA2C15D98}"/>
              </a:ext>
            </a:extLst>
          </p:cNvPr>
          <p:cNvSpPr/>
          <p:nvPr/>
        </p:nvSpPr>
        <p:spPr>
          <a:xfrm>
            <a:off x="6773860" y="3858551"/>
            <a:ext cx="3263204" cy="689239"/>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r>
              <a:rPr lang="en-AU" sz="1000" b="1" dirty="0">
                <a:solidFill>
                  <a:srgbClr val="2F465A"/>
                </a:solidFill>
                <a:latin typeface="Candara" panose="020E0502030303020204" pitchFamily="34" charset="0"/>
                <a:cs typeface="Arial" panose="020B0604020202020204" pitchFamily="34" charset="0"/>
              </a:rPr>
              <a:t>Jessica Chuhairy</a:t>
            </a:r>
          </a:p>
          <a:p>
            <a:pPr/>
            <a:r>
              <a:rPr lang="en-AU" sz="1000" b="1" i="1" dirty="0">
                <a:solidFill>
                  <a:schemeClr val="tx1"/>
                </a:solidFill>
                <a:latin typeface="Candara" panose="020E0502030303020204" pitchFamily="34" charset="0"/>
                <a:cs typeface="Arial" panose="020B0604020202020204" pitchFamily="34" charset="0"/>
              </a:rPr>
              <a:t>Assistant Manager</a:t>
            </a:r>
          </a:p>
          <a:p>
            <a:pPr marR="180340">
              <a:lnSpc>
                <a:spcPts val="1000"/>
              </a:lnSpc>
            </a:pPr>
            <a:r>
              <a:rPr lang="en-AU" sz="1000">
                <a:solidFill>
                  <a:schemeClr val="tx1"/>
                </a:solidFill>
                <a:cs typeface="Arial" panose="020B0604020202020204" pitchFamily="34" charset="0"/>
              </a:rPr>
              <a:t>jessica.chuhairy@incorpadvisory.au</a:t>
            </a:r>
            <a:r>
              <a:rPr lang="en-AU" sz="1000" dirty="0">
                <a:solidFill>
                  <a:schemeClr val="tx1"/>
                </a:solidFill>
                <a:cs typeface="Arial" panose="020B0604020202020204" pitchFamily="34" charset="0"/>
              </a:rPr>
              <a:t/>
            </a:r>
          </a:p>
        </p:txBody>
      </p:sp>
      <p:pic>
        <p:nvPicPr>
          <p:cNvPr id="32" name="team_4_team_member_1_photo" descr="image.jpg"/>
          <p:cNvPicPr>
            <a:picLocks noChangeAspect="1"/>
          </p:cNvPicPr>
          <p:nvPr/>
        </p:nvPicPr>
        <p:blipFill>
          <a:blip r:embed="rId5"/>
          <a:stretch>
            <a:fillRect/>
          </a:stretch>
        </p:blipFill>
        <p:spPr>
          <a:xfrm>
            <a:off x="1841737" y="1393226"/>
            <a:ext cx="738578" cy="683848"/>
          </a:xfrm>
          <a:prstGeom prst="rect">
            <a:avLst/>
          </a:prstGeom>
        </p:spPr>
      </p:pic>
      <p:pic>
        <p:nvPicPr>
          <p:cNvPr id="33" name="team_4_team_member_2_photo" descr="image.jpg"/>
          <p:cNvPicPr>
            <a:picLocks noChangeAspect="1"/>
          </p:cNvPicPr>
          <p:nvPr/>
        </p:nvPicPr>
        <p:blipFill>
          <a:blip r:embed="rId6"/>
          <a:stretch>
            <a:fillRect/>
          </a:stretch>
        </p:blipFill>
        <p:spPr>
          <a:xfrm>
            <a:off x="6041135" y="1403842"/>
            <a:ext cx="738579" cy="696309"/>
          </a:xfrm>
          <a:prstGeom prst="rect">
            <a:avLst/>
          </a:prstGeom>
        </p:spPr>
      </p:pic>
      <p:pic>
        <p:nvPicPr>
          <p:cNvPr id="34" name="team_4_team_member_3_photo" descr="image.jpg"/>
          <p:cNvPicPr>
            <a:picLocks noChangeAspect="1"/>
          </p:cNvPicPr>
          <p:nvPr/>
        </p:nvPicPr>
        <p:blipFill>
          <a:blip r:embed="rId7"/>
          <a:stretch>
            <a:fillRect/>
          </a:stretch>
        </p:blipFill>
        <p:spPr>
          <a:xfrm>
            <a:off x="1841737" y="3858551"/>
            <a:ext cx="738579" cy="705706"/>
          </a:xfrm>
          <a:prstGeom prst="rect">
            <a:avLst/>
          </a:prstGeom>
        </p:spPr>
      </p:pic>
      <p:pic>
        <p:nvPicPr>
          <p:cNvPr id="35" name="team_4_team_member_4_photo" descr="image.jpg"/>
          <p:cNvPicPr>
            <a:picLocks noChangeAspect="1"/>
          </p:cNvPicPr>
          <p:nvPr/>
        </p:nvPicPr>
        <p:blipFill>
          <a:blip r:embed="rId8"/>
          <a:stretch>
            <a:fillRect/>
          </a:stretch>
        </p:blipFill>
        <p:spPr>
          <a:xfrm>
            <a:off x="6041136" y="3858551"/>
            <a:ext cx="738579" cy="689239"/>
          </a:xfrm>
          <a:prstGeom prst="rect">
            <a:avLst/>
          </a:prstGeom>
        </p:spPr>
      </p:pic>
    </p:spTree>
    <p:extLst>
      <p:ext uri="{BB962C8B-B14F-4D97-AF65-F5344CB8AC3E}">
        <p14:creationId xmlns:p14="http://schemas.microsoft.com/office/powerpoint/2010/main" val="4422399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4E5BC1-1561-42F3-A4D1-C6F220077021}"/>
              </a:ext>
            </a:extLst>
          </p:cNvPr>
          <p:cNvSpPr>
            <a:spLocks noGrp="1"/>
          </p:cNvSpPr>
          <p:nvPr>
            <p:ph type="sldNum" sz="quarter" idx="12"/>
          </p:nvPr>
        </p:nvSpPr>
        <p:spPr/>
        <p:txBody>
          <a:bodyPr/>
          <a:lstStyle/>
          <a:p>
            <a:pPr/>
            <a:r>
              <a:rPr lang="en-US" dirty="0">
                <a:solidFill/>
              </a:rPr>
              <a:t>6</a:t>
            </a:r>
            <a:endParaRPr lang="en-AU" dirty="0"/>
          </a:p>
        </p:txBody>
      </p:sp>
      <p:sp>
        <p:nvSpPr>
          <p:cNvPr id="8" name="incorp_approach_title">
            <a:extLst>
              <a:ext uri="{FF2B5EF4-FFF2-40B4-BE49-F238E27FC236}">
                <a16:creationId xmlns:a16="http://schemas.microsoft.com/office/drawing/2014/main" id="{C342DEC7-1171-49C7-87D8-52315D5DF2C4}"/>
              </a:ext>
            </a:extLst>
          </p:cNvPr>
          <p:cNvSpPr txBox="1">
            <a:spLocks/>
          </p:cNvSpPr>
          <p:nvPr/>
        </p:nvSpPr>
        <p:spPr>
          <a:xfrm>
            <a:off x="526947" y="375146"/>
            <a:ext cx="8316912" cy="432000"/>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spc="-150" dirty="0">
                <a:solidFill>
                  <a:srgbClr val="BB2121"/>
                </a:solidFill>
                <a:latin typeface="Arial" panose="020B0604020202020204" pitchFamily="34" charset="0"/>
                <a:cs typeface="Arial" panose="020B0604020202020204" pitchFamily="34" charset="0"/>
              </a:rPr>
              <a:t>THE IN.CORP APPROACH</a:t>
            </a:r>
            <a:endParaRPr lang="en-AU" sz="2800" b="1" spc="-150" dirty="0">
              <a:solidFill>
                <a:srgbClr val="BB2121"/>
              </a:solidFill>
              <a:latin typeface="Arial" panose="020B0604020202020204" pitchFamily="34" charset="0"/>
              <a:cs typeface="Arial" panose="020B0604020202020204" pitchFamily="34" charset="0"/>
            </a:endParaRPr>
          </a:p>
        </p:txBody>
      </p:sp>
      <p:sp>
        <p:nvSpPr>
          <p:cNvPr id="6" name="Text Placeholder 11">
            <a:extLst>
              <a:ext uri="{FF2B5EF4-FFF2-40B4-BE49-F238E27FC236}">
                <a16:creationId xmlns:a16="http://schemas.microsoft.com/office/drawing/2014/main" id="{C6C35287-51EA-88FC-03AA-26F1A12D3570}"/>
              </a:ext>
            </a:extLst>
          </p:cNvPr>
          <p:cNvSpPr txBox="1">
            <a:spLocks/>
          </p:cNvSpPr>
          <p:nvPr/>
        </p:nvSpPr>
        <p:spPr>
          <a:xfrm>
            <a:off x="538098" y="807146"/>
            <a:ext cx="8316912" cy="249300"/>
          </a:xfrm>
          <a:prstGeom prst="rect">
            <a:avLst/>
          </a:prstGeom>
        </p:spPr>
        <p:txBody>
          <a:bodyPr lIns="0" r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50" i="1" dirty="0">
                <a:solidFill>
                  <a:schemeClr val="bg1">
                    <a:lumMod val="50000"/>
                  </a:schemeClr>
                </a:solidFill>
                <a:latin typeface="Arial" panose="020B0604020202020204" pitchFamily="34" charset="0"/>
                <a:cs typeface="Arial" panose="020B0604020202020204" pitchFamily="34" charset="0"/>
              </a:rPr>
              <a:t>Our approach to our clients is relationship based and underpinned by partner-led delivery of services.</a:t>
            </a:r>
          </a:p>
        </p:txBody>
      </p:sp>
      <p:sp>
        <p:nvSpPr>
          <p:cNvPr id="10" name="Text Placeholder 9">
            <a:extLst>
              <a:ext uri="{FF2B5EF4-FFF2-40B4-BE49-F238E27FC236}">
                <a16:creationId xmlns:a16="http://schemas.microsoft.com/office/drawing/2014/main" id="{BD5096AF-409C-B0BD-DB87-670050760EE6}"/>
              </a:ext>
            </a:extLst>
          </p:cNvPr>
          <p:cNvSpPr txBox="1">
            <a:spLocks/>
          </p:cNvSpPr>
          <p:nvPr/>
        </p:nvSpPr>
        <p:spPr>
          <a:xfrm>
            <a:off x="538098" y="1320808"/>
            <a:ext cx="5557902" cy="4807485"/>
          </a:xfrm>
          <a:prstGeom prst="rect">
            <a:avLst/>
          </a:prstGeom>
        </p:spPr>
        <p:txBody>
          <a:bodyPr vert="horz" lIns="0" tIns="45720" rIns="0" bIns="45720" numCol="1" rtlCol="0" anchor="t" anchorCtr="0"/>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AU" sz="1400" b="1" dirty="0">
                <a:solidFill>
                  <a:srgbClr val="2F465A"/>
                </a:solidFill>
                <a:latin typeface="Arial" panose="020B0604020202020204" pitchFamily="34" charset="0"/>
                <a:cs typeface="Arial" panose="020B0604020202020204" pitchFamily="34" charset="0"/>
              </a:rPr>
              <a:t>OUR APPROACH</a:t>
            </a:r>
            <a:endParaRPr lang="en-AU" sz="1400" dirty="0">
              <a:solidFill>
                <a:srgbClr val="2F465A"/>
              </a:solidFill>
              <a:latin typeface="Arial" panose="020B0604020202020204" pitchFamily="34" charset="0"/>
              <a:cs typeface="Arial" panose="020B0604020202020204" pitchFamily="34" charset="0"/>
            </a:endParaRPr>
          </a:p>
          <a:p>
            <a:pPr algn="l"/>
            <a:endParaRPr lang="en-AU" sz="700" dirty="0">
              <a:solidFill>
                <a:schemeClr val="tx1"/>
              </a:solidFill>
              <a:latin typeface="Arial" panose="020B0604020202020204" pitchFamily="34" charset="0"/>
              <a:cs typeface="Arial" panose="020B0604020202020204" pitchFamily="34" charset="0"/>
            </a:endParaRPr>
          </a:p>
          <a:p>
            <a:pPr algn="l"/>
            <a:r>
              <a:rPr lang="en-US" sz="900" dirty="0">
                <a:solidFill>
                  <a:schemeClr val="tx1"/>
                </a:solidFill>
                <a:latin typeface="Arial" panose="020B0604020202020204" pitchFamily="34" charset="0"/>
                <a:cs typeface="Arial" panose="020B0604020202020204" pitchFamily="34" charset="0"/>
              </a:rPr>
              <a:t>Our approach to our clients is relationship based and underpinned by partner-led delivery of our services.  Our Client Service Teams are selected to offer our clients all of the required technical services, as well as being tasked with building a strong understanding of our clients’ business. This senior team is further supported by experienced professionals so our clients can be assured that we have the capability and capacity to deliver the services that are required.</a:t>
            </a:r>
          </a:p>
          <a:p>
            <a:pPr algn="l"/>
            <a:endParaRPr lang="en-US" sz="1000" dirty="0">
              <a:solidFill>
                <a:schemeClr val="tx1"/>
              </a:solidFill>
              <a:latin typeface="Arial" panose="020B0604020202020204" pitchFamily="34" charset="0"/>
              <a:cs typeface="Arial" panose="020B0604020202020204" pitchFamily="34" charset="0"/>
            </a:endParaRPr>
          </a:p>
          <a:p>
            <a:pPr algn="l"/>
            <a:r>
              <a:rPr lang="en-US" sz="900" dirty="0">
                <a:solidFill>
                  <a:schemeClr val="tx1"/>
                </a:solidFill>
                <a:latin typeface="Arial" panose="020B0604020202020204" pitchFamily="34" charset="0"/>
                <a:cs typeface="Arial" panose="020B0604020202020204" pitchFamily="34" charset="0"/>
              </a:rPr>
              <a:t>Our clients expect the highest quality communication from their </a:t>
            </a:r>
            <a:r>
              <a:rPr lang="en-US" sz="900" dirty="0" err="1">
                <a:solidFill>
                  <a:schemeClr val="tx1"/>
                </a:solidFill>
                <a:latin typeface="Arial" panose="020B0604020202020204" pitchFamily="34" charset="0"/>
                <a:cs typeface="Arial" panose="020B0604020202020204" pitchFamily="34" charset="0"/>
              </a:rPr>
              <a:t>In.Corp</a:t>
            </a:r>
            <a:r>
              <a:rPr lang="en-US" sz="900" dirty="0">
                <a:solidFill>
                  <a:schemeClr val="tx1"/>
                </a:solidFill>
                <a:latin typeface="Arial" panose="020B0604020202020204" pitchFamily="34" charset="0"/>
                <a:cs typeface="Arial" panose="020B0604020202020204" pitchFamily="34" charset="0"/>
              </a:rPr>
              <a:t> Client Service Team in terms of information, reporting and accessibility. We are in contact with our clients regularly in order to keep management across the direction of our work. Effective and timely reporting to management and the Board is important and a cornerstone of our client service. Our communication is direct, clear and precise.</a:t>
            </a:r>
          </a:p>
          <a:p>
            <a:pPr algn="l"/>
            <a:endParaRPr lang="en-US" sz="1000" dirty="0">
              <a:solidFill>
                <a:schemeClr val="tx1"/>
              </a:solidFill>
              <a:latin typeface="Arial" panose="020B0604020202020204" pitchFamily="34" charset="0"/>
              <a:cs typeface="Arial" panose="020B0604020202020204" pitchFamily="34" charset="0"/>
            </a:endParaRPr>
          </a:p>
          <a:p>
            <a:pPr algn="l"/>
            <a:r>
              <a:rPr lang="en-US" sz="900" dirty="0">
                <a:solidFill>
                  <a:schemeClr val="tx1"/>
                </a:solidFill>
                <a:latin typeface="Arial" panose="020B0604020202020204" pitchFamily="34" charset="0"/>
                <a:cs typeface="Arial" panose="020B0604020202020204" pitchFamily="34" charset="0"/>
              </a:rPr>
              <a:t>A brief summary of our senior team’s capabilities and experience is included on the following pages.</a:t>
            </a:r>
          </a:p>
          <a:p>
            <a:pPr algn="l"/>
            <a:endParaRPr lang="en-US" sz="1000" dirty="0">
              <a:solidFill>
                <a:schemeClr val="tx1"/>
              </a:solidFill>
              <a:latin typeface="Arial" panose="020B0604020202020204" pitchFamily="34" charset="0"/>
              <a:cs typeface="Arial" panose="020B0604020202020204" pitchFamily="34" charset="0"/>
            </a:endParaRPr>
          </a:p>
          <a:p>
            <a:pPr algn="l"/>
            <a:r>
              <a:rPr lang="en-AU" sz="1400" b="1" dirty="0">
                <a:solidFill>
                  <a:srgbClr val="2F465A"/>
                </a:solidFill>
                <a:latin typeface="Arial" panose="020B0604020202020204" pitchFamily="34" charset="0"/>
                <a:cs typeface="Arial" panose="020B0604020202020204" pitchFamily="34" charset="0"/>
              </a:rPr>
              <a:t>CLIENT SERVICE TEAM SUPPORT</a:t>
            </a:r>
          </a:p>
          <a:p>
            <a:pPr algn="l"/>
            <a:endParaRPr lang="en-AU" sz="700" dirty="0">
              <a:solidFill>
                <a:schemeClr val="tx1"/>
              </a:solidFill>
              <a:latin typeface="Arial" panose="020B0604020202020204" pitchFamily="34" charset="0"/>
              <a:cs typeface="Arial" panose="020B0604020202020204" pitchFamily="34" charset="0"/>
            </a:endParaRPr>
          </a:p>
          <a:p>
            <a:pPr algn="l"/>
            <a:r>
              <a:rPr lang="en-US" sz="900" dirty="0">
                <a:solidFill>
                  <a:schemeClr val="tx1"/>
                </a:solidFill>
                <a:latin typeface="Arial" panose="020B0604020202020204" pitchFamily="34" charset="0"/>
                <a:cs typeface="Arial" panose="020B0604020202020204" pitchFamily="34" charset="0"/>
              </a:rPr>
              <a:t>Our Partners are backed by a resourceful team of qualified professionals. Our team comprises highly-skilled audit, tax, accounting and advisory professionals with significant experience.</a:t>
            </a:r>
          </a:p>
          <a:p>
            <a:pPr algn="l"/>
            <a:endParaRPr lang="en-AU" sz="1000" dirty="0">
              <a:solidFill>
                <a:schemeClr val="tx1"/>
              </a:solidFill>
              <a:latin typeface="Arial" panose="020B0604020202020204" pitchFamily="34" charset="0"/>
              <a:cs typeface="Arial" panose="020B0604020202020204" pitchFamily="34" charset="0"/>
            </a:endParaRPr>
          </a:p>
          <a:p>
            <a:pPr algn="l"/>
            <a:r>
              <a:rPr lang="en-AU" sz="1400" b="1" dirty="0">
                <a:solidFill>
                  <a:srgbClr val="2F465A"/>
                </a:solidFill>
                <a:latin typeface="Arial" panose="020B0604020202020204" pitchFamily="34" charset="0"/>
                <a:cs typeface="Arial" panose="020B0604020202020204" pitchFamily="34" charset="0"/>
              </a:rPr>
              <a:t>COMMITMENT OF SENIOR PERSONNEL </a:t>
            </a:r>
          </a:p>
          <a:p>
            <a:pPr algn="l"/>
            <a:endParaRPr lang="en-AU" sz="700" dirty="0">
              <a:solidFill>
                <a:schemeClr val="tx1"/>
              </a:solidFill>
              <a:latin typeface="Arial" panose="020B0604020202020204" pitchFamily="34" charset="0"/>
              <a:cs typeface="Arial" panose="020B0604020202020204" pitchFamily="34" charset="0"/>
            </a:endParaRPr>
          </a:p>
          <a:p>
            <a:pPr algn="l"/>
            <a:r>
              <a:rPr lang="en-US" sz="900" dirty="0">
                <a:solidFill>
                  <a:schemeClr val="tx1"/>
                </a:solidFill>
                <a:latin typeface="Arial" panose="020B0604020202020204" pitchFamily="34" charset="0"/>
                <a:cs typeface="Arial" panose="020B0604020202020204" pitchFamily="34" charset="0"/>
              </a:rPr>
              <a:t>We understand the importance our clients place on access to senior professional personnel, and having appropriately qualified persons on site to perform professional services in an efficient and effective manner. </a:t>
            </a:r>
            <a:r>
              <a:rPr lang="en-US" sz="900" dirty="0" err="1">
                <a:solidFill>
                  <a:schemeClr val="tx1"/>
                </a:solidFill>
                <a:latin typeface="Arial" panose="020B0604020202020204" pitchFamily="34" charset="0"/>
                <a:cs typeface="Arial" panose="020B0604020202020204" pitchFamily="34" charset="0"/>
              </a:rPr>
              <a:t>In.Corp</a:t>
            </a:r>
            <a:r>
              <a:rPr lang="en-US" sz="900" dirty="0">
                <a:solidFill>
                  <a:schemeClr val="tx1"/>
                </a:solidFill>
                <a:latin typeface="Arial" panose="020B0604020202020204" pitchFamily="34" charset="0"/>
                <a:cs typeface="Arial" panose="020B0604020202020204" pitchFamily="34" charset="0"/>
              </a:rPr>
              <a:t> commits that all professional services will be directed and conducted by the senior team at all times including during our site visits.</a:t>
            </a:r>
          </a:p>
          <a:p>
            <a:pPr algn="l"/>
            <a:endParaRPr lang="en-AU" sz="1000" dirty="0">
              <a:solidFill>
                <a:schemeClr val="tx1"/>
              </a:solidFill>
              <a:latin typeface="Arial" panose="020B0604020202020204" pitchFamily="34" charset="0"/>
              <a:cs typeface="Arial" panose="020B0604020202020204" pitchFamily="34" charset="0"/>
            </a:endParaRPr>
          </a:p>
        </p:txBody>
      </p:sp>
      <p:sp>
        <p:nvSpPr>
          <p:cNvPr id="11" name="Text Placeholder 9">
            <a:extLst>
              <a:ext uri="{FF2B5EF4-FFF2-40B4-BE49-F238E27FC236}">
                <a16:creationId xmlns:a16="http://schemas.microsoft.com/office/drawing/2014/main" id="{7091C070-4247-6321-3EB6-9F8660577E30}"/>
              </a:ext>
            </a:extLst>
          </p:cNvPr>
          <p:cNvSpPr txBox="1">
            <a:spLocks/>
          </p:cNvSpPr>
          <p:nvPr/>
        </p:nvSpPr>
        <p:spPr>
          <a:xfrm>
            <a:off x="6277832" y="1409714"/>
            <a:ext cx="5277075" cy="2172034"/>
          </a:xfrm>
          <a:prstGeom prst="rect">
            <a:avLst/>
          </a:prstGeom>
        </p:spPr>
        <p:txBody>
          <a:bodyPr vert="horz" lIns="0" tIns="45720" rIns="0" bIns="45720" numCol="1" rtlCol="0" anchor="t" anchorCtr="0"/>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AU" sz="1400" b="1" dirty="0">
                <a:solidFill>
                  <a:srgbClr val="2F465A"/>
                </a:solidFill>
                <a:latin typeface="Arial" panose="020B0604020202020204" pitchFamily="34" charset="0"/>
                <a:cs typeface="Arial" panose="020B0604020202020204" pitchFamily="34" charset="0"/>
              </a:rPr>
              <a:t>CONTINUITY OF SENIOR STAFF</a:t>
            </a:r>
          </a:p>
          <a:p>
            <a:pPr algn="l"/>
            <a:br>
              <a:rPr lang="en-US" sz="900" dirty="0">
                <a:solidFill>
                  <a:schemeClr val="tx1"/>
                </a:solidFill>
                <a:latin typeface="Arial" panose="020B0604020202020204" pitchFamily="34" charset="0"/>
                <a:cs typeface="Arial" panose="020B0604020202020204" pitchFamily="34" charset="0"/>
              </a:rPr>
            </a:br>
            <a:r>
              <a:rPr lang="en-US" sz="900" dirty="0">
                <a:solidFill>
                  <a:schemeClr val="tx1"/>
                </a:solidFill>
                <a:latin typeface="Arial" panose="020B0604020202020204" pitchFamily="34" charset="0"/>
                <a:cs typeface="Arial" panose="020B0604020202020204" pitchFamily="34" charset="0"/>
              </a:rPr>
              <a:t>At </a:t>
            </a:r>
            <a:r>
              <a:rPr lang="en-US" sz="900" dirty="0" err="1">
                <a:solidFill>
                  <a:schemeClr val="tx1"/>
                </a:solidFill>
                <a:latin typeface="Arial" panose="020B0604020202020204" pitchFamily="34" charset="0"/>
                <a:cs typeface="Arial" panose="020B0604020202020204" pitchFamily="34" charset="0"/>
              </a:rPr>
              <a:t>In.Corp</a:t>
            </a:r>
            <a:r>
              <a:rPr lang="en-US" sz="900" dirty="0">
                <a:solidFill>
                  <a:schemeClr val="tx1"/>
                </a:solidFill>
                <a:latin typeface="Arial" panose="020B0604020202020204" pitchFamily="34" charset="0"/>
                <a:cs typeface="Arial" panose="020B0604020202020204" pitchFamily="34" charset="0"/>
              </a:rPr>
              <a:t> we are committed to ensuring continuity of staff, particularly at a senior level. We provide stability of personnel for our clients and in doing so ensure efficiency through knowing our client’s systems, procedures and staff.</a:t>
            </a:r>
          </a:p>
          <a:p>
            <a:pPr algn="l"/>
            <a:endParaRPr lang="en-US" sz="1000" dirty="0">
              <a:solidFill>
                <a:schemeClr val="tx1"/>
              </a:solidFill>
              <a:latin typeface="Arial" panose="020B0604020202020204" pitchFamily="34" charset="0"/>
              <a:cs typeface="Arial" panose="020B0604020202020204" pitchFamily="34" charset="0"/>
            </a:endParaRPr>
          </a:p>
          <a:p>
            <a:pPr algn="l"/>
            <a:endParaRPr lang="en-US" sz="1000" dirty="0">
              <a:solidFill>
                <a:schemeClr val="tx1"/>
              </a:solidFill>
              <a:latin typeface="Arial" panose="020B0604020202020204" pitchFamily="34" charset="0"/>
              <a:cs typeface="Arial" panose="020B0604020202020204" pitchFamily="34" charset="0"/>
            </a:endParaRPr>
          </a:p>
          <a:p>
            <a:pPr algn="l"/>
            <a:endParaRPr lang="en-US" sz="700" b="1" dirty="0">
              <a:solidFill>
                <a:srgbClr val="B07A59"/>
              </a:solidFill>
              <a:latin typeface="Arial" panose="020B0604020202020204" pitchFamily="34" charset="0"/>
              <a:cs typeface="Arial" panose="020B0604020202020204" pitchFamily="34" charset="0"/>
            </a:endParaRPr>
          </a:p>
          <a:p>
            <a:pPr algn="l"/>
            <a:endParaRPr lang="en-US" sz="700" b="1" dirty="0">
              <a:solidFill>
                <a:srgbClr val="B07A59"/>
              </a:solidFill>
              <a:latin typeface="Arial" panose="020B0604020202020204" pitchFamily="34" charset="0"/>
              <a:cs typeface="Arial" panose="020B0604020202020204" pitchFamily="34" charset="0"/>
            </a:endParaRPr>
          </a:p>
          <a:p>
            <a:pPr algn="l"/>
            <a:endParaRPr lang="en-AU" sz="1000" dirty="0">
              <a:solidFill>
                <a:schemeClr val="tx1"/>
              </a:solidFill>
              <a:latin typeface="Arial" panose="020B0604020202020204" pitchFamily="34" charset="0"/>
              <a:cs typeface="Arial" panose="020B0604020202020204" pitchFamily="34" charset="0"/>
            </a:endParaRPr>
          </a:p>
          <a:p>
            <a:pPr algn="l"/>
            <a:endParaRPr lang="en-AU" sz="1000" dirty="0">
              <a:solidFill>
                <a:schemeClr val="tx1"/>
              </a:solidFill>
              <a:latin typeface="Arial" panose="020B0604020202020204" pitchFamily="34" charset="0"/>
              <a:cs typeface="Arial" panose="020B0604020202020204" pitchFamily="34" charset="0"/>
            </a:endParaRPr>
          </a:p>
        </p:txBody>
      </p:sp>
      <p:pic>
        <p:nvPicPr>
          <p:cNvPr id="14" name="Picture 2" descr="Group Hand Fist Bump">
            <a:extLst>
              <a:ext uri="{FF2B5EF4-FFF2-40B4-BE49-F238E27FC236}">
                <a16:creationId xmlns:a16="http://schemas.microsoft.com/office/drawing/2014/main" id="{D8949A03-7A7C-A586-C8E1-9323B07C07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7832" y="3303811"/>
            <a:ext cx="4909860" cy="2551835"/>
          </a:xfrm>
          <a:prstGeom prst="rect">
            <a:avLst/>
          </a:prstGeom>
          <a:noFill/>
          <a:effectLst>
            <a:softEdge rad="31750"/>
          </a:effectLst>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0AD45D75-FE20-5BA6-C1F7-84A19D6FF2F8}"/>
              </a:ext>
            </a:extLst>
          </p:cNvPr>
          <p:cNvSpPr/>
          <p:nvPr/>
        </p:nvSpPr>
        <p:spPr>
          <a:xfrm>
            <a:off x="6277832" y="3303811"/>
            <a:ext cx="4909860" cy="2551835"/>
          </a:xfrm>
          <a:prstGeom prst="rect">
            <a:avLst/>
          </a:prstGeom>
          <a:solidFill>
            <a:schemeClr val="bg1">
              <a:lumMod val="95000"/>
              <a:alpha val="3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7" name="Rectangle 6">
            <a:extLst>
              <a:ext uri="{FF2B5EF4-FFF2-40B4-BE49-F238E27FC236}">
                <a16:creationId xmlns:a16="http://schemas.microsoft.com/office/drawing/2014/main" id="{DD4E05BD-C5A4-B5DE-FC39-2C2FE2269BF7}"/>
              </a:ext>
            </a:extLst>
          </p:cNvPr>
          <p:cNvSpPr/>
          <p:nvPr/>
        </p:nvSpPr>
        <p:spPr>
          <a:xfrm rot="16200000" flipV="1">
            <a:off x="-2847475" y="3158896"/>
            <a:ext cx="5752282" cy="75438"/>
          </a:xfrm>
          <a:prstGeom prst="rec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350" dirty="0"/>
              <a:t>-</a:t>
            </a:r>
          </a:p>
        </p:txBody>
      </p:sp>
      <p:sp>
        <p:nvSpPr>
          <p:cNvPr id="9" name="Rectangle 8">
            <a:extLst>
              <a:ext uri="{FF2B5EF4-FFF2-40B4-BE49-F238E27FC236}">
                <a16:creationId xmlns:a16="http://schemas.microsoft.com/office/drawing/2014/main" id="{04F8E557-9CA9-3A58-8B3B-5E0C781F8FA5}"/>
              </a:ext>
            </a:extLst>
          </p:cNvPr>
          <p:cNvSpPr/>
          <p:nvPr/>
        </p:nvSpPr>
        <p:spPr>
          <a:xfrm rot="16200000" flipV="1">
            <a:off x="9298408" y="3236774"/>
            <a:ext cx="5752282" cy="75438"/>
          </a:xfrm>
          <a:prstGeom prst="rec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350" dirty="0"/>
          </a:p>
        </p:txBody>
      </p:sp>
      <p:pic>
        <p:nvPicPr>
          <p:cNvPr id="2" name="Picture 1" descr="A white and red globe with a black background&#10;&#10;AI-generated content may be incorrect.">
            <a:extLst>
              <a:ext uri="{FF2B5EF4-FFF2-40B4-BE49-F238E27FC236}">
                <a16:creationId xmlns:a16="http://schemas.microsoft.com/office/drawing/2014/main" id="{962CD91C-93A2-A0C4-0432-A0649D9726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86" y="6219147"/>
            <a:ext cx="1052953" cy="453783"/>
          </a:xfrm>
          <a:prstGeom prst="rect">
            <a:avLst/>
          </a:prstGeom>
        </p:spPr>
      </p:pic>
      <p:sp>
        <p:nvSpPr>
          <p:cNvPr id="18" name="incorp_approach_team_summary"/>
          <p:cNvSpPr txBox="1"/>
          <p:nvPr/>
        </p:nvSpPr>
        <p:spPr>
          <a:xfrm>
            <a:off x="6277832" y="2452290"/>
            <a:ext cx="5277075" cy="820000"/>
          </a:xfrm>
          <a:prstGeom prst="rect">
            <a:avLst/>
          </a:prstGeom>
          <a:noFill/>
        </p:spPr>
        <p:txBody>
          <a:bodyPr lIns="0" rIns="0" anchor="t"/>
          <a:lstStyle/>
          <a:p>
            <a:r>
              <a:rPr lang="en-US" sz="1400" b="1" dirty="0">
                <a:solidFill>
                  <a:srgbClr val="2F465A"/>
                </a:solidFill>
                <a:latin typeface="Arial" panose="020B0604020202020204" pitchFamily="34" charset="0"/>
                <a:cs typeface="Arial" panose="020B0604020202020204" pitchFamily="34" charset="0"/>
              </a:rPr>
              <a:t>SUMMARY OF OUR CLIENT SERVICE TEAM</a:t>
            </a:r>
          </a:p>
          <a:p>
            <a:endParaRPr sz="1000" dirty="0">
              <a:latin typeface="Arial"/>
            </a:endParaRPr>
          </a:p>
          <a:p>
            <a:pPr algn="l"/>
            <a:r>
              <a:rPr sz="900" dirty="0">
                <a:solidFill>
                  <a:schemeClr val="tx1"/>
                </a:solidFill>
                <a:latin typeface="Arial"/>
              </a:rPr>
              <a:t>A summary of our senior </a:t>
            </a:r>
            <a:r>
              <a:rPr sz="900" dirty="0" err="1">
                <a:solidFill>
                  <a:schemeClr val="tx1"/>
                </a:solidFill>
                <a:latin typeface="Arial"/>
              </a:rPr>
              <a:t>In.Corp</a:t>
            </a:r>
            <a:r>
              <a:rPr sz="900" dirty="0">
                <a:solidFill>
                  <a:schemeClr val="tx1"/>
                </a:solidFill>
                <a:latin typeface="Arial"/>
              </a:rPr>
              <a:t> Client Service Team is outlined. They are responsible for the seamless delivery of our services to our clients.</a:t>
            </a:r>
          </a:p>
          <a:p>
            <a:endParaRPr sz="1000" dirty="0">
              <a:solidFill>
                <a:schemeClr val="tx1"/>
              </a:solidFill>
              <a:latin typeface="Arial"/>
            </a:endParaRPr>
          </a:p>
        </p:txBody>
      </p:sp>
    </p:spTree>
    <p:extLst>
      <p:ext uri="{BB962C8B-B14F-4D97-AF65-F5344CB8AC3E}">
        <p14:creationId xmlns:p14="http://schemas.microsoft.com/office/powerpoint/2010/main" val="1055042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4E5BC1-1561-42F3-A4D1-C6F220077021}"/>
              </a:ext>
            </a:extLst>
          </p:cNvPr>
          <p:cNvSpPr>
            <a:spLocks noGrp="1"/>
          </p:cNvSpPr>
          <p:nvPr>
            <p:ph type="sldNum" sz="quarter" idx="12"/>
          </p:nvPr>
        </p:nvSpPr>
        <p:spPr/>
        <p:txBody>
          <a:bodyPr/>
          <a:lstStyle/>
          <a:p>
            <a:pPr/>
            <a:r>
              <a:rPr lang="en-US" dirty="0">
                <a:solidFill/>
              </a:rPr>
              <a:t>7</a:t>
            </a:r>
            <a:endParaRPr lang="en-AU" dirty="0"/>
          </a:p>
        </p:txBody>
      </p:sp>
      <p:sp>
        <p:nvSpPr>
          <p:cNvPr id="8" name="credentials_title">
            <a:extLst>
              <a:ext uri="{FF2B5EF4-FFF2-40B4-BE49-F238E27FC236}">
                <a16:creationId xmlns:a16="http://schemas.microsoft.com/office/drawing/2014/main" id="{C342DEC7-1171-49C7-87D8-52315D5DF2C4}"/>
              </a:ext>
            </a:extLst>
          </p:cNvPr>
          <p:cNvSpPr txBox="1">
            <a:spLocks/>
          </p:cNvSpPr>
          <p:nvPr/>
        </p:nvSpPr>
        <p:spPr>
          <a:xfrm>
            <a:off x="1285873" y="860381"/>
            <a:ext cx="8316912" cy="432000"/>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spc="-150" dirty="0">
                <a:solidFill>
                  <a:srgbClr val="BB2121"/>
                </a:solidFill>
                <a:latin typeface="Arial" panose="020B0604020202020204" pitchFamily="34" charset="0"/>
                <a:cs typeface="Arial" panose="020B0604020202020204" pitchFamily="34" charset="0"/>
              </a:rPr>
              <a:t>RELEVANT  INDUSTRY EXPERIENCE</a:t>
            </a:r>
            <a:endParaRPr lang="en-AU" sz="2800" b="1" spc="-150" dirty="0">
              <a:solidFill>
                <a:srgbClr val="BB2121"/>
              </a:solidFill>
              <a:latin typeface="Arial" panose="020B0604020202020204" pitchFamily="34" charset="0"/>
              <a:cs typeface="Arial" panose="020B0604020202020204" pitchFamily="34" charset="0"/>
            </a:endParaRPr>
          </a:p>
        </p:txBody>
      </p:sp>
      <p:sp>
        <p:nvSpPr>
          <p:cNvPr id="11" name="Text Placeholder 9">
            <a:extLst>
              <a:ext uri="{FF2B5EF4-FFF2-40B4-BE49-F238E27FC236}">
                <a16:creationId xmlns:a16="http://schemas.microsoft.com/office/drawing/2014/main" id="{F8DAADF3-3BC7-218A-96BE-77B16252E0CB}"/>
              </a:ext>
            </a:extLst>
          </p:cNvPr>
          <p:cNvSpPr txBox="1">
            <a:spLocks/>
          </p:cNvSpPr>
          <p:nvPr/>
        </p:nvSpPr>
        <p:spPr>
          <a:xfrm>
            <a:off x="1285873" y="1147446"/>
            <a:ext cx="4810127" cy="1362409"/>
          </a:xfrm>
          <a:prstGeom prst="rect">
            <a:avLst/>
          </a:prstGeom>
        </p:spPr>
        <p:txBody>
          <a:bodyPr vert="horz" lIns="0" tIns="45720" rIns="0" bIns="45720" numCol="1" rtlCol="0" anchor="t" anchorCtr="0"/>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endParaRPr lang="en-AU" sz="1050" dirty="0">
              <a:solidFill>
                <a:schemeClr val="tx1"/>
              </a:solidFill>
              <a:latin typeface="Arial" panose="020B0604020202020204" pitchFamily="34" charset="0"/>
              <a:cs typeface="Arial" panose="020B0604020202020204" pitchFamily="34" charset="0"/>
            </a:endParaRPr>
          </a:p>
          <a:p>
            <a:pPr algn="just"/>
            <a:r>
              <a:rPr sz="900">
                <a:solidFill>
                  <a:schemeClr val="tx1"/>
                </a:solidFill>
                <a:latin typeface="Arial"/>
              </a:rPr>
              <a:t>In.Corp has considerable experience in providing external audits and other professional services to listed public, large private, and other companies in software and manufacturing sectors. These include:</a:t>
            </a:r>
            <a:endParaRPr lang="en-AU" sz="900" dirty="0">
              <a:solidFill>
                <a:schemeClr val="tx1"/>
              </a:solidFill>
              <a:latin typeface="Arial" panose="020B0604020202020204" pitchFamily="34" charset="0"/>
              <a:cs typeface="Arial" panose="020B0604020202020204" pitchFamily="34" charset="0"/>
            </a:endParaRPr>
          </a:p>
        </p:txBody>
      </p:sp>
      <p:graphicFrame>
        <p:nvGraphicFramePr>
          <p:cNvPr id="14" name="credentials_table">
            <a:extLst>
              <a:ext uri="{FF2B5EF4-FFF2-40B4-BE49-F238E27FC236}">
                <a16:creationId xmlns:a16="http://schemas.microsoft.com/office/drawing/2014/main" id="{27753E6B-C214-A756-642D-18E3346147F9}"/>
              </a:ext>
            </a:extLst>
          </p:cNvPr>
          <p:cNvGraphicFramePr>
            <a:graphicFrameLocks noGrp="1"/>
          </p:cNvGraphicFramePr>
          <p:nvPr>
            <p:extLst>
              <p:ext uri="{D42A27DB-BD31-4B8C-83A1-F6EECF244321}">
                <p14:modId xmlns:p14="http://schemas.microsoft.com/office/powerpoint/2010/main" val="1005258968"/>
              </p:ext>
            </p:extLst>
          </p:nvPr>
        </p:nvGraphicFramePr>
        <p:xfrm>
          <a:off x="1308175" y="1989085"/>
          <a:ext cx="4787825" cy="3073296"/>
        </p:xfrm>
        <a:graphic>
          <a:graphicData uri="http://schemas.openxmlformats.org/drawingml/2006/table">
            <a:tbl>
              <a:tblPr firstRow="1" firstCol="1" bandRow="1">
                <a:tableStyleId>{073A0DAA-6AF3-43AB-8588-CEC1D06C72B9}</a:tableStyleId>
              </a:tblPr>
              <a:tblGrid>
                <a:gridCol w="2523259">
                  <a:extLst>
                    <a:ext uri="{9D8B030D-6E8A-4147-A177-3AD203B41FA5}">
                      <a16:colId xmlns:a16="http://schemas.microsoft.com/office/drawing/2014/main" val="352820741"/>
                    </a:ext>
                  </a:extLst>
                </a:gridCol>
                <a:gridCol w="2264566">
                  <a:extLst>
                    <a:ext uri="{9D8B030D-6E8A-4147-A177-3AD203B41FA5}">
                      <a16:colId xmlns:a16="http://schemas.microsoft.com/office/drawing/2014/main" val="2151299754"/>
                    </a:ext>
                  </a:extLst>
                </a:gridCol>
              </a:tblGrid>
              <a:tr h="512216">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AU" sz="900" b="0" dirty="0">
                          <a:solidFill>
                            <a:schemeClr val="tx1"/>
                          </a:solidFill>
                          <a:effectLst/>
                          <a:latin typeface="Arial" panose="020B0604020202020204" pitchFamily="34" charset="0"/>
                          <a:cs typeface="Arial" panose="020B0604020202020204" pitchFamily="34" charset="0"/>
                        </a:rPr>
                        <a:t>Bridge SaaS Limited</a:t>
                      </a:r>
                    </a:p>
                  </a:txBody>
                  <a:tcPr marL="68580" marR="68580" marT="0" marB="0" anchor="ctr">
                    <a:lnL w="635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no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AU" sz="900" b="0" dirty="0">
                          <a:solidFill>
                            <a:schemeClr val="tx1"/>
                          </a:solidFill>
                          <a:effectLst/>
                          <a:latin typeface="Arial" panose="020B0604020202020204" pitchFamily="34" charset="0"/>
                          <a:cs typeface="Arial" panose="020B0604020202020204" pitchFamily="34" charset="0"/>
                        </a:rPr>
                        <a:t>Hubify Limited</a:t>
                      </a:r>
                    </a:p>
                  </a:txBody>
                  <a:tcPr marL="68580" marR="68580" marT="0" marB="0" anchor="ctr">
                    <a:lnL w="635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noFill/>
                  </a:tcPr>
                </a:tc>
                <a:extLst>
                  <a:ext uri="{0D108BD9-81ED-4DB2-BD59-A6C34878D82A}">
                    <a16:rowId xmlns:a16="http://schemas.microsoft.com/office/drawing/2014/main" val="2657032895"/>
                  </a:ext>
                </a:extLst>
              </a:tr>
              <a:tr h="512216">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AU" sz="900" b="0" dirty="0">
                          <a:solidFill>
                            <a:schemeClr val="tx1"/>
                          </a:solidFill>
                          <a:effectLst/>
                          <a:latin typeface="Arial" panose="020B0604020202020204" pitchFamily="34" charset="0"/>
                          <a:cs typeface="Arial" panose="020B0604020202020204" pitchFamily="34" charset="0"/>
                        </a:rPr>
                        <a:t>I Synergy Group Limited</a:t>
                      </a:r>
                    </a:p>
                  </a:txBody>
                  <a:tcPr marL="68580" marR="68580" marT="0" marB="0" anchor="ctr">
                    <a:lnL w="635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no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AU" sz="900" b="0" dirty="0">
                          <a:solidFill>
                            <a:schemeClr val="tx1"/>
                          </a:solidFill>
                          <a:effectLst/>
                          <a:latin typeface="Arial" panose="020B0604020202020204" pitchFamily="34" charset="0"/>
                          <a:cs typeface="Arial" panose="020B0604020202020204" pitchFamily="34" charset="0"/>
                        </a:rPr>
                        <a:t>Thrive Tribe Technologies Limited</a:t>
                      </a:r>
                    </a:p>
                  </a:txBody>
                  <a:tcPr marL="68580" marR="68580" marT="0" marB="0" anchor="ctr">
                    <a:lnL w="635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noFill/>
                  </a:tcPr>
                </a:tc>
                <a:extLst>
                  <a:ext uri="{0D108BD9-81ED-4DB2-BD59-A6C34878D82A}">
                    <a16:rowId xmlns:a16="http://schemas.microsoft.com/office/drawing/2014/main" val="2657032895"/>
                  </a:ext>
                </a:extLst>
              </a:tr>
              <a:tr h="512216">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AU" sz="900" b="0" dirty="0">
                          <a:solidFill>
                            <a:schemeClr val="tx1"/>
                          </a:solidFill>
                          <a:effectLst/>
                          <a:latin typeface="Arial" panose="020B0604020202020204" pitchFamily="34" charset="0"/>
                          <a:cs typeface="Arial" panose="020B0604020202020204" pitchFamily="34" charset="0"/>
                        </a:rPr>
                        <a:t>Northbridge Network Systems Pty Limited</a:t>
                      </a:r>
                    </a:p>
                  </a:txBody>
                  <a:tcPr marL="68580" marR="68580" marT="0" marB="0" anchor="ctr">
                    <a:lnL w="635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no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AU" sz="900" b="0" dirty="0">
                          <a:solidFill>
                            <a:schemeClr val="tx1"/>
                          </a:solidFill>
                          <a:effectLst/>
                          <a:latin typeface="Arial" panose="020B0604020202020204" pitchFamily="34" charset="0"/>
                          <a:cs typeface="Arial" panose="020B0604020202020204" pitchFamily="34" charset="0"/>
                        </a:rPr>
                        <a:t>Nextgen.net Pty Ltd</a:t>
                      </a:r>
                    </a:p>
                  </a:txBody>
                  <a:tcPr marL="68580" marR="68580" marT="0" marB="0" anchor="ctr">
                    <a:lnL w="635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noFill/>
                  </a:tcPr>
                </a:tc>
                <a:extLst>
                  <a:ext uri="{0D108BD9-81ED-4DB2-BD59-A6C34878D82A}">
                    <a16:rowId xmlns:a16="http://schemas.microsoft.com/office/drawing/2014/main" val="2657032895"/>
                  </a:ext>
                </a:extLst>
              </a:tr>
              <a:tr h="512216">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AU" sz="900" b="0" dirty="0">
                          <a:solidFill>
                            <a:schemeClr val="tx1"/>
                          </a:solidFill>
                          <a:effectLst/>
                          <a:latin typeface="Arial" panose="020B0604020202020204" pitchFamily="34" charset="0"/>
                          <a:cs typeface="Arial" panose="020B0604020202020204" pitchFamily="34" charset="0"/>
                        </a:rPr>
                        <a:t>Jennchem Australia Pty Ltd</a:t>
                      </a:r>
                    </a:p>
                  </a:txBody>
                  <a:tcPr marL="68580" marR="68580" marT="0" marB="0" anchor="ctr">
                    <a:lnL w="635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no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AU" sz="900" b="0" dirty="0">
                          <a:solidFill>
                            <a:schemeClr val="tx1"/>
                          </a:solidFill>
                          <a:effectLst/>
                          <a:latin typeface="Arial" panose="020B0604020202020204" pitchFamily="34" charset="0"/>
                          <a:cs typeface="Arial" panose="020B0604020202020204" pitchFamily="34" charset="0"/>
                        </a:rPr>
                        <a:t>Omni Tanker Holdings Ltd</a:t>
                      </a:r>
                    </a:p>
                  </a:txBody>
                  <a:tcPr marL="68580" marR="68580" marT="0" marB="0" anchor="ctr">
                    <a:lnL w="635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noFill/>
                  </a:tcPr>
                </a:tc>
                <a:extLst>
                  <a:ext uri="{0D108BD9-81ED-4DB2-BD59-A6C34878D82A}">
                    <a16:rowId xmlns:a16="http://schemas.microsoft.com/office/drawing/2014/main" val="2657032895"/>
                  </a:ext>
                </a:extLst>
              </a:tr>
              <a:tr h="512216">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AU" sz="900" b="0" dirty="0">
                          <a:solidFill>
                            <a:schemeClr val="tx1"/>
                          </a:solidFill>
                          <a:effectLst/>
                          <a:latin typeface="Arial" panose="020B0604020202020204" pitchFamily="34" charset="0"/>
                          <a:cs typeface="Arial" panose="020B0604020202020204" pitchFamily="34" charset="0"/>
                        </a:rPr>
                        <a:t>FCI Holdings Australia Pty Ltd</a:t>
                      </a:r>
                    </a:p>
                  </a:txBody>
                  <a:tcPr marL="68580" marR="68580" marT="0" marB="0" anchor="ctr">
                    <a:lnL w="635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no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AU" sz="900" b="0" dirty="0">
                          <a:solidFill>
                            <a:schemeClr val="tx1"/>
                          </a:solidFill>
                          <a:effectLst/>
                          <a:latin typeface="Arial" panose="020B0604020202020204" pitchFamily="34" charset="0"/>
                          <a:cs typeface="Arial" panose="020B0604020202020204" pitchFamily="34" charset="0"/>
                        </a:rPr>
                        <a:t/>
                      </a:r>
                    </a:p>
                  </a:txBody>
                  <a:tcPr marL="68580" marR="68580" marT="0" marB="0" anchor="ctr">
                    <a:lnL w="635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noFill/>
                  </a:tcPr>
                </a:tc>
                <a:extLst>
                  <a:ext uri="{0D108BD9-81ED-4DB2-BD59-A6C34878D82A}">
                    <a16:rowId xmlns:a16="http://schemas.microsoft.com/office/drawing/2014/main" val="2657032895"/>
                  </a:ext>
                </a:extLst>
              </a:tr>
            </a:tbl>
          </a:graphicData>
        </a:graphic>
      </p:graphicFrame>
      <p:pic>
        <p:nvPicPr>
          <p:cNvPr id="15" name="Picture 14">
            <a:extLst>
              <a:ext uri="{FF2B5EF4-FFF2-40B4-BE49-F238E27FC236}">
                <a16:creationId xmlns:a16="http://schemas.microsoft.com/office/drawing/2014/main" id="{FB1BC7B5-39B6-68B4-858F-8BB3FA26D9A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rot="2666321">
            <a:off x="6774573" y="1589564"/>
            <a:ext cx="4246233" cy="3827648"/>
          </a:xfrm>
          <a:prstGeom prst="rect">
            <a:avLst/>
          </a:prstGeom>
          <a:noFill/>
          <a:ln>
            <a:noFill/>
          </a:ln>
        </p:spPr>
      </p:pic>
      <p:sp>
        <p:nvSpPr>
          <p:cNvPr id="2" name="Rectangle 1">
            <a:extLst>
              <a:ext uri="{FF2B5EF4-FFF2-40B4-BE49-F238E27FC236}">
                <a16:creationId xmlns:a16="http://schemas.microsoft.com/office/drawing/2014/main" id="{E92C2CA1-6999-127C-E340-951249313360}"/>
              </a:ext>
            </a:extLst>
          </p:cNvPr>
          <p:cNvSpPr/>
          <p:nvPr/>
        </p:nvSpPr>
        <p:spPr>
          <a:xfrm rot="16200000" flipV="1">
            <a:off x="-2847475" y="3158896"/>
            <a:ext cx="5752282" cy="75438"/>
          </a:xfrm>
          <a:prstGeom prst="rec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350" dirty="0"/>
              <a:t>-</a:t>
            </a:r>
          </a:p>
        </p:txBody>
      </p:sp>
      <p:sp>
        <p:nvSpPr>
          <p:cNvPr id="3" name="Rectangle 2">
            <a:extLst>
              <a:ext uri="{FF2B5EF4-FFF2-40B4-BE49-F238E27FC236}">
                <a16:creationId xmlns:a16="http://schemas.microsoft.com/office/drawing/2014/main" id="{7423AD80-5A99-12EA-CF78-FD965AF0721D}"/>
              </a:ext>
            </a:extLst>
          </p:cNvPr>
          <p:cNvSpPr/>
          <p:nvPr/>
        </p:nvSpPr>
        <p:spPr>
          <a:xfrm rot="16200000" flipV="1">
            <a:off x="9298408" y="3236774"/>
            <a:ext cx="5752282" cy="75438"/>
          </a:xfrm>
          <a:prstGeom prst="rec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350" dirty="0"/>
          </a:p>
        </p:txBody>
      </p:sp>
      <p:pic>
        <p:nvPicPr>
          <p:cNvPr id="5" name="Picture 4" descr="A white and red globe with a black background&#10;&#10;AI-generated content may be incorrect.">
            <a:extLst>
              <a:ext uri="{FF2B5EF4-FFF2-40B4-BE49-F238E27FC236}">
                <a16:creationId xmlns:a16="http://schemas.microsoft.com/office/drawing/2014/main" id="{F73442B5-FAB4-925E-73B4-B0D29CE8D5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86" y="6219147"/>
            <a:ext cx="1052953" cy="453783"/>
          </a:xfrm>
          <a:prstGeom prst="rect">
            <a:avLst/>
          </a:prstGeom>
        </p:spPr>
      </p:pic>
    </p:spTree>
    <p:extLst>
      <p:ext uri="{BB962C8B-B14F-4D97-AF65-F5344CB8AC3E}">
        <p14:creationId xmlns:p14="http://schemas.microsoft.com/office/powerpoint/2010/main" val="4244537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4E5BC1-1561-42F3-A4D1-C6F220077021}"/>
              </a:ext>
            </a:extLst>
          </p:cNvPr>
          <p:cNvSpPr>
            <a:spLocks noGrp="1"/>
          </p:cNvSpPr>
          <p:nvPr>
            <p:ph type="sldNum" sz="quarter" idx="12"/>
          </p:nvPr>
        </p:nvSpPr>
        <p:spPr/>
        <p:txBody>
          <a:bodyPr/>
          <a:lstStyle/>
          <a:p>
            <a:pPr/>
            <a:r>
              <a:rPr lang="en-US" dirty="0">
                <a:solidFill/>
              </a:rPr>
              <a:t>8</a:t>
            </a:r>
            <a:endParaRPr lang="en-AU" dirty="0"/>
          </a:p>
        </p:txBody>
      </p:sp>
      <p:sp>
        <p:nvSpPr>
          <p:cNvPr id="8" name="audit_approach_title">
            <a:extLst>
              <a:ext uri="{FF2B5EF4-FFF2-40B4-BE49-F238E27FC236}">
                <a16:creationId xmlns:a16="http://schemas.microsoft.com/office/drawing/2014/main" id="{C342DEC7-1171-49C7-87D8-52315D5DF2C4}"/>
              </a:ext>
            </a:extLst>
          </p:cNvPr>
          <p:cNvSpPr txBox="1">
            <a:spLocks/>
          </p:cNvSpPr>
          <p:nvPr/>
        </p:nvSpPr>
        <p:spPr>
          <a:xfrm>
            <a:off x="697104" y="648084"/>
            <a:ext cx="8316912" cy="432000"/>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spc="-150" dirty="0">
                <a:solidFill>
                  <a:srgbClr val="BB2121"/>
                </a:solidFill>
                <a:latin typeface="Arial" panose="020B0604020202020204" pitchFamily="34" charset="0"/>
                <a:cs typeface="Arial" panose="020B0604020202020204" pitchFamily="34" charset="0"/>
              </a:rPr>
              <a:t>OUR AUDIT APPROACH</a:t>
            </a:r>
            <a:endParaRPr lang="en-AU" sz="2800" b="1" spc="-150" dirty="0">
              <a:solidFill>
                <a:srgbClr val="BB2121"/>
              </a:solidFill>
              <a:latin typeface="Arial" panose="020B0604020202020204" pitchFamily="34" charset="0"/>
              <a:cs typeface="Arial" panose="020B0604020202020204" pitchFamily="34" charset="0"/>
            </a:endParaRPr>
          </a:p>
        </p:txBody>
      </p:sp>
      <p:sp>
        <p:nvSpPr>
          <p:cNvPr id="7" name="Text Placeholder 11">
            <a:extLst>
              <a:ext uri="{FF2B5EF4-FFF2-40B4-BE49-F238E27FC236}">
                <a16:creationId xmlns:a16="http://schemas.microsoft.com/office/drawing/2014/main" id="{927B68E5-B136-48B9-999E-EC8111F56E0B}"/>
              </a:ext>
            </a:extLst>
          </p:cNvPr>
          <p:cNvSpPr txBox="1">
            <a:spLocks/>
          </p:cNvSpPr>
          <p:nvPr/>
        </p:nvSpPr>
        <p:spPr>
          <a:xfrm>
            <a:off x="719406" y="1087571"/>
            <a:ext cx="11045496" cy="249300"/>
          </a:xfrm>
          <a:prstGeom prst="rect">
            <a:avLst/>
          </a:prstGeom>
        </p:spPr>
        <p:txBody>
          <a:bodyPr lIns="0" r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50" i="1" dirty="0" err="1">
                <a:solidFill>
                  <a:schemeClr val="bg1">
                    <a:lumMod val="50000"/>
                  </a:schemeClr>
                </a:solidFill>
                <a:latin typeface="Arial" panose="020B0604020202020204" pitchFamily="34" charset="0"/>
                <a:cs typeface="Arial" panose="020B0604020202020204" pitchFamily="34" charset="0"/>
              </a:rPr>
              <a:t>In.Corp</a:t>
            </a:r>
            <a:r>
              <a:rPr lang="en-US" sz="1050" i="1" dirty="0">
                <a:solidFill>
                  <a:schemeClr val="bg1">
                    <a:lumMod val="50000"/>
                  </a:schemeClr>
                </a:solidFill>
                <a:latin typeface="Arial" panose="020B0604020202020204" pitchFamily="34" charset="0"/>
                <a:cs typeface="Arial" panose="020B0604020202020204" pitchFamily="34" charset="0"/>
              </a:rPr>
              <a:t> has taken the audit approach one step further developing industry-specific customisation into our audit methodology, beyond the core industry-neutral auditing standards. </a:t>
            </a:r>
          </a:p>
        </p:txBody>
      </p:sp>
      <p:sp>
        <p:nvSpPr>
          <p:cNvPr id="2" name="Text Placeholder 9">
            <a:extLst>
              <a:ext uri="{FF2B5EF4-FFF2-40B4-BE49-F238E27FC236}">
                <a16:creationId xmlns:a16="http://schemas.microsoft.com/office/drawing/2014/main" id="{5EA4A432-3A49-208F-D78F-97E37B281220}"/>
              </a:ext>
            </a:extLst>
          </p:cNvPr>
          <p:cNvSpPr txBox="1">
            <a:spLocks/>
          </p:cNvSpPr>
          <p:nvPr/>
        </p:nvSpPr>
        <p:spPr>
          <a:xfrm>
            <a:off x="719406" y="1549489"/>
            <a:ext cx="4753093" cy="4404269"/>
          </a:xfrm>
          <a:prstGeom prst="rect">
            <a:avLst/>
          </a:prstGeom>
        </p:spPr>
        <p:txBody>
          <a:bodyPr vert="horz" lIns="0" tIns="45720" rIns="0" bIns="45720" numCol="1" rtlCol="0" anchor="t" anchorCtr="0"/>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b="1" dirty="0">
                <a:solidFill>
                  <a:srgbClr val="2F465A"/>
                </a:solidFill>
                <a:latin typeface="Arial" panose="020B0604020202020204" pitchFamily="34" charset="0"/>
                <a:cs typeface="Arial" panose="020B0604020202020204" pitchFamily="34" charset="0"/>
              </a:rPr>
              <a:t>AUDIT CAPABILITY &amp; INDUSTRY KNOWLEDGE</a:t>
            </a:r>
          </a:p>
          <a:p>
            <a:pPr algn="l"/>
            <a:endParaRPr lang="en-US" sz="900" dirty="0">
              <a:solidFill>
                <a:schemeClr val="tx1"/>
              </a:solidFill>
              <a:latin typeface="Arial" panose="020B0604020202020204" pitchFamily="34" charset="0"/>
              <a:cs typeface="Arial" panose="020B0604020202020204" pitchFamily="34" charset="0"/>
            </a:endParaRPr>
          </a:p>
          <a:p>
            <a:pPr algn="l"/>
            <a:r>
              <a:rPr lang="en-US" sz="900" dirty="0">
                <a:solidFill>
                  <a:schemeClr val="tx1"/>
                </a:solidFill>
                <a:latin typeface="Arial" panose="020B0604020202020204" pitchFamily="34" charset="0"/>
                <a:cs typeface="Arial" panose="020B0604020202020204" pitchFamily="34" charset="0"/>
              </a:rPr>
              <a:t>The </a:t>
            </a:r>
            <a:r>
              <a:rPr lang="en-US" sz="900" dirty="0" err="1">
                <a:solidFill>
                  <a:schemeClr val="tx1"/>
                </a:solidFill>
                <a:latin typeface="Arial" panose="020B0604020202020204" pitchFamily="34" charset="0"/>
                <a:cs typeface="Arial" panose="020B0604020202020204" pitchFamily="34" charset="0"/>
              </a:rPr>
              <a:t>In.Corp</a:t>
            </a:r>
            <a:r>
              <a:rPr lang="en-US" sz="900" dirty="0">
                <a:solidFill>
                  <a:schemeClr val="tx1"/>
                </a:solidFill>
                <a:latin typeface="Arial" panose="020B0604020202020204" pitchFamily="34" charset="0"/>
                <a:cs typeface="Arial" panose="020B0604020202020204" pitchFamily="34" charset="0"/>
              </a:rPr>
              <a:t> audit team has considerable experience in providing audit and assurance services to clients in a wide variety of industries.</a:t>
            </a:r>
            <a:br>
              <a:rPr lang="en-US" sz="900" dirty="0">
                <a:solidFill>
                  <a:schemeClr val="tx1"/>
                </a:solidFill>
                <a:latin typeface="Arial" panose="020B0604020202020204" pitchFamily="34" charset="0"/>
                <a:cs typeface="Arial" panose="020B0604020202020204" pitchFamily="34" charset="0"/>
              </a:rPr>
            </a:br>
            <a:endParaRPr lang="en-US" sz="900" dirty="0">
              <a:solidFill>
                <a:schemeClr val="tx1"/>
              </a:solidFill>
              <a:latin typeface="Arial" panose="020B0604020202020204" pitchFamily="34" charset="0"/>
              <a:cs typeface="Arial" panose="020B0604020202020204" pitchFamily="34" charset="0"/>
            </a:endParaRPr>
          </a:p>
          <a:p>
            <a:pPr algn="l"/>
            <a:r>
              <a:rPr sz="900">
                <a:solidFill>
                  <a:schemeClr val="tx1"/>
                </a:solidFill>
                <a:latin typeface="Arial"/>
              </a:rPr>
              <a:t>Our client service team has the necessary skills to address issues as they arise. This includes their extensive experience in providing audit services to clients operating within </a:t>
            </a:r>
            <a:r>
              <a:rPr sz="900">
                <a:solidFill>
                  <a:schemeClr val="tx1"/>
                </a:solidFill>
                <a:latin typeface="Arial"/>
              </a:rPr>
              <a:t>software and manufacturing sectors</a:t>
            </a:r>
            <a:r>
              <a:rPr sz="900">
                <a:solidFill>
                  <a:schemeClr val="tx1"/>
                </a:solidFill>
                <a:latin typeface="Arial"/>
              </a:rPr>
              <a:t>.</a:t>
            </a: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r>
              <a:rPr lang="en-US" b="1" dirty="0">
                <a:solidFill>
                  <a:srgbClr val="2F465A"/>
                </a:solidFill>
                <a:latin typeface="Arial" panose="020B0604020202020204" pitchFamily="34" charset="0"/>
                <a:cs typeface="Arial" panose="020B0604020202020204" pitchFamily="34" charset="0"/>
              </a:rPr>
              <a:t>AUDIT PLAN</a:t>
            </a:r>
          </a:p>
          <a:p>
            <a:pPr algn="l"/>
            <a:endParaRPr lang="en-US" sz="900" dirty="0">
              <a:solidFill>
                <a:schemeClr val="tx1"/>
              </a:solidFill>
              <a:latin typeface="Arial" panose="020B0604020202020204" pitchFamily="34" charset="0"/>
              <a:cs typeface="Arial" panose="020B0604020202020204" pitchFamily="34" charset="0"/>
            </a:endParaRPr>
          </a:p>
          <a:p>
            <a:pPr algn="l"/>
            <a:r>
              <a:rPr lang="en-US" sz="900" dirty="0">
                <a:solidFill>
                  <a:schemeClr val="tx1"/>
                </a:solidFill>
                <a:latin typeface="Arial" panose="020B0604020202020204" pitchFamily="34" charset="0"/>
                <a:cs typeface="Arial" panose="020B0604020202020204" pitchFamily="34" charset="0"/>
              </a:rPr>
              <a:t>We have a proven track record in transition of auditors and will manage the process with the least possible disruption to your business, ensuring key dates are met. </a:t>
            </a:r>
          </a:p>
          <a:p>
            <a:pPr algn="l"/>
            <a:endParaRPr lang="en-US" sz="900" dirty="0">
              <a:solidFill>
                <a:schemeClr val="tx1"/>
              </a:solidFill>
              <a:latin typeface="Arial" panose="020B0604020202020204" pitchFamily="34" charset="0"/>
              <a:cs typeface="Arial" panose="020B0604020202020204" pitchFamily="34" charset="0"/>
            </a:endParaRPr>
          </a:p>
          <a:p>
            <a:pPr algn="l"/>
            <a:r>
              <a:rPr lang="en-US" sz="900" dirty="0">
                <a:solidFill>
                  <a:schemeClr val="tx1"/>
                </a:solidFill>
                <a:latin typeface="Arial" panose="020B0604020202020204" pitchFamily="34" charset="0"/>
                <a:cs typeface="Arial" panose="020B0604020202020204" pitchFamily="34" charset="0"/>
              </a:rPr>
              <a:t>We:</a:t>
            </a:r>
          </a:p>
          <a:p>
            <a:pPr algn="l"/>
            <a:endParaRPr lang="en-US" sz="900"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900" dirty="0">
                <a:solidFill>
                  <a:schemeClr val="tx1"/>
                </a:solidFill>
                <a:latin typeface="Arial" panose="020B0604020202020204" pitchFamily="34" charset="0"/>
                <a:cs typeface="Arial" panose="020B0604020202020204" pitchFamily="34" charset="0"/>
              </a:rPr>
              <a:t>provide guidance and assistance in respect of the audit process;</a:t>
            </a:r>
            <a:br>
              <a:rPr lang="en-US" sz="900" dirty="0">
                <a:solidFill>
                  <a:schemeClr val="tx1"/>
                </a:solidFill>
                <a:latin typeface="Arial" panose="020B0604020202020204" pitchFamily="34" charset="0"/>
                <a:cs typeface="Arial" panose="020B0604020202020204" pitchFamily="34" charset="0"/>
              </a:rPr>
            </a:br>
            <a:endParaRPr lang="en-US" sz="900"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900" dirty="0">
                <a:solidFill>
                  <a:schemeClr val="tx1"/>
                </a:solidFill>
                <a:latin typeface="Arial" panose="020B0604020202020204" pitchFamily="34" charset="0"/>
                <a:cs typeface="Arial" panose="020B0604020202020204" pitchFamily="34" charset="0"/>
              </a:rPr>
              <a:t>meet with key management to understand any concerns and deepen our knowledge of the business and operating environment;</a:t>
            </a:r>
            <a:br>
              <a:rPr lang="en-US" sz="900" dirty="0">
                <a:solidFill>
                  <a:schemeClr val="tx1"/>
                </a:solidFill>
                <a:latin typeface="Arial" panose="020B0604020202020204" pitchFamily="34" charset="0"/>
                <a:cs typeface="Arial" panose="020B0604020202020204" pitchFamily="34" charset="0"/>
              </a:rPr>
            </a:br>
            <a:endParaRPr lang="en-US" sz="900"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900" dirty="0">
                <a:solidFill>
                  <a:schemeClr val="tx1"/>
                </a:solidFill>
                <a:latin typeface="Arial" panose="020B0604020202020204" pitchFamily="34" charset="0"/>
                <a:cs typeface="Arial" panose="020B0604020202020204" pitchFamily="34" charset="0"/>
              </a:rPr>
              <a:t>review policies and procedural manuals to obtain an understanding of your internal operations; and</a:t>
            </a:r>
            <a:br>
              <a:rPr lang="en-US" sz="900" dirty="0">
                <a:solidFill>
                  <a:schemeClr val="tx1"/>
                </a:solidFill>
                <a:latin typeface="Arial" panose="020B0604020202020204" pitchFamily="34" charset="0"/>
                <a:cs typeface="Arial" panose="020B0604020202020204" pitchFamily="34" charset="0"/>
              </a:rPr>
            </a:br>
            <a:endParaRPr lang="en-US" sz="900"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900" dirty="0">
                <a:solidFill>
                  <a:schemeClr val="tx1"/>
                </a:solidFill>
                <a:latin typeface="Arial" panose="020B0604020202020204" pitchFamily="34" charset="0"/>
                <a:cs typeface="Arial" panose="020B0604020202020204" pitchFamily="34" charset="0"/>
              </a:rPr>
              <a:t>provide detailed and tailored requests for information prior to each visit.</a:t>
            </a: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p:txBody>
      </p:sp>
      <p:sp>
        <p:nvSpPr>
          <p:cNvPr id="3" name="Text Placeholder 9">
            <a:extLst>
              <a:ext uri="{FF2B5EF4-FFF2-40B4-BE49-F238E27FC236}">
                <a16:creationId xmlns:a16="http://schemas.microsoft.com/office/drawing/2014/main" id="{36583388-4775-4014-AF10-8489188769C1}"/>
              </a:ext>
            </a:extLst>
          </p:cNvPr>
          <p:cNvSpPr txBox="1">
            <a:spLocks/>
          </p:cNvSpPr>
          <p:nvPr/>
        </p:nvSpPr>
        <p:spPr>
          <a:xfrm>
            <a:off x="5760268" y="1505854"/>
            <a:ext cx="5351583" cy="4099493"/>
          </a:xfrm>
          <a:prstGeom prst="rect">
            <a:avLst/>
          </a:prstGeom>
        </p:spPr>
        <p:txBody>
          <a:bodyPr vert="horz" lIns="0" tIns="45720" rIns="0" bIns="45720" numCol="1" rtlCol="0" anchor="t" anchorCtr="0"/>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b="1" dirty="0">
                <a:solidFill>
                  <a:srgbClr val="2F465A"/>
                </a:solidFill>
                <a:latin typeface="Arial" panose="020B0604020202020204" pitchFamily="34" charset="0"/>
                <a:cs typeface="Arial" panose="020B0604020202020204" pitchFamily="34" charset="0"/>
              </a:rPr>
              <a:t>AUDIT APPROACH</a:t>
            </a:r>
          </a:p>
          <a:p>
            <a:pPr algn="l"/>
            <a:endParaRPr lang="en-US" sz="900" dirty="0">
              <a:solidFill>
                <a:schemeClr val="tx1"/>
              </a:solidFill>
              <a:latin typeface="Arial" panose="020B0604020202020204" pitchFamily="34" charset="0"/>
              <a:cs typeface="Arial" panose="020B0604020202020204" pitchFamily="34" charset="0"/>
            </a:endParaRPr>
          </a:p>
          <a:p>
            <a:pPr algn="l"/>
            <a:r>
              <a:rPr lang="en-US" sz="900" dirty="0" err="1">
                <a:solidFill>
                  <a:schemeClr val="tx1"/>
                </a:solidFill>
                <a:latin typeface="Arial" panose="020B0604020202020204" pitchFamily="34" charset="0"/>
                <a:cs typeface="Arial" panose="020B0604020202020204" pitchFamily="34" charset="0"/>
              </a:rPr>
              <a:t>In.Corp</a:t>
            </a:r>
            <a:r>
              <a:rPr lang="en-US" sz="900" dirty="0">
                <a:solidFill>
                  <a:schemeClr val="tx1"/>
                </a:solidFill>
                <a:latin typeface="Arial" panose="020B0604020202020204" pitchFamily="34" charset="0"/>
                <a:cs typeface="Arial" panose="020B0604020202020204" pitchFamily="34" charset="0"/>
              </a:rPr>
              <a:t> applies a risk-based audit approach which is performed in three key steps:</a:t>
            </a:r>
          </a:p>
          <a:p>
            <a:pPr algn="l"/>
            <a:endParaRPr lang="en-US" sz="900" dirty="0">
              <a:solidFill>
                <a:schemeClr val="tx1"/>
              </a:solidFill>
              <a:latin typeface="Arial" panose="020B0604020202020204" pitchFamily="34" charset="0"/>
              <a:cs typeface="Arial" panose="020B0604020202020204" pitchFamily="34" charset="0"/>
            </a:endParaRPr>
          </a:p>
          <a:p>
            <a:pPr marL="228600" indent="-228600" algn="l">
              <a:buFont typeface="+mj-lt"/>
              <a:buAutoNum type="arabicParenR"/>
            </a:pPr>
            <a:r>
              <a:rPr lang="en-US" sz="900" dirty="0">
                <a:solidFill>
                  <a:schemeClr val="tx1"/>
                </a:solidFill>
                <a:latin typeface="Arial" panose="020B0604020202020204" pitchFamily="34" charset="0"/>
                <a:cs typeface="Arial" panose="020B0604020202020204" pitchFamily="34" charset="0"/>
              </a:rPr>
              <a:t>Firstly, by gaining an understanding of our clients’ business both in a financial and operational sense, in order to identify the key risks faced. This process will assist in providing you with a high quality, efficient audit;</a:t>
            </a:r>
            <a:br>
              <a:rPr lang="en-US" sz="900" dirty="0">
                <a:solidFill>
                  <a:schemeClr val="tx1"/>
                </a:solidFill>
                <a:latin typeface="Arial" panose="020B0604020202020204" pitchFamily="34" charset="0"/>
                <a:cs typeface="Arial" panose="020B0604020202020204" pitchFamily="34" charset="0"/>
              </a:rPr>
            </a:br>
            <a:endParaRPr lang="en-US" sz="900" dirty="0">
              <a:solidFill>
                <a:schemeClr val="tx1"/>
              </a:solidFill>
              <a:latin typeface="Arial" panose="020B0604020202020204" pitchFamily="34" charset="0"/>
              <a:cs typeface="Arial" panose="020B0604020202020204" pitchFamily="34" charset="0"/>
            </a:endParaRPr>
          </a:p>
          <a:p>
            <a:pPr marL="228600" indent="-228600" algn="l">
              <a:buFont typeface="+mj-lt"/>
              <a:buAutoNum type="arabicParenR"/>
            </a:pPr>
            <a:r>
              <a:rPr lang="en-US" sz="900" dirty="0">
                <a:solidFill>
                  <a:schemeClr val="tx1"/>
                </a:solidFill>
                <a:latin typeface="Arial" panose="020B0604020202020204" pitchFamily="34" charset="0"/>
                <a:cs typeface="Arial" panose="020B0604020202020204" pitchFamily="34" charset="0"/>
              </a:rPr>
              <a:t>We will then perform the audit in accordance with our audit plan; and</a:t>
            </a:r>
            <a:br>
              <a:rPr lang="en-US" sz="900" dirty="0">
                <a:solidFill>
                  <a:schemeClr val="tx1"/>
                </a:solidFill>
                <a:latin typeface="Arial" panose="020B0604020202020204" pitchFamily="34" charset="0"/>
                <a:cs typeface="Arial" panose="020B0604020202020204" pitchFamily="34" charset="0"/>
              </a:rPr>
            </a:br>
            <a:endParaRPr lang="en-US" sz="900" dirty="0">
              <a:solidFill>
                <a:schemeClr val="tx1"/>
              </a:solidFill>
              <a:latin typeface="Arial" panose="020B0604020202020204" pitchFamily="34" charset="0"/>
              <a:cs typeface="Arial" panose="020B0604020202020204" pitchFamily="34" charset="0"/>
            </a:endParaRPr>
          </a:p>
          <a:p>
            <a:pPr marL="228600" indent="-228600" algn="l">
              <a:buFont typeface="+mj-lt"/>
              <a:buAutoNum type="arabicParenR"/>
            </a:pPr>
            <a:r>
              <a:rPr lang="en-US" sz="900" dirty="0">
                <a:solidFill>
                  <a:schemeClr val="tx1"/>
                </a:solidFill>
                <a:latin typeface="Arial" panose="020B0604020202020204" pitchFamily="34" charset="0"/>
                <a:cs typeface="Arial" panose="020B0604020202020204" pitchFamily="34" charset="0"/>
              </a:rPr>
              <a:t>Finally, we will present the audited financial report and our closing report detailing the matters we identified during our audit and the key internal control improvement points identified.</a:t>
            </a:r>
          </a:p>
          <a:p>
            <a:pPr marL="228600" indent="-228600" algn="l">
              <a:buFont typeface="+mj-lt"/>
              <a:buAutoNum type="arabicParenR"/>
            </a:pPr>
            <a:endParaRPr lang="en-US" sz="900" dirty="0">
              <a:solidFill>
                <a:schemeClr val="tx1"/>
              </a:solidFill>
              <a:latin typeface="Arial" panose="020B0604020202020204" pitchFamily="34" charset="0"/>
              <a:cs typeface="Arial" panose="020B0604020202020204" pitchFamily="34" charset="0"/>
            </a:endParaRPr>
          </a:p>
          <a:p>
            <a:pPr algn="l"/>
            <a:endParaRPr lang="en-US" sz="900" dirty="0">
              <a:solidFill>
                <a:schemeClr val="tx1"/>
              </a:solidFill>
              <a:latin typeface="Arial" panose="020B0604020202020204" pitchFamily="34" charset="0"/>
              <a:cs typeface="Arial" panose="020B0604020202020204" pitchFamily="34" charset="0"/>
            </a:endParaRPr>
          </a:p>
          <a:p>
            <a:pPr algn="l"/>
            <a:r>
              <a:rPr lang="en-US" b="1" dirty="0">
                <a:solidFill>
                  <a:srgbClr val="2F465A"/>
                </a:solidFill>
                <a:latin typeface="Arial" panose="020B0604020202020204" pitchFamily="34" charset="0"/>
                <a:cs typeface="Arial" panose="020B0604020202020204" pitchFamily="34" charset="0"/>
              </a:rPr>
              <a:t>AUDIT CAPABILITY &amp; INDUSTRY KNOWLEDGE</a:t>
            </a:r>
          </a:p>
          <a:p>
            <a:pPr algn="l"/>
            <a:endParaRPr lang="en-US" sz="600" dirty="0">
              <a:solidFill>
                <a:schemeClr val="tx1"/>
              </a:solidFill>
              <a:latin typeface="Arial" panose="020B0604020202020204" pitchFamily="34" charset="0"/>
              <a:cs typeface="Arial" panose="020B0604020202020204" pitchFamily="34" charset="0"/>
            </a:endParaRPr>
          </a:p>
          <a:p>
            <a:pPr algn="l"/>
            <a:r>
              <a:rPr lang="en-US" sz="900" dirty="0">
                <a:solidFill>
                  <a:schemeClr val="tx1"/>
                </a:solidFill>
                <a:latin typeface="Arial" panose="020B0604020202020204" pitchFamily="34" charset="0"/>
                <a:cs typeface="Arial" panose="020B0604020202020204" pitchFamily="34" charset="0"/>
              </a:rPr>
              <a:t>Our approach is relationship based and underpinned by partner-led delivery of our services. Our clients have regular direct contact with senior personnel, and they are available for our clients to contact at any point without worrying that the “the clock is ticking”. That is why we are one of the first Chartered Accounting firms to do away with timesheets.  </a:t>
            </a:r>
          </a:p>
          <a:p>
            <a:pPr algn="l"/>
            <a:endParaRPr lang="en-US" sz="900" dirty="0">
              <a:solidFill>
                <a:schemeClr val="tx1"/>
              </a:solidFill>
              <a:latin typeface="Arial" panose="020B0604020202020204" pitchFamily="34" charset="0"/>
              <a:cs typeface="Arial" panose="020B0604020202020204" pitchFamily="34" charset="0"/>
            </a:endParaRPr>
          </a:p>
          <a:p>
            <a:pPr algn="l"/>
            <a:r>
              <a:rPr lang="en-US" sz="900" dirty="0">
                <a:solidFill>
                  <a:schemeClr val="tx1"/>
                </a:solidFill>
                <a:latin typeface="Arial" panose="020B0604020202020204" pitchFamily="34" charset="0"/>
                <a:cs typeface="Arial" panose="020B0604020202020204" pitchFamily="34" charset="0"/>
              </a:rPr>
              <a:t>At </a:t>
            </a:r>
            <a:r>
              <a:rPr lang="en-US" sz="900" dirty="0" err="1">
                <a:solidFill>
                  <a:schemeClr val="tx1"/>
                </a:solidFill>
                <a:latin typeface="Arial" panose="020B0604020202020204" pitchFamily="34" charset="0"/>
                <a:cs typeface="Arial" panose="020B0604020202020204" pitchFamily="34" charset="0"/>
              </a:rPr>
              <a:t>In.Corp</a:t>
            </a:r>
            <a:r>
              <a:rPr lang="en-US" sz="900" dirty="0">
                <a:solidFill>
                  <a:schemeClr val="tx1"/>
                </a:solidFill>
                <a:latin typeface="Arial" panose="020B0604020202020204" pitchFamily="34" charset="0"/>
                <a:cs typeface="Arial" panose="020B0604020202020204" pitchFamily="34" charset="0"/>
              </a:rPr>
              <a:t>, we pride ourselves on building strong relationships with clients and this means ensuring our clients have direct access to their Partners if you have any issues to discuss.</a:t>
            </a:r>
          </a:p>
          <a:p>
            <a:pPr algn="l"/>
            <a:endParaRPr lang="en-US" sz="900" dirty="0">
              <a:solidFill>
                <a:schemeClr val="tx1"/>
              </a:solidFill>
              <a:latin typeface="Arial" panose="020B0604020202020204" pitchFamily="34" charset="0"/>
              <a:cs typeface="Arial" panose="020B0604020202020204" pitchFamily="34" charset="0"/>
            </a:endParaRPr>
          </a:p>
          <a:p>
            <a:pPr algn="l"/>
            <a:r>
              <a:rPr lang="en-US" sz="900" dirty="0">
                <a:solidFill>
                  <a:schemeClr val="tx1"/>
                </a:solidFill>
                <a:latin typeface="Arial" panose="020B0604020202020204" pitchFamily="34" charset="0"/>
                <a:cs typeface="Arial" panose="020B0604020202020204" pitchFamily="34" charset="0"/>
              </a:rPr>
              <a:t>At </a:t>
            </a:r>
            <a:r>
              <a:rPr lang="en-US" sz="900" dirty="0" err="1">
                <a:solidFill>
                  <a:schemeClr val="tx1"/>
                </a:solidFill>
                <a:latin typeface="Arial" panose="020B0604020202020204" pitchFamily="34" charset="0"/>
                <a:cs typeface="Arial" panose="020B0604020202020204" pitchFamily="34" charset="0"/>
              </a:rPr>
              <a:t>In.Corp</a:t>
            </a:r>
            <a:r>
              <a:rPr lang="en-US" sz="900" dirty="0">
                <a:solidFill>
                  <a:schemeClr val="tx1"/>
                </a:solidFill>
                <a:latin typeface="Arial" panose="020B0604020202020204" pitchFamily="34" charset="0"/>
                <a:cs typeface="Arial" panose="020B0604020202020204" pitchFamily="34" charset="0"/>
              </a:rPr>
              <a:t> we consider staff continuance for each client as a key priority of our service delivery.  Our audit teams typically consist of an audit partner, a senior member and an assistant auditor.  An audit partner is onsite to supervise the team for the majority of our engagements.  Where possible the team will remain consistent from year to year.</a:t>
            </a:r>
          </a:p>
        </p:txBody>
      </p:sp>
      <p:sp>
        <p:nvSpPr>
          <p:cNvPr id="5" name="Rectangle 4">
            <a:extLst>
              <a:ext uri="{FF2B5EF4-FFF2-40B4-BE49-F238E27FC236}">
                <a16:creationId xmlns:a16="http://schemas.microsoft.com/office/drawing/2014/main" id="{9818AC63-27E0-4479-E7E1-B096D898017E}"/>
              </a:ext>
            </a:extLst>
          </p:cNvPr>
          <p:cNvSpPr/>
          <p:nvPr/>
        </p:nvSpPr>
        <p:spPr>
          <a:xfrm rot="16200000" flipV="1">
            <a:off x="-2847475" y="3158896"/>
            <a:ext cx="5752282" cy="75438"/>
          </a:xfrm>
          <a:prstGeom prst="rec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350" dirty="0"/>
              <a:t>-</a:t>
            </a:r>
          </a:p>
        </p:txBody>
      </p:sp>
      <p:sp>
        <p:nvSpPr>
          <p:cNvPr id="6" name="Rectangle 5">
            <a:extLst>
              <a:ext uri="{FF2B5EF4-FFF2-40B4-BE49-F238E27FC236}">
                <a16:creationId xmlns:a16="http://schemas.microsoft.com/office/drawing/2014/main" id="{FAB7FA1C-A165-764D-0803-7BEA7D976ACB}"/>
              </a:ext>
            </a:extLst>
          </p:cNvPr>
          <p:cNvSpPr/>
          <p:nvPr/>
        </p:nvSpPr>
        <p:spPr>
          <a:xfrm rot="16200000" flipV="1">
            <a:off x="9298408" y="3236774"/>
            <a:ext cx="5752282" cy="75438"/>
          </a:xfrm>
          <a:prstGeom prst="rec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350" dirty="0"/>
          </a:p>
        </p:txBody>
      </p:sp>
      <p:pic>
        <p:nvPicPr>
          <p:cNvPr id="9" name="Picture 8" descr="A white and red globe with a black background&#10;&#10;AI-generated content may be incorrect.">
            <a:extLst>
              <a:ext uri="{FF2B5EF4-FFF2-40B4-BE49-F238E27FC236}">
                <a16:creationId xmlns:a16="http://schemas.microsoft.com/office/drawing/2014/main" id="{70BFA3B1-3617-0A9F-8304-98627DE7FF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386" y="6219147"/>
            <a:ext cx="1052953" cy="453783"/>
          </a:xfrm>
          <a:prstGeom prst="rect">
            <a:avLst/>
          </a:prstGeom>
        </p:spPr>
      </p:pic>
    </p:spTree>
    <p:extLst>
      <p:ext uri="{BB962C8B-B14F-4D97-AF65-F5344CB8AC3E}">
        <p14:creationId xmlns:p14="http://schemas.microsoft.com/office/powerpoint/2010/main" val="40142461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4E5BC1-1561-42F3-A4D1-C6F220077021}"/>
              </a:ext>
            </a:extLst>
          </p:cNvPr>
          <p:cNvSpPr>
            <a:spLocks noGrp="1"/>
          </p:cNvSpPr>
          <p:nvPr>
            <p:ph type="sldNum" sz="quarter" idx="12"/>
          </p:nvPr>
        </p:nvSpPr>
        <p:spPr/>
        <p:txBody>
          <a:bodyPr/>
          <a:lstStyle/>
          <a:p>
            <a:pPr/>
            <a:r>
              <a:rPr lang="en-US" dirty="0">
                <a:solidFill/>
              </a:rPr>
              <a:t>9</a:t>
            </a:r>
            <a:endParaRPr lang="en-AU" dirty="0"/>
          </a:p>
        </p:txBody>
      </p:sp>
      <p:sp>
        <p:nvSpPr>
          <p:cNvPr id="8" name="Title 7">
            <a:extLst>
              <a:ext uri="{FF2B5EF4-FFF2-40B4-BE49-F238E27FC236}">
                <a16:creationId xmlns:a16="http://schemas.microsoft.com/office/drawing/2014/main" id="{C342DEC7-1171-49C7-87D8-52315D5DF2C4}"/>
              </a:ext>
            </a:extLst>
          </p:cNvPr>
          <p:cNvSpPr txBox="1">
            <a:spLocks/>
          </p:cNvSpPr>
          <p:nvPr/>
        </p:nvSpPr>
        <p:spPr>
          <a:xfrm>
            <a:off x="535935" y="710918"/>
            <a:ext cx="8316912" cy="432000"/>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spc="-150" dirty="0">
                <a:solidFill>
                  <a:srgbClr val="BB2121"/>
                </a:solidFill>
                <a:latin typeface="Arial" panose="020B0604020202020204" pitchFamily="34" charset="0"/>
                <a:cs typeface="Arial" panose="020B0604020202020204" pitchFamily="34" charset="0"/>
              </a:rPr>
              <a:t>OUR AUDIT APPROACH (continued)</a:t>
            </a:r>
            <a:endParaRPr lang="en-AU" sz="2800" b="1" spc="-150" dirty="0">
              <a:solidFill>
                <a:srgbClr val="BB2121"/>
              </a:solidFill>
              <a:latin typeface="Arial" panose="020B0604020202020204" pitchFamily="34" charset="0"/>
              <a:cs typeface="Arial" panose="020B0604020202020204" pitchFamily="34" charset="0"/>
            </a:endParaRPr>
          </a:p>
        </p:txBody>
      </p:sp>
      <p:sp>
        <p:nvSpPr>
          <p:cNvPr id="2" name="Text Placeholder 9">
            <a:extLst>
              <a:ext uri="{FF2B5EF4-FFF2-40B4-BE49-F238E27FC236}">
                <a16:creationId xmlns:a16="http://schemas.microsoft.com/office/drawing/2014/main" id="{95C00468-2933-C3EC-04FA-53D602279D0D}"/>
              </a:ext>
            </a:extLst>
          </p:cNvPr>
          <p:cNvSpPr txBox="1">
            <a:spLocks/>
          </p:cNvSpPr>
          <p:nvPr/>
        </p:nvSpPr>
        <p:spPr>
          <a:xfrm>
            <a:off x="535935" y="1078021"/>
            <a:ext cx="5259292" cy="5492351"/>
          </a:xfrm>
          <a:prstGeom prst="rect">
            <a:avLst/>
          </a:prstGeom>
        </p:spPr>
        <p:txBody>
          <a:bodyPr vert="horz" lIns="0" tIns="45720" rIns="0" bIns="45720" numCol="1" rtlCol="0" anchor="t" anchorCtr="0"/>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endParaRPr lang="en-US" b="1" dirty="0">
              <a:solidFill>
                <a:srgbClr val="B07A59"/>
              </a:solidFill>
              <a:latin typeface="Arial" panose="020B0604020202020204" pitchFamily="34" charset="0"/>
              <a:cs typeface="Arial" panose="020B0604020202020204" pitchFamily="34" charset="0"/>
            </a:endParaRPr>
          </a:p>
          <a:p>
            <a:pPr algn="l"/>
            <a:r>
              <a:rPr lang="en-US" b="1" dirty="0">
                <a:solidFill>
                  <a:srgbClr val="2F465A"/>
                </a:solidFill>
                <a:latin typeface="Arial" panose="020B0604020202020204" pitchFamily="34" charset="0"/>
                <a:cs typeface="Arial" panose="020B0604020202020204" pitchFamily="34" charset="0"/>
              </a:rPr>
              <a:t>‘NO SURPRISES’ APPROACH</a:t>
            </a:r>
          </a:p>
          <a:p>
            <a:pPr algn="l"/>
            <a:endParaRPr lang="en-US" sz="600" dirty="0">
              <a:solidFill>
                <a:schemeClr val="tx1"/>
              </a:solidFill>
              <a:latin typeface="Arial" panose="020B0604020202020204" pitchFamily="34" charset="0"/>
              <a:cs typeface="Arial" panose="020B0604020202020204" pitchFamily="34" charset="0"/>
            </a:endParaRPr>
          </a:p>
          <a:p>
            <a:pPr algn="l"/>
            <a:r>
              <a:rPr lang="en-US" sz="900" dirty="0">
                <a:solidFill>
                  <a:schemeClr val="tx1"/>
                </a:solidFill>
                <a:latin typeface="Arial" panose="020B0604020202020204" pitchFamily="34" charset="0"/>
                <a:cs typeface="Arial" panose="020B0604020202020204" pitchFamily="34" charset="0"/>
              </a:rPr>
              <a:t>Our procedures will include the following steps to ensure the smooth running of the audit:</a:t>
            </a:r>
            <a:br>
              <a:rPr lang="en-US" sz="900" dirty="0">
                <a:solidFill>
                  <a:schemeClr val="tx1"/>
                </a:solidFill>
                <a:latin typeface="Arial" panose="020B0604020202020204" pitchFamily="34" charset="0"/>
                <a:cs typeface="Arial" panose="020B0604020202020204" pitchFamily="34" charset="0"/>
              </a:rPr>
            </a:br>
            <a:endParaRPr lang="en-US" sz="900"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900" dirty="0">
                <a:solidFill>
                  <a:schemeClr val="tx1"/>
                </a:solidFill>
                <a:latin typeface="Arial" panose="020B0604020202020204" pitchFamily="34" charset="0"/>
                <a:cs typeface="Arial" panose="020B0604020202020204" pitchFamily="34" charset="0"/>
              </a:rPr>
              <a:t>obtain an understanding of our clients to enable us to identify risk areas on which to focus and to identify recommendations for process improvement;</a:t>
            </a:r>
            <a:br>
              <a:rPr lang="en-US" sz="900" dirty="0">
                <a:solidFill>
                  <a:schemeClr val="tx1"/>
                </a:solidFill>
                <a:latin typeface="Arial" panose="020B0604020202020204" pitchFamily="34" charset="0"/>
                <a:cs typeface="Arial" panose="020B0604020202020204" pitchFamily="34" charset="0"/>
              </a:rPr>
            </a:br>
            <a:endParaRPr lang="en-US" sz="900"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900" dirty="0">
                <a:solidFill>
                  <a:schemeClr val="tx1"/>
                </a:solidFill>
                <a:latin typeface="Arial" panose="020B0604020202020204" pitchFamily="34" charset="0"/>
                <a:cs typeface="Arial" panose="020B0604020202020204" pitchFamily="34" charset="0"/>
              </a:rPr>
              <a:t>provide a tailored list of requirements, so that our clients know exactly what information we require well in advance of our visits; and</a:t>
            </a:r>
          </a:p>
          <a:p>
            <a:pPr algn="l"/>
            <a:endParaRPr lang="en-US" sz="900"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900" dirty="0">
                <a:solidFill>
                  <a:schemeClr val="tx1"/>
                </a:solidFill>
                <a:latin typeface="Arial" panose="020B0604020202020204" pitchFamily="34" charset="0"/>
                <a:cs typeface="Arial" panose="020B0604020202020204" pitchFamily="34" charset="0"/>
              </a:rPr>
              <a:t>a review of all new accounting standard disclosures and legislative changes to ensure our clients are aware of any changes to their financial statements well before the audit.</a:t>
            </a:r>
          </a:p>
          <a:p>
            <a:pPr algn="l"/>
            <a:endParaRPr lang="en-US" sz="900" dirty="0">
              <a:solidFill>
                <a:schemeClr val="tx1"/>
              </a:solidFill>
              <a:latin typeface="Arial" panose="020B0604020202020204" pitchFamily="34" charset="0"/>
              <a:cs typeface="Arial" panose="020B0604020202020204" pitchFamily="34" charset="0"/>
            </a:endParaRPr>
          </a:p>
          <a:p>
            <a:pPr algn="l"/>
            <a:r>
              <a:rPr lang="en-US" sz="900" dirty="0">
                <a:solidFill>
                  <a:schemeClr val="tx1"/>
                </a:solidFill>
                <a:latin typeface="Arial" panose="020B0604020202020204" pitchFamily="34" charset="0"/>
                <a:cs typeface="Arial" panose="020B0604020202020204" pitchFamily="34" charset="0"/>
              </a:rPr>
              <a:t>Our dedicated </a:t>
            </a:r>
            <a:r>
              <a:rPr lang="en-US" sz="900" dirty="0" err="1">
                <a:solidFill>
                  <a:schemeClr val="tx1"/>
                </a:solidFill>
                <a:latin typeface="Arial" panose="020B0604020202020204" pitchFamily="34" charset="0"/>
                <a:cs typeface="Arial" panose="020B0604020202020204" pitchFamily="34" charset="0"/>
              </a:rPr>
              <a:t>In.Corp</a:t>
            </a:r>
            <a:r>
              <a:rPr lang="en-US" sz="900" dirty="0">
                <a:solidFill>
                  <a:schemeClr val="tx1"/>
                </a:solidFill>
                <a:latin typeface="Arial" panose="020B0604020202020204" pitchFamily="34" charset="0"/>
                <a:cs typeface="Arial" panose="020B0604020202020204" pitchFamily="34" charset="0"/>
              </a:rPr>
              <a:t> team perform customised audit procedures in accordance with agreed timetables.  We focus on managing critical aspects of the engagement and communicate directly, clearly and precisely with management and those charged with governance.</a:t>
            </a:r>
          </a:p>
          <a:p>
            <a:pPr algn="l"/>
            <a:endParaRPr lang="en-US" sz="900" dirty="0">
              <a:solidFill>
                <a:schemeClr val="tx1"/>
              </a:solidFill>
              <a:latin typeface="Arial" panose="020B0604020202020204" pitchFamily="34" charset="0"/>
              <a:cs typeface="Arial" panose="020B0604020202020204" pitchFamily="34" charset="0"/>
            </a:endParaRPr>
          </a:p>
          <a:p>
            <a:pPr algn="l"/>
            <a:r>
              <a:rPr lang="en-US" sz="900" dirty="0">
                <a:solidFill>
                  <a:schemeClr val="tx1"/>
                </a:solidFill>
                <a:latin typeface="Arial" panose="020B0604020202020204" pitchFamily="34" charset="0"/>
                <a:cs typeface="Arial" panose="020B0604020202020204" pitchFamily="34" charset="0"/>
              </a:rPr>
              <a:t>As part of our audit we organise an initial on-site visit with management where we will:</a:t>
            </a:r>
          </a:p>
          <a:p>
            <a:pPr algn="l"/>
            <a:endParaRPr lang="en-US" sz="900"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900" dirty="0">
                <a:solidFill>
                  <a:schemeClr val="tx1"/>
                </a:solidFill>
                <a:latin typeface="Arial" panose="020B0604020202020204" pitchFamily="34" charset="0"/>
                <a:cs typeface="Arial" panose="020B0604020202020204" pitchFamily="34" charset="0"/>
              </a:rPr>
              <a:t>meet with the senior team and other key management personnel to further understand their thoughts and plans at a detailed operating level, so we can refine our planned execution and reporting process;</a:t>
            </a:r>
            <a:br>
              <a:rPr lang="en-US" sz="900" dirty="0">
                <a:solidFill>
                  <a:schemeClr val="tx1"/>
                </a:solidFill>
                <a:latin typeface="Arial" panose="020B0604020202020204" pitchFamily="34" charset="0"/>
                <a:cs typeface="Arial" panose="020B0604020202020204" pitchFamily="34" charset="0"/>
              </a:rPr>
            </a:br>
            <a:endParaRPr lang="en-US" sz="900"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900" dirty="0">
                <a:solidFill>
                  <a:schemeClr val="tx1"/>
                </a:solidFill>
                <a:latin typeface="Arial" panose="020B0604020202020204" pitchFamily="34" charset="0"/>
                <a:cs typeface="Arial" panose="020B0604020202020204" pitchFamily="34" charset="0"/>
              </a:rPr>
              <a:t>conduct a detailed review of current systems and controls; and</a:t>
            </a:r>
            <a:br>
              <a:rPr lang="en-US" sz="900" dirty="0">
                <a:solidFill>
                  <a:schemeClr val="tx1"/>
                </a:solidFill>
                <a:latin typeface="Arial" panose="020B0604020202020204" pitchFamily="34" charset="0"/>
                <a:cs typeface="Arial" panose="020B0604020202020204" pitchFamily="34" charset="0"/>
              </a:rPr>
            </a:br>
            <a:endParaRPr lang="en-US" sz="900"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900" dirty="0">
                <a:solidFill>
                  <a:schemeClr val="tx1"/>
                </a:solidFill>
                <a:latin typeface="Arial" panose="020B0604020202020204" pitchFamily="34" charset="0"/>
                <a:cs typeface="Arial" panose="020B0604020202020204" pitchFamily="34" charset="0"/>
              </a:rPr>
              <a:t>report back on any issues arising from our planning procedures to ensure we have a solid basis for the year-end audit.</a:t>
            </a:r>
          </a:p>
          <a:p>
            <a:pPr marL="171450" indent="-171450" algn="l">
              <a:buFont typeface="Arial" panose="020B0604020202020204" pitchFamily="34" charset="0"/>
              <a:buChar char="•"/>
            </a:pPr>
            <a:endParaRPr lang="en-US" sz="900"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endParaRPr lang="en-US" sz="900" dirty="0">
              <a:solidFill>
                <a:schemeClr val="tx1"/>
              </a:solidFill>
              <a:latin typeface="Arial" panose="020B0604020202020204" pitchFamily="34" charset="0"/>
              <a:cs typeface="Arial" panose="020B0604020202020204" pitchFamily="34" charset="0"/>
            </a:endParaRPr>
          </a:p>
        </p:txBody>
      </p:sp>
      <p:sp>
        <p:nvSpPr>
          <p:cNvPr id="3" name="Text Placeholder 9">
            <a:extLst>
              <a:ext uri="{FF2B5EF4-FFF2-40B4-BE49-F238E27FC236}">
                <a16:creationId xmlns:a16="http://schemas.microsoft.com/office/drawing/2014/main" id="{34B5DE33-99D6-D9C5-28F2-5F32DC8C2EFD}"/>
              </a:ext>
            </a:extLst>
          </p:cNvPr>
          <p:cNvSpPr txBox="1">
            <a:spLocks/>
          </p:cNvSpPr>
          <p:nvPr/>
        </p:nvSpPr>
        <p:spPr>
          <a:xfrm>
            <a:off x="6121251" y="1229124"/>
            <a:ext cx="5463192" cy="5492351"/>
          </a:xfrm>
          <a:prstGeom prst="rect">
            <a:avLst/>
          </a:prstGeom>
        </p:spPr>
        <p:txBody>
          <a:bodyPr vert="horz" lIns="0" tIns="45720" rIns="0" bIns="45720" numCol="1" rtlCol="0" anchor="t" anchorCtr="0"/>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endParaRPr lang="en-AU" sz="400" b="1" dirty="0">
              <a:solidFill>
                <a:srgbClr val="B07A59"/>
              </a:solidFill>
              <a:latin typeface="Arial" panose="020B0604020202020204" pitchFamily="34" charset="0"/>
              <a:cs typeface="Arial" panose="020B0604020202020204" pitchFamily="34" charset="0"/>
            </a:endParaRPr>
          </a:p>
          <a:p>
            <a:pPr algn="l"/>
            <a:r>
              <a:rPr lang="en-AU" b="1" dirty="0">
                <a:solidFill>
                  <a:srgbClr val="2F465A"/>
                </a:solidFill>
                <a:latin typeface="Arial" panose="020B0604020202020204" pitchFamily="34" charset="0"/>
                <a:cs typeface="Arial" panose="020B0604020202020204" pitchFamily="34" charset="0"/>
              </a:rPr>
              <a:t>DEALING WITH COMPLEX AUDIT, ACCOUNTING &amp; REPORTING ISSUES</a:t>
            </a:r>
          </a:p>
          <a:p>
            <a:pPr marL="171450" indent="-171450" algn="l">
              <a:buFont typeface="Arial" panose="020B0604020202020204" pitchFamily="34" charset="0"/>
              <a:buChar char="•"/>
            </a:pPr>
            <a:endParaRPr lang="en-US" sz="900" dirty="0">
              <a:solidFill>
                <a:schemeClr val="tx1"/>
              </a:solidFill>
              <a:latin typeface="Arial" panose="020B0604020202020204" pitchFamily="34" charset="0"/>
              <a:cs typeface="Arial" panose="020B0604020202020204" pitchFamily="34" charset="0"/>
            </a:endParaRPr>
          </a:p>
          <a:p>
            <a:pPr algn="l"/>
            <a:r>
              <a:rPr lang="en-US" sz="900" dirty="0">
                <a:solidFill>
                  <a:schemeClr val="tx1"/>
                </a:solidFill>
                <a:latin typeface="Arial" panose="020B0604020202020204" pitchFamily="34" charset="0"/>
                <a:cs typeface="Arial" panose="020B0604020202020204" pitchFamily="34" charset="0"/>
              </a:rPr>
              <a:t>We handle audit issues proactively and, wherever possible, issues will be addressed before the matter emanating from the audit issue is entered into the financial statements. </a:t>
            </a:r>
          </a:p>
          <a:p>
            <a:pPr algn="l"/>
            <a:endParaRPr lang="en-US" sz="500" dirty="0">
              <a:solidFill>
                <a:schemeClr val="tx1"/>
              </a:solidFill>
              <a:latin typeface="Arial" panose="020B0604020202020204" pitchFamily="34" charset="0"/>
              <a:cs typeface="Arial" panose="020B0604020202020204" pitchFamily="34" charset="0"/>
            </a:endParaRPr>
          </a:p>
          <a:p>
            <a:pPr algn="l"/>
            <a:r>
              <a:rPr lang="en-US" sz="900" dirty="0">
                <a:solidFill>
                  <a:schemeClr val="tx1"/>
                </a:solidFill>
                <a:latin typeface="Arial" panose="020B0604020202020204" pitchFamily="34" charset="0"/>
                <a:cs typeface="Arial" panose="020B0604020202020204" pitchFamily="34" charset="0"/>
              </a:rPr>
              <a:t>Where complex matters arise, we will always have a high-level discussion with our clients to identify the issues and create a context for its resolution. Subsequently, we will research the issue, referring to the applicable accounting standards and general industry practice, before holding any further discussion to resolve the issue. </a:t>
            </a:r>
          </a:p>
          <a:p>
            <a:pPr algn="l"/>
            <a:endParaRPr lang="en-US" sz="400" dirty="0">
              <a:solidFill>
                <a:schemeClr val="tx1"/>
              </a:solidFill>
              <a:latin typeface="Arial" panose="020B0604020202020204" pitchFamily="34" charset="0"/>
              <a:cs typeface="Arial" panose="020B0604020202020204" pitchFamily="34" charset="0"/>
            </a:endParaRPr>
          </a:p>
          <a:p>
            <a:pPr algn="l"/>
            <a:r>
              <a:rPr lang="en-US" sz="900" dirty="0">
                <a:solidFill>
                  <a:schemeClr val="tx1"/>
                </a:solidFill>
                <a:latin typeface="Arial" panose="020B0604020202020204" pitchFamily="34" charset="0"/>
                <a:cs typeface="Arial" panose="020B0604020202020204" pitchFamily="34" charset="0"/>
              </a:rPr>
              <a:t>We are committed to working openly with management to ensure the financial statements meet statutory requirements, while applying commercial judgement.</a:t>
            </a:r>
          </a:p>
          <a:p>
            <a:pPr algn="l"/>
            <a:endParaRPr lang="en-US" sz="900" dirty="0">
              <a:solidFill>
                <a:schemeClr val="tx1"/>
              </a:solidFill>
              <a:latin typeface="Arial" panose="020B0604020202020204" pitchFamily="34" charset="0"/>
              <a:cs typeface="Arial" panose="020B0604020202020204" pitchFamily="34" charset="0"/>
            </a:endParaRPr>
          </a:p>
          <a:p>
            <a:pPr algn="l"/>
            <a:r>
              <a:rPr lang="en-US" sz="900" dirty="0">
                <a:solidFill>
                  <a:schemeClr val="tx1"/>
                </a:solidFill>
                <a:latin typeface="Arial" panose="020B0604020202020204" pitchFamily="34" charset="0"/>
                <a:cs typeface="Arial" panose="020B0604020202020204" pitchFamily="34" charset="0"/>
              </a:rPr>
              <a:t>We also have access to the following external technical resources to assist with any complex financial reporting and auditing issues:</a:t>
            </a:r>
          </a:p>
          <a:p>
            <a:pPr algn="l"/>
            <a:endParaRPr lang="en-US" sz="900"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900" dirty="0">
                <a:solidFill>
                  <a:schemeClr val="tx1"/>
                </a:solidFill>
                <a:latin typeface="Arial" panose="020B0604020202020204" pitchFamily="34" charset="0"/>
                <a:cs typeface="Arial" panose="020B0604020202020204" pitchFamily="34" charset="0"/>
              </a:rPr>
              <a:t>David Holland is the founder and director of Sapphire Financial Services and is a member of the Australian Accounting Standards. David provides education, advice and training to partners, staff and clients in relation to all financial reporting and IFRS matters. David regularly prepares and delivers IFRS seminars for the Chartered Accountants ANZ.</a:t>
            </a:r>
          </a:p>
          <a:p>
            <a:pPr marL="171450" indent="-171450" algn="l">
              <a:buFont typeface="Arial" panose="020B0604020202020204" pitchFamily="34" charset="0"/>
              <a:buChar char="•"/>
            </a:pPr>
            <a:endParaRPr lang="en-US" sz="900"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sz="900" dirty="0">
                <a:solidFill>
                  <a:schemeClr val="tx1"/>
                </a:solidFill>
                <a:latin typeface="Arial" panose="020B0604020202020204" pitchFamily="34" charset="0"/>
                <a:cs typeface="Arial" panose="020B0604020202020204" pitchFamily="34" charset="0"/>
              </a:rPr>
              <a:t>David Stevens is the founder and director of A2A Knowledge Pty Ltd and an audit quality professional with over 18 years’ experience in the industry. He is passionate about audit quality and the increasing role technology has to play on the audit process.</a:t>
            </a:r>
          </a:p>
          <a:p>
            <a:pPr algn="l"/>
            <a:endParaRPr lang="en-US" sz="900" dirty="0">
              <a:solidFill>
                <a:schemeClr val="tx1"/>
              </a:solidFill>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41673487-6F2F-2AA8-2B5F-93CCA27FB9B9}"/>
              </a:ext>
            </a:extLst>
          </p:cNvPr>
          <p:cNvSpPr/>
          <p:nvPr/>
        </p:nvSpPr>
        <p:spPr>
          <a:xfrm rot="16200000" flipV="1">
            <a:off x="-2847475" y="3158896"/>
            <a:ext cx="5752282" cy="75438"/>
          </a:xfrm>
          <a:prstGeom prst="rec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350" dirty="0"/>
              <a:t>-</a:t>
            </a:r>
          </a:p>
        </p:txBody>
      </p:sp>
      <p:sp>
        <p:nvSpPr>
          <p:cNvPr id="7" name="Rectangle 6">
            <a:extLst>
              <a:ext uri="{FF2B5EF4-FFF2-40B4-BE49-F238E27FC236}">
                <a16:creationId xmlns:a16="http://schemas.microsoft.com/office/drawing/2014/main" id="{05486314-1023-9D73-913F-D90B4EC00F77}"/>
              </a:ext>
            </a:extLst>
          </p:cNvPr>
          <p:cNvSpPr/>
          <p:nvPr/>
        </p:nvSpPr>
        <p:spPr>
          <a:xfrm rot="16200000" flipV="1">
            <a:off x="9298408" y="3236774"/>
            <a:ext cx="5752282" cy="75438"/>
          </a:xfrm>
          <a:prstGeom prst="rec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350" dirty="0"/>
          </a:p>
        </p:txBody>
      </p:sp>
      <p:pic>
        <p:nvPicPr>
          <p:cNvPr id="6" name="Picture 5" descr="A white and red globe with a black background&#10;&#10;AI-generated content may be incorrect.">
            <a:extLst>
              <a:ext uri="{FF2B5EF4-FFF2-40B4-BE49-F238E27FC236}">
                <a16:creationId xmlns:a16="http://schemas.microsoft.com/office/drawing/2014/main" id="{B15C4404-BC7D-3828-4F85-14102DFEF9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386" y="6219147"/>
            <a:ext cx="1052953" cy="453783"/>
          </a:xfrm>
          <a:prstGeom prst="rect">
            <a:avLst/>
          </a:prstGeom>
        </p:spPr>
      </p:pic>
    </p:spTree>
    <p:extLst>
      <p:ext uri="{BB962C8B-B14F-4D97-AF65-F5344CB8AC3E}">
        <p14:creationId xmlns:p14="http://schemas.microsoft.com/office/powerpoint/2010/main" val="19248667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4E5BC1-1561-42F3-A4D1-C6F220077021}"/>
              </a:ext>
            </a:extLst>
          </p:cNvPr>
          <p:cNvSpPr>
            <a:spLocks noGrp="1"/>
          </p:cNvSpPr>
          <p:nvPr>
            <p:ph type="sldNum" sz="quarter" idx="12"/>
          </p:nvPr>
        </p:nvSpPr>
        <p:spPr/>
        <p:txBody>
          <a:bodyPr/>
          <a:lstStyle/>
          <a:p>
            <a:pPr/>
            <a:r>
              <a:rPr lang="en-AU" dirty="0">
                <a:solidFill/>
              </a:rPr>
              <a:t>10</a:t>
            </a:r>
          </a:p>
        </p:txBody>
      </p:sp>
      <p:sp>
        <p:nvSpPr>
          <p:cNvPr id="8" name="timeline_title">
            <a:extLst>
              <a:ext uri="{FF2B5EF4-FFF2-40B4-BE49-F238E27FC236}">
                <a16:creationId xmlns:a16="http://schemas.microsoft.com/office/drawing/2014/main" id="{C342DEC7-1171-49C7-87D8-52315D5DF2C4}"/>
              </a:ext>
            </a:extLst>
          </p:cNvPr>
          <p:cNvSpPr txBox="1">
            <a:spLocks/>
          </p:cNvSpPr>
          <p:nvPr/>
        </p:nvSpPr>
        <p:spPr>
          <a:xfrm>
            <a:off x="577523" y="1219335"/>
            <a:ext cx="8316912" cy="432000"/>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spc="-150" dirty="0">
                <a:solidFill>
                  <a:srgbClr val="BB2121"/>
                </a:solidFill>
                <a:latin typeface="Arial" panose="020B0604020202020204" pitchFamily="34" charset="0"/>
                <a:cs typeface="Arial" panose="020B0604020202020204" pitchFamily="34" charset="0"/>
              </a:rPr>
              <a:t>TIMELINE</a:t>
            </a:r>
            <a:endParaRPr lang="en-AU" sz="2800" b="1" spc="-150" dirty="0">
              <a:solidFill>
                <a:srgbClr val="BB2121"/>
              </a:solidFill>
              <a:latin typeface="Arial" panose="020B0604020202020204" pitchFamily="34" charset="0"/>
              <a:cs typeface="Arial" panose="020B0604020202020204" pitchFamily="34" charset="0"/>
            </a:endParaRPr>
          </a:p>
        </p:txBody>
      </p:sp>
      <p:sp>
        <p:nvSpPr>
          <p:cNvPr id="7" name="timeline_description">
            <a:extLst>
              <a:ext uri="{FF2B5EF4-FFF2-40B4-BE49-F238E27FC236}">
                <a16:creationId xmlns:a16="http://schemas.microsoft.com/office/drawing/2014/main" id="{D10DAD45-2192-C2E2-0F23-75633A7530A3}"/>
              </a:ext>
            </a:extLst>
          </p:cNvPr>
          <p:cNvSpPr txBox="1">
            <a:spLocks/>
          </p:cNvSpPr>
          <p:nvPr/>
        </p:nvSpPr>
        <p:spPr>
          <a:xfrm>
            <a:off x="627073" y="1606621"/>
            <a:ext cx="9662262" cy="249300"/>
          </a:xfrm>
          <a:prstGeom prst="rect">
            <a:avLst/>
          </a:prstGeom>
        </p:spPr>
        <p:txBody>
          <a:bodyPr lIns="0" r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50" i="1" dirty="0">
                <a:solidFill>
                  <a:schemeClr val="bg1">
                    <a:lumMod val="50000"/>
                  </a:schemeClr>
                </a:solidFill>
                <a:latin typeface="Arial" panose="020B0604020202020204" pitchFamily="34" charset="0"/>
                <a:cs typeface="Arial" panose="020B0604020202020204" pitchFamily="34" charset="0"/>
              </a:rPr>
              <a:t>With our proven track record, we will manage the audit process with the least possible disruption to your business, ensuring key deadlines are met.</a:t>
            </a:r>
          </a:p>
        </p:txBody>
      </p:sp>
      <p:sp>
        <p:nvSpPr>
          <p:cNvPr id="9" name="Text Placeholder 9">
            <a:extLst>
              <a:ext uri="{FF2B5EF4-FFF2-40B4-BE49-F238E27FC236}">
                <a16:creationId xmlns:a16="http://schemas.microsoft.com/office/drawing/2014/main" id="{128BB729-E4F9-B221-ECB0-A06908177096}"/>
              </a:ext>
            </a:extLst>
          </p:cNvPr>
          <p:cNvSpPr txBox="1">
            <a:spLocks/>
          </p:cNvSpPr>
          <p:nvPr/>
        </p:nvSpPr>
        <p:spPr>
          <a:xfrm>
            <a:off x="627073" y="1968931"/>
            <a:ext cx="8154987" cy="332766"/>
          </a:xfrm>
          <a:prstGeom prst="rect">
            <a:avLst/>
          </a:prstGeom>
        </p:spPr>
        <p:txBody>
          <a:bodyPr vert="horz" lIns="0" tIns="0" rIns="0" bIns="0" rtlCol="0" anchor="t" anchorCtr="0"/>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1100" b="1" i="1" dirty="0">
                <a:solidFill>
                  <a:srgbClr val="2F465A"/>
                </a:solidFill>
                <a:latin typeface="Arial" panose="020B0604020202020204" pitchFamily="34" charset="0"/>
                <a:cs typeface="Arial" panose="020B0604020202020204" pitchFamily="34" charset="0"/>
              </a:rPr>
              <a:t>The table below provides an indication of our anticipated timeline</a:t>
            </a:r>
          </a:p>
          <a:p>
            <a:pPr algn="l"/>
            <a:endParaRPr lang="en-US" sz="1000" dirty="0">
              <a:solidFill>
                <a:srgbClr val="9C694A"/>
              </a:solidFill>
              <a:latin typeface="Arial" panose="020B0604020202020204" pitchFamily="34" charset="0"/>
              <a:cs typeface="Arial" panose="020B0604020202020204" pitchFamily="34" charset="0"/>
            </a:endParaRPr>
          </a:p>
          <a:p>
            <a:pPr algn="l"/>
            <a:endParaRPr lang="en-US" sz="1000" dirty="0">
              <a:solidFill>
                <a:srgbClr val="9C694A"/>
              </a:solidFill>
              <a:latin typeface="Arial" panose="020B0604020202020204" pitchFamily="34" charset="0"/>
              <a:cs typeface="Arial" panose="020B0604020202020204" pitchFamily="34" charset="0"/>
            </a:endParaRPr>
          </a:p>
          <a:p>
            <a:pPr algn="l"/>
            <a:endParaRPr lang="en-US" sz="1000" dirty="0">
              <a:solidFill>
                <a:srgbClr val="9C694A"/>
              </a:solidFill>
              <a:latin typeface="Arial" panose="020B0604020202020204" pitchFamily="34" charset="0"/>
              <a:cs typeface="Arial" panose="020B0604020202020204" pitchFamily="34" charset="0"/>
            </a:endParaRPr>
          </a:p>
          <a:p>
            <a:pPr algn="l"/>
            <a:endParaRPr lang="en-US" sz="1000" dirty="0">
              <a:solidFill>
                <a:srgbClr val="9C694A"/>
              </a:solidFill>
              <a:latin typeface="Arial" panose="020B0604020202020204" pitchFamily="34" charset="0"/>
              <a:cs typeface="Arial" panose="020B0604020202020204" pitchFamily="34" charset="0"/>
            </a:endParaRPr>
          </a:p>
          <a:p>
            <a:pPr algn="l"/>
            <a:endParaRPr lang="en-US" sz="1000" dirty="0">
              <a:solidFill>
                <a:srgbClr val="9C694A"/>
              </a:solidFill>
              <a:latin typeface="Arial" panose="020B0604020202020204" pitchFamily="34" charset="0"/>
              <a:cs typeface="Arial" panose="020B0604020202020204" pitchFamily="34" charset="0"/>
            </a:endParaRPr>
          </a:p>
          <a:p>
            <a:pPr algn="l"/>
            <a:r>
              <a:rPr lang="en-US" sz="1000" i="1" dirty="0">
                <a:solidFill>
                  <a:srgbClr val="9C694A"/>
                </a:solidFill>
                <a:latin typeface="Arial" panose="020B0604020202020204" pitchFamily="34" charset="0"/>
                <a:cs typeface="Arial" panose="020B0604020202020204" pitchFamily="34" charset="0"/>
              </a:rPr>
              <a:t> </a:t>
            </a:r>
          </a:p>
          <a:p>
            <a:pPr algn="l"/>
            <a:endParaRPr lang="en-US" sz="1000" dirty="0">
              <a:solidFill>
                <a:srgbClr val="9C694A"/>
              </a:solidFill>
              <a:latin typeface="Arial" panose="020B0604020202020204" pitchFamily="34" charset="0"/>
              <a:cs typeface="Arial" panose="020B0604020202020204" pitchFamily="34" charset="0"/>
            </a:endParaRPr>
          </a:p>
        </p:txBody>
      </p:sp>
      <p:graphicFrame>
        <p:nvGraphicFramePr>
          <p:cNvPr id="10" name="timeline_table">
            <a:extLst>
              <a:ext uri="{FF2B5EF4-FFF2-40B4-BE49-F238E27FC236}">
                <a16:creationId xmlns:a16="http://schemas.microsoft.com/office/drawing/2014/main" id="{E8F977CF-E6DA-E914-4A31-0B4CC8FC9DAD}"/>
              </a:ext>
            </a:extLst>
          </p:cNvPr>
          <p:cNvGraphicFramePr>
            <a:graphicFrameLocks noGrp="1"/>
          </p:cNvGraphicFramePr>
          <p:nvPr>
            <p:extLst>
              <p:ext uri="{D42A27DB-BD31-4B8C-83A1-F6EECF244321}">
                <p14:modId xmlns:p14="http://schemas.microsoft.com/office/powerpoint/2010/main" val="2467933340"/>
              </p:ext>
            </p:extLst>
          </p:nvPr>
        </p:nvGraphicFramePr>
        <p:xfrm>
          <a:off x="1383972" y="2453098"/>
          <a:ext cx="9435272" cy="2471967"/>
        </p:xfrm>
        <a:graphic>
          <a:graphicData uri="http://schemas.openxmlformats.org/drawingml/2006/table">
            <a:tbl>
              <a:tblPr firstRow="1" bandRow="1">
                <a:tableStyleId>{073A0DAA-6AF3-43AB-8588-CEC1D06C72B9}</a:tableStyleId>
              </a:tblPr>
              <a:tblGrid>
                <a:gridCol w="7427250">
                  <a:extLst>
                    <a:ext uri="{9D8B030D-6E8A-4147-A177-3AD203B41FA5}">
                      <a16:colId xmlns:a16="http://schemas.microsoft.com/office/drawing/2014/main" val="741595845"/>
                    </a:ext>
                  </a:extLst>
                </a:gridCol>
                <a:gridCol w="2008022">
                  <a:extLst>
                    <a:ext uri="{9D8B030D-6E8A-4147-A177-3AD203B41FA5}">
                      <a16:colId xmlns:a16="http://schemas.microsoft.com/office/drawing/2014/main" val="287772007"/>
                    </a:ext>
                  </a:extLst>
                </a:gridCol>
              </a:tblGrid>
              <a:tr h="323790">
                <a:tc>
                  <a:txBody>
                    <a:bodyPr/>
                    <a:lstStyle/>
                    <a:p>
                      <a:pPr/>
                      <a:r>
                        <a:rPr lang="en-US" sz="1200" dirty="0">
                          <a:solidFill>
                            <a:srgbClr val="2F465A"/>
                          </a:solidFill>
                          <a:latin typeface="Arial" panose="020B0604020202020204" pitchFamily="34" charset="0"/>
                          <a:cs typeface="Arial" panose="020B0604020202020204" pitchFamily="34" charset="0"/>
                        </a:rPr>
                        <a:t>Nature of Service</a:t>
                      </a:r>
                      <a:endParaRPr lang="en-AU" sz="1200" dirty="0">
                        <a:solidFill>
                          <a:srgbClr val="2F465A"/>
                        </a:solidFill>
                        <a:latin typeface="Arial" panose="020B0604020202020204" pitchFamily="34" charset="0"/>
                        <a:cs typeface="Arial" panose="020B0604020202020204" pitchFamily="34" charset="0"/>
                      </a:endParaRPr>
                    </a:p>
                  </a:txBody>
                  <a:tcPr>
                    <a:lnL w="1270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1270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noFill/>
                  </a:tcPr>
                </a:tc>
                <a:tc>
                  <a:txBody>
                    <a:bodyPr/>
                    <a:lstStyle/>
                    <a:p>
                      <a:pPr algn="ctr"/>
                      <a:r>
                        <a:rPr lang="en-US" sz="1200" dirty="0">
                          <a:solidFill>
                            <a:srgbClr val="2F465A"/>
                          </a:solidFill>
                          <a:latin typeface="Arial" panose="020B0604020202020204" pitchFamily="34" charset="0"/>
                          <a:cs typeface="Arial" panose="020B0604020202020204" pitchFamily="34" charset="0"/>
                        </a:rPr>
                        <a:t>Timing</a:t>
                      </a:r>
                      <a:endParaRPr lang="en-AU" sz="1200" dirty="0">
                        <a:solidFill>
                          <a:srgbClr val="2F465A"/>
                        </a:solidFill>
                        <a:latin typeface="Arial" panose="020B0604020202020204" pitchFamily="34" charset="0"/>
                        <a:cs typeface="Arial" panose="020B0604020202020204" pitchFamily="34" charset="0"/>
                      </a:endParaRPr>
                    </a:p>
                  </a:txBody>
                  <a:tcPr>
                    <a:lnL w="6350" cap="flat" cmpd="sng" algn="ctr">
                      <a:solidFill>
                        <a:srgbClr val="2F465A"/>
                      </a:solidFill>
                      <a:prstDash val="solid"/>
                      <a:round/>
                      <a:headEnd type="none" w="med" len="med"/>
                      <a:tailEnd type="none" w="med" len="med"/>
                    </a:lnL>
                    <a:lnR w="12700" cap="flat" cmpd="sng" algn="ctr">
                      <a:solidFill>
                        <a:srgbClr val="2F465A"/>
                      </a:solidFill>
                      <a:prstDash val="solid"/>
                      <a:round/>
                      <a:headEnd type="none" w="med" len="med"/>
                      <a:tailEnd type="none" w="med" len="med"/>
                    </a:lnR>
                    <a:lnT w="1270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noFill/>
                  </a:tcPr>
                </a:tc>
                <a:extLst>
                  <a:ext uri="{0D108BD9-81ED-4DB2-BD59-A6C34878D82A}">
                    <a16:rowId xmlns:a16="http://schemas.microsoft.com/office/drawing/2014/main" val="2476943905"/>
                  </a:ext>
                </a:extLst>
              </a:tr>
              <a:tr h="322232">
                <a:tc>
                  <a:txBody>
                    <a:bodyPr/>
                    <a:lstStyle/>
                    <a:p>
                      <a:pPr/>
                      <a:r>
                        <a:rPr lang="en-US" sz="1200" b="1" dirty="0">
                          <a:solidFill>
                            <a:srgbClr val="2F465A"/>
                          </a:solidFill>
                          <a:latin typeface="Arial" panose="020B0604020202020204" pitchFamily="34" charset="0"/>
                          <a:cs typeface="Arial" panose="020B0604020202020204" pitchFamily="34" charset="0"/>
                        </a:rPr>
                        <a:t>Transition</a:t>
                      </a:r>
                      <a:endParaRPr lang="en-AU" sz="1200" b="1" dirty="0">
                        <a:solidFill>
                          <a:srgbClr val="2F465A"/>
                        </a:solidFill>
                        <a:latin typeface="Arial" panose="020B0604020202020204" pitchFamily="34" charset="0"/>
                        <a:cs typeface="Arial" panose="020B0604020202020204" pitchFamily="34" charset="0"/>
                      </a:endParaRPr>
                    </a:p>
                  </a:txBody>
                  <a:tcPr anchor="ctr">
                    <a:lnL w="1270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noFill/>
                  </a:tcPr>
                </a:tc>
                <a:tc>
                  <a:txBody>
                    <a:bodyPr/>
                    <a:lstStyle/>
                    <a:p>
                      <a:pPr algn="ctr"/>
                      <a:r>
                        <a:t/>
                      </a:r>
                      <a:endParaRPr lang="en-AU" sz="1200" dirty="0">
                        <a:solidFill>
                          <a:srgbClr val="2F465A"/>
                        </a:solidFill>
                        <a:latin typeface="Arial" panose="020B0604020202020204" pitchFamily="34" charset="0"/>
                        <a:cs typeface="Arial" panose="020B0604020202020204" pitchFamily="34" charset="0"/>
                      </a:endParaRPr>
                    </a:p>
                  </a:txBody>
                  <a:tcPr>
                    <a:lnL w="6350" cap="flat" cmpd="sng" algn="ctr">
                      <a:solidFill>
                        <a:srgbClr val="2F465A"/>
                      </a:solidFill>
                      <a:prstDash val="solid"/>
                      <a:round/>
                      <a:headEnd type="none" w="med" len="med"/>
                      <a:tailEnd type="none" w="med" len="med"/>
                    </a:lnL>
                    <a:lnR w="1270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noFill/>
                  </a:tcPr>
                </a:tc>
                <a:extLst>
                  <a:ext uri="{0D108BD9-81ED-4DB2-BD59-A6C34878D82A}">
                    <a16:rowId xmlns:a16="http://schemas.microsoft.com/office/drawing/2014/main" val="2848835220"/>
                  </a:ext>
                </a:extLst>
              </a:tr>
              <a:tr h="305690">
                <a:tc>
                  <a:txBody>
                    <a:bodyPr/>
                    <a:lstStyle/>
                    <a:p>
                      <a:pPr/>
                      <a:r>
                        <a:rPr lang="en-AU" sz="900" dirty="0">
                          <a:solidFill>
                            <a:schemeClr val="tx1"/>
                          </a:solidFill>
                          <a:latin typeface="Arial" panose="020B0604020202020204" pitchFamily="34" charset="0"/>
                          <a:cs typeface="Arial" panose="020B0604020202020204" pitchFamily="34" charset="0"/>
                        </a:rPr>
                        <a:t>Confirmation of appointment as auditors</a:t>
                      </a:r>
                    </a:p>
                  </a:txBody>
                  <a:tcPr anchor="ctr">
                    <a:lnL w="1270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i="0" kern="1200" dirty="0">
                          <a:solidFill>
                            <a:schemeClr val="dk1"/>
                          </a:solidFill>
                          <a:effectLst/>
                          <a:latin typeface="Arial" panose="020B0604020202020204" pitchFamily="34" charset="0"/>
                          <a:ea typeface="+mn-ea"/>
                          <a:cs typeface="Arial" panose="020B0604020202020204" pitchFamily="34" charset="0"/>
                        </a:rPr>
                        <a:t>End of July 2026</a:t>
                      </a:r>
                      <a:endParaRPr lang="en-AU" sz="900" i="0" kern="1200" dirty="0">
                        <a:solidFill>
                          <a:schemeClr val="dk1"/>
                        </a:solidFill>
                        <a:effectLst/>
                        <a:latin typeface="Arial" panose="020B0604020202020204" pitchFamily="34" charset="0"/>
                        <a:ea typeface="+mn-ea"/>
                        <a:cs typeface="Arial" panose="020B0604020202020204" pitchFamily="34" charset="0"/>
                      </a:endParaRPr>
                    </a:p>
                  </a:txBody>
                  <a:tcPr anchor="ctr">
                    <a:lnL w="6350" cap="flat" cmpd="sng" algn="ctr">
                      <a:solidFill>
                        <a:srgbClr val="2F465A"/>
                      </a:solidFill>
                      <a:prstDash val="solid"/>
                      <a:round/>
                      <a:headEnd type="none" w="med" len="med"/>
                      <a:tailEnd type="none" w="med" len="med"/>
                    </a:lnL>
                    <a:lnR w="1270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noFill/>
                  </a:tcPr>
                </a:tc>
                <a:extLst>
                  <a:ext uri="{0D108BD9-81ED-4DB2-BD59-A6C34878D82A}">
                    <a16:rowId xmlns:a16="http://schemas.microsoft.com/office/drawing/2014/main" val="1772257971"/>
                  </a:ext>
                </a:extLst>
              </a:tr>
              <a:tr h="305690">
                <a:tc>
                  <a:txBody>
                    <a:bodyPr/>
                    <a:lstStyle/>
                    <a:p>
                      <a:pPr/>
                      <a:r>
                        <a:rPr lang="en-AU" sz="900" dirty="0">
                          <a:solidFill>
                            <a:schemeClr val="tx1"/>
                          </a:solidFill>
                          <a:latin typeface="Arial" panose="020B0604020202020204" pitchFamily="34" charset="0"/>
                          <a:cs typeface="Arial" panose="020B0604020202020204" pitchFamily="34" charset="0"/>
                        </a:rPr>
                        <a:t>Review of opening balances</a:t>
                      </a:r>
                    </a:p>
                  </a:txBody>
                  <a:tcPr anchor="ctr">
                    <a:lnL w="1270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i="0" kern="1200" dirty="0">
                          <a:solidFill>
                            <a:schemeClr val="dk1"/>
                          </a:solidFill>
                          <a:effectLst/>
                          <a:latin typeface="Arial" panose="020B0604020202020204" pitchFamily="34" charset="0"/>
                          <a:ea typeface="+mn-ea"/>
                          <a:cs typeface="Arial" panose="020B0604020202020204" pitchFamily="34" charset="0"/>
                        </a:rPr>
                        <a:t>Early August 2026</a:t>
                      </a:r>
                      <a:endParaRPr lang="en-AU" sz="900" i="0" kern="1200" dirty="0">
                        <a:solidFill>
                          <a:schemeClr val="dk1"/>
                        </a:solidFill>
                        <a:effectLst/>
                        <a:latin typeface="Arial" panose="020B0604020202020204" pitchFamily="34" charset="0"/>
                        <a:ea typeface="+mn-ea"/>
                        <a:cs typeface="Arial" panose="020B0604020202020204" pitchFamily="34" charset="0"/>
                      </a:endParaRPr>
                    </a:p>
                  </a:txBody>
                  <a:tcPr anchor="ctr">
                    <a:lnL w="6350" cap="flat" cmpd="sng" algn="ctr">
                      <a:solidFill>
                        <a:srgbClr val="2F465A"/>
                      </a:solidFill>
                      <a:prstDash val="solid"/>
                      <a:round/>
                      <a:headEnd type="none" w="med" len="med"/>
                      <a:tailEnd type="none" w="med" len="med"/>
                    </a:lnL>
                    <a:lnR w="1270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noFill/>
                  </a:tcPr>
                </a:tc>
                <a:extLst>
                  <a:ext uri="{0D108BD9-81ED-4DB2-BD59-A6C34878D82A}">
                    <a16:rowId xmlns:a16="http://schemas.microsoft.com/office/drawing/2014/main" val="1772257971"/>
                  </a:ext>
                </a:extLst>
              </a:tr>
              <a:tr h="322232">
                <a:tc>
                  <a:txBody>
                    <a:bodyPr/>
                    <a:lstStyle/>
                    <a:p>
                      <a:pPr/>
                      <a:r>
                        <a:rPr lang="en-US" sz="1200" b="1" dirty="0">
                          <a:solidFill>
                            <a:srgbClr val="2F465A"/>
                          </a:solidFill>
                          <a:latin typeface="Arial" panose="020B0604020202020204" pitchFamily="34" charset="0"/>
                          <a:cs typeface="Arial" panose="020B0604020202020204" pitchFamily="34" charset="0"/>
                        </a:rPr>
                        <a:t>Year-End Audit</a:t>
                      </a:r>
                      <a:endParaRPr lang="en-AU" sz="1200" b="1" dirty="0">
                        <a:solidFill>
                          <a:srgbClr val="2F465A"/>
                        </a:solidFill>
                        <a:latin typeface="Arial" panose="020B0604020202020204" pitchFamily="34" charset="0"/>
                        <a:cs typeface="Arial" panose="020B0604020202020204" pitchFamily="34" charset="0"/>
                      </a:endParaRPr>
                    </a:p>
                  </a:txBody>
                  <a:tcPr anchor="ctr">
                    <a:lnL w="1270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noFill/>
                  </a:tcPr>
                </a:tc>
                <a:tc>
                  <a:txBody>
                    <a:bodyPr/>
                    <a:lstStyle/>
                    <a:p>
                      <a:pPr algn="ctr"/>
                      <a:r>
                        <a:t/>
                      </a:r>
                      <a:endParaRPr lang="en-AU" sz="1200" dirty="0">
                        <a:solidFill>
                          <a:srgbClr val="2F465A"/>
                        </a:solidFill>
                        <a:latin typeface="Arial" panose="020B0604020202020204" pitchFamily="34" charset="0"/>
                        <a:cs typeface="Arial" panose="020B0604020202020204" pitchFamily="34" charset="0"/>
                      </a:endParaRPr>
                    </a:p>
                  </a:txBody>
                  <a:tcPr>
                    <a:lnL w="6350" cap="flat" cmpd="sng" algn="ctr">
                      <a:solidFill>
                        <a:srgbClr val="2F465A"/>
                      </a:solidFill>
                      <a:prstDash val="solid"/>
                      <a:round/>
                      <a:headEnd type="none" w="med" len="med"/>
                      <a:tailEnd type="none" w="med" len="med"/>
                    </a:lnL>
                    <a:lnR w="1270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noFill/>
                  </a:tcPr>
                </a:tc>
                <a:extLst>
                  <a:ext uri="{0D108BD9-81ED-4DB2-BD59-A6C34878D82A}">
                    <a16:rowId xmlns:a16="http://schemas.microsoft.com/office/drawing/2014/main" val="2848835220"/>
                  </a:ext>
                </a:extLst>
              </a:tr>
              <a:tr h="305690">
                <a:tc>
                  <a:txBody>
                    <a:bodyPr/>
                    <a:lstStyle/>
                    <a:p>
                      <a:pPr/>
                      <a:r>
                        <a:rPr lang="en-AU" sz="900" dirty="0">
                          <a:solidFill>
                            <a:schemeClr val="tx1"/>
                          </a:solidFill>
                          <a:latin typeface="Arial" panose="020B0604020202020204" pitchFamily="34" charset="0"/>
                          <a:cs typeface="Arial" panose="020B0604020202020204" pitchFamily="34" charset="0"/>
                        </a:rPr>
                        <a:t>Initial meeting between In.Corp and management to plan the audit</a:t>
                      </a:r>
                    </a:p>
                  </a:txBody>
                  <a:tcPr anchor="ctr">
                    <a:lnL w="1270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i="0" kern="1200" dirty="0">
                          <a:solidFill>
                            <a:schemeClr val="dk1"/>
                          </a:solidFill>
                          <a:effectLst/>
                          <a:latin typeface="Arial" panose="020B0604020202020204" pitchFamily="34" charset="0"/>
                          <a:ea typeface="+mn-ea"/>
                          <a:cs typeface="Arial" panose="020B0604020202020204" pitchFamily="34" charset="0"/>
                        </a:rPr>
                        <a:t>Early August 2026</a:t>
                      </a:r>
                      <a:endParaRPr lang="en-AU" sz="900" i="0" kern="1200" dirty="0">
                        <a:solidFill>
                          <a:schemeClr val="dk1"/>
                        </a:solidFill>
                        <a:effectLst/>
                        <a:latin typeface="Arial" panose="020B0604020202020204" pitchFamily="34" charset="0"/>
                        <a:ea typeface="+mn-ea"/>
                        <a:cs typeface="Arial" panose="020B0604020202020204" pitchFamily="34" charset="0"/>
                      </a:endParaRPr>
                    </a:p>
                  </a:txBody>
                  <a:tcPr anchor="ctr">
                    <a:lnL w="6350" cap="flat" cmpd="sng" algn="ctr">
                      <a:solidFill>
                        <a:srgbClr val="2F465A"/>
                      </a:solidFill>
                      <a:prstDash val="solid"/>
                      <a:round/>
                      <a:headEnd type="none" w="med" len="med"/>
                      <a:tailEnd type="none" w="med" len="med"/>
                    </a:lnL>
                    <a:lnR w="1270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noFill/>
                  </a:tcPr>
                </a:tc>
                <a:extLst>
                  <a:ext uri="{0D108BD9-81ED-4DB2-BD59-A6C34878D82A}">
                    <a16:rowId xmlns:a16="http://schemas.microsoft.com/office/drawing/2014/main" val="1772257971"/>
                  </a:ext>
                </a:extLst>
              </a:tr>
              <a:tr h="305690">
                <a:tc>
                  <a:txBody>
                    <a:bodyPr/>
                    <a:lstStyle/>
                    <a:p>
                      <a:pPr/>
                      <a:r>
                        <a:rPr lang="en-AU" sz="900" dirty="0">
                          <a:solidFill>
                            <a:schemeClr val="tx1"/>
                          </a:solidFill>
                          <a:latin typeface="Arial" panose="020B0604020202020204" pitchFamily="34" charset="0"/>
                          <a:cs typeface="Arial" panose="020B0604020202020204" pitchFamily="34" charset="0"/>
                        </a:rPr>
                        <a:t>In.Corp to commence half-year review procedures</a:t>
                      </a:r>
                    </a:p>
                  </a:txBody>
                  <a:tcPr anchor="ctr">
                    <a:lnL w="1270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i="0" kern="1200" dirty="0">
                          <a:solidFill>
                            <a:schemeClr val="dk1"/>
                          </a:solidFill>
                          <a:effectLst/>
                          <a:latin typeface="Arial" panose="020B0604020202020204" pitchFamily="34" charset="0"/>
                          <a:ea typeface="+mn-ea"/>
                          <a:cs typeface="Arial" panose="020B0604020202020204" pitchFamily="34" charset="0"/>
                        </a:rPr>
                        <a:t>August 2026</a:t>
                      </a:r>
                      <a:endParaRPr lang="en-AU" sz="900" i="0" kern="1200" dirty="0">
                        <a:solidFill>
                          <a:schemeClr val="dk1"/>
                        </a:solidFill>
                        <a:effectLst/>
                        <a:latin typeface="Arial" panose="020B0604020202020204" pitchFamily="34" charset="0"/>
                        <a:ea typeface="+mn-ea"/>
                        <a:cs typeface="Arial" panose="020B0604020202020204" pitchFamily="34" charset="0"/>
                      </a:endParaRPr>
                    </a:p>
                  </a:txBody>
                  <a:tcPr anchor="ctr">
                    <a:lnL w="6350" cap="flat" cmpd="sng" algn="ctr">
                      <a:solidFill>
                        <a:srgbClr val="2F465A"/>
                      </a:solidFill>
                      <a:prstDash val="solid"/>
                      <a:round/>
                      <a:headEnd type="none" w="med" len="med"/>
                      <a:tailEnd type="none" w="med" len="med"/>
                    </a:lnL>
                    <a:lnR w="1270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noFill/>
                  </a:tcPr>
                </a:tc>
                <a:extLst>
                  <a:ext uri="{0D108BD9-81ED-4DB2-BD59-A6C34878D82A}">
                    <a16:rowId xmlns:a16="http://schemas.microsoft.com/office/drawing/2014/main" val="1772257971"/>
                  </a:ext>
                </a:extLst>
              </a:tr>
              <a:tr h="305690">
                <a:tc>
                  <a:txBody>
                    <a:bodyPr/>
                    <a:lstStyle/>
                    <a:p>
                      <a:pPr/>
                      <a:r>
                        <a:rPr lang="en-AU" sz="900" dirty="0">
                          <a:solidFill>
                            <a:schemeClr val="tx1"/>
                          </a:solidFill>
                          <a:latin typeface="Arial" panose="020B0604020202020204" pitchFamily="34" charset="0"/>
                          <a:cs typeface="Arial" panose="020B0604020202020204" pitchFamily="34" charset="0"/>
                        </a:rPr>
                        <a:t>Sign-off on half-year financial report</a:t>
                      </a:r>
                    </a:p>
                  </a:txBody>
                  <a:tcPr anchor="ctr">
                    <a:lnL w="12700" cap="flat" cmpd="sng" algn="ctr">
                      <a:solidFill>
                        <a:srgbClr val="2F465A"/>
                      </a:solidFill>
                      <a:prstDash val="solid"/>
                      <a:round/>
                      <a:headEnd type="none" w="med" len="med"/>
                      <a:tailEnd type="none" w="med" len="med"/>
                    </a:lnL>
                    <a:lnR w="635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i="0" kern="1200" dirty="0">
                          <a:solidFill>
                            <a:schemeClr val="dk1"/>
                          </a:solidFill>
                          <a:effectLst/>
                          <a:latin typeface="Arial" panose="020B0604020202020204" pitchFamily="34" charset="0"/>
                          <a:ea typeface="+mn-ea"/>
                          <a:cs typeface="Arial" panose="020B0604020202020204" pitchFamily="34" charset="0"/>
                        </a:rPr>
                        <a:t>August 2026</a:t>
                      </a:r>
                      <a:endParaRPr lang="en-AU" sz="900" i="0" kern="1200" dirty="0">
                        <a:solidFill>
                          <a:schemeClr val="dk1"/>
                        </a:solidFill>
                        <a:effectLst/>
                        <a:latin typeface="Arial" panose="020B0604020202020204" pitchFamily="34" charset="0"/>
                        <a:ea typeface="+mn-ea"/>
                        <a:cs typeface="Arial" panose="020B0604020202020204" pitchFamily="34" charset="0"/>
                      </a:endParaRPr>
                    </a:p>
                  </a:txBody>
                  <a:tcPr anchor="ctr">
                    <a:lnL w="6350" cap="flat" cmpd="sng" algn="ctr">
                      <a:solidFill>
                        <a:srgbClr val="2F465A"/>
                      </a:solidFill>
                      <a:prstDash val="solid"/>
                      <a:round/>
                      <a:headEnd type="none" w="med" len="med"/>
                      <a:tailEnd type="none" w="med" len="med"/>
                    </a:lnL>
                    <a:lnR w="12700" cap="flat" cmpd="sng" algn="ctr">
                      <a:solidFill>
                        <a:srgbClr val="2F465A"/>
                      </a:solidFill>
                      <a:prstDash val="solid"/>
                      <a:round/>
                      <a:headEnd type="none" w="med" len="med"/>
                      <a:tailEnd type="none" w="med" len="med"/>
                    </a:lnR>
                    <a:lnT w="6350" cap="flat" cmpd="sng" algn="ctr">
                      <a:solidFill>
                        <a:srgbClr val="2F465A"/>
                      </a:solidFill>
                      <a:prstDash val="solid"/>
                      <a:round/>
                      <a:headEnd type="none" w="med" len="med"/>
                      <a:tailEnd type="none" w="med" len="med"/>
                    </a:lnT>
                    <a:lnB w="6350" cap="flat" cmpd="sng" algn="ctr">
                      <a:solidFill>
                        <a:srgbClr val="2F465A"/>
                      </a:solidFill>
                      <a:prstDash val="solid"/>
                      <a:round/>
                      <a:headEnd type="none" w="med" len="med"/>
                      <a:tailEnd type="none" w="med" len="med"/>
                    </a:lnB>
                    <a:noFill/>
                  </a:tcPr>
                </a:tc>
                <a:extLst>
                  <a:ext uri="{0D108BD9-81ED-4DB2-BD59-A6C34878D82A}">
                    <a16:rowId xmlns:a16="http://schemas.microsoft.com/office/drawing/2014/main" val="1772257971"/>
                  </a:ext>
                </a:extLst>
              </a:tr>
            </a:tbl>
          </a:graphicData>
        </a:graphic>
      </p:graphicFrame>
      <p:sp>
        <p:nvSpPr>
          <p:cNvPr id="6" name="Rectangle 5">
            <a:extLst>
              <a:ext uri="{FF2B5EF4-FFF2-40B4-BE49-F238E27FC236}">
                <a16:creationId xmlns:a16="http://schemas.microsoft.com/office/drawing/2014/main" id="{4EB0391E-1F56-ECE1-913F-174C2A03E7E9}"/>
              </a:ext>
            </a:extLst>
          </p:cNvPr>
          <p:cNvSpPr/>
          <p:nvPr/>
        </p:nvSpPr>
        <p:spPr>
          <a:xfrm rot="16200000" flipV="1">
            <a:off x="-2847475" y="3158896"/>
            <a:ext cx="5752282" cy="75438"/>
          </a:xfrm>
          <a:prstGeom prst="rec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350" dirty="0"/>
              <a:t>-</a:t>
            </a:r>
          </a:p>
        </p:txBody>
      </p:sp>
      <p:sp>
        <p:nvSpPr>
          <p:cNvPr id="11" name="Rectangle 10">
            <a:extLst>
              <a:ext uri="{FF2B5EF4-FFF2-40B4-BE49-F238E27FC236}">
                <a16:creationId xmlns:a16="http://schemas.microsoft.com/office/drawing/2014/main" id="{CE293F7E-E320-DAF8-2AC7-AC9E32A52265}"/>
              </a:ext>
            </a:extLst>
          </p:cNvPr>
          <p:cNvSpPr/>
          <p:nvPr/>
        </p:nvSpPr>
        <p:spPr>
          <a:xfrm rot="16200000" flipV="1">
            <a:off x="9298408" y="3236774"/>
            <a:ext cx="5752282" cy="75438"/>
          </a:xfrm>
          <a:prstGeom prst="rec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350" dirty="0"/>
          </a:p>
        </p:txBody>
      </p:sp>
      <p:pic>
        <p:nvPicPr>
          <p:cNvPr id="3" name="Picture 2" descr="A white and red globe with a black background&#10;&#10;AI-generated content may be incorrect.">
            <a:extLst>
              <a:ext uri="{FF2B5EF4-FFF2-40B4-BE49-F238E27FC236}">
                <a16:creationId xmlns:a16="http://schemas.microsoft.com/office/drawing/2014/main" id="{E8245035-7AAF-693C-E294-89FCA8943E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386" y="6219147"/>
            <a:ext cx="1052953" cy="453783"/>
          </a:xfrm>
          <a:prstGeom prst="rect">
            <a:avLst/>
          </a:prstGeom>
        </p:spPr>
      </p:pic>
    </p:spTree>
    <p:extLst>
      <p:ext uri="{BB962C8B-B14F-4D97-AF65-F5344CB8AC3E}">
        <p14:creationId xmlns:p14="http://schemas.microsoft.com/office/powerpoint/2010/main" val="18757000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4E5BC1-1561-42F3-A4D1-C6F220077021}"/>
              </a:ext>
            </a:extLst>
          </p:cNvPr>
          <p:cNvSpPr>
            <a:spLocks noGrp="1"/>
          </p:cNvSpPr>
          <p:nvPr>
            <p:ph type="sldNum" sz="quarter" idx="12"/>
          </p:nvPr>
        </p:nvSpPr>
        <p:spPr/>
        <p:txBody>
          <a:bodyPr/>
          <a:lstStyle/>
          <a:p>
            <a:pPr/>
            <a:r>
              <a:rPr lang="en-AU" dirty="0">
                <a:solidFill/>
              </a:rPr>
              <a:t>11</a:t>
            </a:r>
          </a:p>
        </p:txBody>
      </p:sp>
      <p:sp>
        <p:nvSpPr>
          <p:cNvPr id="8" name="quality_assurance_title">
            <a:extLst>
              <a:ext uri="{FF2B5EF4-FFF2-40B4-BE49-F238E27FC236}">
                <a16:creationId xmlns:a16="http://schemas.microsoft.com/office/drawing/2014/main" id="{C342DEC7-1171-49C7-87D8-52315D5DF2C4}"/>
              </a:ext>
            </a:extLst>
          </p:cNvPr>
          <p:cNvSpPr txBox="1">
            <a:spLocks/>
          </p:cNvSpPr>
          <p:nvPr/>
        </p:nvSpPr>
        <p:spPr>
          <a:xfrm>
            <a:off x="561931" y="794298"/>
            <a:ext cx="8316912" cy="432000"/>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spc="-150" dirty="0">
                <a:solidFill>
                  <a:srgbClr val="BB2121"/>
                </a:solidFill>
                <a:latin typeface="Arial" panose="020B0604020202020204" pitchFamily="34" charset="0"/>
                <a:cs typeface="Arial" panose="020B0604020202020204" pitchFamily="34" charset="0"/>
              </a:rPr>
              <a:t>QUALITY ASSURANCE &amp; INDEPENDENCE</a:t>
            </a:r>
            <a:endParaRPr lang="en-AU" sz="2800" b="1" spc="-150" dirty="0">
              <a:solidFill>
                <a:srgbClr val="BB2121"/>
              </a:solidFill>
              <a:latin typeface="Arial" panose="020B0604020202020204" pitchFamily="34" charset="0"/>
              <a:cs typeface="Arial" panose="020B0604020202020204" pitchFamily="34" charset="0"/>
            </a:endParaRPr>
          </a:p>
        </p:txBody>
      </p:sp>
      <p:sp>
        <p:nvSpPr>
          <p:cNvPr id="7" name="Text Placeholder 11">
            <a:extLst>
              <a:ext uri="{FF2B5EF4-FFF2-40B4-BE49-F238E27FC236}">
                <a16:creationId xmlns:a16="http://schemas.microsoft.com/office/drawing/2014/main" id="{927B68E5-B136-48B9-999E-EC8111F56E0B}"/>
              </a:ext>
            </a:extLst>
          </p:cNvPr>
          <p:cNvSpPr txBox="1">
            <a:spLocks/>
          </p:cNvSpPr>
          <p:nvPr/>
        </p:nvSpPr>
        <p:spPr>
          <a:xfrm>
            <a:off x="561931" y="1262446"/>
            <a:ext cx="8316912" cy="249300"/>
          </a:xfrm>
          <a:prstGeom prst="rect">
            <a:avLst/>
          </a:prstGeom>
        </p:spPr>
        <p:txBody>
          <a:bodyPr lIns="0" r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50" i="1" dirty="0" err="1">
                <a:solidFill>
                  <a:schemeClr val="bg1">
                    <a:lumMod val="50000"/>
                  </a:schemeClr>
                </a:solidFill>
                <a:latin typeface="Arial" panose="020B0604020202020204" pitchFamily="34" charset="0"/>
                <a:cs typeface="Arial" panose="020B0604020202020204" pitchFamily="34" charset="0"/>
              </a:rPr>
              <a:t>In.Corp</a:t>
            </a:r>
            <a:r>
              <a:rPr lang="en-US" sz="1050" i="1" dirty="0">
                <a:solidFill>
                  <a:schemeClr val="bg1">
                    <a:lumMod val="50000"/>
                  </a:schemeClr>
                </a:solidFill>
                <a:latin typeface="Arial" panose="020B0604020202020204" pitchFamily="34" charset="0"/>
                <a:cs typeface="Arial" panose="020B0604020202020204" pitchFamily="34" charset="0"/>
              </a:rPr>
              <a:t> adheres to policies and procedures underpinning strong ethical and quality assurance principles.</a:t>
            </a:r>
          </a:p>
        </p:txBody>
      </p:sp>
      <p:sp>
        <p:nvSpPr>
          <p:cNvPr id="10" name="Text Placeholder 9">
            <a:extLst>
              <a:ext uri="{FF2B5EF4-FFF2-40B4-BE49-F238E27FC236}">
                <a16:creationId xmlns:a16="http://schemas.microsoft.com/office/drawing/2014/main" id="{F8FE7C53-297D-445F-A03F-90B128348290}"/>
              </a:ext>
            </a:extLst>
          </p:cNvPr>
          <p:cNvSpPr txBox="1">
            <a:spLocks/>
          </p:cNvSpPr>
          <p:nvPr/>
        </p:nvSpPr>
        <p:spPr>
          <a:xfrm>
            <a:off x="646577" y="1627322"/>
            <a:ext cx="4873278" cy="4807485"/>
          </a:xfrm>
          <a:prstGeom prst="rect">
            <a:avLst/>
          </a:prstGeom>
        </p:spPr>
        <p:txBody>
          <a:bodyPr vert="horz" lIns="0" tIns="45720" rIns="0" bIns="45720" numCol="1" rtlCol="0" anchor="t" anchorCtr="0"/>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AU" b="1" dirty="0">
                <a:solidFill>
                  <a:srgbClr val="2F465A"/>
                </a:solidFill>
                <a:latin typeface="Arial" panose="020B0604020202020204" pitchFamily="34" charset="0"/>
                <a:cs typeface="Arial" panose="020B0604020202020204" pitchFamily="34" charset="0"/>
              </a:rPr>
              <a:t>QUALITY ASSURANCE</a:t>
            </a:r>
          </a:p>
          <a:p>
            <a:pPr algn="l"/>
            <a:endParaRPr lang="en-AU" sz="600" dirty="0">
              <a:solidFill>
                <a:schemeClr val="tx1"/>
              </a:solidFill>
              <a:latin typeface="Arial" panose="020B0604020202020204" pitchFamily="34" charset="0"/>
              <a:cs typeface="Arial" panose="020B0604020202020204" pitchFamily="34" charset="0"/>
            </a:endParaRPr>
          </a:p>
          <a:p>
            <a:pPr algn="l"/>
            <a:r>
              <a:rPr lang="en-US" sz="900" dirty="0">
                <a:solidFill>
                  <a:schemeClr val="tx1"/>
                </a:solidFill>
                <a:latin typeface="Arial" panose="020B0604020202020204" pitchFamily="34" charset="0"/>
                <a:cs typeface="Arial" panose="020B0604020202020204" pitchFamily="34" charset="0"/>
              </a:rPr>
              <a:t>Our approach to quality control and risk management is set through adherence to the </a:t>
            </a:r>
            <a:r>
              <a:rPr lang="en-US" sz="900" dirty="0" err="1">
                <a:solidFill>
                  <a:schemeClr val="tx1"/>
                </a:solidFill>
                <a:latin typeface="Arial" panose="020B0604020202020204" pitchFamily="34" charset="0"/>
                <a:cs typeface="Arial" panose="020B0604020202020204" pitchFamily="34" charset="0"/>
              </a:rPr>
              <a:t>In.Corp</a:t>
            </a:r>
            <a:r>
              <a:rPr lang="en-US" sz="900" dirty="0">
                <a:solidFill>
                  <a:schemeClr val="tx1"/>
                </a:solidFill>
                <a:latin typeface="Arial" panose="020B0604020202020204" pitchFamily="34" charset="0"/>
                <a:cs typeface="Arial" panose="020B0604020202020204" pitchFamily="34" charset="0"/>
              </a:rPr>
              <a:t> Quality Control Manual. The manual outlines best practice guidelines relating to:</a:t>
            </a:r>
          </a:p>
          <a:p>
            <a:pPr algn="l"/>
            <a:endParaRPr lang="en-US" sz="900" dirty="0">
              <a:solidFill>
                <a:schemeClr val="tx1"/>
              </a:solidFill>
              <a:latin typeface="Arial" panose="020B0604020202020204" pitchFamily="34" charset="0"/>
              <a:cs typeface="Arial" panose="020B0604020202020204" pitchFamily="34" charset="0"/>
            </a:endParaRPr>
          </a:p>
          <a:p>
            <a:pPr marL="171450" indent="-171450" algn="l">
              <a:lnSpc>
                <a:spcPct val="150000"/>
              </a:lnSpc>
              <a:buFont typeface="Arial" panose="020B0604020202020204" pitchFamily="34" charset="0"/>
              <a:buChar char="•"/>
            </a:pPr>
            <a:r>
              <a:rPr lang="en-US" sz="900" dirty="0">
                <a:solidFill>
                  <a:schemeClr val="tx1"/>
                </a:solidFill>
                <a:latin typeface="Arial" panose="020B0604020202020204" pitchFamily="34" charset="0"/>
                <a:cs typeface="Arial" panose="020B0604020202020204" pitchFamily="34" charset="0"/>
              </a:rPr>
              <a:t>Documentation in accordance with auditing standards</a:t>
            </a:r>
          </a:p>
          <a:p>
            <a:pPr marL="171450" indent="-171450" algn="l">
              <a:lnSpc>
                <a:spcPct val="150000"/>
              </a:lnSpc>
              <a:buFont typeface="Arial" panose="020B0604020202020204" pitchFamily="34" charset="0"/>
              <a:buChar char="•"/>
            </a:pPr>
            <a:r>
              <a:rPr lang="en-US" sz="900" dirty="0">
                <a:solidFill>
                  <a:schemeClr val="tx1"/>
                </a:solidFill>
                <a:latin typeface="Arial" panose="020B0604020202020204" pitchFamily="34" charset="0"/>
                <a:cs typeface="Arial" panose="020B0604020202020204" pitchFamily="34" charset="0"/>
              </a:rPr>
              <a:t>Ethical standards</a:t>
            </a:r>
          </a:p>
          <a:p>
            <a:pPr marL="171450" indent="-171450" algn="l">
              <a:lnSpc>
                <a:spcPct val="150000"/>
              </a:lnSpc>
              <a:buFont typeface="Arial" panose="020B0604020202020204" pitchFamily="34" charset="0"/>
              <a:buChar char="•"/>
            </a:pPr>
            <a:r>
              <a:rPr lang="en-US" sz="900" dirty="0">
                <a:solidFill>
                  <a:schemeClr val="tx1"/>
                </a:solidFill>
                <a:latin typeface="Arial" panose="020B0604020202020204" pitchFamily="34" charset="0"/>
                <a:cs typeface="Arial" panose="020B0604020202020204" pitchFamily="34" charset="0"/>
              </a:rPr>
              <a:t>Client acceptance and continuance</a:t>
            </a:r>
          </a:p>
          <a:p>
            <a:pPr marL="171450" indent="-171450" algn="l">
              <a:lnSpc>
                <a:spcPct val="150000"/>
              </a:lnSpc>
              <a:buFont typeface="Arial" panose="020B0604020202020204" pitchFamily="34" charset="0"/>
              <a:buChar char="•"/>
            </a:pPr>
            <a:r>
              <a:rPr lang="en-US" sz="900" dirty="0">
                <a:solidFill>
                  <a:schemeClr val="tx1"/>
                </a:solidFill>
                <a:latin typeface="Arial" panose="020B0604020202020204" pitchFamily="34" charset="0"/>
                <a:cs typeface="Arial" panose="020B0604020202020204" pitchFamily="34" charset="0"/>
              </a:rPr>
              <a:t>Engagement performance</a:t>
            </a:r>
          </a:p>
          <a:p>
            <a:pPr marL="171450" indent="-171450" algn="l">
              <a:lnSpc>
                <a:spcPct val="150000"/>
              </a:lnSpc>
              <a:buFont typeface="Arial" panose="020B0604020202020204" pitchFamily="34" charset="0"/>
              <a:buChar char="•"/>
            </a:pPr>
            <a:r>
              <a:rPr lang="en-US" sz="900" dirty="0">
                <a:solidFill>
                  <a:schemeClr val="tx1"/>
                </a:solidFill>
                <a:latin typeface="Arial" panose="020B0604020202020204" pitchFamily="34" charset="0"/>
                <a:cs typeface="Arial" panose="020B0604020202020204" pitchFamily="34" charset="0"/>
              </a:rPr>
              <a:t>Quality control policies and procedures</a:t>
            </a:r>
          </a:p>
          <a:p>
            <a:pPr marL="171450" indent="-171450" algn="l">
              <a:lnSpc>
                <a:spcPct val="150000"/>
              </a:lnSpc>
              <a:buFont typeface="Arial" panose="020B0604020202020204" pitchFamily="34" charset="0"/>
              <a:buChar char="•"/>
            </a:pPr>
            <a:r>
              <a:rPr lang="en-US" sz="900" dirty="0">
                <a:solidFill>
                  <a:schemeClr val="tx1"/>
                </a:solidFill>
                <a:latin typeface="Arial" panose="020B0604020202020204" pitchFamily="34" charset="0"/>
                <a:cs typeface="Arial" panose="020B0604020202020204" pitchFamily="34" charset="0"/>
              </a:rPr>
              <a:t>Financial reporting standards</a:t>
            </a:r>
          </a:p>
          <a:p>
            <a:pPr algn="l"/>
            <a:endParaRPr lang="en-US" sz="900" dirty="0">
              <a:solidFill>
                <a:schemeClr val="tx1"/>
              </a:solidFill>
              <a:latin typeface="Arial" panose="020B0604020202020204" pitchFamily="34" charset="0"/>
              <a:cs typeface="Arial" panose="020B0604020202020204" pitchFamily="34" charset="0"/>
            </a:endParaRPr>
          </a:p>
          <a:p>
            <a:pPr algn="l"/>
            <a:r>
              <a:rPr lang="en-US" sz="900" dirty="0">
                <a:solidFill>
                  <a:schemeClr val="tx1"/>
                </a:solidFill>
                <a:latin typeface="Arial" panose="020B0604020202020204" pitchFamily="34" charset="0"/>
                <a:cs typeface="Arial" panose="020B0604020202020204" pitchFamily="34" charset="0"/>
              </a:rPr>
              <a:t>We are, of course, subject to quality control reviews and inspections carried out by ASIC and Chartered Accountants Australia and New Zealand (“CAANZ”). </a:t>
            </a:r>
          </a:p>
          <a:p>
            <a:pPr algn="l"/>
            <a:endParaRPr lang="en-US" sz="900" dirty="0">
              <a:solidFill>
                <a:schemeClr val="tx1"/>
              </a:solidFill>
              <a:latin typeface="Arial" panose="020B0604020202020204" pitchFamily="34" charset="0"/>
              <a:cs typeface="Arial" panose="020B0604020202020204" pitchFamily="34" charset="0"/>
            </a:endParaRPr>
          </a:p>
          <a:p>
            <a:pPr algn="l"/>
            <a:r>
              <a:rPr lang="en-US" sz="900" dirty="0">
                <a:solidFill>
                  <a:schemeClr val="tx1"/>
                </a:solidFill>
                <a:latin typeface="Arial" panose="020B0604020202020204" pitchFamily="34" charset="0"/>
                <a:cs typeface="Arial" panose="020B0604020202020204" pitchFamily="34" charset="0"/>
              </a:rPr>
              <a:t>In addition, </a:t>
            </a:r>
            <a:r>
              <a:rPr lang="en-US" sz="900" dirty="0" err="1">
                <a:solidFill>
                  <a:schemeClr val="tx1"/>
                </a:solidFill>
                <a:latin typeface="Arial" panose="020B0604020202020204" pitchFamily="34" charset="0"/>
                <a:cs typeface="Arial" panose="020B0604020202020204" pitchFamily="34" charset="0"/>
              </a:rPr>
              <a:t>In.Corp</a:t>
            </a:r>
            <a:r>
              <a:rPr lang="en-US" sz="900" dirty="0">
                <a:solidFill>
                  <a:schemeClr val="tx1"/>
                </a:solidFill>
                <a:latin typeface="Arial" panose="020B0604020202020204" pitchFamily="34" charset="0"/>
                <a:cs typeface="Arial" panose="020B0604020202020204" pitchFamily="34" charset="0"/>
              </a:rPr>
              <a:t> adopts the following procedures:</a:t>
            </a:r>
          </a:p>
          <a:p>
            <a:pPr algn="l"/>
            <a:endParaRPr lang="en-US" sz="900" dirty="0">
              <a:solidFill>
                <a:schemeClr val="tx1"/>
              </a:solidFill>
              <a:latin typeface="Arial" panose="020B0604020202020204" pitchFamily="34" charset="0"/>
              <a:cs typeface="Arial" panose="020B0604020202020204" pitchFamily="34" charset="0"/>
            </a:endParaRPr>
          </a:p>
          <a:p>
            <a:pPr marL="171450" indent="-171450" algn="l">
              <a:lnSpc>
                <a:spcPct val="150000"/>
              </a:lnSpc>
              <a:buFont typeface="Arial" panose="020B0604020202020204" pitchFamily="34" charset="0"/>
              <a:buChar char="•"/>
            </a:pPr>
            <a:r>
              <a:rPr lang="en-US" sz="900" dirty="0">
                <a:solidFill>
                  <a:schemeClr val="tx1"/>
                </a:solidFill>
                <a:latin typeface="Arial" panose="020B0604020202020204" pitchFamily="34" charset="0"/>
                <a:cs typeface="Arial" panose="020B0604020202020204" pitchFamily="34" charset="0"/>
              </a:rPr>
              <a:t>Annual independence confirmation from all partners and staff;</a:t>
            </a:r>
          </a:p>
          <a:p>
            <a:pPr marL="171450" indent="-171450" algn="l">
              <a:lnSpc>
                <a:spcPct val="150000"/>
              </a:lnSpc>
              <a:buFont typeface="Arial" panose="020B0604020202020204" pitchFamily="34" charset="0"/>
              <a:buChar char="•"/>
            </a:pPr>
            <a:r>
              <a:rPr lang="en-US" sz="900" dirty="0">
                <a:solidFill>
                  <a:schemeClr val="tx1"/>
                </a:solidFill>
                <a:latin typeface="Arial" panose="020B0604020202020204" pitchFamily="34" charset="0"/>
                <a:cs typeface="Arial" panose="020B0604020202020204" pitchFamily="34" charset="0"/>
              </a:rPr>
              <a:t>Concurring partners assigned to all sensitive engagements;</a:t>
            </a:r>
          </a:p>
          <a:p>
            <a:pPr marL="171450" indent="-171450" algn="l">
              <a:lnSpc>
                <a:spcPct val="150000"/>
              </a:lnSpc>
              <a:buFont typeface="Arial" panose="020B0604020202020204" pitchFamily="34" charset="0"/>
              <a:buChar char="•"/>
            </a:pPr>
            <a:r>
              <a:rPr lang="en-US" sz="900" dirty="0">
                <a:solidFill>
                  <a:schemeClr val="tx1"/>
                </a:solidFill>
                <a:latin typeface="Arial" panose="020B0604020202020204" pitchFamily="34" charset="0"/>
                <a:cs typeface="Arial" panose="020B0604020202020204" pitchFamily="34" charset="0"/>
              </a:rPr>
              <a:t>External technical financial reporting and audit support; and</a:t>
            </a:r>
          </a:p>
          <a:p>
            <a:pPr marL="171450" indent="-171450" algn="l">
              <a:lnSpc>
                <a:spcPct val="150000"/>
              </a:lnSpc>
              <a:buFont typeface="Arial" panose="020B0604020202020204" pitchFamily="34" charset="0"/>
              <a:buChar char="•"/>
            </a:pPr>
            <a:r>
              <a:rPr lang="en-US" sz="900" dirty="0">
                <a:solidFill>
                  <a:schemeClr val="tx1"/>
                </a:solidFill>
                <a:latin typeface="Arial" panose="020B0604020202020204" pitchFamily="34" charset="0"/>
                <a:cs typeface="Arial" panose="020B0604020202020204" pitchFamily="34" charset="0"/>
              </a:rPr>
              <a:t>Modified audit report consultation and approval procedures. </a:t>
            </a:r>
          </a:p>
          <a:p>
            <a:pPr algn="l">
              <a:lnSpc>
                <a:spcPct val="150000"/>
              </a:lnSpc>
            </a:pPr>
            <a:r>
              <a:rPr lang="en-US" sz="900" dirty="0">
                <a:solidFill>
                  <a:schemeClr val="tx1"/>
                </a:solidFill>
                <a:latin typeface="Arial" panose="020B0604020202020204" pitchFamily="34" charset="0"/>
                <a:cs typeface="Arial" panose="020B0604020202020204" pitchFamily="34" charset="0"/>
              </a:rPr>
              <a:t>Our latest Audit and Transparency Report can be found </a:t>
            </a:r>
            <a:r>
              <a:rPr lang="en-US" sz="900" u="sng" dirty="0">
                <a:solidFill>
                  <a:schemeClr val="accent1">
                    <a:lumMod val="75000"/>
                  </a:schemeClr>
                </a:solidFill>
                <a:latin typeface="Arial" panose="020B0604020202020204" pitchFamily="34" charset="0"/>
                <a:cs typeface="Arial" panose="020B0604020202020204" pitchFamily="34" charset="0"/>
                <a:hlinkClick r:id="rId2"/>
              </a:rPr>
              <a:t>here</a:t>
            </a:r>
            <a:endParaRPr lang="en-US" sz="900" u="sng" dirty="0">
              <a:solidFill>
                <a:schemeClr val="accent1">
                  <a:lumMod val="75000"/>
                </a:schemeClr>
              </a:solidFill>
              <a:latin typeface="Arial" panose="020B0604020202020204" pitchFamily="34" charset="0"/>
              <a:cs typeface="Arial" panose="020B0604020202020204" pitchFamily="34" charset="0"/>
            </a:endParaRPr>
          </a:p>
        </p:txBody>
      </p:sp>
      <p:sp>
        <p:nvSpPr>
          <p:cNvPr id="11" name="Text Placeholder 9">
            <a:extLst>
              <a:ext uri="{FF2B5EF4-FFF2-40B4-BE49-F238E27FC236}">
                <a16:creationId xmlns:a16="http://schemas.microsoft.com/office/drawing/2014/main" id="{C43D9091-8E5B-4282-B8C2-E4FADAF112DE}"/>
              </a:ext>
            </a:extLst>
          </p:cNvPr>
          <p:cNvSpPr txBox="1">
            <a:spLocks/>
          </p:cNvSpPr>
          <p:nvPr/>
        </p:nvSpPr>
        <p:spPr>
          <a:xfrm>
            <a:off x="5917580" y="1898341"/>
            <a:ext cx="5106924" cy="5169034"/>
          </a:xfrm>
          <a:prstGeom prst="rect">
            <a:avLst/>
          </a:prstGeom>
        </p:spPr>
        <p:txBody>
          <a:bodyPr vert="horz" lIns="0" tIns="45720" rIns="0" bIns="45720" numCol="1" rtlCol="0" anchor="t" anchorCtr="0"/>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900" dirty="0">
                <a:solidFill>
                  <a:schemeClr val="tx1"/>
                </a:solidFill>
                <a:latin typeface="Arial" panose="020B0604020202020204" pitchFamily="34" charset="0"/>
                <a:cs typeface="Arial" panose="020B0604020202020204" pitchFamily="34" charset="0"/>
              </a:rPr>
              <a:t>If there are occasions when we cannot reach a mutually acceptable solution, we have the support of our technical assurance providers. They will provide specialist advice on the impact of the accounting and auditing standards and identify practical solutions to issues.</a:t>
            </a:r>
          </a:p>
          <a:p>
            <a:pPr algn="l"/>
            <a:endParaRPr lang="en-US" sz="900" dirty="0">
              <a:solidFill>
                <a:schemeClr val="tx1"/>
              </a:solidFill>
              <a:latin typeface="Arial" panose="020B0604020202020204" pitchFamily="34" charset="0"/>
              <a:cs typeface="Arial" panose="020B0604020202020204" pitchFamily="34" charset="0"/>
            </a:endParaRPr>
          </a:p>
          <a:p>
            <a:pPr algn="l"/>
            <a:r>
              <a:rPr lang="en-US" b="1" dirty="0">
                <a:solidFill>
                  <a:srgbClr val="2F465A"/>
                </a:solidFill>
                <a:latin typeface="Arial" panose="020B0604020202020204" pitchFamily="34" charset="0"/>
                <a:cs typeface="Arial" panose="020B0604020202020204" pitchFamily="34" charset="0"/>
              </a:rPr>
              <a:t>INDEPENDENCE &amp; GOVERNANCE</a:t>
            </a:r>
          </a:p>
          <a:p>
            <a:pPr algn="l"/>
            <a:endParaRPr lang="en-US" sz="900" dirty="0">
              <a:solidFill>
                <a:schemeClr val="tx1"/>
              </a:solidFill>
              <a:latin typeface="Arial" panose="020B0604020202020204" pitchFamily="34" charset="0"/>
              <a:cs typeface="Arial" panose="020B0604020202020204" pitchFamily="34" charset="0"/>
            </a:endParaRPr>
          </a:p>
          <a:p>
            <a:pPr algn="l"/>
            <a:r>
              <a:rPr lang="en-US" sz="900" dirty="0">
                <a:solidFill>
                  <a:schemeClr val="tx1"/>
                </a:solidFill>
                <a:latin typeface="Arial" panose="020B0604020202020204" pitchFamily="34" charset="0"/>
                <a:cs typeface="Arial" panose="020B0604020202020204" pitchFamily="34" charset="0"/>
              </a:rPr>
              <a:t>Annual independence declarations are carried out by all staff and partners and the internal independence process is monitored by the firm’s Quality Control Officers. The officers assist in conducting searches for independence by maintaining registers and communications across the firm on all engagements.</a:t>
            </a:r>
          </a:p>
          <a:p>
            <a:pPr algn="l"/>
            <a:endParaRPr lang="en-US" sz="900" dirty="0">
              <a:solidFill>
                <a:schemeClr val="tx1"/>
              </a:solidFill>
              <a:latin typeface="Arial" panose="020B0604020202020204" pitchFamily="34" charset="0"/>
              <a:cs typeface="Arial" panose="020B0604020202020204" pitchFamily="34" charset="0"/>
            </a:endParaRPr>
          </a:p>
          <a:p>
            <a:pPr algn="l"/>
            <a:r>
              <a:rPr sz="900">
                <a:solidFill>
                  <a:schemeClr val="tx1"/>
                </a:solidFill>
                <a:latin typeface="Arial"/>
              </a:rPr>
              <a:t>In assessing our independence for the SRJ Technologies Group Plc audit we considered the independence requirements of both the </a:t>
            </a:r>
            <a:r>
              <a:rPr sz="900" i="1">
                <a:solidFill>
                  <a:schemeClr val="tx1"/>
                </a:solidFill>
                <a:latin typeface="Arial"/>
              </a:rPr>
              <a:t>Corporations Act 2001 </a:t>
            </a:r>
            <a:r>
              <a:rPr sz="900">
                <a:solidFill>
                  <a:schemeClr val="tx1"/>
                </a:solidFill>
                <a:latin typeface="Arial"/>
              </a:rPr>
              <a:t>and APES 110 </a:t>
            </a:r>
            <a:r>
              <a:rPr sz="900" i="1">
                <a:solidFill>
                  <a:schemeClr val="tx1"/>
                </a:solidFill>
                <a:latin typeface="Arial"/>
              </a:rPr>
              <a:t>Code of Ethics for Professional Accountants (including Independence Standards)</a:t>
            </a:r>
            <a:r>
              <a:rPr sz="900">
                <a:solidFill>
                  <a:schemeClr val="tx1"/>
                </a:solidFill>
                <a:latin typeface="Arial"/>
              </a:rPr>
              <a:t>.</a:t>
            </a:r>
          </a:p>
          <a:p>
            <a:pPr algn="l"/>
            <a:endParaRPr lang="en-US" sz="900" dirty="0">
              <a:solidFill>
                <a:schemeClr val="tx1"/>
              </a:solidFill>
              <a:latin typeface="Arial" panose="020B0604020202020204" pitchFamily="34" charset="0"/>
              <a:cs typeface="Arial" panose="020B0604020202020204" pitchFamily="34" charset="0"/>
            </a:endParaRPr>
          </a:p>
          <a:p>
            <a:pPr algn="l"/>
            <a:r>
              <a:rPr sz="900">
                <a:solidFill>
                  <a:schemeClr val="tx1"/>
                </a:solidFill>
                <a:latin typeface="Arial"/>
              </a:rPr>
              <a:t>We consider that the nature of the services provided to SRJ Technologies Group Plc and the related safeguards in place, namely having separate teams conducting the audit and any applicable tax engagements to ensure compliance with the </a:t>
            </a:r>
            <a:r>
              <a:rPr sz="900" i="1">
                <a:solidFill>
                  <a:schemeClr val="tx1"/>
                </a:solidFill>
                <a:latin typeface="Arial"/>
              </a:rPr>
              <a:t>Corporations Act 2001 </a:t>
            </a:r>
            <a:r>
              <a:rPr sz="900">
                <a:solidFill>
                  <a:schemeClr val="tx1"/>
                </a:solidFill>
                <a:latin typeface="Arial"/>
              </a:rPr>
              <a:t>and APES 110.</a:t>
            </a:r>
          </a:p>
          <a:p>
            <a:pPr algn="l"/>
            <a:endParaRPr lang="en-US" sz="900" dirty="0">
              <a:solidFill>
                <a:schemeClr val="tx1"/>
              </a:solidFill>
              <a:latin typeface="Arial" panose="020B0604020202020204" pitchFamily="34" charset="0"/>
              <a:cs typeface="Arial" panose="020B0604020202020204" pitchFamily="34" charset="0"/>
            </a:endParaRPr>
          </a:p>
          <a:p>
            <a:pPr algn="l"/>
            <a:endParaRPr lang="en-AU" sz="900" dirty="0">
              <a:solidFill>
                <a:schemeClr val="tx1"/>
              </a:solidFill>
              <a:latin typeface="Arial" panose="020B0604020202020204" pitchFamily="34" charset="0"/>
              <a:cs typeface="Arial" panose="020B0604020202020204" pitchFamily="34" charset="0"/>
            </a:endParaRPr>
          </a:p>
          <a:p>
            <a:pPr algn="l"/>
            <a:endParaRPr lang="en-AU" sz="900" dirty="0">
              <a:solidFill>
                <a:schemeClr val="tx1"/>
              </a:solidFill>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07BAF100-02F1-E7BF-195A-8F988969F06D}"/>
              </a:ext>
            </a:extLst>
          </p:cNvPr>
          <p:cNvSpPr/>
          <p:nvPr/>
        </p:nvSpPr>
        <p:spPr>
          <a:xfrm rot="16200000" flipV="1">
            <a:off x="-2847475" y="3158896"/>
            <a:ext cx="5752282" cy="75438"/>
          </a:xfrm>
          <a:prstGeom prst="rec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350" dirty="0"/>
              <a:t>-</a:t>
            </a:r>
          </a:p>
        </p:txBody>
      </p:sp>
      <p:sp>
        <p:nvSpPr>
          <p:cNvPr id="9" name="Rectangle 8">
            <a:extLst>
              <a:ext uri="{FF2B5EF4-FFF2-40B4-BE49-F238E27FC236}">
                <a16:creationId xmlns:a16="http://schemas.microsoft.com/office/drawing/2014/main" id="{9BD5C092-7F73-94B6-9AAC-D583B128520F}"/>
              </a:ext>
            </a:extLst>
          </p:cNvPr>
          <p:cNvSpPr/>
          <p:nvPr/>
        </p:nvSpPr>
        <p:spPr>
          <a:xfrm rot="16200000" flipV="1">
            <a:off x="9298408" y="3236774"/>
            <a:ext cx="5752282" cy="75438"/>
          </a:xfrm>
          <a:prstGeom prst="rec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350" dirty="0"/>
          </a:p>
        </p:txBody>
      </p:sp>
      <p:pic>
        <p:nvPicPr>
          <p:cNvPr id="3" name="Picture 2" descr="A white and red globe with a black background&#10;&#10;AI-generated content may be incorrect.">
            <a:extLst>
              <a:ext uri="{FF2B5EF4-FFF2-40B4-BE49-F238E27FC236}">
                <a16:creationId xmlns:a16="http://schemas.microsoft.com/office/drawing/2014/main" id="{5244E952-906D-4DF7-4729-8D5228B346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86" y="6219147"/>
            <a:ext cx="1052953" cy="453783"/>
          </a:xfrm>
          <a:prstGeom prst="rect">
            <a:avLst/>
          </a:prstGeom>
        </p:spPr>
      </p:pic>
    </p:spTree>
    <p:extLst>
      <p:ext uri="{BB962C8B-B14F-4D97-AF65-F5344CB8AC3E}">
        <p14:creationId xmlns:p14="http://schemas.microsoft.com/office/powerpoint/2010/main" val="29383321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15BF6A-74A0-5612-7755-827188DE1D97}"/>
              </a:ext>
            </a:extLst>
          </p:cNvPr>
          <p:cNvPicPr>
            <a:picLocks noChangeAspect="1"/>
          </p:cNvPicPr>
          <p:nvPr/>
        </p:nvPicPr>
        <p:blipFill>
          <a:blip r:embed="rId2"/>
          <a:stretch>
            <a:fillRect/>
          </a:stretch>
        </p:blipFill>
        <p:spPr>
          <a:xfrm>
            <a:off x="0" y="13651"/>
            <a:ext cx="12216368" cy="6844349"/>
          </a:xfrm>
          <a:prstGeom prst="rect">
            <a:avLst/>
          </a:prstGeom>
        </p:spPr>
      </p:pic>
    </p:spTree>
    <p:extLst>
      <p:ext uri="{BB962C8B-B14F-4D97-AF65-F5344CB8AC3E}">
        <p14:creationId xmlns:p14="http://schemas.microsoft.com/office/powerpoint/2010/main" val="860952417"/>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6fdbb0d-305a-4271-ac24-033ea4b3a6f8">
      <Terms xmlns="http://schemas.microsoft.com/office/infopath/2007/PartnerControls"/>
    </lcf76f155ced4ddcb4097134ff3c332f>
    <TaxCatchAll xmlns="43cc3601-8a33-48b9-8020-daef0afa1fc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61A5F64FE3A3F4A9BFA2BCF660C1B06" ma:contentTypeVersion="12" ma:contentTypeDescription="Create a new document." ma:contentTypeScope="" ma:versionID="305600bece4d1e7ee21a80cb661f6360">
  <xsd:schema xmlns:xsd="http://www.w3.org/2001/XMLSchema" xmlns:xs="http://www.w3.org/2001/XMLSchema" xmlns:p="http://schemas.microsoft.com/office/2006/metadata/properties" xmlns:ns2="16fdbb0d-305a-4271-ac24-033ea4b3a6f8" xmlns:ns3="43cc3601-8a33-48b9-8020-daef0afa1fc6" targetNamespace="http://schemas.microsoft.com/office/2006/metadata/properties" ma:root="true" ma:fieldsID="3eb9d6f50fed1351ffc4243a12157899" ns2:_="" ns3:_="">
    <xsd:import namespace="16fdbb0d-305a-4271-ac24-033ea4b3a6f8"/>
    <xsd:import namespace="43cc3601-8a33-48b9-8020-daef0afa1fc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fdbb0d-305a-4271-ac24-033ea4b3a6f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BillingMetadata" ma:index="15" nillable="true" ma:displayName="MediaServiceBillingMetadata" ma:hidden="true" ma:internalName="MediaServiceBillingMetadata" ma:readOnly="true">
      <xsd:simpleType>
        <xsd:restriction base="dms:Note"/>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ff712b4-0b60-45e8-96a8-bfd0ef1b709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3cc3601-8a33-48b9-8020-daef0afa1fc6"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5f6625b4-58b9-4d89-a582-5572396ed049}" ma:internalName="TaxCatchAll" ma:showField="CatchAllData" ma:web="43cc3601-8a33-48b9-8020-daef0afa1fc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43D2B2C-727E-4841-9D7E-AC2575E1620E}">
  <ds:schemaRefs>
    <ds:schemaRef ds:uri="http://schemas.microsoft.com/office/2006/metadata/properties"/>
    <ds:schemaRef ds:uri="http://schemas.microsoft.com/office/infopath/2007/PartnerControls"/>
    <ds:schemaRef ds:uri="16fdbb0d-305a-4271-ac24-033ea4b3a6f8"/>
    <ds:schemaRef ds:uri="43cc3601-8a33-48b9-8020-daef0afa1fc6"/>
  </ds:schemaRefs>
</ds:datastoreItem>
</file>

<file path=customXml/itemProps2.xml><?xml version="1.0" encoding="utf-8"?>
<ds:datastoreItem xmlns:ds="http://schemas.openxmlformats.org/officeDocument/2006/customXml" ds:itemID="{FC0C18EC-372A-4B5E-92BE-FFF2138C3777}">
  <ds:schemaRefs>
    <ds:schemaRef ds:uri="http://schemas.microsoft.com/sharepoint/v3/contenttype/forms"/>
  </ds:schemaRefs>
</ds:datastoreItem>
</file>

<file path=customXml/itemProps3.xml><?xml version="1.0" encoding="utf-8"?>
<ds:datastoreItem xmlns:ds="http://schemas.openxmlformats.org/officeDocument/2006/customXml" ds:itemID="{53E97D4A-3A89-42BD-87BF-4F2325E086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6fdbb0d-305a-4271-ac24-033ea4b3a6f8"/>
    <ds:schemaRef ds:uri="43cc3601-8a33-48b9-8020-daef0afa1fc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defa4170-0d19-0005-0004-bc88714345d2}" enabled="1" method="Standard" siteId="{16b2da74-16c2-4ae1-a9fd-f3ec8f19d362}" removed="0"/>
</clbl:labelList>
</file>

<file path=docProps/app.xml><?xml version="1.0" encoding="utf-8"?>
<Properties xmlns="http://schemas.openxmlformats.org/officeDocument/2006/extended-properties" xmlns:vt="http://schemas.openxmlformats.org/officeDocument/2006/docPropsVTypes">
  <Template>Office 2013 - 2022 Theme</Template>
  <TotalTime>10534</TotalTime>
  <Words>4035</Words>
  <Application>Microsoft Macintosh PowerPoint</Application>
  <PresentationFormat>Widescreen</PresentationFormat>
  <Paragraphs>490</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Calibri Light</vt:lpstr>
      <vt:lpstr>Candara</vt:lpstr>
      <vt:lpstr>Corbel</vt:lpstr>
      <vt:lpstr>Trebuchet MS</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Nicholas Petrakis</dc:creator>
  <cp:lastModifiedBy>Zhenxuan Wang</cp:lastModifiedBy>
  <cp:revision>356</cp:revision>
  <dcterms:created xsi:type="dcterms:W3CDTF">2019-07-01T06:33:54Z</dcterms:created>
  <dcterms:modified xsi:type="dcterms:W3CDTF">2026-05-28T02:51:19Z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0x010100661A5F64FE3A3F4A9BFA2BCF660C1B06</vt:lpwstr>
  </property>
</Properties>
</file>