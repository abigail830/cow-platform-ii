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07" r:id="rId4"/>
  </p:sldMasterIdLst>
  <p:notesMasterIdLst>
    <p:notesMasterId r:id="rId65"/>
  </p:notesMasterIdLst>
  <p:handoutMasterIdLst>
    <p:handoutMasterId r:id="rId66"/>
  </p:handoutMasterIdLst>
  <p:sldIdLst>
    <p:sldId id="4612" r:id="rId5"/>
    <p:sldId id="4613" r:id="rId6"/>
    <p:sldId id="4498" r:id="rId7"/>
    <p:sldId id="4689" r:id="rId8"/>
    <p:sldId id="4690" r:id="rId9"/>
    <p:sldId id="2147483549" r:id="rId10"/>
    <p:sldId id="2147483439" r:id="rId11"/>
    <p:sldId id="2147483440" r:id="rId12"/>
    <p:sldId id="2147483442" r:id="rId13"/>
    <p:sldId id="4499" r:id="rId14"/>
    <p:sldId id="4489" r:id="rId15"/>
    <p:sldId id="4500" r:id="rId16"/>
    <p:sldId id="2147483443" r:id="rId17"/>
    <p:sldId id="2147483444" r:id="rId18"/>
    <p:sldId id="4718" r:id="rId19"/>
    <p:sldId id="4502" r:id="rId20"/>
    <p:sldId id="4688" r:id="rId21"/>
    <p:sldId id="2147483545" r:id="rId22"/>
    <p:sldId id="2147483546" r:id="rId23"/>
    <p:sldId id="2147483547" r:id="rId24"/>
    <p:sldId id="2147483487" r:id="rId25"/>
    <p:sldId id="2147483484" r:id="rId26"/>
    <p:sldId id="2147483520" r:id="rId27"/>
    <p:sldId id="4508" r:id="rId28"/>
    <p:sldId id="2147483461" r:id="rId29"/>
    <p:sldId id="2147483446" r:id="rId30"/>
    <p:sldId id="4636" r:id="rId31"/>
    <p:sldId id="4549" r:id="rId32"/>
    <p:sldId id="4538" r:id="rId33"/>
    <p:sldId id="2147483447" r:id="rId34"/>
    <p:sldId id="2147483449" r:id="rId35"/>
    <p:sldId id="2147483452" r:id="rId36"/>
    <p:sldId id="2147483553" r:id="rId37"/>
    <p:sldId id="2147483450" r:id="rId38"/>
    <p:sldId id="2147483555" r:id="rId39"/>
    <p:sldId id="2147483451" r:id="rId40"/>
    <p:sldId id="2147483556" r:id="rId41"/>
    <p:sldId id="2147483557" r:id="rId42"/>
    <p:sldId id="2147483558" r:id="rId43"/>
    <p:sldId id="2147483559" r:id="rId44"/>
    <p:sldId id="2147483560" r:id="rId45"/>
    <p:sldId id="4624" r:id="rId46"/>
    <p:sldId id="4631" r:id="rId47"/>
    <p:sldId id="4632" r:id="rId48"/>
    <p:sldId id="4633" r:id="rId49"/>
    <p:sldId id="4634" r:id="rId50"/>
    <p:sldId id="4563" r:id="rId51"/>
    <p:sldId id="2147483561" r:id="rId52"/>
    <p:sldId id="4566" r:id="rId53"/>
    <p:sldId id="4615" r:id="rId54"/>
    <p:sldId id="4560" r:id="rId55"/>
    <p:sldId id="4676" r:id="rId56"/>
    <p:sldId id="4565" r:id="rId57"/>
    <p:sldId id="4608" r:id="rId58"/>
    <p:sldId id="4609" r:id="rId59"/>
    <p:sldId id="2147483548" r:id="rId60"/>
    <p:sldId id="4714" r:id="rId61"/>
    <p:sldId id="2147483550" r:id="rId62"/>
    <p:sldId id="4642" r:id="rId63"/>
    <p:sldId id="2754" r:id="rId64"/>
  </p:sldIdLst>
  <p:sldSz cx="12192000" cy="6858000"/>
  <p:notesSz cx="9926638" cy="6797675"/>
  <p:embeddedFontLst>
    <p:embeddedFont>
      <p:font typeface="Arial Black" panose="020B0A04020102020204" pitchFamily="34" charset="0"/>
      <p:bold r:id="rId67"/>
    </p:embeddedFont>
    <p:embeddedFont>
      <p:font typeface="Bebas Neue" panose="020B0606020202050201" pitchFamily="34" charset="0"/>
      <p:regular r:id="rId68"/>
    </p:embeddedFont>
    <p:embeddedFont>
      <p:font typeface="Gill Sans MT" panose="020B0502020104020203" pitchFamily="34" charset="0"/>
      <p:regular r:id="rId69"/>
      <p:bold r:id="rId70"/>
      <p:italic r:id="rId71"/>
      <p:boldItalic r:id="rId72"/>
    </p:embeddedFont>
    <p:embeddedFont>
      <p:font typeface="Lato Light" panose="020F0502020204030203" pitchFamily="34" charset="0"/>
      <p:regular r:id="rId73"/>
      <p:italic r:id="rId74"/>
    </p:embeddedFont>
    <p:embeddedFont>
      <p:font typeface="Open Sans Semibold" panose="020B0706030804020204" pitchFamily="34" charset="0"/>
      <p:bold r:id="rId75"/>
      <p:boldItalic r:id="rId76"/>
    </p:embeddedFont>
    <p:embeddedFont>
      <p:font typeface="Poppins" panose="00000500000000000000" pitchFamily="2" charset="0"/>
      <p:regular r:id="rId77"/>
      <p:bold r:id="rId78"/>
      <p:italic r:id="rId79"/>
      <p:boldItalic r:id="rId80"/>
    </p:embeddedFont>
    <p:embeddedFont>
      <p:font typeface="Roboto" panose="02000000000000000000" pitchFamily="2" charset="0"/>
      <p:regular r:id="rId81"/>
      <p:bold r:id="rId82"/>
      <p:italic r:id="rId83"/>
      <p:boldItalic r:id="rId84"/>
    </p:embeddedFont>
    <p:embeddedFont>
      <p:font typeface="Roboto Black" panose="02000000000000000000" pitchFamily="2" charset="0"/>
      <p:bold r:id="rId85"/>
      <p:boldItalic r:id="rId86"/>
    </p:embeddedFont>
    <p:embeddedFont>
      <p:font typeface="Roboto Medium" panose="02000000000000000000" pitchFamily="2" charset="0"/>
      <p:regular r:id="rId87"/>
      <p:italic r:id="rId8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67" userDrawn="1">
          <p15:clr>
            <a:srgbClr val="A4A3A4"/>
          </p15:clr>
        </p15:guide>
        <p15:guide id="2" pos="6244" userDrawn="1">
          <p15:clr>
            <a:srgbClr val="A4A3A4"/>
          </p15:clr>
        </p15:guide>
        <p15:guide id="3" orient="horz" pos="232" userDrawn="1">
          <p15:clr>
            <a:srgbClr val="A4A3A4"/>
          </p15:clr>
        </p15:guide>
        <p15:guide id="4" orient="horz" pos="3725" userDrawn="1">
          <p15:clr>
            <a:srgbClr val="A4A3A4"/>
          </p15:clr>
        </p15:guide>
        <p15:guide id="5" pos="279" userDrawn="1">
          <p15:clr>
            <a:srgbClr val="A4A3A4"/>
          </p15:clr>
        </p15:guide>
        <p15:guide id="6" pos="483" userDrawn="1">
          <p15:clr>
            <a:srgbClr val="A4A3A4"/>
          </p15:clr>
        </p15:guide>
        <p15:guide id="7" pos="3840" userDrawn="1">
          <p15:clr>
            <a:srgbClr val="A4A3A4"/>
          </p15:clr>
        </p15:guide>
        <p15:guide id="8" pos="2389" userDrawn="1">
          <p15:clr>
            <a:srgbClr val="A4A3A4"/>
          </p15:clr>
        </p15:guide>
        <p15:guide id="9" orient="horz" pos="98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42E2CF3-AF68-F69A-DDC4-5E3AB0CDE7D9}" name="Cecilia Wong" initials="CW" userId="S::Cecilia.Wong@ascendr.com::23dc6754-7c5a-404d-8ca8-451bc1f262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ris Yu" initials="DY" lastIdx="1" clrIdx="0">
    <p:extLst>
      <p:ext uri="{19B8F6BF-5375-455C-9EA6-DF929625EA0E}">
        <p15:presenceInfo xmlns:p15="http://schemas.microsoft.com/office/powerpoint/2012/main" userId="S::Dorisyu@incorp.asia::8f988b72-9132-45fb-afb4-7121d74bb7b0" providerId="AD"/>
      </p:ext>
    </p:extLst>
  </p:cmAuthor>
  <p:cmAuthor id="2" name="Doris Yu" initials="DY [2]" lastIdx="2" clrIdx="1">
    <p:extLst>
      <p:ext uri="{19B8F6BF-5375-455C-9EA6-DF929625EA0E}">
        <p15:presenceInfo xmlns:p15="http://schemas.microsoft.com/office/powerpoint/2012/main" userId="S-1-5-21-1807917232-2194108885-3820556636-861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465A"/>
    <a:srgbClr val="00588A"/>
    <a:srgbClr val="9F6BCF"/>
    <a:srgbClr val="9BE5FF"/>
    <a:srgbClr val="5BD4FF"/>
    <a:srgbClr val="B1DDCF"/>
    <a:srgbClr val="61BB9F"/>
    <a:srgbClr val="E88080"/>
    <a:srgbClr val="DD3F3F"/>
    <a:srgbClr val="BB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6655C2-33BA-4AD4-9071-F6D15E57FFDD}" v="3" dt="2026-03-12T09:41:16.682"/>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96340" autoAdjust="0"/>
  </p:normalViewPr>
  <p:slideViewPr>
    <p:cSldViewPr snapToGrid="0">
      <p:cViewPr varScale="1">
        <p:scale>
          <a:sx n="58" d="100"/>
          <a:sy n="58" d="100"/>
        </p:scale>
        <p:origin x="740" y="268"/>
      </p:cViewPr>
      <p:guideLst>
        <p:guide orient="horz" pos="3067"/>
        <p:guide pos="6244"/>
        <p:guide orient="horz" pos="232"/>
        <p:guide orient="horz" pos="3725"/>
        <p:guide pos="279"/>
        <p:guide pos="483"/>
        <p:guide pos="3840"/>
        <p:guide pos="2389"/>
        <p:guide orient="horz" pos="981"/>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64" d="100"/>
          <a:sy n="64" d="100"/>
        </p:scale>
        <p:origin x="1696" y="3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font" Target="fonts/font2.fntdata"/><Relationship Id="rId84" Type="http://schemas.openxmlformats.org/officeDocument/2006/relationships/font" Target="fonts/font18.fntdata"/><Relationship Id="rId89" Type="http://schemas.openxmlformats.org/officeDocument/2006/relationships/commentAuthors" Target="commentAuthor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font" Target="fonts/font8.fntdata"/><Relationship Id="rId79" Type="http://schemas.openxmlformats.org/officeDocument/2006/relationships/font" Target="fonts/font13.fntdata"/><Relationship Id="rId5" Type="http://schemas.openxmlformats.org/officeDocument/2006/relationships/slide" Target="slides/slide1.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font" Target="fonts/font3.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6.fntdata"/><Relationship Id="rId80" Type="http://schemas.openxmlformats.org/officeDocument/2006/relationships/font" Target="fonts/font14.fntdata"/><Relationship Id="rId85" Type="http://schemas.openxmlformats.org/officeDocument/2006/relationships/font" Target="fonts/font19.fntdata"/><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font" Target="fonts/font1.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font" Target="fonts/font4.fntdata"/><Relationship Id="rId75" Type="http://schemas.openxmlformats.org/officeDocument/2006/relationships/font" Target="fonts/font9.fntdata"/><Relationship Id="rId83" Type="http://schemas.openxmlformats.org/officeDocument/2006/relationships/font" Target="fonts/font17.fntdata"/><Relationship Id="rId88" Type="http://schemas.openxmlformats.org/officeDocument/2006/relationships/font" Target="fonts/font22.fntdata"/><Relationship Id="rId91" Type="http://schemas.openxmlformats.org/officeDocument/2006/relationships/viewProps" Target="viewProp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73" Type="http://schemas.openxmlformats.org/officeDocument/2006/relationships/font" Target="fonts/font7.fntdata"/><Relationship Id="rId78" Type="http://schemas.openxmlformats.org/officeDocument/2006/relationships/font" Target="fonts/font12.fntdata"/><Relationship Id="rId81" Type="http://schemas.openxmlformats.org/officeDocument/2006/relationships/font" Target="fonts/font15.fntdata"/><Relationship Id="rId86" Type="http://schemas.openxmlformats.org/officeDocument/2006/relationships/font" Target="fonts/font20.fntdata"/><Relationship Id="rId9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0.fntdata"/><Relationship Id="rId7" Type="http://schemas.openxmlformats.org/officeDocument/2006/relationships/slide" Target="slides/slide3.xml"/><Relationship Id="rId71" Type="http://schemas.openxmlformats.org/officeDocument/2006/relationships/font" Target="fonts/font5.fntdata"/><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handoutMaster" Target="handoutMasters/handoutMaster1.xml"/><Relationship Id="rId87" Type="http://schemas.openxmlformats.org/officeDocument/2006/relationships/font" Target="fonts/font21.fntdata"/><Relationship Id="rId61" Type="http://schemas.openxmlformats.org/officeDocument/2006/relationships/slide" Target="slides/slide57.xml"/><Relationship Id="rId82" Type="http://schemas.openxmlformats.org/officeDocument/2006/relationships/font" Target="fonts/font16.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by Rouben" userId="39b87079-55b9-4835-bf62-a133845ec736" providerId="ADAL" clId="{FF0876FA-2513-480C-8235-79CE37C2C835}"/>
    <pc:docChg chg="undo custSel modSld">
      <pc:chgData name="Ruby Rouben" userId="39b87079-55b9-4835-bf62-a133845ec736" providerId="ADAL" clId="{FF0876FA-2513-480C-8235-79CE37C2C835}" dt="2026-03-12T09:46:57.469" v="33" actId="13926"/>
      <pc:docMkLst>
        <pc:docMk/>
      </pc:docMkLst>
      <pc:sldChg chg="modSp mod">
        <pc:chgData name="Ruby Rouben" userId="39b87079-55b9-4835-bf62-a133845ec736" providerId="ADAL" clId="{FF0876FA-2513-480C-8235-79CE37C2C835}" dt="2026-03-12T09:44:09.989" v="18" actId="13926"/>
        <pc:sldMkLst>
          <pc:docMk/>
          <pc:sldMk cId="4008664760" sldId="4565"/>
        </pc:sldMkLst>
        <pc:spChg chg="mod">
          <ac:chgData name="Ruby Rouben" userId="39b87079-55b9-4835-bf62-a133845ec736" providerId="ADAL" clId="{FF0876FA-2513-480C-8235-79CE37C2C835}" dt="2026-03-12T09:44:09.989" v="18" actId="13926"/>
          <ac:spMkLst>
            <pc:docMk/>
            <pc:sldMk cId="4008664760" sldId="4565"/>
            <ac:spMk id="5" creationId="{EEAE8B62-2DE3-93D6-DFEE-D15940E59362}"/>
          </ac:spMkLst>
        </pc:spChg>
      </pc:sldChg>
      <pc:sldChg chg="modSp mod">
        <pc:chgData name="Ruby Rouben" userId="39b87079-55b9-4835-bf62-a133845ec736" providerId="ADAL" clId="{FF0876FA-2513-480C-8235-79CE37C2C835}" dt="2026-03-12T09:44:16.969" v="20" actId="13926"/>
        <pc:sldMkLst>
          <pc:docMk/>
          <pc:sldMk cId="2225280541" sldId="4609"/>
        </pc:sldMkLst>
        <pc:spChg chg="mod">
          <ac:chgData name="Ruby Rouben" userId="39b87079-55b9-4835-bf62-a133845ec736" providerId="ADAL" clId="{FF0876FA-2513-480C-8235-79CE37C2C835}" dt="2026-03-12T09:44:16.969" v="20" actId="13926"/>
          <ac:spMkLst>
            <pc:docMk/>
            <pc:sldMk cId="2225280541" sldId="4609"/>
            <ac:spMk id="2" creationId="{3B02D254-5A93-E566-1342-1AD88247D30B}"/>
          </ac:spMkLst>
        </pc:spChg>
        <pc:graphicFrameChg chg="mod modGraphic">
          <ac:chgData name="Ruby Rouben" userId="39b87079-55b9-4835-bf62-a133845ec736" providerId="ADAL" clId="{FF0876FA-2513-480C-8235-79CE37C2C835}" dt="2026-03-12T09:44:13.669" v="19" actId="6549"/>
          <ac:graphicFrameMkLst>
            <pc:docMk/>
            <pc:sldMk cId="2225280541" sldId="4609"/>
            <ac:graphicFrameMk id="7" creationId="{C8AAD90B-4D27-CACF-5108-1DA3BFB4A304}"/>
          </ac:graphicFrameMkLst>
        </pc:graphicFrameChg>
      </pc:sldChg>
      <pc:sldChg chg="modSp">
        <pc:chgData name="Ruby Rouben" userId="39b87079-55b9-4835-bf62-a133845ec736" providerId="ADAL" clId="{FF0876FA-2513-480C-8235-79CE37C2C835}" dt="2026-03-12T09:41:16.682" v="1"/>
        <pc:sldMkLst>
          <pc:docMk/>
          <pc:sldMk cId="3461656803" sldId="4612"/>
        </pc:sldMkLst>
        <pc:spChg chg="mod">
          <ac:chgData name="Ruby Rouben" userId="39b87079-55b9-4835-bf62-a133845ec736" providerId="ADAL" clId="{FF0876FA-2513-480C-8235-79CE37C2C835}" dt="2026-03-12T09:41:16.682" v="1"/>
          <ac:spMkLst>
            <pc:docMk/>
            <pc:sldMk cId="3461656803" sldId="4612"/>
            <ac:spMk id="4" creationId="{F6F24987-7BDD-410E-938B-7D212FBC6779}"/>
          </ac:spMkLst>
        </pc:spChg>
      </pc:sldChg>
      <pc:sldChg chg="delSp modSp mod">
        <pc:chgData name="Ruby Rouben" userId="39b87079-55b9-4835-bf62-a133845ec736" providerId="ADAL" clId="{FF0876FA-2513-480C-8235-79CE37C2C835}" dt="2026-03-12T09:42:41.852" v="5" actId="478"/>
        <pc:sldMkLst>
          <pc:docMk/>
          <pc:sldMk cId="2094244241" sldId="4613"/>
        </pc:sldMkLst>
        <pc:spChg chg="mod">
          <ac:chgData name="Ruby Rouben" userId="39b87079-55b9-4835-bf62-a133845ec736" providerId="ADAL" clId="{FF0876FA-2513-480C-8235-79CE37C2C835}" dt="2026-03-12T09:42:24.560" v="4" actId="20577"/>
          <ac:spMkLst>
            <pc:docMk/>
            <pc:sldMk cId="2094244241" sldId="4613"/>
            <ac:spMk id="10" creationId="{64ECE5F7-B445-EB8A-06D4-C1534BA76863}"/>
          </ac:spMkLst>
        </pc:spChg>
        <pc:picChg chg="del">
          <ac:chgData name="Ruby Rouben" userId="39b87079-55b9-4835-bf62-a133845ec736" providerId="ADAL" clId="{FF0876FA-2513-480C-8235-79CE37C2C835}" dt="2026-03-12T09:42:41.852" v="5" actId="478"/>
          <ac:picMkLst>
            <pc:docMk/>
            <pc:sldMk cId="2094244241" sldId="4613"/>
            <ac:picMk id="11" creationId="{56B28B1C-A4C0-FB95-F8FC-E11F99BE0CF3}"/>
          </ac:picMkLst>
        </pc:picChg>
      </pc:sldChg>
      <pc:sldChg chg="modSp mod">
        <pc:chgData name="Ruby Rouben" userId="39b87079-55b9-4835-bf62-a133845ec736" providerId="ADAL" clId="{FF0876FA-2513-480C-8235-79CE37C2C835}" dt="2026-03-12T09:44:27.244" v="22" actId="13926"/>
        <pc:sldMkLst>
          <pc:docMk/>
          <pc:sldMk cId="1268427083" sldId="4642"/>
        </pc:sldMkLst>
        <pc:spChg chg="mod">
          <ac:chgData name="Ruby Rouben" userId="39b87079-55b9-4835-bf62-a133845ec736" providerId="ADAL" clId="{FF0876FA-2513-480C-8235-79CE37C2C835}" dt="2026-03-12T09:44:27.244" v="22" actId="13926"/>
          <ac:spMkLst>
            <pc:docMk/>
            <pc:sldMk cId="1268427083" sldId="4642"/>
            <ac:spMk id="5" creationId="{C5555A79-7829-4102-7A2F-2B35F9E94C53}"/>
          </ac:spMkLst>
        </pc:spChg>
      </pc:sldChg>
      <pc:sldChg chg="modSp mod">
        <pc:chgData name="Ruby Rouben" userId="39b87079-55b9-4835-bf62-a133845ec736" providerId="ADAL" clId="{FF0876FA-2513-480C-8235-79CE37C2C835}" dt="2026-03-12T09:42:57.470" v="6" actId="13926"/>
        <pc:sldMkLst>
          <pc:docMk/>
          <pc:sldMk cId="2543432074" sldId="4688"/>
        </pc:sldMkLst>
        <pc:spChg chg="mod">
          <ac:chgData name="Ruby Rouben" userId="39b87079-55b9-4835-bf62-a133845ec736" providerId="ADAL" clId="{FF0876FA-2513-480C-8235-79CE37C2C835}" dt="2026-03-12T09:42:57.470" v="6" actId="13926"/>
          <ac:spMkLst>
            <pc:docMk/>
            <pc:sldMk cId="2543432074" sldId="4688"/>
            <ac:spMk id="2" creationId="{A4745A51-9D10-0636-5A3C-03FD2CD83607}"/>
          </ac:spMkLst>
        </pc:spChg>
      </pc:sldChg>
      <pc:sldChg chg="modSp mod">
        <pc:chgData name="Ruby Rouben" userId="39b87079-55b9-4835-bf62-a133845ec736" providerId="ADAL" clId="{FF0876FA-2513-480C-8235-79CE37C2C835}" dt="2026-03-12T09:44:21.326" v="21" actId="13926"/>
        <pc:sldMkLst>
          <pc:docMk/>
          <pc:sldMk cId="426485348" sldId="4714"/>
        </pc:sldMkLst>
        <pc:spChg chg="mod">
          <ac:chgData name="Ruby Rouben" userId="39b87079-55b9-4835-bf62-a133845ec736" providerId="ADAL" clId="{FF0876FA-2513-480C-8235-79CE37C2C835}" dt="2026-03-12T09:44:21.326" v="21" actId="13926"/>
          <ac:spMkLst>
            <pc:docMk/>
            <pc:sldMk cId="426485348" sldId="4714"/>
            <ac:spMk id="6" creationId="{0CB029FE-F2F6-C274-60B2-405C5E12C0A1}"/>
          </ac:spMkLst>
        </pc:spChg>
      </pc:sldChg>
      <pc:sldChg chg="modSp">
        <pc:chgData name="Ruby Rouben" userId="39b87079-55b9-4835-bf62-a133845ec736" providerId="ADAL" clId="{FF0876FA-2513-480C-8235-79CE37C2C835}" dt="2026-03-12T09:41:16.682" v="1"/>
        <pc:sldMkLst>
          <pc:docMk/>
          <pc:sldMk cId="423004096" sldId="2147483444"/>
        </pc:sldMkLst>
        <pc:graphicFrameChg chg="mod">
          <ac:chgData name="Ruby Rouben" userId="39b87079-55b9-4835-bf62-a133845ec736" providerId="ADAL" clId="{FF0876FA-2513-480C-8235-79CE37C2C835}" dt="2026-03-12T09:41:16.682" v="1"/>
          <ac:graphicFrameMkLst>
            <pc:docMk/>
            <pc:sldMk cId="423004096" sldId="2147483444"/>
            <ac:graphicFrameMk id="6" creationId="{F456B924-216E-55C8-9699-2238D64944F9}"/>
          </ac:graphicFrameMkLst>
        </pc:graphicFrameChg>
      </pc:sldChg>
      <pc:sldChg chg="modSp mod">
        <pc:chgData name="Ruby Rouben" userId="39b87079-55b9-4835-bf62-a133845ec736" providerId="ADAL" clId="{FF0876FA-2513-480C-8235-79CE37C2C835}" dt="2026-03-12T09:43:42.827" v="11" actId="13926"/>
        <pc:sldMkLst>
          <pc:docMk/>
          <pc:sldMk cId="1401888836" sldId="2147483446"/>
        </pc:sldMkLst>
        <pc:spChg chg="mod">
          <ac:chgData name="Ruby Rouben" userId="39b87079-55b9-4835-bf62-a133845ec736" providerId="ADAL" clId="{FF0876FA-2513-480C-8235-79CE37C2C835}" dt="2026-03-12T09:43:42.827" v="11" actId="13926"/>
          <ac:spMkLst>
            <pc:docMk/>
            <pc:sldMk cId="1401888836" sldId="2147483446"/>
            <ac:spMk id="5" creationId="{1E8FDE17-03AA-B25A-0270-29C0E4C30CF2}"/>
          </ac:spMkLst>
        </pc:spChg>
        <pc:spChg chg="mod">
          <ac:chgData name="Ruby Rouben" userId="39b87079-55b9-4835-bf62-a133845ec736" providerId="ADAL" clId="{FF0876FA-2513-480C-8235-79CE37C2C835}" dt="2026-03-12T09:41:16.682" v="1"/>
          <ac:spMkLst>
            <pc:docMk/>
            <pc:sldMk cId="1401888836" sldId="2147483446"/>
            <ac:spMk id="44" creationId="{ACB9C4BC-7D68-DE12-C3B5-9959C6F26E50}"/>
          </ac:spMkLst>
        </pc:spChg>
      </pc:sldChg>
      <pc:sldChg chg="modSp mod">
        <pc:chgData name="Ruby Rouben" userId="39b87079-55b9-4835-bf62-a133845ec736" providerId="ADAL" clId="{FF0876FA-2513-480C-8235-79CE37C2C835}" dt="2026-03-12T09:43:36.795" v="10" actId="13926"/>
        <pc:sldMkLst>
          <pc:docMk/>
          <pc:sldMk cId="2114664912" sldId="2147483447"/>
        </pc:sldMkLst>
        <pc:spChg chg="mod">
          <ac:chgData name="Ruby Rouben" userId="39b87079-55b9-4835-bf62-a133845ec736" providerId="ADAL" clId="{FF0876FA-2513-480C-8235-79CE37C2C835}" dt="2026-03-12T09:43:36.795" v="10" actId="13926"/>
          <ac:spMkLst>
            <pc:docMk/>
            <pc:sldMk cId="2114664912" sldId="2147483447"/>
            <ac:spMk id="5" creationId="{DB4ECF22-D8DB-672B-8E64-B41C0B2350F7}"/>
          </ac:spMkLst>
        </pc:spChg>
      </pc:sldChg>
      <pc:sldChg chg="modSp mod">
        <pc:chgData name="Ruby Rouben" userId="39b87079-55b9-4835-bf62-a133845ec736" providerId="ADAL" clId="{FF0876FA-2513-480C-8235-79CE37C2C835}" dt="2026-03-12T09:44:45.335" v="23" actId="13926"/>
        <pc:sldMkLst>
          <pc:docMk/>
          <pc:sldMk cId="1022297256" sldId="2147483449"/>
        </pc:sldMkLst>
        <pc:spChg chg="mod">
          <ac:chgData name="Ruby Rouben" userId="39b87079-55b9-4835-bf62-a133845ec736" providerId="ADAL" clId="{FF0876FA-2513-480C-8235-79CE37C2C835}" dt="2026-03-12T09:44:45.335" v="23" actId="13926"/>
          <ac:spMkLst>
            <pc:docMk/>
            <pc:sldMk cId="1022297256" sldId="2147483449"/>
            <ac:spMk id="5" creationId="{F9FA324E-6B47-D1E7-F41F-8BBD84FE963D}"/>
          </ac:spMkLst>
        </pc:spChg>
      </pc:sldChg>
      <pc:sldChg chg="modSp mod">
        <pc:chgData name="Ruby Rouben" userId="39b87079-55b9-4835-bf62-a133845ec736" providerId="ADAL" clId="{FF0876FA-2513-480C-8235-79CE37C2C835}" dt="2026-03-12T09:44:58.618" v="26" actId="13926"/>
        <pc:sldMkLst>
          <pc:docMk/>
          <pc:sldMk cId="865156530" sldId="2147483450"/>
        </pc:sldMkLst>
        <pc:spChg chg="mod">
          <ac:chgData name="Ruby Rouben" userId="39b87079-55b9-4835-bf62-a133845ec736" providerId="ADAL" clId="{FF0876FA-2513-480C-8235-79CE37C2C835}" dt="2026-03-12T09:44:58.618" v="26" actId="13926"/>
          <ac:spMkLst>
            <pc:docMk/>
            <pc:sldMk cId="865156530" sldId="2147483450"/>
            <ac:spMk id="5" creationId="{5B871414-E484-E54E-C624-C6AA60AD10A1}"/>
          </ac:spMkLst>
        </pc:spChg>
      </pc:sldChg>
      <pc:sldChg chg="modSp mod">
        <pc:chgData name="Ruby Rouben" userId="39b87079-55b9-4835-bf62-a133845ec736" providerId="ADAL" clId="{FF0876FA-2513-480C-8235-79CE37C2C835}" dt="2026-03-12T09:46:30.836" v="28" actId="13926"/>
        <pc:sldMkLst>
          <pc:docMk/>
          <pc:sldMk cId="2803419905" sldId="2147483451"/>
        </pc:sldMkLst>
        <pc:spChg chg="mod">
          <ac:chgData name="Ruby Rouben" userId="39b87079-55b9-4835-bf62-a133845ec736" providerId="ADAL" clId="{FF0876FA-2513-480C-8235-79CE37C2C835}" dt="2026-03-12T09:46:30.836" v="28" actId="13926"/>
          <ac:spMkLst>
            <pc:docMk/>
            <pc:sldMk cId="2803419905" sldId="2147483451"/>
            <ac:spMk id="5" creationId="{644752CC-035E-BE20-3C5C-90AABB6644EB}"/>
          </ac:spMkLst>
        </pc:spChg>
      </pc:sldChg>
      <pc:sldChg chg="modSp mod">
        <pc:chgData name="Ruby Rouben" userId="39b87079-55b9-4835-bf62-a133845ec736" providerId="ADAL" clId="{FF0876FA-2513-480C-8235-79CE37C2C835}" dt="2026-03-12T09:44:49.941" v="24" actId="13926"/>
        <pc:sldMkLst>
          <pc:docMk/>
          <pc:sldMk cId="3327056593" sldId="2147483452"/>
        </pc:sldMkLst>
        <pc:spChg chg="mod">
          <ac:chgData name="Ruby Rouben" userId="39b87079-55b9-4835-bf62-a133845ec736" providerId="ADAL" clId="{FF0876FA-2513-480C-8235-79CE37C2C835}" dt="2026-03-12T09:44:49.941" v="24" actId="13926"/>
          <ac:spMkLst>
            <pc:docMk/>
            <pc:sldMk cId="3327056593" sldId="2147483452"/>
            <ac:spMk id="5" creationId="{56D94CC1-6A86-A643-CAD3-90F79CE5A991}"/>
          </ac:spMkLst>
        </pc:spChg>
      </pc:sldChg>
      <pc:sldChg chg="delSp modSp mod">
        <pc:chgData name="Ruby Rouben" userId="39b87079-55b9-4835-bf62-a133845ec736" providerId="ADAL" clId="{FF0876FA-2513-480C-8235-79CE37C2C835}" dt="2026-03-12T09:43:56.543" v="15" actId="13926"/>
        <pc:sldMkLst>
          <pc:docMk/>
          <pc:sldMk cId="3030340712" sldId="2147483461"/>
        </pc:sldMkLst>
        <pc:spChg chg="mod">
          <ac:chgData name="Ruby Rouben" userId="39b87079-55b9-4835-bf62-a133845ec736" providerId="ADAL" clId="{FF0876FA-2513-480C-8235-79CE37C2C835}" dt="2026-03-12T09:43:56.543" v="15" actId="13926"/>
          <ac:spMkLst>
            <pc:docMk/>
            <pc:sldMk cId="3030340712" sldId="2147483461"/>
            <ac:spMk id="6" creationId="{678BF2BD-6B66-3CDD-EC6C-11B7F3056AEE}"/>
          </ac:spMkLst>
        </pc:spChg>
        <pc:spChg chg="mod">
          <ac:chgData name="Ruby Rouben" userId="39b87079-55b9-4835-bf62-a133845ec736" providerId="ADAL" clId="{FF0876FA-2513-480C-8235-79CE37C2C835}" dt="2026-03-12T09:43:16.090" v="9" actId="20577"/>
          <ac:spMkLst>
            <pc:docMk/>
            <pc:sldMk cId="3030340712" sldId="2147483461"/>
            <ac:spMk id="7" creationId="{1C2FF7EC-A739-33B4-071A-499DDEE0CAF4}"/>
          </ac:spMkLst>
        </pc:spChg>
        <pc:picChg chg="del">
          <ac:chgData name="Ruby Rouben" userId="39b87079-55b9-4835-bf62-a133845ec736" providerId="ADAL" clId="{FF0876FA-2513-480C-8235-79CE37C2C835}" dt="2026-03-12T09:43:13.091" v="8" actId="478"/>
          <ac:picMkLst>
            <pc:docMk/>
            <pc:sldMk cId="3030340712" sldId="2147483461"/>
            <ac:picMk id="5" creationId="{8348A3D2-4942-60CD-D69E-92DBB4BFBDDB}"/>
          </ac:picMkLst>
        </pc:picChg>
      </pc:sldChg>
      <pc:sldChg chg="modSp mod">
        <pc:chgData name="Ruby Rouben" userId="39b87079-55b9-4835-bf62-a133845ec736" providerId="ADAL" clId="{FF0876FA-2513-480C-8235-79CE37C2C835}" dt="2026-03-12T09:44:54.491" v="25" actId="13926"/>
        <pc:sldMkLst>
          <pc:docMk/>
          <pc:sldMk cId="3899941746" sldId="2147483553"/>
        </pc:sldMkLst>
        <pc:spChg chg="mod">
          <ac:chgData name="Ruby Rouben" userId="39b87079-55b9-4835-bf62-a133845ec736" providerId="ADAL" clId="{FF0876FA-2513-480C-8235-79CE37C2C835}" dt="2026-03-12T09:44:54.491" v="25" actId="13926"/>
          <ac:spMkLst>
            <pc:docMk/>
            <pc:sldMk cId="3899941746" sldId="2147483553"/>
            <ac:spMk id="5" creationId="{94F26684-ABE0-612D-7F2A-B6533B31F070}"/>
          </ac:spMkLst>
        </pc:spChg>
      </pc:sldChg>
      <pc:sldChg chg="modSp mod">
        <pc:chgData name="Ruby Rouben" userId="39b87079-55b9-4835-bf62-a133845ec736" providerId="ADAL" clId="{FF0876FA-2513-480C-8235-79CE37C2C835}" dt="2026-03-12T09:45:02.458" v="27" actId="13926"/>
        <pc:sldMkLst>
          <pc:docMk/>
          <pc:sldMk cId="496491133" sldId="2147483555"/>
        </pc:sldMkLst>
        <pc:spChg chg="mod">
          <ac:chgData name="Ruby Rouben" userId="39b87079-55b9-4835-bf62-a133845ec736" providerId="ADAL" clId="{FF0876FA-2513-480C-8235-79CE37C2C835}" dt="2026-03-12T09:45:02.458" v="27" actId="13926"/>
          <ac:spMkLst>
            <pc:docMk/>
            <pc:sldMk cId="496491133" sldId="2147483555"/>
            <ac:spMk id="5" creationId="{FEA6509D-82E1-81B1-1FB7-176189F4F052}"/>
          </ac:spMkLst>
        </pc:spChg>
        <pc:graphicFrameChg chg="mod">
          <ac:chgData name="Ruby Rouben" userId="39b87079-55b9-4835-bf62-a133845ec736" providerId="ADAL" clId="{FF0876FA-2513-480C-8235-79CE37C2C835}" dt="2026-03-12T09:41:16.682" v="1"/>
          <ac:graphicFrameMkLst>
            <pc:docMk/>
            <pc:sldMk cId="496491133" sldId="2147483555"/>
            <ac:graphicFrameMk id="2" creationId="{569DACEA-427F-3B9C-2468-8BBCFC1339EA}"/>
          </ac:graphicFrameMkLst>
        </pc:graphicFrameChg>
      </pc:sldChg>
      <pc:sldChg chg="modSp mod">
        <pc:chgData name="Ruby Rouben" userId="39b87079-55b9-4835-bf62-a133845ec736" providerId="ADAL" clId="{FF0876FA-2513-480C-8235-79CE37C2C835}" dt="2026-03-12T09:46:34.987" v="29" actId="13926"/>
        <pc:sldMkLst>
          <pc:docMk/>
          <pc:sldMk cId="2350145066" sldId="2147483556"/>
        </pc:sldMkLst>
        <pc:spChg chg="mod">
          <ac:chgData name="Ruby Rouben" userId="39b87079-55b9-4835-bf62-a133845ec736" providerId="ADAL" clId="{FF0876FA-2513-480C-8235-79CE37C2C835}" dt="2026-03-12T09:46:34.987" v="29" actId="13926"/>
          <ac:spMkLst>
            <pc:docMk/>
            <pc:sldMk cId="2350145066" sldId="2147483556"/>
            <ac:spMk id="5" creationId="{704E97AE-2B37-A9DD-40E8-D0AEABF8EC5D}"/>
          </ac:spMkLst>
        </pc:spChg>
      </pc:sldChg>
      <pc:sldChg chg="modSp mod">
        <pc:chgData name="Ruby Rouben" userId="39b87079-55b9-4835-bf62-a133845ec736" providerId="ADAL" clId="{FF0876FA-2513-480C-8235-79CE37C2C835}" dt="2026-03-12T09:46:38.478" v="30" actId="13926"/>
        <pc:sldMkLst>
          <pc:docMk/>
          <pc:sldMk cId="1371013366" sldId="2147483557"/>
        </pc:sldMkLst>
        <pc:spChg chg="mod">
          <ac:chgData name="Ruby Rouben" userId="39b87079-55b9-4835-bf62-a133845ec736" providerId="ADAL" clId="{FF0876FA-2513-480C-8235-79CE37C2C835}" dt="2026-03-12T09:46:38.478" v="30" actId="13926"/>
          <ac:spMkLst>
            <pc:docMk/>
            <pc:sldMk cId="1371013366" sldId="2147483557"/>
            <ac:spMk id="5" creationId="{640ABB2B-FE4C-D04A-A883-E1696E0AE365}"/>
          </ac:spMkLst>
        </pc:spChg>
        <pc:graphicFrameChg chg="mod">
          <ac:chgData name="Ruby Rouben" userId="39b87079-55b9-4835-bf62-a133845ec736" providerId="ADAL" clId="{FF0876FA-2513-480C-8235-79CE37C2C835}" dt="2026-03-12T09:41:16.682" v="1"/>
          <ac:graphicFrameMkLst>
            <pc:docMk/>
            <pc:sldMk cId="1371013366" sldId="2147483557"/>
            <ac:graphicFrameMk id="2" creationId="{CABCBB16-7214-DD02-510F-35C48D6311D3}"/>
          </ac:graphicFrameMkLst>
        </pc:graphicFrameChg>
      </pc:sldChg>
      <pc:sldChg chg="modSp mod">
        <pc:chgData name="Ruby Rouben" userId="39b87079-55b9-4835-bf62-a133845ec736" providerId="ADAL" clId="{FF0876FA-2513-480C-8235-79CE37C2C835}" dt="2026-03-12T09:46:42.293" v="31" actId="13926"/>
        <pc:sldMkLst>
          <pc:docMk/>
          <pc:sldMk cId="587898399" sldId="2147483558"/>
        </pc:sldMkLst>
        <pc:spChg chg="mod">
          <ac:chgData name="Ruby Rouben" userId="39b87079-55b9-4835-bf62-a133845ec736" providerId="ADAL" clId="{FF0876FA-2513-480C-8235-79CE37C2C835}" dt="2026-03-12T09:46:42.293" v="31" actId="13926"/>
          <ac:spMkLst>
            <pc:docMk/>
            <pc:sldMk cId="587898399" sldId="2147483558"/>
            <ac:spMk id="5" creationId="{585DA53C-CDFA-DA50-0A5A-6B57F0AC823B}"/>
          </ac:spMkLst>
        </pc:spChg>
      </pc:sldChg>
      <pc:sldChg chg="modSp mod">
        <pc:chgData name="Ruby Rouben" userId="39b87079-55b9-4835-bf62-a133845ec736" providerId="ADAL" clId="{FF0876FA-2513-480C-8235-79CE37C2C835}" dt="2026-03-12T09:46:51.757" v="32" actId="13926"/>
        <pc:sldMkLst>
          <pc:docMk/>
          <pc:sldMk cId="4028332719" sldId="2147483559"/>
        </pc:sldMkLst>
        <pc:spChg chg="mod">
          <ac:chgData name="Ruby Rouben" userId="39b87079-55b9-4835-bf62-a133845ec736" providerId="ADAL" clId="{FF0876FA-2513-480C-8235-79CE37C2C835}" dt="2026-03-12T09:46:51.757" v="32" actId="13926"/>
          <ac:spMkLst>
            <pc:docMk/>
            <pc:sldMk cId="4028332719" sldId="2147483559"/>
            <ac:spMk id="5" creationId="{8DBCE851-8A2D-B48B-62C9-07E6EA8EA240}"/>
          </ac:spMkLst>
        </pc:spChg>
      </pc:sldChg>
      <pc:sldChg chg="modSp mod">
        <pc:chgData name="Ruby Rouben" userId="39b87079-55b9-4835-bf62-a133845ec736" providerId="ADAL" clId="{FF0876FA-2513-480C-8235-79CE37C2C835}" dt="2026-03-12T09:46:57.469" v="33" actId="13926"/>
        <pc:sldMkLst>
          <pc:docMk/>
          <pc:sldMk cId="3507259849" sldId="2147483560"/>
        </pc:sldMkLst>
        <pc:spChg chg="mod">
          <ac:chgData name="Ruby Rouben" userId="39b87079-55b9-4835-bf62-a133845ec736" providerId="ADAL" clId="{FF0876FA-2513-480C-8235-79CE37C2C835}" dt="2026-03-12T09:46:57.469" v="33" actId="13926"/>
          <ac:spMkLst>
            <pc:docMk/>
            <pc:sldMk cId="3507259849" sldId="2147483560"/>
            <ac:spMk id="5" creationId="{33AA8040-9E33-59FA-CF06-CFE8268A7C4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544097-2F3E-4BDB-9FDA-3C837447B208}" type="doc">
      <dgm:prSet loTypeId="urn:microsoft.com/office/officeart/2008/layout/LinedList" loCatId="list" qsTypeId="urn:microsoft.com/office/officeart/2005/8/quickstyle/simple2" qsCatId="simple" csTypeId="urn:microsoft.com/office/officeart/2005/8/colors/accent3_1" csCatId="accent3" phldr="1"/>
      <dgm:spPr/>
      <dgm:t>
        <a:bodyPr/>
        <a:lstStyle/>
        <a:p>
          <a:endParaRPr lang="en-IN"/>
        </a:p>
      </dgm:t>
    </dgm:pt>
    <dgm:pt modelId="{F854DA75-9AC0-4938-8D32-6550DE690B56}">
      <dgm:prSet phldrT="[Text]" custT="1"/>
      <dgm:spPr/>
      <dgm:t>
        <a:bodyPr lIns="720000" anchor="ctr" anchorCtr="0"/>
        <a:lstStyle/>
        <a:p>
          <a:r>
            <a:rPr lang="en-SG" sz="2100" b="1" dirty="0">
              <a:solidFill>
                <a:schemeClr val="tx1">
                  <a:lumMod val="75000"/>
                  <a:lumOff val="25000"/>
                </a:schemeClr>
              </a:solidFill>
            </a:rPr>
            <a:t>Indonesia</a:t>
          </a:r>
          <a:endParaRPr lang="en-IN" sz="2100" b="1" dirty="0">
            <a:solidFill>
              <a:schemeClr val="tx1">
                <a:lumMod val="75000"/>
                <a:lumOff val="25000"/>
              </a:schemeClr>
            </a:solidFill>
          </a:endParaRPr>
        </a:p>
      </dgm:t>
    </dgm:pt>
    <dgm:pt modelId="{62F3BA54-9E93-4B78-A881-24DD1922D868}" type="parTrans" cxnId="{CC67482D-D8B0-4894-B5E4-A99A8E066B6C}">
      <dgm:prSet/>
      <dgm:spPr/>
      <dgm:t>
        <a:bodyPr/>
        <a:lstStyle/>
        <a:p>
          <a:endParaRPr lang="en-IN" b="1">
            <a:solidFill>
              <a:schemeClr val="accent3">
                <a:lumMod val="10000"/>
                <a:lumOff val="90000"/>
              </a:schemeClr>
            </a:solidFill>
          </a:endParaRPr>
        </a:p>
      </dgm:t>
    </dgm:pt>
    <dgm:pt modelId="{367FC05E-FDB0-4318-9CEA-C42CA905AEFB}" type="sibTrans" cxnId="{CC67482D-D8B0-4894-B5E4-A99A8E066B6C}">
      <dgm:prSet/>
      <dgm:spPr/>
      <dgm:t>
        <a:bodyPr/>
        <a:lstStyle/>
        <a:p>
          <a:endParaRPr lang="en-IN" b="1">
            <a:solidFill>
              <a:schemeClr val="accent3">
                <a:lumMod val="10000"/>
                <a:lumOff val="90000"/>
              </a:schemeClr>
            </a:solidFill>
          </a:endParaRPr>
        </a:p>
      </dgm:t>
    </dgm:pt>
    <dgm:pt modelId="{605E0576-93B9-4D9A-A666-0FE315572086}">
      <dgm:prSet phldrT="[Text]" custT="1"/>
      <dgm:spPr/>
      <dgm:t>
        <a:bodyPr lIns="720000" anchor="ctr" anchorCtr="0"/>
        <a:lstStyle/>
        <a:p>
          <a:r>
            <a:rPr lang="en-SG" sz="2100" b="1" dirty="0">
              <a:solidFill>
                <a:schemeClr val="tx1">
                  <a:lumMod val="75000"/>
                  <a:lumOff val="25000"/>
                </a:schemeClr>
              </a:solidFill>
            </a:rPr>
            <a:t>Mainland China</a:t>
          </a:r>
          <a:endParaRPr lang="en-IN" sz="2100" b="1" dirty="0">
            <a:solidFill>
              <a:schemeClr val="tx1">
                <a:lumMod val="75000"/>
                <a:lumOff val="25000"/>
              </a:schemeClr>
            </a:solidFill>
          </a:endParaRPr>
        </a:p>
      </dgm:t>
    </dgm:pt>
    <dgm:pt modelId="{7ED564C7-4730-4788-8D9D-E877D6B87848}" type="parTrans" cxnId="{2BB9C2CB-7178-4D03-8073-C94F188B5393}">
      <dgm:prSet/>
      <dgm:spPr/>
      <dgm:t>
        <a:bodyPr/>
        <a:lstStyle/>
        <a:p>
          <a:endParaRPr lang="en-IN" b="1">
            <a:solidFill>
              <a:schemeClr val="accent3">
                <a:lumMod val="10000"/>
                <a:lumOff val="90000"/>
              </a:schemeClr>
            </a:solidFill>
          </a:endParaRPr>
        </a:p>
      </dgm:t>
    </dgm:pt>
    <dgm:pt modelId="{5DD8904D-B236-42B9-85AC-12564F8DB7FA}" type="sibTrans" cxnId="{2BB9C2CB-7178-4D03-8073-C94F188B5393}">
      <dgm:prSet/>
      <dgm:spPr/>
      <dgm:t>
        <a:bodyPr/>
        <a:lstStyle/>
        <a:p>
          <a:endParaRPr lang="en-IN" b="1">
            <a:solidFill>
              <a:schemeClr val="accent3">
                <a:lumMod val="10000"/>
                <a:lumOff val="90000"/>
              </a:schemeClr>
            </a:solidFill>
          </a:endParaRPr>
        </a:p>
      </dgm:t>
    </dgm:pt>
    <dgm:pt modelId="{C75FF9EC-2FB7-4681-ACFA-1D7EC68614E7}">
      <dgm:prSet phldrT="[Text]" custT="1"/>
      <dgm:spPr/>
      <dgm:t>
        <a:bodyPr lIns="720000" anchor="ctr" anchorCtr="0"/>
        <a:lstStyle/>
        <a:p>
          <a:r>
            <a:rPr lang="en-SG" sz="2100" b="1" dirty="0">
              <a:solidFill>
                <a:schemeClr val="tx1">
                  <a:lumMod val="75000"/>
                  <a:lumOff val="25000"/>
                </a:schemeClr>
              </a:solidFill>
            </a:rPr>
            <a:t>Malaysia</a:t>
          </a:r>
          <a:endParaRPr lang="en-IN" sz="2100" b="1" dirty="0">
            <a:solidFill>
              <a:schemeClr val="tx1">
                <a:lumMod val="75000"/>
                <a:lumOff val="25000"/>
              </a:schemeClr>
            </a:solidFill>
          </a:endParaRPr>
        </a:p>
      </dgm:t>
    </dgm:pt>
    <dgm:pt modelId="{EE4EE1F4-4BC1-41A3-BD58-8DF687A5BFAD}" type="parTrans" cxnId="{81AD1046-0322-47B2-BC9C-27CCB68C57F3}">
      <dgm:prSet/>
      <dgm:spPr/>
      <dgm:t>
        <a:bodyPr/>
        <a:lstStyle/>
        <a:p>
          <a:endParaRPr lang="en-IN" b="1">
            <a:solidFill>
              <a:schemeClr val="accent3">
                <a:lumMod val="10000"/>
                <a:lumOff val="90000"/>
              </a:schemeClr>
            </a:solidFill>
          </a:endParaRPr>
        </a:p>
      </dgm:t>
    </dgm:pt>
    <dgm:pt modelId="{BB739147-C945-46E3-8746-79B5B52883B2}" type="sibTrans" cxnId="{81AD1046-0322-47B2-BC9C-27CCB68C57F3}">
      <dgm:prSet/>
      <dgm:spPr/>
      <dgm:t>
        <a:bodyPr/>
        <a:lstStyle/>
        <a:p>
          <a:endParaRPr lang="en-IN" b="1">
            <a:solidFill>
              <a:schemeClr val="accent3">
                <a:lumMod val="10000"/>
                <a:lumOff val="90000"/>
              </a:schemeClr>
            </a:solidFill>
          </a:endParaRPr>
        </a:p>
      </dgm:t>
    </dgm:pt>
    <dgm:pt modelId="{74D6BBC2-9738-4A26-B459-41875A71E76D}">
      <dgm:prSet phldrT="[Text]" custT="1"/>
      <dgm:spPr/>
      <dgm:t>
        <a:bodyPr lIns="720000" anchor="ctr" anchorCtr="0"/>
        <a:lstStyle/>
        <a:p>
          <a:r>
            <a:rPr lang="en-SG" sz="2100" b="1" dirty="0">
              <a:solidFill>
                <a:schemeClr val="tx1">
                  <a:lumMod val="75000"/>
                  <a:lumOff val="25000"/>
                </a:schemeClr>
              </a:solidFill>
            </a:rPr>
            <a:t>India</a:t>
          </a:r>
          <a:endParaRPr lang="en-IN" sz="2100" b="1" dirty="0">
            <a:solidFill>
              <a:schemeClr val="tx1">
                <a:lumMod val="75000"/>
                <a:lumOff val="25000"/>
              </a:schemeClr>
            </a:solidFill>
          </a:endParaRPr>
        </a:p>
      </dgm:t>
    </dgm:pt>
    <dgm:pt modelId="{21444C75-D4BC-42C1-9056-EB0784B41369}" type="parTrans" cxnId="{6711403A-A97D-4ED2-A8B0-630A2B33E942}">
      <dgm:prSet/>
      <dgm:spPr/>
      <dgm:t>
        <a:bodyPr/>
        <a:lstStyle/>
        <a:p>
          <a:endParaRPr lang="en-IN" b="1">
            <a:solidFill>
              <a:schemeClr val="accent3">
                <a:lumMod val="10000"/>
                <a:lumOff val="90000"/>
              </a:schemeClr>
            </a:solidFill>
          </a:endParaRPr>
        </a:p>
      </dgm:t>
    </dgm:pt>
    <dgm:pt modelId="{091692BD-DB6C-47A4-B1BD-B055A8EF2D55}" type="sibTrans" cxnId="{6711403A-A97D-4ED2-A8B0-630A2B33E942}">
      <dgm:prSet/>
      <dgm:spPr/>
      <dgm:t>
        <a:bodyPr/>
        <a:lstStyle/>
        <a:p>
          <a:endParaRPr lang="en-IN" b="1">
            <a:solidFill>
              <a:schemeClr val="accent3">
                <a:lumMod val="10000"/>
                <a:lumOff val="90000"/>
              </a:schemeClr>
            </a:solidFill>
          </a:endParaRPr>
        </a:p>
      </dgm:t>
    </dgm:pt>
    <dgm:pt modelId="{A0EC33B7-C1F7-4397-901C-14A8C5471385}">
      <dgm:prSet phldrT="[Text]" custT="1"/>
      <dgm:spPr/>
      <dgm:t>
        <a:bodyPr lIns="720000" anchor="ctr" anchorCtr="0"/>
        <a:lstStyle/>
        <a:p>
          <a:r>
            <a:rPr lang="en-SG" sz="2100" b="1" dirty="0">
              <a:solidFill>
                <a:schemeClr val="tx1">
                  <a:lumMod val="75000"/>
                  <a:lumOff val="25000"/>
                </a:schemeClr>
              </a:solidFill>
            </a:rPr>
            <a:t>Philippines</a:t>
          </a:r>
          <a:endParaRPr lang="en-IN" sz="2100" b="1" dirty="0">
            <a:solidFill>
              <a:schemeClr val="tx1">
                <a:lumMod val="75000"/>
                <a:lumOff val="25000"/>
              </a:schemeClr>
            </a:solidFill>
          </a:endParaRPr>
        </a:p>
      </dgm:t>
    </dgm:pt>
    <dgm:pt modelId="{877EC45C-906F-420F-9573-191A9AF1A3F4}" type="parTrans" cxnId="{DEDC7712-F7A8-483F-AEB8-F47BF1ECE353}">
      <dgm:prSet/>
      <dgm:spPr/>
      <dgm:t>
        <a:bodyPr/>
        <a:lstStyle/>
        <a:p>
          <a:endParaRPr lang="en-IN" b="1">
            <a:solidFill>
              <a:schemeClr val="accent3">
                <a:lumMod val="10000"/>
                <a:lumOff val="90000"/>
              </a:schemeClr>
            </a:solidFill>
          </a:endParaRPr>
        </a:p>
      </dgm:t>
    </dgm:pt>
    <dgm:pt modelId="{1C48DD86-2514-4CF6-B28F-05385E47BC59}" type="sibTrans" cxnId="{DEDC7712-F7A8-483F-AEB8-F47BF1ECE353}">
      <dgm:prSet/>
      <dgm:spPr/>
      <dgm:t>
        <a:bodyPr/>
        <a:lstStyle/>
        <a:p>
          <a:endParaRPr lang="en-IN" b="1">
            <a:solidFill>
              <a:schemeClr val="accent3">
                <a:lumMod val="10000"/>
                <a:lumOff val="90000"/>
              </a:schemeClr>
            </a:solidFill>
          </a:endParaRPr>
        </a:p>
      </dgm:t>
    </dgm:pt>
    <dgm:pt modelId="{49848747-BFA4-4A6F-9221-C88E2792FA4D}">
      <dgm:prSet phldrT="[Text]"/>
      <dgm:spPr/>
      <dgm:t>
        <a:bodyPr/>
        <a:lstStyle/>
        <a:p>
          <a:endParaRPr lang="en-IN" b="1" dirty="0">
            <a:solidFill>
              <a:schemeClr val="tx2"/>
            </a:solidFill>
          </a:endParaRPr>
        </a:p>
      </dgm:t>
    </dgm:pt>
    <dgm:pt modelId="{6B677F25-90CB-4D0A-AF4A-23949E8D9A5C}" type="parTrans" cxnId="{CE631C15-0A9C-4B8F-81B2-AD16DEC499EC}">
      <dgm:prSet/>
      <dgm:spPr/>
      <dgm:t>
        <a:bodyPr/>
        <a:lstStyle/>
        <a:p>
          <a:endParaRPr lang="en-IN"/>
        </a:p>
      </dgm:t>
    </dgm:pt>
    <dgm:pt modelId="{C838839B-20DC-401A-858E-39AC6D3DC700}" type="sibTrans" cxnId="{CE631C15-0A9C-4B8F-81B2-AD16DEC499EC}">
      <dgm:prSet/>
      <dgm:spPr/>
      <dgm:t>
        <a:bodyPr/>
        <a:lstStyle/>
        <a:p>
          <a:endParaRPr lang="en-IN"/>
        </a:p>
      </dgm:t>
    </dgm:pt>
    <dgm:pt modelId="{76802627-6875-4824-AD7F-AC007D93CEFF}">
      <dgm:prSet phldrT="[Text]" custT="1"/>
      <dgm:spPr/>
      <dgm:t>
        <a:bodyPr lIns="720000" anchor="ctr" anchorCtr="0"/>
        <a:lstStyle/>
        <a:p>
          <a:r>
            <a:rPr lang="en-SG" sz="2100" b="1" dirty="0">
              <a:solidFill>
                <a:schemeClr val="tx1">
                  <a:lumMod val="75000"/>
                  <a:lumOff val="25000"/>
                </a:schemeClr>
              </a:solidFill>
            </a:rPr>
            <a:t>Australia</a:t>
          </a:r>
          <a:endParaRPr lang="en-IN" sz="2100" b="1" dirty="0">
            <a:solidFill>
              <a:schemeClr val="tx1">
                <a:lumMod val="75000"/>
                <a:lumOff val="25000"/>
              </a:schemeClr>
            </a:solidFill>
          </a:endParaRPr>
        </a:p>
      </dgm:t>
    </dgm:pt>
    <dgm:pt modelId="{66A445A6-2C40-44D4-ABDF-67B844D35227}" type="parTrans" cxnId="{093FF5D6-B396-44B1-94C5-4815E807B479}">
      <dgm:prSet/>
      <dgm:spPr/>
      <dgm:t>
        <a:bodyPr/>
        <a:lstStyle/>
        <a:p>
          <a:endParaRPr lang="en-IN"/>
        </a:p>
      </dgm:t>
    </dgm:pt>
    <dgm:pt modelId="{47F31F31-6EA7-488E-B2B1-B18A197B25C3}" type="sibTrans" cxnId="{093FF5D6-B396-44B1-94C5-4815E807B479}">
      <dgm:prSet/>
      <dgm:spPr/>
      <dgm:t>
        <a:bodyPr/>
        <a:lstStyle/>
        <a:p>
          <a:endParaRPr lang="en-IN"/>
        </a:p>
      </dgm:t>
    </dgm:pt>
    <dgm:pt modelId="{6BC8E6D4-BA56-479E-83FC-235C20BC7CF5}">
      <dgm:prSet phldrT="[Text]" custT="1"/>
      <dgm:spPr/>
      <dgm:t>
        <a:bodyPr lIns="720000" anchor="ctr" anchorCtr="0"/>
        <a:lstStyle/>
        <a:p>
          <a:r>
            <a:rPr lang="en-SG" sz="2100" b="1" dirty="0">
              <a:solidFill>
                <a:schemeClr val="tx1">
                  <a:lumMod val="75000"/>
                  <a:lumOff val="25000"/>
                </a:schemeClr>
              </a:solidFill>
            </a:rPr>
            <a:t>Hong</a:t>
          </a:r>
          <a:r>
            <a:rPr lang="en-SG" sz="2100" b="1" dirty="0"/>
            <a:t> </a:t>
          </a:r>
          <a:r>
            <a:rPr lang="en-SG" sz="2100" b="1" dirty="0">
              <a:solidFill>
                <a:schemeClr val="tx1">
                  <a:lumMod val="75000"/>
                  <a:lumOff val="25000"/>
                </a:schemeClr>
              </a:solidFill>
            </a:rPr>
            <a:t>Kong SAR</a:t>
          </a:r>
          <a:endParaRPr lang="en-IN" sz="2100" b="1" dirty="0">
            <a:solidFill>
              <a:schemeClr val="tx1">
                <a:lumMod val="75000"/>
                <a:lumOff val="25000"/>
              </a:schemeClr>
            </a:solidFill>
          </a:endParaRPr>
        </a:p>
      </dgm:t>
    </dgm:pt>
    <dgm:pt modelId="{32E99407-786B-4CFD-A077-1F6D79F947AC}" type="parTrans" cxnId="{FEEE86FF-EE0D-4CD7-B853-A7A26F54736C}">
      <dgm:prSet/>
      <dgm:spPr/>
      <dgm:t>
        <a:bodyPr/>
        <a:lstStyle/>
        <a:p>
          <a:endParaRPr lang="en-IN"/>
        </a:p>
      </dgm:t>
    </dgm:pt>
    <dgm:pt modelId="{638290DD-700C-4435-BFB5-F1ED644E2FD1}" type="sibTrans" cxnId="{FEEE86FF-EE0D-4CD7-B853-A7A26F54736C}">
      <dgm:prSet/>
      <dgm:spPr/>
      <dgm:t>
        <a:bodyPr/>
        <a:lstStyle/>
        <a:p>
          <a:endParaRPr lang="en-IN"/>
        </a:p>
      </dgm:t>
    </dgm:pt>
    <dgm:pt modelId="{8969DDC1-7DE8-4223-8CBB-00E68A87AD25}">
      <dgm:prSet phldrT="[Text]" custT="1"/>
      <dgm:spPr/>
      <dgm:t>
        <a:bodyPr lIns="720000" anchor="ctr" anchorCtr="0"/>
        <a:lstStyle/>
        <a:p>
          <a:pPr marL="0" indent="0"/>
          <a:r>
            <a:rPr lang="en-IN" sz="2100" b="1" dirty="0">
              <a:solidFill>
                <a:schemeClr val="tx1">
                  <a:lumMod val="75000"/>
                  <a:lumOff val="25000"/>
                </a:schemeClr>
              </a:solidFill>
            </a:rPr>
            <a:t>Singapore</a:t>
          </a:r>
        </a:p>
      </dgm:t>
    </dgm:pt>
    <dgm:pt modelId="{58413C21-30DC-4A17-915E-BC5B6D913504}" type="sibTrans" cxnId="{2F2593DC-DC77-4A54-B23A-84F300EBDC1B}">
      <dgm:prSet/>
      <dgm:spPr/>
      <dgm:t>
        <a:bodyPr/>
        <a:lstStyle/>
        <a:p>
          <a:endParaRPr lang="en-IN" b="1">
            <a:solidFill>
              <a:schemeClr val="accent3">
                <a:lumMod val="10000"/>
                <a:lumOff val="90000"/>
              </a:schemeClr>
            </a:solidFill>
          </a:endParaRPr>
        </a:p>
      </dgm:t>
    </dgm:pt>
    <dgm:pt modelId="{9BE1E66C-2704-4F86-AEB4-AF486F7F46AD}" type="parTrans" cxnId="{2F2593DC-DC77-4A54-B23A-84F300EBDC1B}">
      <dgm:prSet/>
      <dgm:spPr/>
      <dgm:t>
        <a:bodyPr/>
        <a:lstStyle/>
        <a:p>
          <a:endParaRPr lang="en-IN" b="1">
            <a:solidFill>
              <a:schemeClr val="accent3">
                <a:lumMod val="10000"/>
                <a:lumOff val="90000"/>
              </a:schemeClr>
            </a:solidFill>
          </a:endParaRPr>
        </a:p>
      </dgm:t>
    </dgm:pt>
    <dgm:pt modelId="{D54F5708-F24F-42DA-B5DD-63DE16809518}">
      <dgm:prSet phldrT="[Text]" custT="1"/>
      <dgm:spPr/>
      <dgm:t>
        <a:bodyPr lIns="720000" anchor="ctr" anchorCtr="0"/>
        <a:lstStyle/>
        <a:p>
          <a:r>
            <a:rPr lang="en-SG" sz="2100" b="1" dirty="0">
              <a:solidFill>
                <a:schemeClr val="tx1">
                  <a:lumMod val="75000"/>
                  <a:lumOff val="25000"/>
                </a:schemeClr>
              </a:solidFill>
            </a:rPr>
            <a:t>Vietnam</a:t>
          </a:r>
          <a:endParaRPr lang="en-SG" sz="2100" dirty="0"/>
        </a:p>
      </dgm:t>
    </dgm:pt>
    <dgm:pt modelId="{2394C42D-9882-4FE8-81D0-AD93442A9986}" type="parTrans" cxnId="{E0CA6B40-A790-4454-B135-2D3A878924B6}">
      <dgm:prSet/>
      <dgm:spPr/>
      <dgm:t>
        <a:bodyPr/>
        <a:lstStyle/>
        <a:p>
          <a:endParaRPr lang="en-SG"/>
        </a:p>
      </dgm:t>
    </dgm:pt>
    <dgm:pt modelId="{1CB1F8A2-7B15-4E3C-AD0D-9632E25B61A3}" type="sibTrans" cxnId="{E0CA6B40-A790-4454-B135-2D3A878924B6}">
      <dgm:prSet/>
      <dgm:spPr/>
      <dgm:t>
        <a:bodyPr/>
        <a:lstStyle/>
        <a:p>
          <a:endParaRPr lang="en-SG"/>
        </a:p>
      </dgm:t>
    </dgm:pt>
    <dgm:pt modelId="{5E1C9DCE-C172-44AB-87DD-1E06F144EDF0}" type="pres">
      <dgm:prSet presAssocID="{2B544097-2F3E-4BDB-9FDA-3C837447B208}" presName="vert0" presStyleCnt="0">
        <dgm:presLayoutVars>
          <dgm:dir/>
          <dgm:animOne val="branch"/>
          <dgm:animLvl val="lvl"/>
        </dgm:presLayoutVars>
      </dgm:prSet>
      <dgm:spPr/>
    </dgm:pt>
    <dgm:pt modelId="{B7FECBBA-8DA8-4675-BC40-39DF35C5FDC9}" type="pres">
      <dgm:prSet presAssocID="{8969DDC1-7DE8-4223-8CBB-00E68A87AD25}" presName="thickLine" presStyleLbl="alignNode1" presStyleIdx="0" presStyleCnt="10"/>
      <dgm:spPr/>
    </dgm:pt>
    <dgm:pt modelId="{311AD536-B461-41A8-81FA-97CC0D74C6E0}" type="pres">
      <dgm:prSet presAssocID="{8969DDC1-7DE8-4223-8CBB-00E68A87AD25}" presName="horz1" presStyleCnt="0"/>
      <dgm:spPr/>
    </dgm:pt>
    <dgm:pt modelId="{EC558BE3-7840-4BAD-82C3-5BED773A842B}" type="pres">
      <dgm:prSet presAssocID="{8969DDC1-7DE8-4223-8CBB-00E68A87AD25}" presName="tx1" presStyleLbl="revTx" presStyleIdx="0" presStyleCnt="10"/>
      <dgm:spPr/>
    </dgm:pt>
    <dgm:pt modelId="{B8AA6172-D800-4E83-BBC2-B47FF15C2FFB}" type="pres">
      <dgm:prSet presAssocID="{8969DDC1-7DE8-4223-8CBB-00E68A87AD25}" presName="vert1" presStyleCnt="0"/>
      <dgm:spPr/>
    </dgm:pt>
    <dgm:pt modelId="{675EACEC-B6AB-489A-A9C2-C93AA48790B0}" type="pres">
      <dgm:prSet presAssocID="{76802627-6875-4824-AD7F-AC007D93CEFF}" presName="thickLine" presStyleLbl="alignNode1" presStyleIdx="1" presStyleCnt="10"/>
      <dgm:spPr/>
    </dgm:pt>
    <dgm:pt modelId="{AA65F09F-F209-4E15-B8A6-38A76EF999F8}" type="pres">
      <dgm:prSet presAssocID="{76802627-6875-4824-AD7F-AC007D93CEFF}" presName="horz1" presStyleCnt="0"/>
      <dgm:spPr/>
    </dgm:pt>
    <dgm:pt modelId="{C00556BF-98F3-4DE4-BFC9-74CFCC9FB725}" type="pres">
      <dgm:prSet presAssocID="{76802627-6875-4824-AD7F-AC007D93CEFF}" presName="tx1" presStyleLbl="revTx" presStyleIdx="1" presStyleCnt="10"/>
      <dgm:spPr/>
    </dgm:pt>
    <dgm:pt modelId="{42771EDE-2204-4A66-8C40-FDC6FD723E25}" type="pres">
      <dgm:prSet presAssocID="{76802627-6875-4824-AD7F-AC007D93CEFF}" presName="vert1" presStyleCnt="0"/>
      <dgm:spPr/>
    </dgm:pt>
    <dgm:pt modelId="{25BAF411-53D4-4189-A01A-F31271A05FE8}" type="pres">
      <dgm:prSet presAssocID="{6BC8E6D4-BA56-479E-83FC-235C20BC7CF5}" presName="thickLine" presStyleLbl="alignNode1" presStyleIdx="2" presStyleCnt="10"/>
      <dgm:spPr/>
    </dgm:pt>
    <dgm:pt modelId="{8071F381-84E2-4F89-ADF4-5C8A7BDE84F9}" type="pres">
      <dgm:prSet presAssocID="{6BC8E6D4-BA56-479E-83FC-235C20BC7CF5}" presName="horz1" presStyleCnt="0"/>
      <dgm:spPr/>
    </dgm:pt>
    <dgm:pt modelId="{09959FFF-E313-4451-9DFC-C480843C578B}" type="pres">
      <dgm:prSet presAssocID="{6BC8E6D4-BA56-479E-83FC-235C20BC7CF5}" presName="tx1" presStyleLbl="revTx" presStyleIdx="2" presStyleCnt="10" custScaleY="104761"/>
      <dgm:spPr/>
    </dgm:pt>
    <dgm:pt modelId="{457E693A-1310-45D5-8E5A-85C09CC943B8}" type="pres">
      <dgm:prSet presAssocID="{6BC8E6D4-BA56-479E-83FC-235C20BC7CF5}" presName="vert1" presStyleCnt="0"/>
      <dgm:spPr/>
    </dgm:pt>
    <dgm:pt modelId="{6347FC37-4853-4AA3-B72D-FECD39D24FBA}" type="pres">
      <dgm:prSet presAssocID="{74D6BBC2-9738-4A26-B459-41875A71E76D}" presName="thickLine" presStyleLbl="alignNode1" presStyleIdx="3" presStyleCnt="10"/>
      <dgm:spPr/>
    </dgm:pt>
    <dgm:pt modelId="{AC06AB14-91F8-4C3A-A105-4A99F6416F73}" type="pres">
      <dgm:prSet presAssocID="{74D6BBC2-9738-4A26-B459-41875A71E76D}" presName="horz1" presStyleCnt="0"/>
      <dgm:spPr/>
    </dgm:pt>
    <dgm:pt modelId="{77483B89-9AA2-46E1-A64D-FCA9865C88BC}" type="pres">
      <dgm:prSet presAssocID="{74D6BBC2-9738-4A26-B459-41875A71E76D}" presName="tx1" presStyleLbl="revTx" presStyleIdx="3" presStyleCnt="10"/>
      <dgm:spPr/>
    </dgm:pt>
    <dgm:pt modelId="{DDD03147-2987-444B-937D-6BBE3DF4F48D}" type="pres">
      <dgm:prSet presAssocID="{74D6BBC2-9738-4A26-B459-41875A71E76D}" presName="vert1" presStyleCnt="0"/>
      <dgm:spPr/>
    </dgm:pt>
    <dgm:pt modelId="{05DA7492-5F0B-400E-9987-1915BEDACDFF}" type="pres">
      <dgm:prSet presAssocID="{F854DA75-9AC0-4938-8D32-6550DE690B56}" presName="thickLine" presStyleLbl="alignNode1" presStyleIdx="4" presStyleCnt="10"/>
      <dgm:spPr/>
    </dgm:pt>
    <dgm:pt modelId="{3028E84A-0346-46F5-93FD-1823F4F2F7E8}" type="pres">
      <dgm:prSet presAssocID="{F854DA75-9AC0-4938-8D32-6550DE690B56}" presName="horz1" presStyleCnt="0"/>
      <dgm:spPr/>
    </dgm:pt>
    <dgm:pt modelId="{8A4E76E0-DB55-4FC9-AD5F-38CA3B59F9D2}" type="pres">
      <dgm:prSet presAssocID="{F854DA75-9AC0-4938-8D32-6550DE690B56}" presName="tx1" presStyleLbl="revTx" presStyleIdx="4" presStyleCnt="10"/>
      <dgm:spPr/>
    </dgm:pt>
    <dgm:pt modelId="{46FB2AE1-F292-4D93-9DB6-A60A6ACCD538}" type="pres">
      <dgm:prSet presAssocID="{F854DA75-9AC0-4938-8D32-6550DE690B56}" presName="vert1" presStyleCnt="0"/>
      <dgm:spPr/>
    </dgm:pt>
    <dgm:pt modelId="{68593C96-BE7A-4A5A-BDD8-D3A437D35297}" type="pres">
      <dgm:prSet presAssocID="{605E0576-93B9-4D9A-A666-0FE315572086}" presName="thickLine" presStyleLbl="alignNode1" presStyleIdx="5" presStyleCnt="10"/>
      <dgm:spPr/>
    </dgm:pt>
    <dgm:pt modelId="{46C217A8-44D2-4BB4-954E-3816040CB824}" type="pres">
      <dgm:prSet presAssocID="{605E0576-93B9-4D9A-A666-0FE315572086}" presName="horz1" presStyleCnt="0"/>
      <dgm:spPr/>
    </dgm:pt>
    <dgm:pt modelId="{C2950482-69CA-4150-8274-FCD516717762}" type="pres">
      <dgm:prSet presAssocID="{605E0576-93B9-4D9A-A666-0FE315572086}" presName="tx1" presStyleLbl="revTx" presStyleIdx="5" presStyleCnt="10"/>
      <dgm:spPr/>
    </dgm:pt>
    <dgm:pt modelId="{F08A422E-562D-4523-A0BD-67DC2BEB3339}" type="pres">
      <dgm:prSet presAssocID="{605E0576-93B9-4D9A-A666-0FE315572086}" presName="vert1" presStyleCnt="0"/>
      <dgm:spPr/>
    </dgm:pt>
    <dgm:pt modelId="{9A0B751A-7CF7-440A-AABA-BAA3E8856BD4}" type="pres">
      <dgm:prSet presAssocID="{C75FF9EC-2FB7-4681-ACFA-1D7EC68614E7}" presName="thickLine" presStyleLbl="alignNode1" presStyleIdx="6" presStyleCnt="10"/>
      <dgm:spPr/>
    </dgm:pt>
    <dgm:pt modelId="{C38D430F-B3E1-45C3-B4BD-19DEAADD8D6C}" type="pres">
      <dgm:prSet presAssocID="{C75FF9EC-2FB7-4681-ACFA-1D7EC68614E7}" presName="horz1" presStyleCnt="0"/>
      <dgm:spPr/>
    </dgm:pt>
    <dgm:pt modelId="{19849F46-D9F1-4F3C-98A7-CD709ADFFF6E}" type="pres">
      <dgm:prSet presAssocID="{C75FF9EC-2FB7-4681-ACFA-1D7EC68614E7}" presName="tx1" presStyleLbl="revTx" presStyleIdx="6" presStyleCnt="10"/>
      <dgm:spPr/>
    </dgm:pt>
    <dgm:pt modelId="{60844B4E-446A-4C66-8742-42D7F110250C}" type="pres">
      <dgm:prSet presAssocID="{C75FF9EC-2FB7-4681-ACFA-1D7EC68614E7}" presName="vert1" presStyleCnt="0"/>
      <dgm:spPr/>
    </dgm:pt>
    <dgm:pt modelId="{472D7A9F-C7FC-4826-9CCE-A990ADF17ECC}" type="pres">
      <dgm:prSet presAssocID="{A0EC33B7-C1F7-4397-901C-14A8C5471385}" presName="thickLine" presStyleLbl="alignNode1" presStyleIdx="7" presStyleCnt="10"/>
      <dgm:spPr/>
    </dgm:pt>
    <dgm:pt modelId="{479DA74F-61C7-404E-BE8A-C9E02A81EED6}" type="pres">
      <dgm:prSet presAssocID="{A0EC33B7-C1F7-4397-901C-14A8C5471385}" presName="horz1" presStyleCnt="0"/>
      <dgm:spPr/>
    </dgm:pt>
    <dgm:pt modelId="{4F99BEEF-AE11-462B-A957-DDDC6C00A965}" type="pres">
      <dgm:prSet presAssocID="{A0EC33B7-C1F7-4397-901C-14A8C5471385}" presName="tx1" presStyleLbl="revTx" presStyleIdx="7" presStyleCnt="10"/>
      <dgm:spPr/>
    </dgm:pt>
    <dgm:pt modelId="{6D053527-3C08-42B1-A6B0-64376CAB1B59}" type="pres">
      <dgm:prSet presAssocID="{A0EC33B7-C1F7-4397-901C-14A8C5471385}" presName="vert1" presStyleCnt="0"/>
      <dgm:spPr/>
    </dgm:pt>
    <dgm:pt modelId="{A77C9E74-BBAE-4F50-8D3A-862718C18D05}" type="pres">
      <dgm:prSet presAssocID="{D54F5708-F24F-42DA-B5DD-63DE16809518}" presName="thickLine" presStyleLbl="alignNode1" presStyleIdx="8" presStyleCnt="10"/>
      <dgm:spPr/>
    </dgm:pt>
    <dgm:pt modelId="{56DCA1E6-27D7-4AEF-AFAE-746B0FB72CE6}" type="pres">
      <dgm:prSet presAssocID="{D54F5708-F24F-42DA-B5DD-63DE16809518}" presName="horz1" presStyleCnt="0"/>
      <dgm:spPr/>
    </dgm:pt>
    <dgm:pt modelId="{ECC3FB93-1669-45A6-BEE9-02424D8DB69A}" type="pres">
      <dgm:prSet presAssocID="{D54F5708-F24F-42DA-B5DD-63DE16809518}" presName="tx1" presStyleLbl="revTx" presStyleIdx="8" presStyleCnt="10"/>
      <dgm:spPr/>
    </dgm:pt>
    <dgm:pt modelId="{DAE7CA57-0E85-4422-AC66-4CED78BD895D}" type="pres">
      <dgm:prSet presAssocID="{D54F5708-F24F-42DA-B5DD-63DE16809518}" presName="vert1" presStyleCnt="0"/>
      <dgm:spPr/>
    </dgm:pt>
    <dgm:pt modelId="{B7AA355D-4243-4CBF-9B94-D9A127F800C7}" type="pres">
      <dgm:prSet presAssocID="{49848747-BFA4-4A6F-9221-C88E2792FA4D}" presName="thickLine" presStyleLbl="alignNode1" presStyleIdx="9" presStyleCnt="10"/>
      <dgm:spPr/>
    </dgm:pt>
    <dgm:pt modelId="{95D186A2-1DA8-45B9-8615-D8BBC288B36D}" type="pres">
      <dgm:prSet presAssocID="{49848747-BFA4-4A6F-9221-C88E2792FA4D}" presName="horz1" presStyleCnt="0"/>
      <dgm:spPr/>
    </dgm:pt>
    <dgm:pt modelId="{24A95A07-4C9D-4F33-929B-B1D001627E27}" type="pres">
      <dgm:prSet presAssocID="{49848747-BFA4-4A6F-9221-C88E2792FA4D}" presName="tx1" presStyleLbl="revTx" presStyleIdx="9" presStyleCnt="10"/>
      <dgm:spPr/>
    </dgm:pt>
    <dgm:pt modelId="{2706D987-D20E-4970-9426-18504FC8B272}" type="pres">
      <dgm:prSet presAssocID="{49848747-BFA4-4A6F-9221-C88E2792FA4D}" presName="vert1" presStyleCnt="0"/>
      <dgm:spPr/>
    </dgm:pt>
  </dgm:ptLst>
  <dgm:cxnLst>
    <dgm:cxn modelId="{DEDC7712-F7A8-483F-AEB8-F47BF1ECE353}" srcId="{2B544097-2F3E-4BDB-9FDA-3C837447B208}" destId="{A0EC33B7-C1F7-4397-901C-14A8C5471385}" srcOrd="7" destOrd="0" parTransId="{877EC45C-906F-420F-9573-191A9AF1A3F4}" sibTransId="{1C48DD86-2514-4CF6-B28F-05385E47BC59}"/>
    <dgm:cxn modelId="{CE631C15-0A9C-4B8F-81B2-AD16DEC499EC}" srcId="{2B544097-2F3E-4BDB-9FDA-3C837447B208}" destId="{49848747-BFA4-4A6F-9221-C88E2792FA4D}" srcOrd="9" destOrd="0" parTransId="{6B677F25-90CB-4D0A-AF4A-23949E8D9A5C}" sibTransId="{C838839B-20DC-401A-858E-39AC6D3DC700}"/>
    <dgm:cxn modelId="{6E65D127-6BFD-481E-B32B-D5D6A5497D2B}" type="presOf" srcId="{76802627-6875-4824-AD7F-AC007D93CEFF}" destId="{C00556BF-98F3-4DE4-BFC9-74CFCC9FB725}" srcOrd="0" destOrd="0" presId="urn:microsoft.com/office/officeart/2008/layout/LinedList"/>
    <dgm:cxn modelId="{1295272C-AFAD-4331-8781-E90E70A42056}" type="presOf" srcId="{C75FF9EC-2FB7-4681-ACFA-1D7EC68614E7}" destId="{19849F46-D9F1-4F3C-98A7-CD709ADFFF6E}" srcOrd="0" destOrd="0" presId="urn:microsoft.com/office/officeart/2008/layout/LinedList"/>
    <dgm:cxn modelId="{CC67482D-D8B0-4894-B5E4-A99A8E066B6C}" srcId="{2B544097-2F3E-4BDB-9FDA-3C837447B208}" destId="{F854DA75-9AC0-4938-8D32-6550DE690B56}" srcOrd="4" destOrd="0" parTransId="{62F3BA54-9E93-4B78-A881-24DD1922D868}" sibTransId="{367FC05E-FDB0-4318-9CEA-C42CA905AEFB}"/>
    <dgm:cxn modelId="{99B69333-C3A3-4A6D-811A-B735D9F395B8}" type="presOf" srcId="{605E0576-93B9-4D9A-A666-0FE315572086}" destId="{C2950482-69CA-4150-8274-FCD516717762}" srcOrd="0" destOrd="0" presId="urn:microsoft.com/office/officeart/2008/layout/LinedList"/>
    <dgm:cxn modelId="{6711403A-A97D-4ED2-A8B0-630A2B33E942}" srcId="{2B544097-2F3E-4BDB-9FDA-3C837447B208}" destId="{74D6BBC2-9738-4A26-B459-41875A71E76D}" srcOrd="3" destOrd="0" parTransId="{21444C75-D4BC-42C1-9056-EB0784B41369}" sibTransId="{091692BD-DB6C-47A4-B1BD-B055A8EF2D55}"/>
    <dgm:cxn modelId="{E0CA6B40-A790-4454-B135-2D3A878924B6}" srcId="{2B544097-2F3E-4BDB-9FDA-3C837447B208}" destId="{D54F5708-F24F-42DA-B5DD-63DE16809518}" srcOrd="8" destOrd="0" parTransId="{2394C42D-9882-4FE8-81D0-AD93442A9986}" sibTransId="{1CB1F8A2-7B15-4E3C-AD0D-9632E25B61A3}"/>
    <dgm:cxn modelId="{3218235F-2DDA-4C36-BB25-DEFB7E51262D}" type="presOf" srcId="{49848747-BFA4-4A6F-9221-C88E2792FA4D}" destId="{24A95A07-4C9D-4F33-929B-B1D001627E27}" srcOrd="0" destOrd="0" presId="urn:microsoft.com/office/officeart/2008/layout/LinedList"/>
    <dgm:cxn modelId="{81AD1046-0322-47B2-BC9C-27CCB68C57F3}" srcId="{2B544097-2F3E-4BDB-9FDA-3C837447B208}" destId="{C75FF9EC-2FB7-4681-ACFA-1D7EC68614E7}" srcOrd="6" destOrd="0" parTransId="{EE4EE1F4-4BC1-41A3-BD58-8DF687A5BFAD}" sibTransId="{BB739147-C945-46E3-8746-79B5B52883B2}"/>
    <dgm:cxn modelId="{F435EA70-D595-4D4B-B108-8553A70CB826}" type="presOf" srcId="{A0EC33B7-C1F7-4397-901C-14A8C5471385}" destId="{4F99BEEF-AE11-462B-A957-DDDC6C00A965}" srcOrd="0" destOrd="0" presId="urn:microsoft.com/office/officeart/2008/layout/LinedList"/>
    <dgm:cxn modelId="{AA888652-066B-4126-9300-6F4218BA2443}" type="presOf" srcId="{F854DA75-9AC0-4938-8D32-6550DE690B56}" destId="{8A4E76E0-DB55-4FC9-AD5F-38CA3B59F9D2}" srcOrd="0" destOrd="0" presId="urn:microsoft.com/office/officeart/2008/layout/LinedList"/>
    <dgm:cxn modelId="{E59D5C75-7C26-4CD5-97E2-DBC6365DF65D}" type="presOf" srcId="{6BC8E6D4-BA56-479E-83FC-235C20BC7CF5}" destId="{09959FFF-E313-4451-9DFC-C480843C578B}" srcOrd="0" destOrd="0" presId="urn:microsoft.com/office/officeart/2008/layout/LinedList"/>
    <dgm:cxn modelId="{54DA89A8-BF8E-4C08-872C-5C2818EDF818}" type="presOf" srcId="{8969DDC1-7DE8-4223-8CBB-00E68A87AD25}" destId="{EC558BE3-7840-4BAD-82C3-5BED773A842B}" srcOrd="0" destOrd="0" presId="urn:microsoft.com/office/officeart/2008/layout/LinedList"/>
    <dgm:cxn modelId="{C99197B2-0EB8-41CA-AB6E-30E40B47EC0F}" type="presOf" srcId="{2B544097-2F3E-4BDB-9FDA-3C837447B208}" destId="{5E1C9DCE-C172-44AB-87DD-1E06F144EDF0}" srcOrd="0" destOrd="0" presId="urn:microsoft.com/office/officeart/2008/layout/LinedList"/>
    <dgm:cxn modelId="{2BB9C2CB-7178-4D03-8073-C94F188B5393}" srcId="{2B544097-2F3E-4BDB-9FDA-3C837447B208}" destId="{605E0576-93B9-4D9A-A666-0FE315572086}" srcOrd="5" destOrd="0" parTransId="{7ED564C7-4730-4788-8D9D-E877D6B87848}" sibTransId="{5DD8904D-B236-42B9-85AC-12564F8DB7FA}"/>
    <dgm:cxn modelId="{093FF5D6-B396-44B1-94C5-4815E807B479}" srcId="{2B544097-2F3E-4BDB-9FDA-3C837447B208}" destId="{76802627-6875-4824-AD7F-AC007D93CEFF}" srcOrd="1" destOrd="0" parTransId="{66A445A6-2C40-44D4-ABDF-67B844D35227}" sibTransId="{47F31F31-6EA7-488E-B2B1-B18A197B25C3}"/>
    <dgm:cxn modelId="{2F2593DC-DC77-4A54-B23A-84F300EBDC1B}" srcId="{2B544097-2F3E-4BDB-9FDA-3C837447B208}" destId="{8969DDC1-7DE8-4223-8CBB-00E68A87AD25}" srcOrd="0" destOrd="0" parTransId="{9BE1E66C-2704-4F86-AEB4-AF486F7F46AD}" sibTransId="{58413C21-30DC-4A17-915E-BC5B6D913504}"/>
    <dgm:cxn modelId="{D005B8F1-8213-4039-871E-78E8A629248F}" type="presOf" srcId="{74D6BBC2-9738-4A26-B459-41875A71E76D}" destId="{77483B89-9AA2-46E1-A64D-FCA9865C88BC}" srcOrd="0" destOrd="0" presId="urn:microsoft.com/office/officeart/2008/layout/LinedList"/>
    <dgm:cxn modelId="{2751C3F3-2FB7-414F-A592-5455C27141F9}" type="presOf" srcId="{D54F5708-F24F-42DA-B5DD-63DE16809518}" destId="{ECC3FB93-1669-45A6-BEE9-02424D8DB69A}" srcOrd="0" destOrd="0" presId="urn:microsoft.com/office/officeart/2008/layout/LinedList"/>
    <dgm:cxn modelId="{FEEE86FF-EE0D-4CD7-B853-A7A26F54736C}" srcId="{2B544097-2F3E-4BDB-9FDA-3C837447B208}" destId="{6BC8E6D4-BA56-479E-83FC-235C20BC7CF5}" srcOrd="2" destOrd="0" parTransId="{32E99407-786B-4CFD-A077-1F6D79F947AC}" sibTransId="{638290DD-700C-4435-BFB5-F1ED644E2FD1}"/>
    <dgm:cxn modelId="{F8EF21BA-8856-4FFC-8E97-B07E95870243}" type="presParOf" srcId="{5E1C9DCE-C172-44AB-87DD-1E06F144EDF0}" destId="{B7FECBBA-8DA8-4675-BC40-39DF35C5FDC9}" srcOrd="0" destOrd="0" presId="urn:microsoft.com/office/officeart/2008/layout/LinedList"/>
    <dgm:cxn modelId="{4569F4F0-4253-4E96-A1AC-25F7DF65B0CF}" type="presParOf" srcId="{5E1C9DCE-C172-44AB-87DD-1E06F144EDF0}" destId="{311AD536-B461-41A8-81FA-97CC0D74C6E0}" srcOrd="1" destOrd="0" presId="urn:microsoft.com/office/officeart/2008/layout/LinedList"/>
    <dgm:cxn modelId="{40333B4E-59BA-47A5-A28C-551E5F42B1DE}" type="presParOf" srcId="{311AD536-B461-41A8-81FA-97CC0D74C6E0}" destId="{EC558BE3-7840-4BAD-82C3-5BED773A842B}" srcOrd="0" destOrd="0" presId="urn:microsoft.com/office/officeart/2008/layout/LinedList"/>
    <dgm:cxn modelId="{607B7CDE-4396-4BE5-BDC8-00A136A111D6}" type="presParOf" srcId="{311AD536-B461-41A8-81FA-97CC0D74C6E0}" destId="{B8AA6172-D800-4E83-BBC2-B47FF15C2FFB}" srcOrd="1" destOrd="0" presId="urn:microsoft.com/office/officeart/2008/layout/LinedList"/>
    <dgm:cxn modelId="{D7E382B0-4175-42D5-AB7A-3669F45818D1}" type="presParOf" srcId="{5E1C9DCE-C172-44AB-87DD-1E06F144EDF0}" destId="{675EACEC-B6AB-489A-A9C2-C93AA48790B0}" srcOrd="2" destOrd="0" presId="urn:microsoft.com/office/officeart/2008/layout/LinedList"/>
    <dgm:cxn modelId="{D14E0BF2-CB7B-407B-8B2A-2C0CB123CCED}" type="presParOf" srcId="{5E1C9DCE-C172-44AB-87DD-1E06F144EDF0}" destId="{AA65F09F-F209-4E15-B8A6-38A76EF999F8}" srcOrd="3" destOrd="0" presId="urn:microsoft.com/office/officeart/2008/layout/LinedList"/>
    <dgm:cxn modelId="{C7EFA13F-C1BA-4747-87D2-01C2EF22F001}" type="presParOf" srcId="{AA65F09F-F209-4E15-B8A6-38A76EF999F8}" destId="{C00556BF-98F3-4DE4-BFC9-74CFCC9FB725}" srcOrd="0" destOrd="0" presId="urn:microsoft.com/office/officeart/2008/layout/LinedList"/>
    <dgm:cxn modelId="{B426236E-A369-4AC7-BFA5-EC6A3AA88ED0}" type="presParOf" srcId="{AA65F09F-F209-4E15-B8A6-38A76EF999F8}" destId="{42771EDE-2204-4A66-8C40-FDC6FD723E25}" srcOrd="1" destOrd="0" presId="urn:microsoft.com/office/officeart/2008/layout/LinedList"/>
    <dgm:cxn modelId="{D1694E97-6898-4319-BB6B-58AACDE5E594}" type="presParOf" srcId="{5E1C9DCE-C172-44AB-87DD-1E06F144EDF0}" destId="{25BAF411-53D4-4189-A01A-F31271A05FE8}" srcOrd="4" destOrd="0" presId="urn:microsoft.com/office/officeart/2008/layout/LinedList"/>
    <dgm:cxn modelId="{98C233D4-42BB-47EA-853F-45DEAD3EEEB6}" type="presParOf" srcId="{5E1C9DCE-C172-44AB-87DD-1E06F144EDF0}" destId="{8071F381-84E2-4F89-ADF4-5C8A7BDE84F9}" srcOrd="5" destOrd="0" presId="urn:microsoft.com/office/officeart/2008/layout/LinedList"/>
    <dgm:cxn modelId="{663D2873-2958-4873-BAC2-DD2B8CAC4B6B}" type="presParOf" srcId="{8071F381-84E2-4F89-ADF4-5C8A7BDE84F9}" destId="{09959FFF-E313-4451-9DFC-C480843C578B}" srcOrd="0" destOrd="0" presId="urn:microsoft.com/office/officeart/2008/layout/LinedList"/>
    <dgm:cxn modelId="{50D835CA-ED99-4B7B-AAF5-5EE075C9AF20}" type="presParOf" srcId="{8071F381-84E2-4F89-ADF4-5C8A7BDE84F9}" destId="{457E693A-1310-45D5-8E5A-85C09CC943B8}" srcOrd="1" destOrd="0" presId="urn:microsoft.com/office/officeart/2008/layout/LinedList"/>
    <dgm:cxn modelId="{A41A6F5B-542B-4241-B23E-0C68C9219B97}" type="presParOf" srcId="{5E1C9DCE-C172-44AB-87DD-1E06F144EDF0}" destId="{6347FC37-4853-4AA3-B72D-FECD39D24FBA}" srcOrd="6" destOrd="0" presId="urn:microsoft.com/office/officeart/2008/layout/LinedList"/>
    <dgm:cxn modelId="{786FF226-463A-4532-B34F-38CB066A116A}" type="presParOf" srcId="{5E1C9DCE-C172-44AB-87DD-1E06F144EDF0}" destId="{AC06AB14-91F8-4C3A-A105-4A99F6416F73}" srcOrd="7" destOrd="0" presId="urn:microsoft.com/office/officeart/2008/layout/LinedList"/>
    <dgm:cxn modelId="{CC9642C6-EB94-4ED9-BF3A-D91CB7CBAA1B}" type="presParOf" srcId="{AC06AB14-91F8-4C3A-A105-4A99F6416F73}" destId="{77483B89-9AA2-46E1-A64D-FCA9865C88BC}" srcOrd="0" destOrd="0" presId="urn:microsoft.com/office/officeart/2008/layout/LinedList"/>
    <dgm:cxn modelId="{6964B4B2-10D3-4145-8439-01FBB44BF413}" type="presParOf" srcId="{AC06AB14-91F8-4C3A-A105-4A99F6416F73}" destId="{DDD03147-2987-444B-937D-6BBE3DF4F48D}" srcOrd="1" destOrd="0" presId="urn:microsoft.com/office/officeart/2008/layout/LinedList"/>
    <dgm:cxn modelId="{42BF45E5-F318-415A-8C6D-ABF913AE1637}" type="presParOf" srcId="{5E1C9DCE-C172-44AB-87DD-1E06F144EDF0}" destId="{05DA7492-5F0B-400E-9987-1915BEDACDFF}" srcOrd="8" destOrd="0" presId="urn:microsoft.com/office/officeart/2008/layout/LinedList"/>
    <dgm:cxn modelId="{A379366D-B159-4771-B37B-6BF9DC23D1B6}" type="presParOf" srcId="{5E1C9DCE-C172-44AB-87DD-1E06F144EDF0}" destId="{3028E84A-0346-46F5-93FD-1823F4F2F7E8}" srcOrd="9" destOrd="0" presId="urn:microsoft.com/office/officeart/2008/layout/LinedList"/>
    <dgm:cxn modelId="{E703BEE3-A0C2-4B78-B9FA-7B7B550BE0C1}" type="presParOf" srcId="{3028E84A-0346-46F5-93FD-1823F4F2F7E8}" destId="{8A4E76E0-DB55-4FC9-AD5F-38CA3B59F9D2}" srcOrd="0" destOrd="0" presId="urn:microsoft.com/office/officeart/2008/layout/LinedList"/>
    <dgm:cxn modelId="{055B9F8E-1020-45D0-AD00-4D05FB28C1A8}" type="presParOf" srcId="{3028E84A-0346-46F5-93FD-1823F4F2F7E8}" destId="{46FB2AE1-F292-4D93-9DB6-A60A6ACCD538}" srcOrd="1" destOrd="0" presId="urn:microsoft.com/office/officeart/2008/layout/LinedList"/>
    <dgm:cxn modelId="{C808B4EE-017E-4E5E-ACF1-3F3755DF3DF9}" type="presParOf" srcId="{5E1C9DCE-C172-44AB-87DD-1E06F144EDF0}" destId="{68593C96-BE7A-4A5A-BDD8-D3A437D35297}" srcOrd="10" destOrd="0" presId="urn:microsoft.com/office/officeart/2008/layout/LinedList"/>
    <dgm:cxn modelId="{C5277455-55E6-4DAE-A851-64B339950B78}" type="presParOf" srcId="{5E1C9DCE-C172-44AB-87DD-1E06F144EDF0}" destId="{46C217A8-44D2-4BB4-954E-3816040CB824}" srcOrd="11" destOrd="0" presId="urn:microsoft.com/office/officeart/2008/layout/LinedList"/>
    <dgm:cxn modelId="{654F27CC-2AF1-470F-AF71-CBE14BF880E7}" type="presParOf" srcId="{46C217A8-44D2-4BB4-954E-3816040CB824}" destId="{C2950482-69CA-4150-8274-FCD516717762}" srcOrd="0" destOrd="0" presId="urn:microsoft.com/office/officeart/2008/layout/LinedList"/>
    <dgm:cxn modelId="{A94C6847-095D-4BAA-97DE-0A185ACBBACC}" type="presParOf" srcId="{46C217A8-44D2-4BB4-954E-3816040CB824}" destId="{F08A422E-562D-4523-A0BD-67DC2BEB3339}" srcOrd="1" destOrd="0" presId="urn:microsoft.com/office/officeart/2008/layout/LinedList"/>
    <dgm:cxn modelId="{CD73B825-CD65-41DF-BE1A-38DCE1F7F197}" type="presParOf" srcId="{5E1C9DCE-C172-44AB-87DD-1E06F144EDF0}" destId="{9A0B751A-7CF7-440A-AABA-BAA3E8856BD4}" srcOrd="12" destOrd="0" presId="urn:microsoft.com/office/officeart/2008/layout/LinedList"/>
    <dgm:cxn modelId="{ADE89306-244A-47A0-B9CB-7171CCE5A0C0}" type="presParOf" srcId="{5E1C9DCE-C172-44AB-87DD-1E06F144EDF0}" destId="{C38D430F-B3E1-45C3-B4BD-19DEAADD8D6C}" srcOrd="13" destOrd="0" presId="urn:microsoft.com/office/officeart/2008/layout/LinedList"/>
    <dgm:cxn modelId="{EC9ED3D7-933C-4D2C-9B03-338E7130CB02}" type="presParOf" srcId="{C38D430F-B3E1-45C3-B4BD-19DEAADD8D6C}" destId="{19849F46-D9F1-4F3C-98A7-CD709ADFFF6E}" srcOrd="0" destOrd="0" presId="urn:microsoft.com/office/officeart/2008/layout/LinedList"/>
    <dgm:cxn modelId="{4E89FA19-B391-4166-854D-9BBA189E02F3}" type="presParOf" srcId="{C38D430F-B3E1-45C3-B4BD-19DEAADD8D6C}" destId="{60844B4E-446A-4C66-8742-42D7F110250C}" srcOrd="1" destOrd="0" presId="urn:microsoft.com/office/officeart/2008/layout/LinedList"/>
    <dgm:cxn modelId="{A2A32D43-26DA-4478-AE52-728B3044690D}" type="presParOf" srcId="{5E1C9DCE-C172-44AB-87DD-1E06F144EDF0}" destId="{472D7A9F-C7FC-4826-9CCE-A990ADF17ECC}" srcOrd="14" destOrd="0" presId="urn:microsoft.com/office/officeart/2008/layout/LinedList"/>
    <dgm:cxn modelId="{F5758C03-F0BB-4E4F-8B82-828241745C09}" type="presParOf" srcId="{5E1C9DCE-C172-44AB-87DD-1E06F144EDF0}" destId="{479DA74F-61C7-404E-BE8A-C9E02A81EED6}" srcOrd="15" destOrd="0" presId="urn:microsoft.com/office/officeart/2008/layout/LinedList"/>
    <dgm:cxn modelId="{45517219-77D6-43DE-AD75-43A9DAAD2C35}" type="presParOf" srcId="{479DA74F-61C7-404E-BE8A-C9E02A81EED6}" destId="{4F99BEEF-AE11-462B-A957-DDDC6C00A965}" srcOrd="0" destOrd="0" presId="urn:microsoft.com/office/officeart/2008/layout/LinedList"/>
    <dgm:cxn modelId="{D3AC23C5-B801-4756-A57E-42305AA16A3D}" type="presParOf" srcId="{479DA74F-61C7-404E-BE8A-C9E02A81EED6}" destId="{6D053527-3C08-42B1-A6B0-64376CAB1B59}" srcOrd="1" destOrd="0" presId="urn:microsoft.com/office/officeart/2008/layout/LinedList"/>
    <dgm:cxn modelId="{53D27749-BF18-4012-A310-EDA2A817E704}" type="presParOf" srcId="{5E1C9DCE-C172-44AB-87DD-1E06F144EDF0}" destId="{A77C9E74-BBAE-4F50-8D3A-862718C18D05}" srcOrd="16" destOrd="0" presId="urn:microsoft.com/office/officeart/2008/layout/LinedList"/>
    <dgm:cxn modelId="{BFD61568-3AAE-4AEE-A067-C780003C389A}" type="presParOf" srcId="{5E1C9DCE-C172-44AB-87DD-1E06F144EDF0}" destId="{56DCA1E6-27D7-4AEF-AFAE-746B0FB72CE6}" srcOrd="17" destOrd="0" presId="urn:microsoft.com/office/officeart/2008/layout/LinedList"/>
    <dgm:cxn modelId="{969F703C-C46F-4605-97EE-DF9278D283DF}" type="presParOf" srcId="{56DCA1E6-27D7-4AEF-AFAE-746B0FB72CE6}" destId="{ECC3FB93-1669-45A6-BEE9-02424D8DB69A}" srcOrd="0" destOrd="0" presId="urn:microsoft.com/office/officeart/2008/layout/LinedList"/>
    <dgm:cxn modelId="{9180AF6A-9FA1-4A67-A389-C18DF944A7DD}" type="presParOf" srcId="{56DCA1E6-27D7-4AEF-AFAE-746B0FB72CE6}" destId="{DAE7CA57-0E85-4422-AC66-4CED78BD895D}" srcOrd="1" destOrd="0" presId="urn:microsoft.com/office/officeart/2008/layout/LinedList"/>
    <dgm:cxn modelId="{D277B8FA-7801-4B67-A6A0-55E22C780E61}" type="presParOf" srcId="{5E1C9DCE-C172-44AB-87DD-1E06F144EDF0}" destId="{B7AA355D-4243-4CBF-9B94-D9A127F800C7}" srcOrd="18" destOrd="0" presId="urn:microsoft.com/office/officeart/2008/layout/LinedList"/>
    <dgm:cxn modelId="{C7D17709-CD78-496E-96F5-84EB672A0F0E}" type="presParOf" srcId="{5E1C9DCE-C172-44AB-87DD-1E06F144EDF0}" destId="{95D186A2-1DA8-45B9-8615-D8BBC288B36D}" srcOrd="19" destOrd="0" presId="urn:microsoft.com/office/officeart/2008/layout/LinedList"/>
    <dgm:cxn modelId="{4864ACFE-FD36-443C-9BB4-799234F5EE89}" type="presParOf" srcId="{95D186A2-1DA8-45B9-8615-D8BBC288B36D}" destId="{24A95A07-4C9D-4F33-929B-B1D001627E27}" srcOrd="0" destOrd="0" presId="urn:microsoft.com/office/officeart/2008/layout/LinedList"/>
    <dgm:cxn modelId="{B5D64CA4-6DD9-419D-B7AE-7A7C566DA2C3}" type="presParOf" srcId="{95D186A2-1DA8-45B9-8615-D8BBC288B36D}" destId="{2706D987-D20E-4970-9426-18504FC8B272}" srcOrd="1" destOrd="0" presId="urn:microsoft.com/office/officeart/2008/layout/LinedList"/>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0F2100-CE55-462F-8E6B-70202F6BC392}"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IN"/>
        </a:p>
      </dgm:t>
    </dgm:pt>
    <dgm:pt modelId="{CAC712E0-1FCF-4098-BE7D-97A0321F5A65}">
      <dgm:prSet phldrT="[Text]" custT="1"/>
      <dgm:spPr>
        <a:solidFill>
          <a:srgbClr val="111E2B">
            <a:alpha val="85000"/>
          </a:srgbClr>
        </a:solidFill>
        <a:ln w="38100">
          <a:noFill/>
        </a:ln>
      </dgm:spPr>
      <dgm:t>
        <a:bodyPr/>
        <a:lstStyle/>
        <a:p>
          <a:r>
            <a:rPr lang="en-IN" sz="2100" b="1" dirty="0">
              <a:latin typeface="Roboto" panose="02000000000000000000" pitchFamily="2" charset="0"/>
              <a:ea typeface="Roboto" panose="02000000000000000000" pitchFamily="2" charset="0"/>
              <a:cs typeface="Roboto" panose="02000000000000000000" pitchFamily="2" charset="0"/>
            </a:rPr>
            <a:t>Startups</a:t>
          </a:r>
          <a:endParaRPr lang="en-IN" sz="2100" b="1" dirty="0">
            <a:solidFill>
              <a:schemeClr val="bg1"/>
            </a:solidFill>
          </a:endParaRPr>
        </a:p>
      </dgm:t>
    </dgm:pt>
    <dgm:pt modelId="{8BF2C53E-29F5-4EF6-AFA3-4F28CF48544D}" type="parTrans" cxnId="{ACB2E59D-552E-4305-9807-D69963E1EDF3}">
      <dgm:prSet/>
      <dgm:spPr/>
      <dgm:t>
        <a:bodyPr/>
        <a:lstStyle/>
        <a:p>
          <a:endParaRPr lang="en-IN" sz="2000"/>
        </a:p>
      </dgm:t>
    </dgm:pt>
    <dgm:pt modelId="{9C1D43AA-DB25-4096-8387-E792EA89A094}" type="sibTrans" cxnId="{ACB2E59D-552E-4305-9807-D69963E1EDF3}">
      <dgm:prSet/>
      <dgm:spPr/>
      <dgm:t>
        <a:bodyPr/>
        <a:lstStyle/>
        <a:p>
          <a:endParaRPr lang="en-IN" sz="2000"/>
        </a:p>
      </dgm:t>
    </dgm:pt>
    <dgm:pt modelId="{5FDB459B-EDCC-4257-9E5E-644A69E9E27E}">
      <dgm:prSet phldrT="[Text]" phldr="0" custT="1"/>
      <dgm:spPr>
        <a:solidFill>
          <a:srgbClr val="111E2B">
            <a:alpha val="85000"/>
          </a:srgbClr>
        </a:solidFill>
        <a:ln w="38100">
          <a:noFill/>
        </a:ln>
      </dgm:spPr>
      <dgm:t>
        <a:bodyPr/>
        <a:lstStyle/>
        <a:p>
          <a:pPr rtl="0">
            <a:lnSpc>
              <a:spcPct val="110000"/>
            </a:lnSpc>
            <a:spcAft>
              <a:spcPts val="0"/>
            </a:spcAft>
          </a:pPr>
          <a:r>
            <a:rPr lang="en-IN" sz="2100" b="1" dirty="0">
              <a:latin typeface="Roboto" panose="02000000000000000000" pitchFamily="2" charset="0"/>
              <a:ea typeface="Roboto" panose="02000000000000000000" pitchFamily="2" charset="0"/>
              <a:cs typeface="Roboto" panose="02000000000000000000" pitchFamily="2" charset="0"/>
            </a:rPr>
            <a:t>Small and </a:t>
          </a:r>
        </a:p>
        <a:p>
          <a:pPr rtl="0">
            <a:lnSpc>
              <a:spcPct val="110000"/>
            </a:lnSpc>
            <a:spcAft>
              <a:spcPts val="0"/>
            </a:spcAft>
          </a:pPr>
          <a:r>
            <a:rPr lang="en-IN" sz="2100" b="1" dirty="0">
              <a:latin typeface="Roboto" panose="02000000000000000000" pitchFamily="2" charset="0"/>
              <a:ea typeface="Roboto" panose="02000000000000000000" pitchFamily="2" charset="0"/>
              <a:cs typeface="Roboto" panose="02000000000000000000" pitchFamily="2" charset="0"/>
            </a:rPr>
            <a:t>Medium Enterprises</a:t>
          </a:r>
          <a:endParaRPr lang="en-IN" sz="2100" b="1" dirty="0">
            <a:solidFill>
              <a:schemeClr val="bg1"/>
            </a:solidFill>
          </a:endParaRPr>
        </a:p>
      </dgm:t>
    </dgm:pt>
    <dgm:pt modelId="{40CE6D09-456F-4B2A-9F5E-68A0567A699C}" type="parTrans" cxnId="{1D05B7DE-ED9A-4CC1-A12B-53B391DFE399}">
      <dgm:prSet/>
      <dgm:spPr/>
      <dgm:t>
        <a:bodyPr/>
        <a:lstStyle/>
        <a:p>
          <a:endParaRPr lang="en-IN" sz="2000"/>
        </a:p>
      </dgm:t>
    </dgm:pt>
    <dgm:pt modelId="{9545D731-286B-491C-8EAE-33EC0472E839}" type="sibTrans" cxnId="{1D05B7DE-ED9A-4CC1-A12B-53B391DFE399}">
      <dgm:prSet/>
      <dgm:spPr/>
      <dgm:t>
        <a:bodyPr/>
        <a:lstStyle/>
        <a:p>
          <a:endParaRPr lang="en-IN" sz="2000"/>
        </a:p>
      </dgm:t>
    </dgm:pt>
    <dgm:pt modelId="{9ED5181C-EDD1-4585-A4E3-70CAABF20A50}">
      <dgm:prSet phldrT="[Text]" custT="1"/>
      <dgm:spPr>
        <a:solidFill>
          <a:srgbClr val="111E2B">
            <a:alpha val="85000"/>
          </a:srgbClr>
        </a:solidFill>
        <a:ln w="38100">
          <a:noFill/>
        </a:ln>
      </dgm:spPr>
      <dgm:t>
        <a:bodyPr/>
        <a:lstStyle/>
        <a:p>
          <a:pPr rtl="0">
            <a:lnSpc>
              <a:spcPct val="110000"/>
            </a:lnSpc>
            <a:spcAft>
              <a:spcPts val="0"/>
            </a:spcAft>
          </a:pPr>
          <a:r>
            <a:rPr lang="en-IN" sz="2100" b="1" dirty="0">
              <a:latin typeface="Roboto" panose="02000000000000000000" pitchFamily="2" charset="0"/>
              <a:ea typeface="Roboto" panose="02000000000000000000" pitchFamily="2" charset="0"/>
              <a:cs typeface="Roboto" panose="02000000000000000000" pitchFamily="2" charset="0"/>
            </a:rPr>
            <a:t>Multi National Enterprises</a:t>
          </a:r>
          <a:endParaRPr lang="en-IN" sz="2100" b="1" dirty="0">
            <a:solidFill>
              <a:schemeClr val="bg1"/>
            </a:solidFill>
            <a:latin typeface="Roboto"/>
          </a:endParaRPr>
        </a:p>
      </dgm:t>
    </dgm:pt>
    <dgm:pt modelId="{292FEBC6-40F2-461B-AD33-61AADAF03DA2}" type="parTrans" cxnId="{05F36488-C0D7-452C-8A1B-0CBCBC82839D}">
      <dgm:prSet/>
      <dgm:spPr/>
      <dgm:t>
        <a:bodyPr/>
        <a:lstStyle/>
        <a:p>
          <a:endParaRPr lang="en-IN" sz="2000"/>
        </a:p>
      </dgm:t>
    </dgm:pt>
    <dgm:pt modelId="{B0113003-9308-4E94-B19A-B35825DBAE9B}" type="sibTrans" cxnId="{05F36488-C0D7-452C-8A1B-0CBCBC82839D}">
      <dgm:prSet/>
      <dgm:spPr/>
      <dgm:t>
        <a:bodyPr/>
        <a:lstStyle/>
        <a:p>
          <a:endParaRPr lang="en-IN" sz="2000"/>
        </a:p>
      </dgm:t>
    </dgm:pt>
    <dgm:pt modelId="{29592A93-0B2D-42E8-BE8F-21974C6ED839}">
      <dgm:prSet phldrT="[Text]" custT="1"/>
      <dgm:spPr>
        <a:solidFill>
          <a:srgbClr val="111E2B">
            <a:alpha val="85000"/>
          </a:srgbClr>
        </a:solidFill>
        <a:ln w="38100">
          <a:noFill/>
        </a:ln>
      </dgm:spPr>
      <dgm:t>
        <a:bodyPr/>
        <a:lstStyle/>
        <a:p>
          <a:pPr>
            <a:lnSpc>
              <a:spcPct val="110000"/>
            </a:lnSpc>
            <a:spcAft>
              <a:spcPts val="0"/>
            </a:spcAft>
          </a:pPr>
          <a:r>
            <a:rPr lang="en-IN" sz="2100" b="1" dirty="0">
              <a:latin typeface="Roboto" panose="02000000000000000000" pitchFamily="2" charset="0"/>
              <a:ea typeface="Roboto" panose="02000000000000000000" pitchFamily="2" charset="0"/>
              <a:cs typeface="Roboto" panose="02000000000000000000" pitchFamily="2" charset="0"/>
            </a:rPr>
            <a:t>Fund and Asset Managers</a:t>
          </a:r>
          <a:endParaRPr lang="en-IN" sz="2100" b="1" dirty="0">
            <a:solidFill>
              <a:schemeClr val="bg1"/>
            </a:solidFill>
          </a:endParaRPr>
        </a:p>
      </dgm:t>
    </dgm:pt>
    <dgm:pt modelId="{0963B516-837C-4927-95C8-26636CA82881}" type="parTrans" cxnId="{A8B8C47D-43EE-43A0-B86A-3BC6BC0D1446}">
      <dgm:prSet/>
      <dgm:spPr/>
      <dgm:t>
        <a:bodyPr/>
        <a:lstStyle/>
        <a:p>
          <a:endParaRPr lang="en-IN" sz="2000"/>
        </a:p>
      </dgm:t>
    </dgm:pt>
    <dgm:pt modelId="{EDC3DC0E-9F0B-4E7E-9C9C-96A92ABE2A99}" type="sibTrans" cxnId="{A8B8C47D-43EE-43A0-B86A-3BC6BC0D1446}">
      <dgm:prSet/>
      <dgm:spPr/>
      <dgm:t>
        <a:bodyPr/>
        <a:lstStyle/>
        <a:p>
          <a:endParaRPr lang="en-IN" sz="2000"/>
        </a:p>
      </dgm:t>
    </dgm:pt>
    <dgm:pt modelId="{F51D4E78-9B43-43B6-8190-9C9157ECD0CA}">
      <dgm:prSet phldrT="[Text]" custT="1"/>
      <dgm:spPr>
        <a:solidFill>
          <a:srgbClr val="111E2B">
            <a:alpha val="85000"/>
          </a:srgbClr>
        </a:solidFill>
        <a:ln w="38100">
          <a:noFill/>
        </a:ln>
      </dgm:spPr>
      <dgm:t>
        <a:bodyPr/>
        <a:lstStyle/>
        <a:p>
          <a:pPr>
            <a:lnSpc>
              <a:spcPct val="110000"/>
            </a:lnSpc>
            <a:spcAft>
              <a:spcPts val="0"/>
            </a:spcAft>
          </a:pPr>
          <a:r>
            <a:rPr lang="en-IN" sz="2100" b="1" dirty="0">
              <a:latin typeface="Roboto" panose="02000000000000000000" pitchFamily="2" charset="0"/>
              <a:ea typeface="Roboto" panose="02000000000000000000" pitchFamily="2" charset="0"/>
              <a:cs typeface="Roboto" panose="02000000000000000000" pitchFamily="2" charset="0"/>
            </a:rPr>
            <a:t>Family </a:t>
          </a:r>
        </a:p>
        <a:p>
          <a:pPr>
            <a:lnSpc>
              <a:spcPct val="110000"/>
            </a:lnSpc>
            <a:spcAft>
              <a:spcPts val="0"/>
            </a:spcAft>
          </a:pPr>
          <a:r>
            <a:rPr lang="en-IN" sz="2100" b="1" dirty="0">
              <a:latin typeface="Roboto" panose="02000000000000000000" pitchFamily="2" charset="0"/>
              <a:ea typeface="Roboto" panose="02000000000000000000" pitchFamily="2" charset="0"/>
              <a:cs typeface="Roboto" panose="02000000000000000000" pitchFamily="2" charset="0"/>
            </a:rPr>
            <a:t>Offices</a:t>
          </a:r>
          <a:endParaRPr lang="en-IN" sz="2100" b="1" dirty="0">
            <a:solidFill>
              <a:schemeClr val="bg1"/>
            </a:solidFill>
          </a:endParaRPr>
        </a:p>
      </dgm:t>
    </dgm:pt>
    <dgm:pt modelId="{A9120C0C-ED53-4359-B1F8-762D8F051EE9}" type="parTrans" cxnId="{D378B874-522D-41CE-8426-CEB61C8DB61F}">
      <dgm:prSet/>
      <dgm:spPr/>
      <dgm:t>
        <a:bodyPr/>
        <a:lstStyle/>
        <a:p>
          <a:endParaRPr lang="en-IN" sz="2000"/>
        </a:p>
      </dgm:t>
    </dgm:pt>
    <dgm:pt modelId="{AF3F06CC-BB1B-46EC-B219-E5F481B7F752}" type="sibTrans" cxnId="{D378B874-522D-41CE-8426-CEB61C8DB61F}">
      <dgm:prSet/>
      <dgm:spPr/>
      <dgm:t>
        <a:bodyPr/>
        <a:lstStyle/>
        <a:p>
          <a:endParaRPr lang="en-IN" sz="2000"/>
        </a:p>
      </dgm:t>
    </dgm:pt>
    <dgm:pt modelId="{2E89C33B-0EB4-47A0-9CFC-1BE6A26AFB63}">
      <dgm:prSet phldrT="[Text]" custT="1"/>
      <dgm:spPr>
        <a:solidFill>
          <a:srgbClr val="111E2B">
            <a:alpha val="85000"/>
          </a:srgbClr>
        </a:solidFill>
        <a:ln w="38100">
          <a:noFill/>
        </a:ln>
      </dgm:spPr>
      <dgm:t>
        <a:bodyPr/>
        <a:lstStyle/>
        <a:p>
          <a:pPr rtl="0"/>
          <a:r>
            <a:rPr lang="en-IN" sz="2100" b="1" dirty="0">
              <a:latin typeface="Roboto" panose="02000000000000000000" pitchFamily="2" charset="0"/>
              <a:ea typeface="Roboto" panose="02000000000000000000" pitchFamily="2" charset="0"/>
              <a:cs typeface="Roboto" panose="02000000000000000000" pitchFamily="2" charset="0"/>
            </a:rPr>
            <a:t>Non Profit Organizations</a:t>
          </a:r>
          <a:endParaRPr lang="en-IN" sz="2100" b="1" dirty="0">
            <a:solidFill>
              <a:schemeClr val="bg1"/>
            </a:solidFill>
          </a:endParaRPr>
        </a:p>
      </dgm:t>
    </dgm:pt>
    <dgm:pt modelId="{18C059E1-D6E5-44A1-9EBB-B66328023BBF}" type="parTrans" cxnId="{4391C038-C98D-4DC1-8910-C64171272376}">
      <dgm:prSet/>
      <dgm:spPr/>
      <dgm:t>
        <a:bodyPr/>
        <a:lstStyle/>
        <a:p>
          <a:endParaRPr lang="en-IN" sz="2000"/>
        </a:p>
      </dgm:t>
    </dgm:pt>
    <dgm:pt modelId="{5AC80C05-71FA-43E1-B4AA-0ADFFB9A123B}" type="sibTrans" cxnId="{4391C038-C98D-4DC1-8910-C64171272376}">
      <dgm:prSet/>
      <dgm:spPr/>
      <dgm:t>
        <a:bodyPr/>
        <a:lstStyle/>
        <a:p>
          <a:endParaRPr lang="en-IN" sz="2000"/>
        </a:p>
      </dgm:t>
    </dgm:pt>
    <dgm:pt modelId="{FE9896E6-E8BB-4510-BDFB-7DF8EE953E3C}">
      <dgm:prSet phldrT="[Text]" custT="1"/>
      <dgm:spPr>
        <a:solidFill>
          <a:srgbClr val="111E2B">
            <a:alpha val="85000"/>
          </a:srgbClr>
        </a:solidFill>
        <a:ln w="38100">
          <a:noFill/>
        </a:ln>
      </dgm:spPr>
      <dgm:t>
        <a:bodyPr/>
        <a:lstStyle/>
        <a:p>
          <a:pPr rtl="0">
            <a:lnSpc>
              <a:spcPct val="110000"/>
            </a:lnSpc>
            <a:spcAft>
              <a:spcPts val="0"/>
            </a:spcAft>
          </a:pPr>
          <a:r>
            <a:rPr lang="en-IN" sz="2100" b="1" dirty="0">
              <a:latin typeface="Roboto" panose="02000000000000000000" pitchFamily="2" charset="0"/>
              <a:ea typeface="Roboto" panose="02000000000000000000" pitchFamily="2" charset="0"/>
              <a:cs typeface="Roboto" panose="02000000000000000000" pitchFamily="2" charset="0"/>
            </a:rPr>
            <a:t>Government Agencies</a:t>
          </a:r>
          <a:endParaRPr lang="en-IN" sz="2100" b="1" dirty="0">
            <a:solidFill>
              <a:schemeClr val="bg1"/>
            </a:solidFill>
          </a:endParaRPr>
        </a:p>
      </dgm:t>
    </dgm:pt>
    <dgm:pt modelId="{99567AFB-444C-4297-961C-35D85AED390A}" type="parTrans" cxnId="{B43D6F75-0C10-4A24-8C5A-E723470F207F}">
      <dgm:prSet/>
      <dgm:spPr/>
      <dgm:t>
        <a:bodyPr/>
        <a:lstStyle/>
        <a:p>
          <a:endParaRPr lang="en-IN" sz="2000"/>
        </a:p>
      </dgm:t>
    </dgm:pt>
    <dgm:pt modelId="{C5D8118E-48F6-4B4D-AF8E-FAB528709CD3}" type="sibTrans" cxnId="{B43D6F75-0C10-4A24-8C5A-E723470F207F}">
      <dgm:prSet/>
      <dgm:spPr/>
      <dgm:t>
        <a:bodyPr/>
        <a:lstStyle/>
        <a:p>
          <a:endParaRPr lang="en-IN" sz="2000"/>
        </a:p>
      </dgm:t>
    </dgm:pt>
    <dgm:pt modelId="{ED204ACF-8B1F-4315-BE4A-A399EE17AFCD}">
      <dgm:prSet phldrT="[Text]" custT="1"/>
      <dgm:spPr>
        <a:solidFill>
          <a:srgbClr val="111E2B">
            <a:alpha val="85000"/>
          </a:srgbClr>
        </a:solidFill>
        <a:ln w="38100">
          <a:noFill/>
        </a:ln>
      </dgm:spPr>
      <dgm:t>
        <a:bodyPr/>
        <a:lstStyle/>
        <a:p>
          <a:pPr>
            <a:lnSpc>
              <a:spcPct val="110000"/>
            </a:lnSpc>
            <a:spcAft>
              <a:spcPts val="0"/>
            </a:spcAft>
          </a:pPr>
          <a:r>
            <a:rPr lang="en-IN" sz="2100" b="1" dirty="0">
              <a:latin typeface="Roboto" panose="02000000000000000000" pitchFamily="2" charset="0"/>
              <a:ea typeface="Roboto" panose="02000000000000000000" pitchFamily="2" charset="0"/>
              <a:cs typeface="Roboto" panose="02000000000000000000" pitchFamily="2" charset="0"/>
            </a:rPr>
            <a:t>Listed </a:t>
          </a:r>
        </a:p>
        <a:p>
          <a:pPr>
            <a:lnSpc>
              <a:spcPct val="110000"/>
            </a:lnSpc>
            <a:spcAft>
              <a:spcPts val="0"/>
            </a:spcAft>
          </a:pPr>
          <a:r>
            <a:rPr lang="en-IN" sz="2100" b="1" dirty="0">
              <a:latin typeface="Roboto" panose="02000000000000000000" pitchFamily="2" charset="0"/>
              <a:ea typeface="Roboto" panose="02000000000000000000" pitchFamily="2" charset="0"/>
              <a:cs typeface="Roboto" panose="02000000000000000000" pitchFamily="2" charset="0"/>
            </a:rPr>
            <a:t>Companies</a:t>
          </a:r>
        </a:p>
      </dgm:t>
    </dgm:pt>
    <dgm:pt modelId="{AD92C870-02E4-430C-AA1A-6425D526CBB4}" type="parTrans" cxnId="{3D396CF9-8C3A-4842-BA1B-305CB0A2A3B1}">
      <dgm:prSet/>
      <dgm:spPr/>
      <dgm:t>
        <a:bodyPr/>
        <a:lstStyle/>
        <a:p>
          <a:endParaRPr lang="en-IN" sz="2000"/>
        </a:p>
      </dgm:t>
    </dgm:pt>
    <dgm:pt modelId="{96D8C0E3-361B-464E-9C37-FAC9FE12C6CF}" type="sibTrans" cxnId="{3D396CF9-8C3A-4842-BA1B-305CB0A2A3B1}">
      <dgm:prSet/>
      <dgm:spPr/>
      <dgm:t>
        <a:bodyPr/>
        <a:lstStyle/>
        <a:p>
          <a:endParaRPr lang="en-IN" sz="2000"/>
        </a:p>
      </dgm:t>
    </dgm:pt>
    <dgm:pt modelId="{2929A616-A691-44B4-B6FA-EDA5BDEF35C0}">
      <dgm:prSet phldrT="[Text]" custT="1"/>
      <dgm:spPr>
        <a:solidFill>
          <a:srgbClr val="111E2B">
            <a:alpha val="85000"/>
          </a:srgbClr>
        </a:solidFill>
        <a:ln w="38100">
          <a:noFill/>
        </a:ln>
      </dgm:spPr>
      <dgm:t>
        <a:bodyPr/>
        <a:lstStyle/>
        <a:p>
          <a:pPr rtl="0">
            <a:lnSpc>
              <a:spcPct val="110000"/>
            </a:lnSpc>
            <a:spcAft>
              <a:spcPts val="0"/>
            </a:spcAft>
          </a:pPr>
          <a:r>
            <a:rPr lang="en-IN" sz="2100" b="1" dirty="0">
              <a:latin typeface="Roboto" panose="02000000000000000000" pitchFamily="2" charset="0"/>
              <a:ea typeface="Roboto" panose="02000000000000000000" pitchFamily="2" charset="0"/>
              <a:cs typeface="Roboto" panose="02000000000000000000" pitchFamily="2" charset="0"/>
            </a:rPr>
            <a:t>Large </a:t>
          </a:r>
        </a:p>
        <a:p>
          <a:pPr rtl="0">
            <a:lnSpc>
              <a:spcPct val="110000"/>
            </a:lnSpc>
            <a:spcAft>
              <a:spcPts val="0"/>
            </a:spcAft>
          </a:pPr>
          <a:r>
            <a:rPr lang="en-IN" sz="2100" b="1" dirty="0">
              <a:latin typeface="Roboto" panose="02000000000000000000" pitchFamily="2" charset="0"/>
              <a:ea typeface="Roboto" panose="02000000000000000000" pitchFamily="2" charset="0"/>
              <a:cs typeface="Roboto" panose="02000000000000000000" pitchFamily="2" charset="0"/>
            </a:rPr>
            <a:t>Corporates</a:t>
          </a:r>
          <a:endParaRPr lang="en-IN" sz="2100" b="1" dirty="0">
            <a:solidFill>
              <a:schemeClr val="bg1"/>
            </a:solidFill>
          </a:endParaRPr>
        </a:p>
      </dgm:t>
    </dgm:pt>
    <dgm:pt modelId="{87B423D9-8540-4822-AA39-D486CA48F380}" type="parTrans" cxnId="{4400A10C-C167-4F0A-871C-2BD332DA0185}">
      <dgm:prSet/>
      <dgm:spPr/>
      <dgm:t>
        <a:bodyPr/>
        <a:lstStyle/>
        <a:p>
          <a:endParaRPr lang="en-IN"/>
        </a:p>
      </dgm:t>
    </dgm:pt>
    <dgm:pt modelId="{53AAE7DF-D4E7-4A42-B291-106726D7602F}" type="sibTrans" cxnId="{4400A10C-C167-4F0A-871C-2BD332DA0185}">
      <dgm:prSet/>
      <dgm:spPr/>
      <dgm:t>
        <a:bodyPr/>
        <a:lstStyle/>
        <a:p>
          <a:endParaRPr lang="en-IN"/>
        </a:p>
      </dgm:t>
    </dgm:pt>
    <dgm:pt modelId="{FE7F666C-6D24-4B13-BA1F-CC16D341C10C}" type="pres">
      <dgm:prSet presAssocID="{890F2100-CE55-462F-8E6B-70202F6BC392}" presName="diagram" presStyleCnt="0">
        <dgm:presLayoutVars>
          <dgm:dir/>
          <dgm:resizeHandles val="exact"/>
        </dgm:presLayoutVars>
      </dgm:prSet>
      <dgm:spPr/>
    </dgm:pt>
    <dgm:pt modelId="{63534648-6DB7-4765-ADF7-C54AD72BAFBC}" type="pres">
      <dgm:prSet presAssocID="{CAC712E0-1FCF-4098-BE7D-97A0321F5A65}" presName="node" presStyleLbl="node1" presStyleIdx="0" presStyleCnt="9" custLinFactNeighborX="0">
        <dgm:presLayoutVars>
          <dgm:bulletEnabled val="1"/>
        </dgm:presLayoutVars>
      </dgm:prSet>
      <dgm:spPr/>
    </dgm:pt>
    <dgm:pt modelId="{B0F1A6A3-C3BA-4277-916E-477CA8ED5708}" type="pres">
      <dgm:prSet presAssocID="{9C1D43AA-DB25-4096-8387-E792EA89A094}" presName="sibTrans" presStyleCnt="0"/>
      <dgm:spPr/>
    </dgm:pt>
    <dgm:pt modelId="{DC08BD02-A9C5-48C9-B252-90DB2897EFA9}" type="pres">
      <dgm:prSet presAssocID="{5FDB459B-EDCC-4257-9E5E-644A69E9E27E}" presName="node" presStyleLbl="node1" presStyleIdx="1" presStyleCnt="9" custLinFactNeighborX="0">
        <dgm:presLayoutVars>
          <dgm:bulletEnabled val="1"/>
        </dgm:presLayoutVars>
      </dgm:prSet>
      <dgm:spPr/>
    </dgm:pt>
    <dgm:pt modelId="{D1A3E144-920C-4B95-AC43-C9DDE2A387F0}" type="pres">
      <dgm:prSet presAssocID="{9545D731-286B-491C-8EAE-33EC0472E839}" presName="sibTrans" presStyleCnt="0"/>
      <dgm:spPr/>
    </dgm:pt>
    <dgm:pt modelId="{7BC94487-03F9-4E2C-B9B6-B80AF6315F8A}" type="pres">
      <dgm:prSet presAssocID="{29592A93-0B2D-42E8-BE8F-21974C6ED839}" presName="node" presStyleLbl="node1" presStyleIdx="2" presStyleCnt="9" custLinFactNeighborX="0">
        <dgm:presLayoutVars>
          <dgm:bulletEnabled val="1"/>
        </dgm:presLayoutVars>
      </dgm:prSet>
      <dgm:spPr/>
    </dgm:pt>
    <dgm:pt modelId="{78270FEE-3D4D-403F-A3B2-80123DB73D0F}" type="pres">
      <dgm:prSet presAssocID="{EDC3DC0E-9F0B-4E7E-9C9C-96A92ABE2A99}" presName="sibTrans" presStyleCnt="0"/>
      <dgm:spPr/>
    </dgm:pt>
    <dgm:pt modelId="{921DA6A5-275D-49DB-A185-9A5B85C11BC7}" type="pres">
      <dgm:prSet presAssocID="{9ED5181C-EDD1-4585-A4E3-70CAABF20A50}" presName="node" presStyleLbl="node1" presStyleIdx="3" presStyleCnt="9" custLinFactNeighborX="0">
        <dgm:presLayoutVars>
          <dgm:bulletEnabled val="1"/>
        </dgm:presLayoutVars>
      </dgm:prSet>
      <dgm:spPr/>
    </dgm:pt>
    <dgm:pt modelId="{57F53C3C-102C-4EC3-823D-6CE823B00FCE}" type="pres">
      <dgm:prSet presAssocID="{B0113003-9308-4E94-B19A-B35825DBAE9B}" presName="sibTrans" presStyleCnt="0"/>
      <dgm:spPr/>
    </dgm:pt>
    <dgm:pt modelId="{4D7149AF-4AF7-4855-92B5-911C21EDB5FD}" type="pres">
      <dgm:prSet presAssocID="{ED204ACF-8B1F-4315-BE4A-A399EE17AFCD}" presName="node" presStyleLbl="node1" presStyleIdx="4" presStyleCnt="9" custLinFactNeighborX="0">
        <dgm:presLayoutVars>
          <dgm:bulletEnabled val="1"/>
        </dgm:presLayoutVars>
      </dgm:prSet>
      <dgm:spPr/>
    </dgm:pt>
    <dgm:pt modelId="{7A1BED31-D7B7-43E0-B8EF-CCCCE806F82C}" type="pres">
      <dgm:prSet presAssocID="{96D8C0E3-361B-464E-9C37-FAC9FE12C6CF}" presName="sibTrans" presStyleCnt="0"/>
      <dgm:spPr/>
    </dgm:pt>
    <dgm:pt modelId="{7FE5CB5F-D1A7-4D46-850E-6A8D87D613AC}" type="pres">
      <dgm:prSet presAssocID="{2929A616-A691-44B4-B6FA-EDA5BDEF35C0}" presName="node" presStyleLbl="node1" presStyleIdx="5" presStyleCnt="9" custLinFactNeighborX="0">
        <dgm:presLayoutVars>
          <dgm:bulletEnabled val="1"/>
        </dgm:presLayoutVars>
      </dgm:prSet>
      <dgm:spPr/>
    </dgm:pt>
    <dgm:pt modelId="{F3BEF96B-70A7-423C-B854-C47EEAC405DC}" type="pres">
      <dgm:prSet presAssocID="{53AAE7DF-D4E7-4A42-B291-106726D7602F}" presName="sibTrans" presStyleCnt="0"/>
      <dgm:spPr/>
    </dgm:pt>
    <dgm:pt modelId="{A1B5C829-D1F2-4D1A-9C0A-5E78FE05021B}" type="pres">
      <dgm:prSet presAssocID="{F51D4E78-9B43-43B6-8190-9C9157ECD0CA}" presName="node" presStyleLbl="node1" presStyleIdx="6" presStyleCnt="9" custLinFactNeighborX="0">
        <dgm:presLayoutVars>
          <dgm:bulletEnabled val="1"/>
        </dgm:presLayoutVars>
      </dgm:prSet>
      <dgm:spPr/>
    </dgm:pt>
    <dgm:pt modelId="{E9BB1DB3-5155-4B80-A2D7-37DAEF68A7DF}" type="pres">
      <dgm:prSet presAssocID="{AF3F06CC-BB1B-46EC-B219-E5F481B7F752}" presName="sibTrans" presStyleCnt="0"/>
      <dgm:spPr/>
    </dgm:pt>
    <dgm:pt modelId="{239FF4E8-F8A6-4C2B-A611-44B7CB8A2B68}" type="pres">
      <dgm:prSet presAssocID="{2E89C33B-0EB4-47A0-9CFC-1BE6A26AFB63}" presName="node" presStyleLbl="node1" presStyleIdx="7" presStyleCnt="9">
        <dgm:presLayoutVars>
          <dgm:bulletEnabled val="1"/>
        </dgm:presLayoutVars>
      </dgm:prSet>
      <dgm:spPr/>
    </dgm:pt>
    <dgm:pt modelId="{20C7166C-460E-46E3-8BF2-3388468C822E}" type="pres">
      <dgm:prSet presAssocID="{5AC80C05-71FA-43E1-B4AA-0ADFFB9A123B}" presName="sibTrans" presStyleCnt="0"/>
      <dgm:spPr/>
    </dgm:pt>
    <dgm:pt modelId="{AB6E2CA7-4CE2-4A7D-8799-5E60423141CC}" type="pres">
      <dgm:prSet presAssocID="{FE9896E6-E8BB-4510-BDFB-7DF8EE953E3C}" presName="node" presStyleLbl="node1" presStyleIdx="8" presStyleCnt="9">
        <dgm:presLayoutVars>
          <dgm:bulletEnabled val="1"/>
        </dgm:presLayoutVars>
      </dgm:prSet>
      <dgm:spPr/>
    </dgm:pt>
  </dgm:ptLst>
  <dgm:cxnLst>
    <dgm:cxn modelId="{4400A10C-C167-4F0A-871C-2BD332DA0185}" srcId="{890F2100-CE55-462F-8E6B-70202F6BC392}" destId="{2929A616-A691-44B4-B6FA-EDA5BDEF35C0}" srcOrd="5" destOrd="0" parTransId="{87B423D9-8540-4822-AA39-D486CA48F380}" sibTransId="{53AAE7DF-D4E7-4A42-B291-106726D7602F}"/>
    <dgm:cxn modelId="{86F08013-1BA2-41FD-9397-7FAB0D014DA1}" type="presOf" srcId="{ED204ACF-8B1F-4315-BE4A-A399EE17AFCD}" destId="{4D7149AF-4AF7-4855-92B5-911C21EDB5FD}" srcOrd="0" destOrd="0" presId="urn:microsoft.com/office/officeart/2005/8/layout/default"/>
    <dgm:cxn modelId="{774DC117-2AAA-4A58-A20F-C17486B061EA}" type="presOf" srcId="{29592A93-0B2D-42E8-BE8F-21974C6ED839}" destId="{7BC94487-03F9-4E2C-B9B6-B80AF6315F8A}" srcOrd="0" destOrd="0" presId="urn:microsoft.com/office/officeart/2005/8/layout/default"/>
    <dgm:cxn modelId="{4391C038-C98D-4DC1-8910-C64171272376}" srcId="{890F2100-CE55-462F-8E6B-70202F6BC392}" destId="{2E89C33B-0EB4-47A0-9CFC-1BE6A26AFB63}" srcOrd="7" destOrd="0" parTransId="{18C059E1-D6E5-44A1-9EBB-B66328023BBF}" sibTransId="{5AC80C05-71FA-43E1-B4AA-0ADFFB9A123B}"/>
    <dgm:cxn modelId="{6D542E44-9F32-4BC8-ACF3-C2616CFE1F79}" type="presOf" srcId="{2929A616-A691-44B4-B6FA-EDA5BDEF35C0}" destId="{7FE5CB5F-D1A7-4D46-850E-6A8D87D613AC}" srcOrd="0" destOrd="0" presId="urn:microsoft.com/office/officeart/2005/8/layout/default"/>
    <dgm:cxn modelId="{9534B766-744B-4DE0-B844-E494FE226149}" type="presOf" srcId="{FE9896E6-E8BB-4510-BDFB-7DF8EE953E3C}" destId="{AB6E2CA7-4CE2-4A7D-8799-5E60423141CC}" srcOrd="0" destOrd="0" presId="urn:microsoft.com/office/officeart/2005/8/layout/default"/>
    <dgm:cxn modelId="{0D11534D-873F-4520-B7CE-C31410A726B3}" type="presOf" srcId="{F51D4E78-9B43-43B6-8190-9C9157ECD0CA}" destId="{A1B5C829-D1F2-4D1A-9C0A-5E78FE05021B}" srcOrd="0" destOrd="0" presId="urn:microsoft.com/office/officeart/2005/8/layout/default"/>
    <dgm:cxn modelId="{D378B874-522D-41CE-8426-CEB61C8DB61F}" srcId="{890F2100-CE55-462F-8E6B-70202F6BC392}" destId="{F51D4E78-9B43-43B6-8190-9C9157ECD0CA}" srcOrd="6" destOrd="0" parTransId="{A9120C0C-ED53-4359-B1F8-762D8F051EE9}" sibTransId="{AF3F06CC-BB1B-46EC-B219-E5F481B7F752}"/>
    <dgm:cxn modelId="{B43D6F75-0C10-4A24-8C5A-E723470F207F}" srcId="{890F2100-CE55-462F-8E6B-70202F6BC392}" destId="{FE9896E6-E8BB-4510-BDFB-7DF8EE953E3C}" srcOrd="8" destOrd="0" parTransId="{99567AFB-444C-4297-961C-35D85AED390A}" sibTransId="{C5D8118E-48F6-4B4D-AF8E-FAB528709CD3}"/>
    <dgm:cxn modelId="{7BB5EC76-59A9-49E1-BD1C-F78F868F7C5C}" type="presOf" srcId="{5FDB459B-EDCC-4257-9E5E-644A69E9E27E}" destId="{DC08BD02-A9C5-48C9-B252-90DB2897EFA9}" srcOrd="0" destOrd="0" presId="urn:microsoft.com/office/officeart/2005/8/layout/default"/>
    <dgm:cxn modelId="{A8B8C47D-43EE-43A0-B86A-3BC6BC0D1446}" srcId="{890F2100-CE55-462F-8E6B-70202F6BC392}" destId="{29592A93-0B2D-42E8-BE8F-21974C6ED839}" srcOrd="2" destOrd="0" parTransId="{0963B516-837C-4927-95C8-26636CA82881}" sibTransId="{EDC3DC0E-9F0B-4E7E-9C9C-96A92ABE2A99}"/>
    <dgm:cxn modelId="{05F36488-C0D7-452C-8A1B-0CBCBC82839D}" srcId="{890F2100-CE55-462F-8E6B-70202F6BC392}" destId="{9ED5181C-EDD1-4585-A4E3-70CAABF20A50}" srcOrd="3" destOrd="0" parTransId="{292FEBC6-40F2-461B-AD33-61AADAF03DA2}" sibTransId="{B0113003-9308-4E94-B19A-B35825DBAE9B}"/>
    <dgm:cxn modelId="{ACB2E59D-552E-4305-9807-D69963E1EDF3}" srcId="{890F2100-CE55-462F-8E6B-70202F6BC392}" destId="{CAC712E0-1FCF-4098-BE7D-97A0321F5A65}" srcOrd="0" destOrd="0" parTransId="{8BF2C53E-29F5-4EF6-AFA3-4F28CF48544D}" sibTransId="{9C1D43AA-DB25-4096-8387-E792EA89A094}"/>
    <dgm:cxn modelId="{ED13E7B9-CD40-420E-A72F-AC78FEE56375}" type="presOf" srcId="{890F2100-CE55-462F-8E6B-70202F6BC392}" destId="{FE7F666C-6D24-4B13-BA1F-CC16D341C10C}" srcOrd="0" destOrd="0" presId="urn:microsoft.com/office/officeart/2005/8/layout/default"/>
    <dgm:cxn modelId="{1D05B7DE-ED9A-4CC1-A12B-53B391DFE399}" srcId="{890F2100-CE55-462F-8E6B-70202F6BC392}" destId="{5FDB459B-EDCC-4257-9E5E-644A69E9E27E}" srcOrd="1" destOrd="0" parTransId="{40CE6D09-456F-4B2A-9F5E-68A0567A699C}" sibTransId="{9545D731-286B-491C-8EAE-33EC0472E839}"/>
    <dgm:cxn modelId="{A2EC20E9-D2A4-4997-BEBA-8B67B81E343D}" type="presOf" srcId="{CAC712E0-1FCF-4098-BE7D-97A0321F5A65}" destId="{63534648-6DB7-4765-ADF7-C54AD72BAFBC}" srcOrd="0" destOrd="0" presId="urn:microsoft.com/office/officeart/2005/8/layout/default"/>
    <dgm:cxn modelId="{A43051F2-7BE0-463E-8768-7F79B4433A19}" type="presOf" srcId="{9ED5181C-EDD1-4585-A4E3-70CAABF20A50}" destId="{921DA6A5-275D-49DB-A185-9A5B85C11BC7}" srcOrd="0" destOrd="0" presId="urn:microsoft.com/office/officeart/2005/8/layout/default"/>
    <dgm:cxn modelId="{3D396CF9-8C3A-4842-BA1B-305CB0A2A3B1}" srcId="{890F2100-CE55-462F-8E6B-70202F6BC392}" destId="{ED204ACF-8B1F-4315-BE4A-A399EE17AFCD}" srcOrd="4" destOrd="0" parTransId="{AD92C870-02E4-430C-AA1A-6425D526CBB4}" sibTransId="{96D8C0E3-361B-464E-9C37-FAC9FE12C6CF}"/>
    <dgm:cxn modelId="{357C55FC-C800-40DE-B8DD-659D9C13B791}" type="presOf" srcId="{2E89C33B-0EB4-47A0-9CFC-1BE6A26AFB63}" destId="{239FF4E8-F8A6-4C2B-A611-44B7CB8A2B68}" srcOrd="0" destOrd="0" presId="urn:microsoft.com/office/officeart/2005/8/layout/default"/>
    <dgm:cxn modelId="{1D280313-5B62-4037-9B56-165069D8F69B}" type="presParOf" srcId="{FE7F666C-6D24-4B13-BA1F-CC16D341C10C}" destId="{63534648-6DB7-4765-ADF7-C54AD72BAFBC}" srcOrd="0" destOrd="0" presId="urn:microsoft.com/office/officeart/2005/8/layout/default"/>
    <dgm:cxn modelId="{A4C8698A-887A-4F4A-A6BD-C53A07FA8BBA}" type="presParOf" srcId="{FE7F666C-6D24-4B13-BA1F-CC16D341C10C}" destId="{B0F1A6A3-C3BA-4277-916E-477CA8ED5708}" srcOrd="1" destOrd="0" presId="urn:microsoft.com/office/officeart/2005/8/layout/default"/>
    <dgm:cxn modelId="{EE8DC12E-2208-4786-B47A-F2B30DB4AF92}" type="presParOf" srcId="{FE7F666C-6D24-4B13-BA1F-CC16D341C10C}" destId="{DC08BD02-A9C5-48C9-B252-90DB2897EFA9}" srcOrd="2" destOrd="0" presId="urn:microsoft.com/office/officeart/2005/8/layout/default"/>
    <dgm:cxn modelId="{090F43B1-12ED-4869-8E31-C11890A8250B}" type="presParOf" srcId="{FE7F666C-6D24-4B13-BA1F-CC16D341C10C}" destId="{D1A3E144-920C-4B95-AC43-C9DDE2A387F0}" srcOrd="3" destOrd="0" presId="urn:microsoft.com/office/officeart/2005/8/layout/default"/>
    <dgm:cxn modelId="{89145392-AAD3-4B73-9697-1B69096A4D2A}" type="presParOf" srcId="{FE7F666C-6D24-4B13-BA1F-CC16D341C10C}" destId="{7BC94487-03F9-4E2C-B9B6-B80AF6315F8A}" srcOrd="4" destOrd="0" presId="urn:microsoft.com/office/officeart/2005/8/layout/default"/>
    <dgm:cxn modelId="{D5ECC95E-AF50-492F-A833-98FEEBE857B4}" type="presParOf" srcId="{FE7F666C-6D24-4B13-BA1F-CC16D341C10C}" destId="{78270FEE-3D4D-403F-A3B2-80123DB73D0F}" srcOrd="5" destOrd="0" presId="urn:microsoft.com/office/officeart/2005/8/layout/default"/>
    <dgm:cxn modelId="{A8FFCFE6-7493-485F-BDF2-7D8AAF24F8B0}" type="presParOf" srcId="{FE7F666C-6D24-4B13-BA1F-CC16D341C10C}" destId="{921DA6A5-275D-49DB-A185-9A5B85C11BC7}" srcOrd="6" destOrd="0" presId="urn:microsoft.com/office/officeart/2005/8/layout/default"/>
    <dgm:cxn modelId="{15F15950-B285-42E2-AB2B-CEF366EB3352}" type="presParOf" srcId="{FE7F666C-6D24-4B13-BA1F-CC16D341C10C}" destId="{57F53C3C-102C-4EC3-823D-6CE823B00FCE}" srcOrd="7" destOrd="0" presId="urn:microsoft.com/office/officeart/2005/8/layout/default"/>
    <dgm:cxn modelId="{21A857F7-D0A7-44E5-A73A-BD8520C22F4A}" type="presParOf" srcId="{FE7F666C-6D24-4B13-BA1F-CC16D341C10C}" destId="{4D7149AF-4AF7-4855-92B5-911C21EDB5FD}" srcOrd="8" destOrd="0" presId="urn:microsoft.com/office/officeart/2005/8/layout/default"/>
    <dgm:cxn modelId="{E678321A-1A4E-4590-83B9-0916A86FCC17}" type="presParOf" srcId="{FE7F666C-6D24-4B13-BA1F-CC16D341C10C}" destId="{7A1BED31-D7B7-43E0-B8EF-CCCCE806F82C}" srcOrd="9" destOrd="0" presId="urn:microsoft.com/office/officeart/2005/8/layout/default"/>
    <dgm:cxn modelId="{4AE33520-4BE2-43C7-A6EE-E852DA8DA721}" type="presParOf" srcId="{FE7F666C-6D24-4B13-BA1F-CC16D341C10C}" destId="{7FE5CB5F-D1A7-4D46-850E-6A8D87D613AC}" srcOrd="10" destOrd="0" presId="urn:microsoft.com/office/officeart/2005/8/layout/default"/>
    <dgm:cxn modelId="{FEB67D6C-F8EA-4ABD-B7AC-F58AE0429B62}" type="presParOf" srcId="{FE7F666C-6D24-4B13-BA1F-CC16D341C10C}" destId="{F3BEF96B-70A7-423C-B854-C47EEAC405DC}" srcOrd="11" destOrd="0" presId="urn:microsoft.com/office/officeart/2005/8/layout/default"/>
    <dgm:cxn modelId="{EC3F5767-3207-4186-BF69-92DEC6951D6C}" type="presParOf" srcId="{FE7F666C-6D24-4B13-BA1F-CC16D341C10C}" destId="{A1B5C829-D1F2-4D1A-9C0A-5E78FE05021B}" srcOrd="12" destOrd="0" presId="urn:microsoft.com/office/officeart/2005/8/layout/default"/>
    <dgm:cxn modelId="{48EDED52-6C14-44A2-AD31-22A416DF23F4}" type="presParOf" srcId="{FE7F666C-6D24-4B13-BA1F-CC16D341C10C}" destId="{E9BB1DB3-5155-4B80-A2D7-37DAEF68A7DF}" srcOrd="13" destOrd="0" presId="urn:microsoft.com/office/officeart/2005/8/layout/default"/>
    <dgm:cxn modelId="{0A0B04D0-6100-4864-8FAD-4ABE9B90EA6B}" type="presParOf" srcId="{FE7F666C-6D24-4B13-BA1F-CC16D341C10C}" destId="{239FF4E8-F8A6-4C2B-A611-44B7CB8A2B68}" srcOrd="14" destOrd="0" presId="urn:microsoft.com/office/officeart/2005/8/layout/default"/>
    <dgm:cxn modelId="{6536E388-5CF7-4EC6-9BE3-8BC4A2451251}" type="presParOf" srcId="{FE7F666C-6D24-4B13-BA1F-CC16D341C10C}" destId="{20C7166C-460E-46E3-8BF2-3388468C822E}" srcOrd="15" destOrd="0" presId="urn:microsoft.com/office/officeart/2005/8/layout/default"/>
    <dgm:cxn modelId="{9C3A8DB8-4E06-400C-92A8-7D00CD6ECBC9}" type="presParOf" srcId="{FE7F666C-6D24-4B13-BA1F-CC16D341C10C}" destId="{AB6E2CA7-4CE2-4A7D-8799-5E60423141CC}"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BD4CD72-5FC2-493D-BCBB-D28A4B4113B2}" type="doc">
      <dgm:prSet loTypeId="urn:diagrams.loki3.com/VaryingWidthList" loCatId="list" qsTypeId="urn:microsoft.com/office/officeart/2005/8/quickstyle/simple1" qsCatId="simple" csTypeId="urn:microsoft.com/office/officeart/2005/8/colors/accent1_2" csCatId="accent1" phldr="1"/>
      <dgm:spPr/>
    </dgm:pt>
    <dgm:pt modelId="{000E2139-9EF2-4DF4-B41C-652759C6028A}">
      <dgm:prSet phldrT="[Text]" custT="1"/>
      <dgm:spPr>
        <a:solidFill>
          <a:srgbClr val="008000"/>
        </a:solidFill>
      </dgm:spPr>
      <dgm:t>
        <a:bodyPr/>
        <a:lstStyle/>
        <a:p>
          <a:r>
            <a:rPr lang="en-US" sz="900" b="1" dirty="0">
              <a:latin typeface="Arial" panose="020B0604020202020204" pitchFamily="34" charset="0"/>
              <a:cs typeface="Arial" panose="020B0604020202020204" pitchFamily="34" charset="0"/>
            </a:rPr>
            <a:t>Senior Manager/</a:t>
          </a:r>
        </a:p>
        <a:p>
          <a:r>
            <a:rPr lang="en-US" sz="900" b="1" dirty="0">
              <a:latin typeface="Arial" panose="020B0604020202020204" pitchFamily="34" charset="0"/>
              <a:cs typeface="Arial" panose="020B0604020202020204" pitchFamily="34" charset="0"/>
            </a:rPr>
            <a:t>Manager</a:t>
          </a:r>
        </a:p>
      </dgm:t>
    </dgm:pt>
    <dgm:pt modelId="{65A170B8-FBB9-4311-B9DD-BD0CB390C898}" type="parTrans" cxnId="{D60501E7-C074-45F8-957C-2B7F1A830338}">
      <dgm:prSet/>
      <dgm:spPr/>
      <dgm:t>
        <a:bodyPr/>
        <a:lstStyle/>
        <a:p>
          <a:endParaRPr lang="en-US" sz="1050">
            <a:latin typeface="Arial" panose="020B0604020202020204" pitchFamily="34" charset="0"/>
            <a:cs typeface="Arial" panose="020B0604020202020204" pitchFamily="34" charset="0"/>
          </a:endParaRPr>
        </a:p>
      </dgm:t>
    </dgm:pt>
    <dgm:pt modelId="{72570912-0948-4E09-815E-2CFF3DC75585}" type="sibTrans" cxnId="{D60501E7-C074-45F8-957C-2B7F1A830338}">
      <dgm:prSet/>
      <dgm:spPr/>
      <dgm:t>
        <a:bodyPr/>
        <a:lstStyle/>
        <a:p>
          <a:endParaRPr lang="en-US" sz="1050">
            <a:latin typeface="Arial" panose="020B0604020202020204" pitchFamily="34" charset="0"/>
            <a:cs typeface="Arial" panose="020B0604020202020204" pitchFamily="34" charset="0"/>
          </a:endParaRPr>
        </a:p>
      </dgm:t>
    </dgm:pt>
    <dgm:pt modelId="{A235F3AF-98AF-47BE-85E0-A37EE5CEDB9F}">
      <dgm:prSet custT="1"/>
      <dgm:spPr>
        <a:solidFill>
          <a:schemeClr val="tx2"/>
        </a:solidFill>
      </dgm:spPr>
      <dgm:t>
        <a:bodyPr/>
        <a:lstStyle/>
        <a:p>
          <a:r>
            <a:rPr lang="en-SG" sz="900" b="1" dirty="0">
              <a:latin typeface="Arial" panose="020B0604020202020204" pitchFamily="34" charset="0"/>
              <a:cs typeface="Arial" panose="020B0604020202020204" pitchFamily="34" charset="0"/>
            </a:rPr>
            <a:t> Assistant Manager</a:t>
          </a:r>
        </a:p>
      </dgm:t>
    </dgm:pt>
    <dgm:pt modelId="{E2F45E47-4A86-4953-A9F6-EABCACEE256F}" type="parTrans" cxnId="{4947A5CD-64AC-4FF4-BFA8-898A8A10A4E3}">
      <dgm:prSet/>
      <dgm:spPr/>
      <dgm:t>
        <a:bodyPr/>
        <a:lstStyle/>
        <a:p>
          <a:endParaRPr lang="en-US" sz="1050">
            <a:latin typeface="Arial" panose="020B0604020202020204" pitchFamily="34" charset="0"/>
            <a:cs typeface="Arial" panose="020B0604020202020204" pitchFamily="34" charset="0"/>
          </a:endParaRPr>
        </a:p>
      </dgm:t>
    </dgm:pt>
    <dgm:pt modelId="{491E5BEA-0EA3-4DB1-A4C4-F4BE3C32406A}" type="sibTrans" cxnId="{4947A5CD-64AC-4FF4-BFA8-898A8A10A4E3}">
      <dgm:prSet/>
      <dgm:spPr/>
      <dgm:t>
        <a:bodyPr/>
        <a:lstStyle/>
        <a:p>
          <a:endParaRPr lang="en-US" sz="1050">
            <a:latin typeface="Arial" panose="020B0604020202020204" pitchFamily="34" charset="0"/>
            <a:cs typeface="Arial" panose="020B0604020202020204" pitchFamily="34" charset="0"/>
          </a:endParaRPr>
        </a:p>
      </dgm:t>
    </dgm:pt>
    <dgm:pt modelId="{6D6B8979-CF2C-4B25-BBB8-07D7A5B085F6}">
      <dgm:prSet phldrT="[Text]" custT="1"/>
      <dgm:spPr>
        <a:solidFill>
          <a:srgbClr val="C00000"/>
        </a:solidFill>
      </dgm:spPr>
      <dgm:t>
        <a:bodyPr/>
        <a:lstStyle/>
        <a:p>
          <a:r>
            <a:rPr lang="en-US" sz="900" b="1" dirty="0">
              <a:latin typeface="Arial" panose="020B0604020202020204" pitchFamily="34" charset="0"/>
              <a:cs typeface="Arial" panose="020B0604020202020204" pitchFamily="34" charset="0"/>
            </a:rPr>
            <a:t>Engagement Director</a:t>
          </a:r>
        </a:p>
      </dgm:t>
    </dgm:pt>
    <dgm:pt modelId="{1FE5828E-0F15-47CE-90DE-3E31B9A1DD7D}" type="parTrans" cxnId="{6DF1A900-8261-4B09-93B3-4E9DDDE1F998}">
      <dgm:prSet/>
      <dgm:spPr/>
      <dgm:t>
        <a:bodyPr/>
        <a:lstStyle/>
        <a:p>
          <a:endParaRPr lang="en-SG"/>
        </a:p>
      </dgm:t>
    </dgm:pt>
    <dgm:pt modelId="{FAAA3B07-CD1C-492E-9935-C8508E8A55DC}" type="sibTrans" cxnId="{6DF1A900-8261-4B09-93B3-4E9DDDE1F998}">
      <dgm:prSet/>
      <dgm:spPr/>
      <dgm:t>
        <a:bodyPr/>
        <a:lstStyle/>
        <a:p>
          <a:endParaRPr lang="en-SG"/>
        </a:p>
      </dgm:t>
    </dgm:pt>
    <dgm:pt modelId="{FE8DC3D1-139B-457C-AA96-4B80D167403F}" type="pres">
      <dgm:prSet presAssocID="{2BD4CD72-5FC2-493D-BCBB-D28A4B4113B2}" presName="Name0" presStyleCnt="0">
        <dgm:presLayoutVars>
          <dgm:resizeHandles/>
        </dgm:presLayoutVars>
      </dgm:prSet>
      <dgm:spPr/>
    </dgm:pt>
    <dgm:pt modelId="{E1D691DA-BC91-4AD3-88DA-1B053D4ADC63}" type="pres">
      <dgm:prSet presAssocID="{6D6B8979-CF2C-4B25-BBB8-07D7A5B085F6}" presName="text" presStyleLbl="node1" presStyleIdx="0" presStyleCnt="3">
        <dgm:presLayoutVars>
          <dgm:bulletEnabled val="1"/>
        </dgm:presLayoutVars>
      </dgm:prSet>
      <dgm:spPr/>
    </dgm:pt>
    <dgm:pt modelId="{5DBB8FC9-565D-4031-AE08-545CDD45E3D2}" type="pres">
      <dgm:prSet presAssocID="{FAAA3B07-CD1C-492E-9935-C8508E8A55DC}" presName="space" presStyleCnt="0"/>
      <dgm:spPr/>
    </dgm:pt>
    <dgm:pt modelId="{A0AD3F3E-3CCC-4E0C-A984-AB140AB6D224}" type="pres">
      <dgm:prSet presAssocID="{000E2139-9EF2-4DF4-B41C-652759C6028A}" presName="text" presStyleLbl="node1" presStyleIdx="1" presStyleCnt="3" custLinFactNeighborX="183" custLinFactNeighborY="-16175">
        <dgm:presLayoutVars>
          <dgm:bulletEnabled val="1"/>
        </dgm:presLayoutVars>
      </dgm:prSet>
      <dgm:spPr/>
    </dgm:pt>
    <dgm:pt modelId="{F87CF500-2DF7-43FC-A81E-00CDA6B65319}" type="pres">
      <dgm:prSet presAssocID="{72570912-0948-4E09-815E-2CFF3DC75585}" presName="space" presStyleCnt="0"/>
      <dgm:spPr/>
    </dgm:pt>
    <dgm:pt modelId="{9636E6EC-C637-4484-82D0-CAF4D89A2C5E}" type="pres">
      <dgm:prSet presAssocID="{A235F3AF-98AF-47BE-85E0-A37EE5CEDB9F}" presName="text" presStyleLbl="node1" presStyleIdx="2" presStyleCnt="3">
        <dgm:presLayoutVars>
          <dgm:bulletEnabled val="1"/>
        </dgm:presLayoutVars>
      </dgm:prSet>
      <dgm:spPr/>
    </dgm:pt>
  </dgm:ptLst>
  <dgm:cxnLst>
    <dgm:cxn modelId="{6DF1A900-8261-4B09-93B3-4E9DDDE1F998}" srcId="{2BD4CD72-5FC2-493D-BCBB-D28A4B4113B2}" destId="{6D6B8979-CF2C-4B25-BBB8-07D7A5B085F6}" srcOrd="0" destOrd="0" parTransId="{1FE5828E-0F15-47CE-90DE-3E31B9A1DD7D}" sibTransId="{FAAA3B07-CD1C-492E-9935-C8508E8A55DC}"/>
    <dgm:cxn modelId="{62988304-C429-491D-9096-D8E1F5D1B261}" type="presOf" srcId="{000E2139-9EF2-4DF4-B41C-652759C6028A}" destId="{A0AD3F3E-3CCC-4E0C-A984-AB140AB6D224}" srcOrd="0" destOrd="0" presId="urn:diagrams.loki3.com/VaryingWidthList"/>
    <dgm:cxn modelId="{D4D3F02F-8D9B-4695-9C88-1CEC3112331B}" type="presOf" srcId="{A235F3AF-98AF-47BE-85E0-A37EE5CEDB9F}" destId="{9636E6EC-C637-4484-82D0-CAF4D89A2C5E}" srcOrd="0" destOrd="0" presId="urn:diagrams.loki3.com/VaryingWidthList"/>
    <dgm:cxn modelId="{8D6FDF91-9C28-49F7-9C06-5EECEAA30BC6}" type="presOf" srcId="{6D6B8979-CF2C-4B25-BBB8-07D7A5B085F6}" destId="{E1D691DA-BC91-4AD3-88DA-1B053D4ADC63}" srcOrd="0" destOrd="0" presId="urn:diagrams.loki3.com/VaryingWidthList"/>
    <dgm:cxn modelId="{4947A5CD-64AC-4FF4-BFA8-898A8A10A4E3}" srcId="{2BD4CD72-5FC2-493D-BCBB-D28A4B4113B2}" destId="{A235F3AF-98AF-47BE-85E0-A37EE5CEDB9F}" srcOrd="2" destOrd="0" parTransId="{E2F45E47-4A86-4953-A9F6-EABCACEE256F}" sibTransId="{491E5BEA-0EA3-4DB1-A4C4-F4BE3C32406A}"/>
    <dgm:cxn modelId="{D60501E7-C074-45F8-957C-2B7F1A830338}" srcId="{2BD4CD72-5FC2-493D-BCBB-D28A4B4113B2}" destId="{000E2139-9EF2-4DF4-B41C-652759C6028A}" srcOrd="1" destOrd="0" parTransId="{65A170B8-FBB9-4311-B9DD-BD0CB390C898}" sibTransId="{72570912-0948-4E09-815E-2CFF3DC75585}"/>
    <dgm:cxn modelId="{6CFCF2F7-C100-47DB-AEDC-479B0A3DDD36}" type="presOf" srcId="{2BD4CD72-5FC2-493D-BCBB-D28A4B4113B2}" destId="{FE8DC3D1-139B-457C-AA96-4B80D167403F}" srcOrd="0" destOrd="0" presId="urn:diagrams.loki3.com/VaryingWidthList"/>
    <dgm:cxn modelId="{979957D3-D42F-46E4-87B3-288B2B8692DA}" type="presParOf" srcId="{FE8DC3D1-139B-457C-AA96-4B80D167403F}" destId="{E1D691DA-BC91-4AD3-88DA-1B053D4ADC63}" srcOrd="0" destOrd="0" presId="urn:diagrams.loki3.com/VaryingWidthList"/>
    <dgm:cxn modelId="{EE85A7F6-E4D7-4EE0-A4FF-A3B927862261}" type="presParOf" srcId="{FE8DC3D1-139B-457C-AA96-4B80D167403F}" destId="{5DBB8FC9-565D-4031-AE08-545CDD45E3D2}" srcOrd="1" destOrd="0" presId="urn:diagrams.loki3.com/VaryingWidthList"/>
    <dgm:cxn modelId="{99C65C98-57C0-4DDF-A45D-7D376E3EF446}" type="presParOf" srcId="{FE8DC3D1-139B-457C-AA96-4B80D167403F}" destId="{A0AD3F3E-3CCC-4E0C-A984-AB140AB6D224}" srcOrd="2" destOrd="0" presId="urn:diagrams.loki3.com/VaryingWidthList"/>
    <dgm:cxn modelId="{14D0DB78-6DD7-4FA0-979D-CFF0B16C6020}" type="presParOf" srcId="{FE8DC3D1-139B-457C-AA96-4B80D167403F}" destId="{F87CF500-2DF7-43FC-A81E-00CDA6B65319}" srcOrd="3" destOrd="0" presId="urn:diagrams.loki3.com/VaryingWidthList"/>
    <dgm:cxn modelId="{756A122E-D8DA-441F-B40A-BA3C04CFB8C6}" type="presParOf" srcId="{FE8DC3D1-139B-457C-AA96-4B80D167403F}" destId="{9636E6EC-C637-4484-82D0-CAF4D89A2C5E}" srcOrd="4"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473CEA-7D62-421E-90E3-10B6EF4432FF}" type="doc">
      <dgm:prSet loTypeId="urn:microsoft.com/office/officeart/2005/8/layout/process1" loCatId="process" qsTypeId="urn:microsoft.com/office/officeart/2005/8/quickstyle/simple1" qsCatId="simple" csTypeId="urn:microsoft.com/office/officeart/2005/8/colors/accent0_1" csCatId="mainScheme" phldr="1"/>
      <dgm:spPr/>
    </dgm:pt>
    <dgm:pt modelId="{1A72EF39-821D-4E4C-9955-4858F584A44A}">
      <dgm:prSet phldrT="[Text]" custT="1"/>
      <dgm:spPr>
        <a:xfrm>
          <a:off x="4137" y="0"/>
          <a:ext cx="1809025" cy="623911"/>
        </a:xfrm>
        <a:prstGeom prst="roundRect">
          <a:avLst>
            <a:gd name="adj" fmla="val 10000"/>
          </a:avLst>
        </a:prstGeom>
        <a:solidFill>
          <a:srgbClr val="C00000"/>
        </a:solidFill>
        <a:ln w="12700" cap="flat" cmpd="sng" algn="ctr">
          <a:solidFill>
            <a:sysClr val="windowText" lastClr="000000">
              <a:shade val="80000"/>
              <a:hueOff val="0"/>
              <a:satOff val="0"/>
              <a:lumOff val="0"/>
              <a:alphaOff val="0"/>
            </a:sysClr>
          </a:solidFill>
          <a:prstDash val="solid"/>
          <a:miter lim="800000"/>
        </a:ln>
        <a:effectLst/>
      </dgm:spPr>
      <dgm:t>
        <a:bodyPr/>
        <a:lstStyle/>
        <a:p>
          <a:pPr>
            <a:buNone/>
          </a:pPr>
          <a:r>
            <a:rPr lang="en-US" sz="1200" b="1" dirty="0">
              <a:solidFill>
                <a:sysClr val="window" lastClr="FFFFFF"/>
              </a:solidFill>
              <a:latin typeface="Roboto" panose="02000000000000000000" pitchFamily="2" charset="0"/>
              <a:ea typeface="Roboto" panose="02000000000000000000" pitchFamily="2" charset="0"/>
              <a:cs typeface="Roboto" panose="02000000000000000000" pitchFamily="2" charset="0"/>
            </a:rPr>
            <a:t>Selecting an initial sample</a:t>
          </a:r>
          <a:endParaRPr lang="en-SG" sz="1200" b="1" dirty="0">
            <a:solidFill>
              <a:sysClr val="window" lastClr="FFFFFF"/>
            </a:solidFill>
            <a:latin typeface="Roboto" panose="02000000000000000000" pitchFamily="2" charset="0"/>
            <a:ea typeface="Roboto" panose="02000000000000000000" pitchFamily="2" charset="0"/>
            <a:cs typeface="Roboto" panose="02000000000000000000" pitchFamily="2" charset="0"/>
          </a:endParaRPr>
        </a:p>
      </dgm:t>
    </dgm:pt>
    <dgm:pt modelId="{B781760B-1D37-4260-82E8-EC57399CFDAF}" type="parTrans" cxnId="{1717F029-626F-4927-B2A3-CB22DF99BC46}">
      <dgm:prSet/>
      <dgm:spPr/>
      <dgm:t>
        <a:bodyPr/>
        <a:lstStyle/>
        <a:p>
          <a:endParaRPr lang="en-SG" sz="1400" b="1">
            <a:solidFill>
              <a:schemeClr val="bg1"/>
            </a:solidFill>
            <a:latin typeface="Roboto" panose="02000000000000000000" pitchFamily="2" charset="0"/>
            <a:ea typeface="Roboto" panose="02000000000000000000" pitchFamily="2" charset="0"/>
            <a:cs typeface="Roboto" panose="02000000000000000000" pitchFamily="2" charset="0"/>
          </a:endParaRPr>
        </a:p>
      </dgm:t>
    </dgm:pt>
    <dgm:pt modelId="{7F27BE9F-4168-4D8A-BD65-FF85B308B371}" type="sibTrans" cxnId="{1717F029-626F-4927-B2A3-CB22DF99BC46}">
      <dgm:prSet custT="1"/>
      <dgm:spPr>
        <a:xfrm>
          <a:off x="1994065" y="87636"/>
          <a:ext cx="383513" cy="448638"/>
        </a:xfrm>
        <a:prstGeom prst="rightArrow">
          <a:avLst>
            <a:gd name="adj1" fmla="val 60000"/>
            <a:gd name="adj2" fmla="val 50000"/>
          </a:avLst>
        </a:prstGeom>
        <a:solidFill>
          <a:sysClr val="window" lastClr="FFFFFF">
            <a:lumMod val="85000"/>
          </a:sysClr>
        </a:solidFill>
        <a:ln>
          <a:noFill/>
        </a:ln>
        <a:effectLst/>
      </dgm:spPr>
      <dgm:t>
        <a:bodyPr/>
        <a:lstStyle/>
        <a:p>
          <a:pPr>
            <a:buNone/>
          </a:pPr>
          <a:endParaRPr lang="en-SG" sz="1400" b="1" dirty="0">
            <a:solidFill>
              <a:sysClr val="window" lastClr="FFFFFF"/>
            </a:solidFill>
            <a:latin typeface="Roboto" panose="02000000000000000000" pitchFamily="2" charset="0"/>
            <a:ea typeface="Roboto" panose="02000000000000000000" pitchFamily="2" charset="0"/>
            <a:cs typeface="Roboto" panose="02000000000000000000" pitchFamily="2" charset="0"/>
          </a:endParaRPr>
        </a:p>
      </dgm:t>
    </dgm:pt>
    <dgm:pt modelId="{9ACE5156-24AC-4886-8B90-716F491C68B3}">
      <dgm:prSet phldrT="[Text]" custT="1"/>
      <dgm:spPr>
        <a:xfrm>
          <a:off x="2536773" y="0"/>
          <a:ext cx="1809025" cy="623911"/>
        </a:xfrm>
        <a:prstGeom prst="roundRect">
          <a:avLst>
            <a:gd name="adj" fmla="val 10000"/>
          </a:avLst>
        </a:prstGeom>
        <a:solidFill>
          <a:srgbClr val="C00000"/>
        </a:solidFill>
        <a:ln w="12700" cap="flat" cmpd="sng" algn="ctr">
          <a:solidFill>
            <a:sysClr val="windowText" lastClr="000000">
              <a:shade val="80000"/>
              <a:hueOff val="0"/>
              <a:satOff val="0"/>
              <a:lumOff val="0"/>
              <a:alphaOff val="0"/>
            </a:sysClr>
          </a:solidFill>
          <a:prstDash val="solid"/>
          <a:miter lim="800000"/>
        </a:ln>
        <a:effectLst/>
      </dgm:spPr>
      <dgm:t>
        <a:bodyPr/>
        <a:lstStyle/>
        <a:p>
          <a:pPr>
            <a:buNone/>
          </a:pPr>
          <a:r>
            <a:rPr lang="en-US" sz="1200" b="1" dirty="0">
              <a:solidFill>
                <a:sysClr val="window" lastClr="FFFFFF"/>
              </a:solidFill>
              <a:latin typeface="Roboto" panose="02000000000000000000" pitchFamily="2" charset="0"/>
              <a:ea typeface="Roboto" panose="02000000000000000000" pitchFamily="2" charset="0"/>
              <a:cs typeface="Roboto" panose="02000000000000000000" pitchFamily="2" charset="0"/>
            </a:rPr>
            <a:t>Testing the sample</a:t>
          </a:r>
          <a:endParaRPr lang="en-SG" sz="1200" b="1" dirty="0">
            <a:solidFill>
              <a:sysClr val="window" lastClr="FFFFFF"/>
            </a:solidFill>
            <a:latin typeface="Roboto" panose="02000000000000000000" pitchFamily="2" charset="0"/>
            <a:ea typeface="Roboto" panose="02000000000000000000" pitchFamily="2" charset="0"/>
            <a:cs typeface="Roboto" panose="02000000000000000000" pitchFamily="2" charset="0"/>
          </a:endParaRPr>
        </a:p>
      </dgm:t>
    </dgm:pt>
    <dgm:pt modelId="{3D1BBDE2-C7B8-4097-9070-3B21308A3B8A}" type="parTrans" cxnId="{672480A3-4709-42D1-B3EF-273433F7AC6D}">
      <dgm:prSet/>
      <dgm:spPr/>
      <dgm:t>
        <a:bodyPr/>
        <a:lstStyle/>
        <a:p>
          <a:endParaRPr lang="en-SG" sz="1400" b="1">
            <a:solidFill>
              <a:schemeClr val="bg1"/>
            </a:solidFill>
            <a:latin typeface="Roboto" panose="02000000000000000000" pitchFamily="2" charset="0"/>
            <a:ea typeface="Roboto" panose="02000000000000000000" pitchFamily="2" charset="0"/>
            <a:cs typeface="Roboto" panose="02000000000000000000" pitchFamily="2" charset="0"/>
          </a:endParaRPr>
        </a:p>
      </dgm:t>
    </dgm:pt>
    <dgm:pt modelId="{A3B0180E-A036-41DB-81C5-114E1F4DF67F}" type="sibTrans" cxnId="{672480A3-4709-42D1-B3EF-273433F7AC6D}">
      <dgm:prSet custT="1"/>
      <dgm:spPr>
        <a:xfrm>
          <a:off x="4526700" y="87636"/>
          <a:ext cx="383513" cy="448638"/>
        </a:xfrm>
        <a:prstGeom prst="rightArrow">
          <a:avLst>
            <a:gd name="adj1" fmla="val 60000"/>
            <a:gd name="adj2" fmla="val 50000"/>
          </a:avLst>
        </a:prstGeom>
        <a:solidFill>
          <a:sysClr val="window" lastClr="FFFFFF">
            <a:lumMod val="85000"/>
          </a:sysClr>
        </a:solidFill>
        <a:ln>
          <a:noFill/>
        </a:ln>
        <a:effectLst/>
      </dgm:spPr>
      <dgm:t>
        <a:bodyPr/>
        <a:lstStyle/>
        <a:p>
          <a:pPr>
            <a:buNone/>
          </a:pPr>
          <a:endParaRPr lang="en-SG" sz="1400" b="1" dirty="0">
            <a:solidFill>
              <a:sysClr val="window" lastClr="FFFFFF"/>
            </a:solidFill>
            <a:latin typeface="Roboto" panose="02000000000000000000" pitchFamily="2" charset="0"/>
            <a:ea typeface="Roboto" panose="02000000000000000000" pitchFamily="2" charset="0"/>
            <a:cs typeface="Roboto" panose="02000000000000000000" pitchFamily="2" charset="0"/>
          </a:endParaRPr>
        </a:p>
      </dgm:t>
    </dgm:pt>
    <dgm:pt modelId="{771DE852-06B3-4CB2-BB0A-C8C678B880E0}">
      <dgm:prSet phldrT="[Text]" custT="1"/>
      <dgm:spPr>
        <a:xfrm>
          <a:off x="5069408" y="0"/>
          <a:ext cx="1809025" cy="623911"/>
        </a:xfrm>
        <a:prstGeom prst="roundRect">
          <a:avLst>
            <a:gd name="adj" fmla="val 10000"/>
          </a:avLst>
        </a:prstGeom>
        <a:solidFill>
          <a:srgbClr val="C00000"/>
        </a:solidFill>
        <a:ln w="12700" cap="flat" cmpd="sng" algn="ctr">
          <a:solidFill>
            <a:sysClr val="windowText" lastClr="000000">
              <a:shade val="80000"/>
              <a:hueOff val="0"/>
              <a:satOff val="0"/>
              <a:lumOff val="0"/>
              <a:alphaOff val="0"/>
            </a:sysClr>
          </a:solidFill>
          <a:prstDash val="solid"/>
          <a:miter lim="800000"/>
        </a:ln>
        <a:effectLst/>
      </dgm:spPr>
      <dgm:t>
        <a:bodyPr/>
        <a:lstStyle/>
        <a:p>
          <a:pPr>
            <a:buNone/>
          </a:pPr>
          <a:r>
            <a:rPr lang="en-US" sz="1200" b="1" dirty="0">
              <a:solidFill>
                <a:sysClr val="window" lastClr="FFFFFF"/>
              </a:solidFill>
              <a:latin typeface="Roboto" panose="02000000000000000000" pitchFamily="2" charset="0"/>
              <a:ea typeface="Roboto" panose="02000000000000000000" pitchFamily="2" charset="0"/>
              <a:cs typeface="Roboto" panose="02000000000000000000" pitchFamily="2" charset="0"/>
            </a:rPr>
            <a:t>Projecting the results</a:t>
          </a:r>
          <a:endParaRPr lang="en-SG" sz="1200" b="1" dirty="0">
            <a:solidFill>
              <a:sysClr val="window" lastClr="FFFFFF"/>
            </a:solidFill>
            <a:latin typeface="Roboto" panose="02000000000000000000" pitchFamily="2" charset="0"/>
            <a:ea typeface="Roboto" panose="02000000000000000000" pitchFamily="2" charset="0"/>
            <a:cs typeface="Roboto" panose="02000000000000000000" pitchFamily="2" charset="0"/>
          </a:endParaRPr>
        </a:p>
      </dgm:t>
    </dgm:pt>
    <dgm:pt modelId="{6B52B0CA-97C5-4577-8FE4-092700DC44D3}" type="parTrans" cxnId="{E0A57619-A80C-42C2-8E6F-C3E115310E4F}">
      <dgm:prSet/>
      <dgm:spPr/>
      <dgm:t>
        <a:bodyPr/>
        <a:lstStyle/>
        <a:p>
          <a:endParaRPr lang="en-SG" sz="1400" b="1">
            <a:solidFill>
              <a:schemeClr val="bg1"/>
            </a:solidFill>
            <a:latin typeface="Roboto" panose="02000000000000000000" pitchFamily="2" charset="0"/>
            <a:ea typeface="Roboto" panose="02000000000000000000" pitchFamily="2" charset="0"/>
            <a:cs typeface="Roboto" panose="02000000000000000000" pitchFamily="2" charset="0"/>
          </a:endParaRPr>
        </a:p>
      </dgm:t>
    </dgm:pt>
    <dgm:pt modelId="{C60844AB-2959-4D41-BA37-033228994F5B}" type="sibTrans" cxnId="{E0A57619-A80C-42C2-8E6F-C3E115310E4F}">
      <dgm:prSet custT="1"/>
      <dgm:spPr>
        <a:xfrm>
          <a:off x="7059336" y="87636"/>
          <a:ext cx="383513" cy="448638"/>
        </a:xfrm>
        <a:prstGeom prst="rightArrow">
          <a:avLst>
            <a:gd name="adj1" fmla="val 60000"/>
            <a:gd name="adj2" fmla="val 50000"/>
          </a:avLst>
        </a:prstGeom>
        <a:solidFill>
          <a:sysClr val="window" lastClr="FFFFFF">
            <a:lumMod val="85000"/>
          </a:sysClr>
        </a:solidFill>
        <a:ln>
          <a:noFill/>
        </a:ln>
        <a:effectLst/>
      </dgm:spPr>
      <dgm:t>
        <a:bodyPr/>
        <a:lstStyle/>
        <a:p>
          <a:pPr>
            <a:buNone/>
          </a:pPr>
          <a:endParaRPr lang="en-SG" sz="1400" b="1" dirty="0">
            <a:solidFill>
              <a:sysClr val="window" lastClr="FFFFFF"/>
            </a:solidFill>
            <a:latin typeface="Roboto" panose="02000000000000000000" pitchFamily="2" charset="0"/>
            <a:ea typeface="Roboto" panose="02000000000000000000" pitchFamily="2" charset="0"/>
            <a:cs typeface="Roboto" panose="02000000000000000000" pitchFamily="2" charset="0"/>
          </a:endParaRPr>
        </a:p>
      </dgm:t>
    </dgm:pt>
    <dgm:pt modelId="{F2074FB1-67C0-44C6-9817-E146FD41CF23}">
      <dgm:prSet custT="1"/>
      <dgm:spPr>
        <a:xfrm>
          <a:off x="7602044" y="0"/>
          <a:ext cx="1809025" cy="623911"/>
        </a:xfrm>
        <a:prstGeom prst="roundRect">
          <a:avLst>
            <a:gd name="adj" fmla="val 10000"/>
          </a:avLst>
        </a:prstGeom>
        <a:solidFill>
          <a:srgbClr val="C00000"/>
        </a:solidFill>
        <a:ln w="12700" cap="flat" cmpd="sng" algn="ctr">
          <a:solidFill>
            <a:sysClr val="windowText" lastClr="000000">
              <a:shade val="80000"/>
              <a:hueOff val="0"/>
              <a:satOff val="0"/>
              <a:lumOff val="0"/>
              <a:alphaOff val="0"/>
            </a:sysClr>
          </a:solidFill>
          <a:prstDash val="solid"/>
          <a:miter lim="800000"/>
        </a:ln>
        <a:effectLst/>
      </dgm:spPr>
      <dgm:t>
        <a:bodyPr/>
        <a:lstStyle/>
        <a:p>
          <a:pPr>
            <a:buNone/>
          </a:pPr>
          <a:r>
            <a:rPr lang="en-SG" sz="1200" b="1" dirty="0">
              <a:solidFill>
                <a:sysClr val="window" lastClr="FFFFFF"/>
              </a:solidFill>
              <a:latin typeface="Roboto" panose="02000000000000000000" pitchFamily="2" charset="0"/>
              <a:ea typeface="Roboto" panose="02000000000000000000" pitchFamily="2" charset="0"/>
              <a:cs typeface="Roboto" panose="02000000000000000000" pitchFamily="2" charset="0"/>
            </a:rPr>
            <a:t>Verifying the outcome </a:t>
          </a:r>
        </a:p>
      </dgm:t>
    </dgm:pt>
    <dgm:pt modelId="{65AAF450-1FB7-4CCF-9F5E-AAE81CB7E631}" type="parTrans" cxnId="{9C8AEFDF-2488-47B5-9831-AD8944DB7DAE}">
      <dgm:prSet/>
      <dgm:spPr/>
      <dgm:t>
        <a:bodyPr/>
        <a:lstStyle/>
        <a:p>
          <a:endParaRPr lang="en-SG" sz="1800" b="1">
            <a:solidFill>
              <a:schemeClr val="bg1"/>
            </a:solidFill>
            <a:latin typeface="Roboto" panose="02000000000000000000" pitchFamily="2" charset="0"/>
            <a:ea typeface="Roboto" panose="02000000000000000000" pitchFamily="2" charset="0"/>
            <a:cs typeface="Roboto" panose="02000000000000000000" pitchFamily="2" charset="0"/>
          </a:endParaRPr>
        </a:p>
      </dgm:t>
    </dgm:pt>
    <dgm:pt modelId="{10137A06-2689-4410-8333-453582DA264E}" type="sibTrans" cxnId="{9C8AEFDF-2488-47B5-9831-AD8944DB7DAE}">
      <dgm:prSet/>
      <dgm:spPr/>
      <dgm:t>
        <a:bodyPr/>
        <a:lstStyle/>
        <a:p>
          <a:endParaRPr lang="en-SG" sz="1800" b="1">
            <a:solidFill>
              <a:schemeClr val="bg1"/>
            </a:solidFill>
            <a:latin typeface="Roboto" panose="02000000000000000000" pitchFamily="2" charset="0"/>
            <a:ea typeface="Roboto" panose="02000000000000000000" pitchFamily="2" charset="0"/>
            <a:cs typeface="Roboto" panose="02000000000000000000" pitchFamily="2" charset="0"/>
          </a:endParaRPr>
        </a:p>
      </dgm:t>
    </dgm:pt>
    <dgm:pt modelId="{75A6063B-6E8C-4FB0-B4E3-E977AB629B89}" type="pres">
      <dgm:prSet presAssocID="{3B473CEA-7D62-421E-90E3-10B6EF4432FF}" presName="Name0" presStyleCnt="0">
        <dgm:presLayoutVars>
          <dgm:dir/>
          <dgm:resizeHandles val="exact"/>
        </dgm:presLayoutVars>
      </dgm:prSet>
      <dgm:spPr/>
    </dgm:pt>
    <dgm:pt modelId="{610994AB-ADD5-4E1F-9347-EAE6D972768B}" type="pres">
      <dgm:prSet presAssocID="{1A72EF39-821D-4E4C-9955-4858F584A44A}" presName="node" presStyleLbl="node1" presStyleIdx="0" presStyleCnt="4">
        <dgm:presLayoutVars>
          <dgm:bulletEnabled val="1"/>
        </dgm:presLayoutVars>
      </dgm:prSet>
      <dgm:spPr/>
    </dgm:pt>
    <dgm:pt modelId="{773DF61B-1821-4408-9EAD-4764351E85ED}" type="pres">
      <dgm:prSet presAssocID="{7F27BE9F-4168-4D8A-BD65-FF85B308B371}" presName="sibTrans" presStyleLbl="sibTrans2D1" presStyleIdx="0" presStyleCnt="3"/>
      <dgm:spPr/>
    </dgm:pt>
    <dgm:pt modelId="{AF137213-0182-4113-AFD5-904C1634E760}" type="pres">
      <dgm:prSet presAssocID="{7F27BE9F-4168-4D8A-BD65-FF85B308B371}" presName="connectorText" presStyleLbl="sibTrans2D1" presStyleIdx="0" presStyleCnt="3"/>
      <dgm:spPr/>
    </dgm:pt>
    <dgm:pt modelId="{A3FA1F55-8B14-4524-8AF1-E6B0333854B1}" type="pres">
      <dgm:prSet presAssocID="{9ACE5156-24AC-4886-8B90-716F491C68B3}" presName="node" presStyleLbl="node1" presStyleIdx="1" presStyleCnt="4">
        <dgm:presLayoutVars>
          <dgm:bulletEnabled val="1"/>
        </dgm:presLayoutVars>
      </dgm:prSet>
      <dgm:spPr/>
    </dgm:pt>
    <dgm:pt modelId="{F8B2FC15-B9BE-4DC9-8D1D-5A190665E699}" type="pres">
      <dgm:prSet presAssocID="{A3B0180E-A036-41DB-81C5-114E1F4DF67F}" presName="sibTrans" presStyleLbl="sibTrans2D1" presStyleIdx="1" presStyleCnt="3"/>
      <dgm:spPr/>
    </dgm:pt>
    <dgm:pt modelId="{8667F37F-DB20-48E7-A0CC-B16A30F253D2}" type="pres">
      <dgm:prSet presAssocID="{A3B0180E-A036-41DB-81C5-114E1F4DF67F}" presName="connectorText" presStyleLbl="sibTrans2D1" presStyleIdx="1" presStyleCnt="3"/>
      <dgm:spPr/>
    </dgm:pt>
    <dgm:pt modelId="{00198F29-9893-4BB7-B6BE-B10C2C2C791C}" type="pres">
      <dgm:prSet presAssocID="{771DE852-06B3-4CB2-BB0A-C8C678B880E0}" presName="node" presStyleLbl="node1" presStyleIdx="2" presStyleCnt="4" custLinFactNeighborY="7318">
        <dgm:presLayoutVars>
          <dgm:bulletEnabled val="1"/>
        </dgm:presLayoutVars>
      </dgm:prSet>
      <dgm:spPr/>
    </dgm:pt>
    <dgm:pt modelId="{B5160785-489C-4D93-8FBA-E9417DA6BDFB}" type="pres">
      <dgm:prSet presAssocID="{C60844AB-2959-4D41-BA37-033228994F5B}" presName="sibTrans" presStyleLbl="sibTrans2D1" presStyleIdx="2" presStyleCnt="3"/>
      <dgm:spPr/>
    </dgm:pt>
    <dgm:pt modelId="{7763104A-CC39-42D2-9616-6814E98E543F}" type="pres">
      <dgm:prSet presAssocID="{C60844AB-2959-4D41-BA37-033228994F5B}" presName="connectorText" presStyleLbl="sibTrans2D1" presStyleIdx="2" presStyleCnt="3"/>
      <dgm:spPr/>
    </dgm:pt>
    <dgm:pt modelId="{99F000A8-4303-4AE3-B5A4-7D3E33D2DC25}" type="pres">
      <dgm:prSet presAssocID="{F2074FB1-67C0-44C6-9817-E146FD41CF23}" presName="node" presStyleLbl="node1" presStyleIdx="3" presStyleCnt="4">
        <dgm:presLayoutVars>
          <dgm:bulletEnabled val="1"/>
        </dgm:presLayoutVars>
      </dgm:prSet>
      <dgm:spPr/>
    </dgm:pt>
  </dgm:ptLst>
  <dgm:cxnLst>
    <dgm:cxn modelId="{E3767307-F447-4F6D-BCF1-F895B372C572}" type="presOf" srcId="{F2074FB1-67C0-44C6-9817-E146FD41CF23}" destId="{99F000A8-4303-4AE3-B5A4-7D3E33D2DC25}" srcOrd="0" destOrd="0" presId="urn:microsoft.com/office/officeart/2005/8/layout/process1"/>
    <dgm:cxn modelId="{0DED5307-4419-4E63-822B-6B26091A7BE4}" type="presOf" srcId="{3B473CEA-7D62-421E-90E3-10B6EF4432FF}" destId="{75A6063B-6E8C-4FB0-B4E3-E977AB629B89}" srcOrd="0" destOrd="0" presId="urn:microsoft.com/office/officeart/2005/8/layout/process1"/>
    <dgm:cxn modelId="{894B020D-A364-4DA7-AE20-0E1497F5CE1C}" type="presOf" srcId="{1A72EF39-821D-4E4C-9955-4858F584A44A}" destId="{610994AB-ADD5-4E1F-9347-EAE6D972768B}" srcOrd="0" destOrd="0" presId="urn:microsoft.com/office/officeart/2005/8/layout/process1"/>
    <dgm:cxn modelId="{E0A57619-A80C-42C2-8E6F-C3E115310E4F}" srcId="{3B473CEA-7D62-421E-90E3-10B6EF4432FF}" destId="{771DE852-06B3-4CB2-BB0A-C8C678B880E0}" srcOrd="2" destOrd="0" parTransId="{6B52B0CA-97C5-4577-8FE4-092700DC44D3}" sibTransId="{C60844AB-2959-4D41-BA37-033228994F5B}"/>
    <dgm:cxn modelId="{29609319-D614-478C-BED4-496F69D8DA2B}" type="presOf" srcId="{A3B0180E-A036-41DB-81C5-114E1F4DF67F}" destId="{8667F37F-DB20-48E7-A0CC-B16A30F253D2}" srcOrd="1" destOrd="0" presId="urn:microsoft.com/office/officeart/2005/8/layout/process1"/>
    <dgm:cxn modelId="{1717F029-626F-4927-B2A3-CB22DF99BC46}" srcId="{3B473CEA-7D62-421E-90E3-10B6EF4432FF}" destId="{1A72EF39-821D-4E4C-9955-4858F584A44A}" srcOrd="0" destOrd="0" parTransId="{B781760B-1D37-4260-82E8-EC57399CFDAF}" sibTransId="{7F27BE9F-4168-4D8A-BD65-FF85B308B371}"/>
    <dgm:cxn modelId="{BFD27E2E-4DC0-44F6-B236-7FB5C405BEEF}" type="presOf" srcId="{9ACE5156-24AC-4886-8B90-716F491C68B3}" destId="{A3FA1F55-8B14-4524-8AF1-E6B0333854B1}" srcOrd="0" destOrd="0" presId="urn:microsoft.com/office/officeart/2005/8/layout/process1"/>
    <dgm:cxn modelId="{384F313B-52BD-4F36-A3D0-1BF0548DD292}" type="presOf" srcId="{C60844AB-2959-4D41-BA37-033228994F5B}" destId="{7763104A-CC39-42D2-9616-6814E98E543F}" srcOrd="1" destOrd="0" presId="urn:microsoft.com/office/officeart/2005/8/layout/process1"/>
    <dgm:cxn modelId="{AEE75A5F-4124-468E-9718-EC7714079FFA}" type="presOf" srcId="{7F27BE9F-4168-4D8A-BD65-FF85B308B371}" destId="{773DF61B-1821-4408-9EAD-4764351E85ED}" srcOrd="0" destOrd="0" presId="urn:microsoft.com/office/officeart/2005/8/layout/process1"/>
    <dgm:cxn modelId="{3EE8847B-2F2E-4855-97F3-12C4EA4F5E10}" type="presOf" srcId="{7F27BE9F-4168-4D8A-BD65-FF85B308B371}" destId="{AF137213-0182-4113-AFD5-904C1634E760}" srcOrd="1" destOrd="0" presId="urn:microsoft.com/office/officeart/2005/8/layout/process1"/>
    <dgm:cxn modelId="{F3DB557C-7F0B-4D77-8F6F-C023B54FD25F}" type="presOf" srcId="{771DE852-06B3-4CB2-BB0A-C8C678B880E0}" destId="{00198F29-9893-4BB7-B6BE-B10C2C2C791C}" srcOrd="0" destOrd="0" presId="urn:microsoft.com/office/officeart/2005/8/layout/process1"/>
    <dgm:cxn modelId="{672480A3-4709-42D1-B3EF-273433F7AC6D}" srcId="{3B473CEA-7D62-421E-90E3-10B6EF4432FF}" destId="{9ACE5156-24AC-4886-8B90-716F491C68B3}" srcOrd="1" destOrd="0" parTransId="{3D1BBDE2-C7B8-4097-9070-3B21308A3B8A}" sibTransId="{A3B0180E-A036-41DB-81C5-114E1F4DF67F}"/>
    <dgm:cxn modelId="{5923A7AA-AD29-411D-974A-471BDCF859BF}" type="presOf" srcId="{C60844AB-2959-4D41-BA37-033228994F5B}" destId="{B5160785-489C-4D93-8FBA-E9417DA6BDFB}" srcOrd="0" destOrd="0" presId="urn:microsoft.com/office/officeart/2005/8/layout/process1"/>
    <dgm:cxn modelId="{9C8AEFDF-2488-47B5-9831-AD8944DB7DAE}" srcId="{3B473CEA-7D62-421E-90E3-10B6EF4432FF}" destId="{F2074FB1-67C0-44C6-9817-E146FD41CF23}" srcOrd="3" destOrd="0" parTransId="{65AAF450-1FB7-4CCF-9F5E-AAE81CB7E631}" sibTransId="{10137A06-2689-4410-8333-453582DA264E}"/>
    <dgm:cxn modelId="{A1D40FF3-88C7-4763-AE6D-A3F822D6F64F}" type="presOf" srcId="{A3B0180E-A036-41DB-81C5-114E1F4DF67F}" destId="{F8B2FC15-B9BE-4DC9-8D1D-5A190665E699}" srcOrd="0" destOrd="0" presId="urn:microsoft.com/office/officeart/2005/8/layout/process1"/>
    <dgm:cxn modelId="{8EBA9C8B-BD92-49F3-89C7-10DFC0252483}" type="presParOf" srcId="{75A6063B-6E8C-4FB0-B4E3-E977AB629B89}" destId="{610994AB-ADD5-4E1F-9347-EAE6D972768B}" srcOrd="0" destOrd="0" presId="urn:microsoft.com/office/officeart/2005/8/layout/process1"/>
    <dgm:cxn modelId="{75144B64-432B-48B3-9469-D3D630082AEF}" type="presParOf" srcId="{75A6063B-6E8C-4FB0-B4E3-E977AB629B89}" destId="{773DF61B-1821-4408-9EAD-4764351E85ED}" srcOrd="1" destOrd="0" presId="urn:microsoft.com/office/officeart/2005/8/layout/process1"/>
    <dgm:cxn modelId="{24228F45-5D0E-4AB7-9CA4-37120A7DF3CE}" type="presParOf" srcId="{773DF61B-1821-4408-9EAD-4764351E85ED}" destId="{AF137213-0182-4113-AFD5-904C1634E760}" srcOrd="0" destOrd="0" presId="urn:microsoft.com/office/officeart/2005/8/layout/process1"/>
    <dgm:cxn modelId="{D46C1EC3-4B89-4C73-B195-E301468DC81A}" type="presParOf" srcId="{75A6063B-6E8C-4FB0-B4E3-E977AB629B89}" destId="{A3FA1F55-8B14-4524-8AF1-E6B0333854B1}" srcOrd="2" destOrd="0" presId="urn:microsoft.com/office/officeart/2005/8/layout/process1"/>
    <dgm:cxn modelId="{C3F61B91-5D62-4DCE-870D-54AD73D25305}" type="presParOf" srcId="{75A6063B-6E8C-4FB0-B4E3-E977AB629B89}" destId="{F8B2FC15-B9BE-4DC9-8D1D-5A190665E699}" srcOrd="3" destOrd="0" presId="urn:microsoft.com/office/officeart/2005/8/layout/process1"/>
    <dgm:cxn modelId="{7445C84F-D896-4363-AFEB-B3CB8AB88888}" type="presParOf" srcId="{F8B2FC15-B9BE-4DC9-8D1D-5A190665E699}" destId="{8667F37F-DB20-48E7-A0CC-B16A30F253D2}" srcOrd="0" destOrd="0" presId="urn:microsoft.com/office/officeart/2005/8/layout/process1"/>
    <dgm:cxn modelId="{2A289A33-14A9-48AF-BEEB-5FC196512EF2}" type="presParOf" srcId="{75A6063B-6E8C-4FB0-B4E3-E977AB629B89}" destId="{00198F29-9893-4BB7-B6BE-B10C2C2C791C}" srcOrd="4" destOrd="0" presId="urn:microsoft.com/office/officeart/2005/8/layout/process1"/>
    <dgm:cxn modelId="{101397B8-1D50-4066-889A-2929FDA086B6}" type="presParOf" srcId="{75A6063B-6E8C-4FB0-B4E3-E977AB629B89}" destId="{B5160785-489C-4D93-8FBA-E9417DA6BDFB}" srcOrd="5" destOrd="0" presId="urn:microsoft.com/office/officeart/2005/8/layout/process1"/>
    <dgm:cxn modelId="{2E8979B3-F8BC-49B1-9706-78EB15FD910E}" type="presParOf" srcId="{B5160785-489C-4D93-8FBA-E9417DA6BDFB}" destId="{7763104A-CC39-42D2-9616-6814E98E543F}" srcOrd="0" destOrd="0" presId="urn:microsoft.com/office/officeart/2005/8/layout/process1"/>
    <dgm:cxn modelId="{AFC54128-8FD0-4C01-AC1D-8C189A3CEA52}" type="presParOf" srcId="{75A6063B-6E8C-4FB0-B4E3-E977AB629B89}" destId="{99F000A8-4303-4AE3-B5A4-7D3E33D2DC25}"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FECBBA-8DA8-4675-BC40-39DF35C5FDC9}">
      <dsp:nvSpPr>
        <dsp:cNvPr id="0" name=""/>
        <dsp:cNvSpPr/>
      </dsp:nvSpPr>
      <dsp:spPr>
        <a:xfrm>
          <a:off x="0" y="1011"/>
          <a:ext cx="2599947" cy="0"/>
        </a:xfrm>
        <a:prstGeom prst="lin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C558BE3-7840-4BAD-82C3-5BED773A842B}">
      <dsp:nvSpPr>
        <dsp:cNvPr id="0" name=""/>
        <dsp:cNvSpPr/>
      </dsp:nvSpPr>
      <dsp:spPr>
        <a:xfrm>
          <a:off x="0" y="1011"/>
          <a:ext cx="2599947" cy="515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0" tIns="80010" rIns="80010" bIns="80010" numCol="1" spcCol="1270" anchor="ctr" anchorCtr="0">
          <a:noAutofit/>
        </a:bodyPr>
        <a:lstStyle/>
        <a:p>
          <a:pPr marL="0" lvl="0" indent="0" algn="l" defTabSz="933450">
            <a:lnSpc>
              <a:spcPct val="90000"/>
            </a:lnSpc>
            <a:spcBef>
              <a:spcPct val="0"/>
            </a:spcBef>
            <a:spcAft>
              <a:spcPct val="35000"/>
            </a:spcAft>
            <a:buNone/>
          </a:pPr>
          <a:r>
            <a:rPr lang="en-IN" sz="2100" b="1" kern="1200" dirty="0">
              <a:solidFill>
                <a:schemeClr val="tx1">
                  <a:lumMod val="75000"/>
                  <a:lumOff val="25000"/>
                </a:schemeClr>
              </a:solidFill>
            </a:rPr>
            <a:t>Singapore</a:t>
          </a:r>
        </a:p>
      </dsp:txBody>
      <dsp:txXfrm>
        <a:off x="0" y="1011"/>
        <a:ext cx="2599947" cy="515722"/>
      </dsp:txXfrm>
    </dsp:sp>
    <dsp:sp modelId="{675EACEC-B6AB-489A-A9C2-C93AA48790B0}">
      <dsp:nvSpPr>
        <dsp:cNvPr id="0" name=""/>
        <dsp:cNvSpPr/>
      </dsp:nvSpPr>
      <dsp:spPr>
        <a:xfrm>
          <a:off x="0" y="516734"/>
          <a:ext cx="2599947" cy="0"/>
        </a:xfrm>
        <a:prstGeom prst="lin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00556BF-98F3-4DE4-BFC9-74CFCC9FB725}">
      <dsp:nvSpPr>
        <dsp:cNvPr id="0" name=""/>
        <dsp:cNvSpPr/>
      </dsp:nvSpPr>
      <dsp:spPr>
        <a:xfrm>
          <a:off x="0" y="516734"/>
          <a:ext cx="2599947" cy="515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0" tIns="80010" rIns="80010" bIns="80010" numCol="1" spcCol="1270" anchor="ctr" anchorCtr="0">
          <a:noAutofit/>
        </a:bodyPr>
        <a:lstStyle/>
        <a:p>
          <a:pPr marL="0" lvl="0" indent="0" algn="l" defTabSz="933450">
            <a:lnSpc>
              <a:spcPct val="90000"/>
            </a:lnSpc>
            <a:spcBef>
              <a:spcPct val="0"/>
            </a:spcBef>
            <a:spcAft>
              <a:spcPct val="35000"/>
            </a:spcAft>
            <a:buNone/>
          </a:pPr>
          <a:r>
            <a:rPr lang="en-SG" sz="2100" b="1" kern="1200" dirty="0">
              <a:solidFill>
                <a:schemeClr val="tx1">
                  <a:lumMod val="75000"/>
                  <a:lumOff val="25000"/>
                </a:schemeClr>
              </a:solidFill>
            </a:rPr>
            <a:t>Australia</a:t>
          </a:r>
          <a:endParaRPr lang="en-IN" sz="2100" b="1" kern="1200" dirty="0">
            <a:solidFill>
              <a:schemeClr val="tx1">
                <a:lumMod val="75000"/>
                <a:lumOff val="25000"/>
              </a:schemeClr>
            </a:solidFill>
          </a:endParaRPr>
        </a:p>
      </dsp:txBody>
      <dsp:txXfrm>
        <a:off x="0" y="516734"/>
        <a:ext cx="2599947" cy="515722"/>
      </dsp:txXfrm>
    </dsp:sp>
    <dsp:sp modelId="{25BAF411-53D4-4189-A01A-F31271A05FE8}">
      <dsp:nvSpPr>
        <dsp:cNvPr id="0" name=""/>
        <dsp:cNvSpPr/>
      </dsp:nvSpPr>
      <dsp:spPr>
        <a:xfrm>
          <a:off x="0" y="1032457"/>
          <a:ext cx="2599947" cy="0"/>
        </a:xfrm>
        <a:prstGeom prst="lin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9959FFF-E313-4451-9DFC-C480843C578B}">
      <dsp:nvSpPr>
        <dsp:cNvPr id="0" name=""/>
        <dsp:cNvSpPr/>
      </dsp:nvSpPr>
      <dsp:spPr>
        <a:xfrm>
          <a:off x="0" y="1032457"/>
          <a:ext cx="2597407" cy="540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0" tIns="80010" rIns="80010" bIns="80010" numCol="1" spcCol="1270" anchor="ctr" anchorCtr="0">
          <a:noAutofit/>
        </a:bodyPr>
        <a:lstStyle/>
        <a:p>
          <a:pPr marL="0" lvl="0" indent="0" algn="l" defTabSz="933450">
            <a:lnSpc>
              <a:spcPct val="90000"/>
            </a:lnSpc>
            <a:spcBef>
              <a:spcPct val="0"/>
            </a:spcBef>
            <a:spcAft>
              <a:spcPct val="35000"/>
            </a:spcAft>
            <a:buNone/>
          </a:pPr>
          <a:r>
            <a:rPr lang="en-SG" sz="2100" b="1" kern="1200" dirty="0">
              <a:solidFill>
                <a:schemeClr val="tx1">
                  <a:lumMod val="75000"/>
                  <a:lumOff val="25000"/>
                </a:schemeClr>
              </a:solidFill>
            </a:rPr>
            <a:t>Hong</a:t>
          </a:r>
          <a:r>
            <a:rPr lang="en-SG" sz="2100" b="1" kern="1200" dirty="0"/>
            <a:t> </a:t>
          </a:r>
          <a:r>
            <a:rPr lang="en-SG" sz="2100" b="1" kern="1200" dirty="0">
              <a:solidFill>
                <a:schemeClr val="tx1">
                  <a:lumMod val="75000"/>
                  <a:lumOff val="25000"/>
                </a:schemeClr>
              </a:solidFill>
            </a:rPr>
            <a:t>Kong SAR</a:t>
          </a:r>
          <a:endParaRPr lang="en-IN" sz="2100" b="1" kern="1200" dirty="0">
            <a:solidFill>
              <a:schemeClr val="tx1">
                <a:lumMod val="75000"/>
                <a:lumOff val="25000"/>
              </a:schemeClr>
            </a:solidFill>
          </a:endParaRPr>
        </a:p>
      </dsp:txBody>
      <dsp:txXfrm>
        <a:off x="0" y="1032457"/>
        <a:ext cx="2597407" cy="540276"/>
      </dsp:txXfrm>
    </dsp:sp>
    <dsp:sp modelId="{6347FC37-4853-4AA3-B72D-FECD39D24FBA}">
      <dsp:nvSpPr>
        <dsp:cNvPr id="0" name=""/>
        <dsp:cNvSpPr/>
      </dsp:nvSpPr>
      <dsp:spPr>
        <a:xfrm>
          <a:off x="0" y="1572733"/>
          <a:ext cx="2599947" cy="0"/>
        </a:xfrm>
        <a:prstGeom prst="lin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77483B89-9AA2-46E1-A64D-FCA9865C88BC}">
      <dsp:nvSpPr>
        <dsp:cNvPr id="0" name=""/>
        <dsp:cNvSpPr/>
      </dsp:nvSpPr>
      <dsp:spPr>
        <a:xfrm>
          <a:off x="0" y="1572733"/>
          <a:ext cx="2599947" cy="515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0" tIns="80010" rIns="80010" bIns="80010" numCol="1" spcCol="1270" anchor="ctr" anchorCtr="0">
          <a:noAutofit/>
        </a:bodyPr>
        <a:lstStyle/>
        <a:p>
          <a:pPr marL="0" lvl="0" indent="0" algn="l" defTabSz="933450">
            <a:lnSpc>
              <a:spcPct val="90000"/>
            </a:lnSpc>
            <a:spcBef>
              <a:spcPct val="0"/>
            </a:spcBef>
            <a:spcAft>
              <a:spcPct val="35000"/>
            </a:spcAft>
            <a:buNone/>
          </a:pPr>
          <a:r>
            <a:rPr lang="en-SG" sz="2100" b="1" kern="1200" dirty="0">
              <a:solidFill>
                <a:schemeClr val="tx1">
                  <a:lumMod val="75000"/>
                  <a:lumOff val="25000"/>
                </a:schemeClr>
              </a:solidFill>
            </a:rPr>
            <a:t>India</a:t>
          </a:r>
          <a:endParaRPr lang="en-IN" sz="2100" b="1" kern="1200" dirty="0">
            <a:solidFill>
              <a:schemeClr val="tx1">
                <a:lumMod val="75000"/>
                <a:lumOff val="25000"/>
              </a:schemeClr>
            </a:solidFill>
          </a:endParaRPr>
        </a:p>
      </dsp:txBody>
      <dsp:txXfrm>
        <a:off x="0" y="1572733"/>
        <a:ext cx="2599947" cy="515722"/>
      </dsp:txXfrm>
    </dsp:sp>
    <dsp:sp modelId="{05DA7492-5F0B-400E-9987-1915BEDACDFF}">
      <dsp:nvSpPr>
        <dsp:cNvPr id="0" name=""/>
        <dsp:cNvSpPr/>
      </dsp:nvSpPr>
      <dsp:spPr>
        <a:xfrm>
          <a:off x="0" y="2088456"/>
          <a:ext cx="2599947" cy="0"/>
        </a:xfrm>
        <a:prstGeom prst="lin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8A4E76E0-DB55-4FC9-AD5F-38CA3B59F9D2}">
      <dsp:nvSpPr>
        <dsp:cNvPr id="0" name=""/>
        <dsp:cNvSpPr/>
      </dsp:nvSpPr>
      <dsp:spPr>
        <a:xfrm>
          <a:off x="0" y="2088456"/>
          <a:ext cx="2599947" cy="515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0" tIns="80010" rIns="80010" bIns="80010" numCol="1" spcCol="1270" anchor="ctr" anchorCtr="0">
          <a:noAutofit/>
        </a:bodyPr>
        <a:lstStyle/>
        <a:p>
          <a:pPr marL="0" lvl="0" indent="0" algn="l" defTabSz="933450">
            <a:lnSpc>
              <a:spcPct val="90000"/>
            </a:lnSpc>
            <a:spcBef>
              <a:spcPct val="0"/>
            </a:spcBef>
            <a:spcAft>
              <a:spcPct val="35000"/>
            </a:spcAft>
            <a:buNone/>
          </a:pPr>
          <a:r>
            <a:rPr lang="en-SG" sz="2100" b="1" kern="1200" dirty="0">
              <a:solidFill>
                <a:schemeClr val="tx1">
                  <a:lumMod val="75000"/>
                  <a:lumOff val="25000"/>
                </a:schemeClr>
              </a:solidFill>
            </a:rPr>
            <a:t>Indonesia</a:t>
          </a:r>
          <a:endParaRPr lang="en-IN" sz="2100" b="1" kern="1200" dirty="0">
            <a:solidFill>
              <a:schemeClr val="tx1">
                <a:lumMod val="75000"/>
                <a:lumOff val="25000"/>
              </a:schemeClr>
            </a:solidFill>
          </a:endParaRPr>
        </a:p>
      </dsp:txBody>
      <dsp:txXfrm>
        <a:off x="0" y="2088456"/>
        <a:ext cx="2599947" cy="515722"/>
      </dsp:txXfrm>
    </dsp:sp>
    <dsp:sp modelId="{68593C96-BE7A-4A5A-BDD8-D3A437D35297}">
      <dsp:nvSpPr>
        <dsp:cNvPr id="0" name=""/>
        <dsp:cNvSpPr/>
      </dsp:nvSpPr>
      <dsp:spPr>
        <a:xfrm>
          <a:off x="0" y="2604179"/>
          <a:ext cx="2599947" cy="0"/>
        </a:xfrm>
        <a:prstGeom prst="lin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2950482-69CA-4150-8274-FCD516717762}">
      <dsp:nvSpPr>
        <dsp:cNvPr id="0" name=""/>
        <dsp:cNvSpPr/>
      </dsp:nvSpPr>
      <dsp:spPr>
        <a:xfrm>
          <a:off x="0" y="2604179"/>
          <a:ext cx="2599947" cy="515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0" tIns="80010" rIns="80010" bIns="80010" numCol="1" spcCol="1270" anchor="ctr" anchorCtr="0">
          <a:noAutofit/>
        </a:bodyPr>
        <a:lstStyle/>
        <a:p>
          <a:pPr marL="0" lvl="0" indent="0" algn="l" defTabSz="933450">
            <a:lnSpc>
              <a:spcPct val="90000"/>
            </a:lnSpc>
            <a:spcBef>
              <a:spcPct val="0"/>
            </a:spcBef>
            <a:spcAft>
              <a:spcPct val="35000"/>
            </a:spcAft>
            <a:buNone/>
          </a:pPr>
          <a:r>
            <a:rPr lang="en-SG" sz="2100" b="1" kern="1200" dirty="0">
              <a:solidFill>
                <a:schemeClr val="tx1">
                  <a:lumMod val="75000"/>
                  <a:lumOff val="25000"/>
                </a:schemeClr>
              </a:solidFill>
            </a:rPr>
            <a:t>Mainland China</a:t>
          </a:r>
          <a:endParaRPr lang="en-IN" sz="2100" b="1" kern="1200" dirty="0">
            <a:solidFill>
              <a:schemeClr val="tx1">
                <a:lumMod val="75000"/>
                <a:lumOff val="25000"/>
              </a:schemeClr>
            </a:solidFill>
          </a:endParaRPr>
        </a:p>
      </dsp:txBody>
      <dsp:txXfrm>
        <a:off x="0" y="2604179"/>
        <a:ext cx="2599947" cy="515722"/>
      </dsp:txXfrm>
    </dsp:sp>
    <dsp:sp modelId="{9A0B751A-7CF7-440A-AABA-BAA3E8856BD4}">
      <dsp:nvSpPr>
        <dsp:cNvPr id="0" name=""/>
        <dsp:cNvSpPr/>
      </dsp:nvSpPr>
      <dsp:spPr>
        <a:xfrm>
          <a:off x="0" y="3119902"/>
          <a:ext cx="2599947" cy="0"/>
        </a:xfrm>
        <a:prstGeom prst="lin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9849F46-D9F1-4F3C-98A7-CD709ADFFF6E}">
      <dsp:nvSpPr>
        <dsp:cNvPr id="0" name=""/>
        <dsp:cNvSpPr/>
      </dsp:nvSpPr>
      <dsp:spPr>
        <a:xfrm>
          <a:off x="0" y="3119902"/>
          <a:ext cx="2599947" cy="515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0" tIns="80010" rIns="80010" bIns="80010" numCol="1" spcCol="1270" anchor="ctr" anchorCtr="0">
          <a:noAutofit/>
        </a:bodyPr>
        <a:lstStyle/>
        <a:p>
          <a:pPr marL="0" lvl="0" indent="0" algn="l" defTabSz="933450">
            <a:lnSpc>
              <a:spcPct val="90000"/>
            </a:lnSpc>
            <a:spcBef>
              <a:spcPct val="0"/>
            </a:spcBef>
            <a:spcAft>
              <a:spcPct val="35000"/>
            </a:spcAft>
            <a:buNone/>
          </a:pPr>
          <a:r>
            <a:rPr lang="en-SG" sz="2100" b="1" kern="1200" dirty="0">
              <a:solidFill>
                <a:schemeClr val="tx1">
                  <a:lumMod val="75000"/>
                  <a:lumOff val="25000"/>
                </a:schemeClr>
              </a:solidFill>
            </a:rPr>
            <a:t>Malaysia</a:t>
          </a:r>
          <a:endParaRPr lang="en-IN" sz="2100" b="1" kern="1200" dirty="0">
            <a:solidFill>
              <a:schemeClr val="tx1">
                <a:lumMod val="75000"/>
                <a:lumOff val="25000"/>
              </a:schemeClr>
            </a:solidFill>
          </a:endParaRPr>
        </a:p>
      </dsp:txBody>
      <dsp:txXfrm>
        <a:off x="0" y="3119902"/>
        <a:ext cx="2599947" cy="515722"/>
      </dsp:txXfrm>
    </dsp:sp>
    <dsp:sp modelId="{472D7A9F-C7FC-4826-9CCE-A990ADF17ECC}">
      <dsp:nvSpPr>
        <dsp:cNvPr id="0" name=""/>
        <dsp:cNvSpPr/>
      </dsp:nvSpPr>
      <dsp:spPr>
        <a:xfrm>
          <a:off x="0" y="3635624"/>
          <a:ext cx="2599947" cy="0"/>
        </a:xfrm>
        <a:prstGeom prst="lin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4F99BEEF-AE11-462B-A957-DDDC6C00A965}">
      <dsp:nvSpPr>
        <dsp:cNvPr id="0" name=""/>
        <dsp:cNvSpPr/>
      </dsp:nvSpPr>
      <dsp:spPr>
        <a:xfrm>
          <a:off x="0" y="3635624"/>
          <a:ext cx="2599947" cy="515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0" tIns="80010" rIns="80010" bIns="80010" numCol="1" spcCol="1270" anchor="ctr" anchorCtr="0">
          <a:noAutofit/>
        </a:bodyPr>
        <a:lstStyle/>
        <a:p>
          <a:pPr marL="0" lvl="0" indent="0" algn="l" defTabSz="933450">
            <a:lnSpc>
              <a:spcPct val="90000"/>
            </a:lnSpc>
            <a:spcBef>
              <a:spcPct val="0"/>
            </a:spcBef>
            <a:spcAft>
              <a:spcPct val="35000"/>
            </a:spcAft>
            <a:buNone/>
          </a:pPr>
          <a:r>
            <a:rPr lang="en-SG" sz="2100" b="1" kern="1200" dirty="0">
              <a:solidFill>
                <a:schemeClr val="tx1">
                  <a:lumMod val="75000"/>
                  <a:lumOff val="25000"/>
                </a:schemeClr>
              </a:solidFill>
            </a:rPr>
            <a:t>Philippines</a:t>
          </a:r>
          <a:endParaRPr lang="en-IN" sz="2100" b="1" kern="1200" dirty="0">
            <a:solidFill>
              <a:schemeClr val="tx1">
                <a:lumMod val="75000"/>
                <a:lumOff val="25000"/>
              </a:schemeClr>
            </a:solidFill>
          </a:endParaRPr>
        </a:p>
      </dsp:txBody>
      <dsp:txXfrm>
        <a:off x="0" y="3635624"/>
        <a:ext cx="2599947" cy="515722"/>
      </dsp:txXfrm>
    </dsp:sp>
    <dsp:sp modelId="{A77C9E74-BBAE-4F50-8D3A-862718C18D05}">
      <dsp:nvSpPr>
        <dsp:cNvPr id="0" name=""/>
        <dsp:cNvSpPr/>
      </dsp:nvSpPr>
      <dsp:spPr>
        <a:xfrm>
          <a:off x="0" y="4151347"/>
          <a:ext cx="2599947" cy="0"/>
        </a:xfrm>
        <a:prstGeom prst="lin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CC3FB93-1669-45A6-BEE9-02424D8DB69A}">
      <dsp:nvSpPr>
        <dsp:cNvPr id="0" name=""/>
        <dsp:cNvSpPr/>
      </dsp:nvSpPr>
      <dsp:spPr>
        <a:xfrm>
          <a:off x="0" y="4151347"/>
          <a:ext cx="2599947" cy="515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000" tIns="80010" rIns="80010" bIns="80010" numCol="1" spcCol="1270" anchor="ctr" anchorCtr="0">
          <a:noAutofit/>
        </a:bodyPr>
        <a:lstStyle/>
        <a:p>
          <a:pPr marL="0" lvl="0" indent="0" algn="l" defTabSz="933450">
            <a:lnSpc>
              <a:spcPct val="90000"/>
            </a:lnSpc>
            <a:spcBef>
              <a:spcPct val="0"/>
            </a:spcBef>
            <a:spcAft>
              <a:spcPct val="35000"/>
            </a:spcAft>
            <a:buNone/>
          </a:pPr>
          <a:r>
            <a:rPr lang="en-SG" sz="2100" b="1" kern="1200" dirty="0">
              <a:solidFill>
                <a:schemeClr val="tx1">
                  <a:lumMod val="75000"/>
                  <a:lumOff val="25000"/>
                </a:schemeClr>
              </a:solidFill>
            </a:rPr>
            <a:t>Vietnam</a:t>
          </a:r>
          <a:endParaRPr lang="en-SG" sz="2100" kern="1200" dirty="0"/>
        </a:p>
      </dsp:txBody>
      <dsp:txXfrm>
        <a:off x="0" y="4151347"/>
        <a:ext cx="2599947" cy="515722"/>
      </dsp:txXfrm>
    </dsp:sp>
    <dsp:sp modelId="{B7AA355D-4243-4CBF-9B94-D9A127F800C7}">
      <dsp:nvSpPr>
        <dsp:cNvPr id="0" name=""/>
        <dsp:cNvSpPr/>
      </dsp:nvSpPr>
      <dsp:spPr>
        <a:xfrm>
          <a:off x="0" y="4667070"/>
          <a:ext cx="2599947" cy="0"/>
        </a:xfrm>
        <a:prstGeom prst="line">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24A95A07-4C9D-4F33-929B-B1D001627E27}">
      <dsp:nvSpPr>
        <dsp:cNvPr id="0" name=""/>
        <dsp:cNvSpPr/>
      </dsp:nvSpPr>
      <dsp:spPr>
        <a:xfrm>
          <a:off x="0" y="4667070"/>
          <a:ext cx="2599947" cy="515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endParaRPr lang="en-IN" sz="2300" b="1" kern="1200" dirty="0">
            <a:solidFill>
              <a:schemeClr val="tx2"/>
            </a:solidFill>
          </a:endParaRPr>
        </a:p>
      </dsp:txBody>
      <dsp:txXfrm>
        <a:off x="0" y="4667070"/>
        <a:ext cx="2599947" cy="5157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34648-6DB7-4765-ADF7-C54AD72BAFBC}">
      <dsp:nvSpPr>
        <dsp:cNvPr id="0" name=""/>
        <dsp:cNvSpPr/>
      </dsp:nvSpPr>
      <dsp:spPr>
        <a:xfrm>
          <a:off x="0" y="1082440"/>
          <a:ext cx="2346559" cy="1407935"/>
        </a:xfrm>
        <a:prstGeom prst="rect">
          <a:avLst/>
        </a:prstGeom>
        <a:solidFill>
          <a:srgbClr val="111E2B">
            <a:alpha val="85000"/>
          </a:srgbClr>
        </a:solidFill>
        <a:ln w="38100">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Startups</a:t>
          </a:r>
          <a:endParaRPr lang="en-IN" sz="2100" b="1" kern="1200" dirty="0">
            <a:solidFill>
              <a:schemeClr val="bg1"/>
            </a:solidFill>
          </a:endParaRPr>
        </a:p>
      </dsp:txBody>
      <dsp:txXfrm>
        <a:off x="0" y="1082440"/>
        <a:ext cx="2346559" cy="1407935"/>
      </dsp:txXfrm>
    </dsp:sp>
    <dsp:sp modelId="{DC08BD02-A9C5-48C9-B252-90DB2897EFA9}">
      <dsp:nvSpPr>
        <dsp:cNvPr id="0" name=""/>
        <dsp:cNvSpPr/>
      </dsp:nvSpPr>
      <dsp:spPr>
        <a:xfrm>
          <a:off x="2581215" y="1082440"/>
          <a:ext cx="2346559" cy="1407935"/>
        </a:xfrm>
        <a:prstGeom prst="rect">
          <a:avLst/>
        </a:prstGeom>
        <a:solidFill>
          <a:srgbClr val="111E2B">
            <a:alpha val="85000"/>
          </a:srgbClr>
        </a:solidFill>
        <a:ln w="38100">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110000"/>
            </a:lnSpc>
            <a:spcBef>
              <a:spcPct val="0"/>
            </a:spcBef>
            <a:spcAft>
              <a:spcPts val="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Small and </a:t>
          </a:r>
        </a:p>
        <a:p>
          <a:pPr marL="0" lvl="0" indent="0" algn="ctr" defTabSz="933450" rtl="0">
            <a:lnSpc>
              <a:spcPct val="110000"/>
            </a:lnSpc>
            <a:spcBef>
              <a:spcPct val="0"/>
            </a:spcBef>
            <a:spcAft>
              <a:spcPts val="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Medium Enterprises</a:t>
          </a:r>
          <a:endParaRPr lang="en-IN" sz="2100" b="1" kern="1200" dirty="0">
            <a:solidFill>
              <a:schemeClr val="bg1"/>
            </a:solidFill>
          </a:endParaRPr>
        </a:p>
      </dsp:txBody>
      <dsp:txXfrm>
        <a:off x="2581215" y="1082440"/>
        <a:ext cx="2346559" cy="1407935"/>
      </dsp:txXfrm>
    </dsp:sp>
    <dsp:sp modelId="{7BC94487-03F9-4E2C-B9B6-B80AF6315F8A}">
      <dsp:nvSpPr>
        <dsp:cNvPr id="0" name=""/>
        <dsp:cNvSpPr/>
      </dsp:nvSpPr>
      <dsp:spPr>
        <a:xfrm>
          <a:off x="5162430" y="1082440"/>
          <a:ext cx="2346559" cy="1407935"/>
        </a:xfrm>
        <a:prstGeom prst="rect">
          <a:avLst/>
        </a:prstGeom>
        <a:solidFill>
          <a:srgbClr val="111E2B">
            <a:alpha val="85000"/>
          </a:srgbClr>
        </a:solidFill>
        <a:ln w="38100">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110000"/>
            </a:lnSpc>
            <a:spcBef>
              <a:spcPct val="0"/>
            </a:spcBef>
            <a:spcAft>
              <a:spcPts val="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Fund and Asset Managers</a:t>
          </a:r>
          <a:endParaRPr lang="en-IN" sz="2100" b="1" kern="1200" dirty="0">
            <a:solidFill>
              <a:schemeClr val="bg1"/>
            </a:solidFill>
          </a:endParaRPr>
        </a:p>
      </dsp:txBody>
      <dsp:txXfrm>
        <a:off x="5162430" y="1082440"/>
        <a:ext cx="2346559" cy="1407935"/>
      </dsp:txXfrm>
    </dsp:sp>
    <dsp:sp modelId="{921DA6A5-275D-49DB-A185-9A5B85C11BC7}">
      <dsp:nvSpPr>
        <dsp:cNvPr id="0" name=""/>
        <dsp:cNvSpPr/>
      </dsp:nvSpPr>
      <dsp:spPr>
        <a:xfrm>
          <a:off x="0" y="2725032"/>
          <a:ext cx="2346559" cy="1407935"/>
        </a:xfrm>
        <a:prstGeom prst="rect">
          <a:avLst/>
        </a:prstGeom>
        <a:solidFill>
          <a:srgbClr val="111E2B">
            <a:alpha val="85000"/>
          </a:srgbClr>
        </a:solidFill>
        <a:ln w="38100">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110000"/>
            </a:lnSpc>
            <a:spcBef>
              <a:spcPct val="0"/>
            </a:spcBef>
            <a:spcAft>
              <a:spcPts val="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Multi National Enterprises</a:t>
          </a:r>
          <a:endParaRPr lang="en-IN" sz="2100" b="1" kern="1200" dirty="0">
            <a:solidFill>
              <a:schemeClr val="bg1"/>
            </a:solidFill>
            <a:latin typeface="Roboto"/>
          </a:endParaRPr>
        </a:p>
      </dsp:txBody>
      <dsp:txXfrm>
        <a:off x="0" y="2725032"/>
        <a:ext cx="2346559" cy="1407935"/>
      </dsp:txXfrm>
    </dsp:sp>
    <dsp:sp modelId="{4D7149AF-4AF7-4855-92B5-911C21EDB5FD}">
      <dsp:nvSpPr>
        <dsp:cNvPr id="0" name=""/>
        <dsp:cNvSpPr/>
      </dsp:nvSpPr>
      <dsp:spPr>
        <a:xfrm>
          <a:off x="2581215" y="2725032"/>
          <a:ext cx="2346559" cy="1407935"/>
        </a:xfrm>
        <a:prstGeom prst="rect">
          <a:avLst/>
        </a:prstGeom>
        <a:solidFill>
          <a:srgbClr val="111E2B">
            <a:alpha val="85000"/>
          </a:srgbClr>
        </a:solidFill>
        <a:ln w="38100">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110000"/>
            </a:lnSpc>
            <a:spcBef>
              <a:spcPct val="0"/>
            </a:spcBef>
            <a:spcAft>
              <a:spcPts val="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Listed </a:t>
          </a:r>
        </a:p>
        <a:p>
          <a:pPr marL="0" lvl="0" indent="0" algn="ctr" defTabSz="933450">
            <a:lnSpc>
              <a:spcPct val="110000"/>
            </a:lnSpc>
            <a:spcBef>
              <a:spcPct val="0"/>
            </a:spcBef>
            <a:spcAft>
              <a:spcPts val="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Companies</a:t>
          </a:r>
        </a:p>
      </dsp:txBody>
      <dsp:txXfrm>
        <a:off x="2581215" y="2725032"/>
        <a:ext cx="2346559" cy="1407935"/>
      </dsp:txXfrm>
    </dsp:sp>
    <dsp:sp modelId="{7FE5CB5F-D1A7-4D46-850E-6A8D87D613AC}">
      <dsp:nvSpPr>
        <dsp:cNvPr id="0" name=""/>
        <dsp:cNvSpPr/>
      </dsp:nvSpPr>
      <dsp:spPr>
        <a:xfrm>
          <a:off x="5162430" y="2725032"/>
          <a:ext cx="2346559" cy="1407935"/>
        </a:xfrm>
        <a:prstGeom prst="rect">
          <a:avLst/>
        </a:prstGeom>
        <a:solidFill>
          <a:srgbClr val="111E2B">
            <a:alpha val="85000"/>
          </a:srgbClr>
        </a:solidFill>
        <a:ln w="38100">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110000"/>
            </a:lnSpc>
            <a:spcBef>
              <a:spcPct val="0"/>
            </a:spcBef>
            <a:spcAft>
              <a:spcPts val="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Large </a:t>
          </a:r>
        </a:p>
        <a:p>
          <a:pPr marL="0" lvl="0" indent="0" algn="ctr" defTabSz="933450" rtl="0">
            <a:lnSpc>
              <a:spcPct val="110000"/>
            </a:lnSpc>
            <a:spcBef>
              <a:spcPct val="0"/>
            </a:spcBef>
            <a:spcAft>
              <a:spcPts val="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Corporates</a:t>
          </a:r>
          <a:endParaRPr lang="en-IN" sz="2100" b="1" kern="1200" dirty="0">
            <a:solidFill>
              <a:schemeClr val="bg1"/>
            </a:solidFill>
          </a:endParaRPr>
        </a:p>
      </dsp:txBody>
      <dsp:txXfrm>
        <a:off x="5162430" y="2725032"/>
        <a:ext cx="2346559" cy="1407935"/>
      </dsp:txXfrm>
    </dsp:sp>
    <dsp:sp modelId="{A1B5C829-D1F2-4D1A-9C0A-5E78FE05021B}">
      <dsp:nvSpPr>
        <dsp:cNvPr id="0" name=""/>
        <dsp:cNvSpPr/>
      </dsp:nvSpPr>
      <dsp:spPr>
        <a:xfrm>
          <a:off x="0" y="4367623"/>
          <a:ext cx="2346559" cy="1407935"/>
        </a:xfrm>
        <a:prstGeom prst="rect">
          <a:avLst/>
        </a:prstGeom>
        <a:solidFill>
          <a:srgbClr val="111E2B">
            <a:alpha val="85000"/>
          </a:srgbClr>
        </a:solidFill>
        <a:ln w="38100">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110000"/>
            </a:lnSpc>
            <a:spcBef>
              <a:spcPct val="0"/>
            </a:spcBef>
            <a:spcAft>
              <a:spcPts val="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Family </a:t>
          </a:r>
        </a:p>
        <a:p>
          <a:pPr marL="0" lvl="0" indent="0" algn="ctr" defTabSz="933450">
            <a:lnSpc>
              <a:spcPct val="110000"/>
            </a:lnSpc>
            <a:spcBef>
              <a:spcPct val="0"/>
            </a:spcBef>
            <a:spcAft>
              <a:spcPts val="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Offices</a:t>
          </a:r>
          <a:endParaRPr lang="en-IN" sz="2100" b="1" kern="1200" dirty="0">
            <a:solidFill>
              <a:schemeClr val="bg1"/>
            </a:solidFill>
          </a:endParaRPr>
        </a:p>
      </dsp:txBody>
      <dsp:txXfrm>
        <a:off x="0" y="4367623"/>
        <a:ext cx="2346559" cy="1407935"/>
      </dsp:txXfrm>
    </dsp:sp>
    <dsp:sp modelId="{239FF4E8-F8A6-4C2B-A611-44B7CB8A2B68}">
      <dsp:nvSpPr>
        <dsp:cNvPr id="0" name=""/>
        <dsp:cNvSpPr/>
      </dsp:nvSpPr>
      <dsp:spPr>
        <a:xfrm>
          <a:off x="2581215" y="4367623"/>
          <a:ext cx="2346559" cy="1407935"/>
        </a:xfrm>
        <a:prstGeom prst="rect">
          <a:avLst/>
        </a:prstGeom>
        <a:solidFill>
          <a:srgbClr val="111E2B">
            <a:alpha val="85000"/>
          </a:srgbClr>
        </a:solidFill>
        <a:ln w="38100">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Non Profit Organizations</a:t>
          </a:r>
          <a:endParaRPr lang="en-IN" sz="2100" b="1" kern="1200" dirty="0">
            <a:solidFill>
              <a:schemeClr val="bg1"/>
            </a:solidFill>
          </a:endParaRPr>
        </a:p>
      </dsp:txBody>
      <dsp:txXfrm>
        <a:off x="2581215" y="4367623"/>
        <a:ext cx="2346559" cy="1407935"/>
      </dsp:txXfrm>
    </dsp:sp>
    <dsp:sp modelId="{AB6E2CA7-4CE2-4A7D-8799-5E60423141CC}">
      <dsp:nvSpPr>
        <dsp:cNvPr id="0" name=""/>
        <dsp:cNvSpPr/>
      </dsp:nvSpPr>
      <dsp:spPr>
        <a:xfrm>
          <a:off x="5162430" y="4367623"/>
          <a:ext cx="2346559" cy="1407935"/>
        </a:xfrm>
        <a:prstGeom prst="rect">
          <a:avLst/>
        </a:prstGeom>
        <a:solidFill>
          <a:srgbClr val="111E2B">
            <a:alpha val="85000"/>
          </a:srgbClr>
        </a:solidFill>
        <a:ln w="38100">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110000"/>
            </a:lnSpc>
            <a:spcBef>
              <a:spcPct val="0"/>
            </a:spcBef>
            <a:spcAft>
              <a:spcPts val="0"/>
            </a:spcAft>
            <a:buNone/>
          </a:pPr>
          <a:r>
            <a:rPr lang="en-IN" sz="2100" b="1" kern="1200" dirty="0">
              <a:latin typeface="Roboto" panose="02000000000000000000" pitchFamily="2" charset="0"/>
              <a:ea typeface="Roboto" panose="02000000000000000000" pitchFamily="2" charset="0"/>
              <a:cs typeface="Roboto" panose="02000000000000000000" pitchFamily="2" charset="0"/>
            </a:rPr>
            <a:t>Government Agencies</a:t>
          </a:r>
          <a:endParaRPr lang="en-IN" sz="2100" b="1" kern="1200" dirty="0">
            <a:solidFill>
              <a:schemeClr val="bg1"/>
            </a:solidFill>
          </a:endParaRPr>
        </a:p>
      </dsp:txBody>
      <dsp:txXfrm>
        <a:off x="5162430" y="4367623"/>
        <a:ext cx="2346559" cy="14079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D691DA-BC91-4AD3-88DA-1B053D4ADC63}">
      <dsp:nvSpPr>
        <dsp:cNvPr id="0" name=""/>
        <dsp:cNvSpPr/>
      </dsp:nvSpPr>
      <dsp:spPr>
        <a:xfrm>
          <a:off x="135381" y="1962"/>
          <a:ext cx="742500" cy="1295117"/>
        </a:xfrm>
        <a:prstGeom prst="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400050">
            <a:lnSpc>
              <a:spcPct val="90000"/>
            </a:lnSpc>
            <a:spcBef>
              <a:spcPct val="0"/>
            </a:spcBef>
            <a:spcAft>
              <a:spcPct val="35000"/>
            </a:spcAft>
            <a:buNone/>
          </a:pPr>
          <a:r>
            <a:rPr lang="en-US" sz="900" b="1" kern="1200" dirty="0">
              <a:latin typeface="Arial" panose="020B0604020202020204" pitchFamily="34" charset="0"/>
              <a:cs typeface="Arial" panose="020B0604020202020204" pitchFamily="34" charset="0"/>
            </a:rPr>
            <a:t>Engagement Director</a:t>
          </a:r>
        </a:p>
      </dsp:txBody>
      <dsp:txXfrm>
        <a:off x="135381" y="1962"/>
        <a:ext cx="742500" cy="1295117"/>
      </dsp:txXfrm>
    </dsp:sp>
    <dsp:sp modelId="{A0AD3F3E-3CCC-4E0C-A984-AB140AB6D224}">
      <dsp:nvSpPr>
        <dsp:cNvPr id="0" name=""/>
        <dsp:cNvSpPr/>
      </dsp:nvSpPr>
      <dsp:spPr>
        <a:xfrm>
          <a:off x="147949" y="1351361"/>
          <a:ext cx="720000" cy="1295117"/>
        </a:xfrm>
        <a:prstGeom prst="rect">
          <a:avLst/>
        </a:prstGeom>
        <a:solidFill>
          <a:srgbClr val="008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400050">
            <a:lnSpc>
              <a:spcPct val="90000"/>
            </a:lnSpc>
            <a:spcBef>
              <a:spcPct val="0"/>
            </a:spcBef>
            <a:spcAft>
              <a:spcPct val="35000"/>
            </a:spcAft>
            <a:buNone/>
          </a:pPr>
          <a:r>
            <a:rPr lang="en-US" sz="900" b="1" kern="1200" dirty="0">
              <a:latin typeface="Arial" panose="020B0604020202020204" pitchFamily="34" charset="0"/>
              <a:cs typeface="Arial" panose="020B0604020202020204" pitchFamily="34" charset="0"/>
            </a:rPr>
            <a:t>Senior Manager/</a:t>
          </a:r>
        </a:p>
        <a:p>
          <a:pPr marL="0" lvl="0" indent="0" algn="ctr" defTabSz="400050">
            <a:lnSpc>
              <a:spcPct val="90000"/>
            </a:lnSpc>
            <a:spcBef>
              <a:spcPct val="0"/>
            </a:spcBef>
            <a:spcAft>
              <a:spcPct val="35000"/>
            </a:spcAft>
            <a:buNone/>
          </a:pPr>
          <a:r>
            <a:rPr lang="en-US" sz="900" b="1" kern="1200" dirty="0">
              <a:latin typeface="Arial" panose="020B0604020202020204" pitchFamily="34" charset="0"/>
              <a:cs typeface="Arial" panose="020B0604020202020204" pitchFamily="34" charset="0"/>
            </a:rPr>
            <a:t>Manager</a:t>
          </a:r>
        </a:p>
      </dsp:txBody>
      <dsp:txXfrm>
        <a:off x="147949" y="1351361"/>
        <a:ext cx="720000" cy="1295117"/>
      </dsp:txXfrm>
    </dsp:sp>
    <dsp:sp modelId="{9636E6EC-C637-4484-82D0-CAF4D89A2C5E}">
      <dsp:nvSpPr>
        <dsp:cNvPr id="0" name=""/>
        <dsp:cNvSpPr/>
      </dsp:nvSpPr>
      <dsp:spPr>
        <a:xfrm>
          <a:off x="146631" y="2721709"/>
          <a:ext cx="720000" cy="1295117"/>
        </a:xfrm>
        <a:prstGeom prst="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400050">
            <a:lnSpc>
              <a:spcPct val="90000"/>
            </a:lnSpc>
            <a:spcBef>
              <a:spcPct val="0"/>
            </a:spcBef>
            <a:spcAft>
              <a:spcPct val="35000"/>
            </a:spcAft>
            <a:buNone/>
          </a:pPr>
          <a:r>
            <a:rPr lang="en-SG" sz="900" b="1" kern="1200" dirty="0">
              <a:latin typeface="Arial" panose="020B0604020202020204" pitchFamily="34" charset="0"/>
              <a:cs typeface="Arial" panose="020B0604020202020204" pitchFamily="34" charset="0"/>
            </a:rPr>
            <a:t> Assistant Manager</a:t>
          </a:r>
        </a:p>
      </dsp:txBody>
      <dsp:txXfrm>
        <a:off x="146631" y="2721709"/>
        <a:ext cx="720000" cy="12951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0994AB-ADD5-4E1F-9347-EAE6D972768B}">
      <dsp:nvSpPr>
        <dsp:cNvPr id="0" name=""/>
        <dsp:cNvSpPr/>
      </dsp:nvSpPr>
      <dsp:spPr>
        <a:xfrm>
          <a:off x="4694" y="0"/>
          <a:ext cx="2052374" cy="556818"/>
        </a:xfrm>
        <a:prstGeom prst="roundRect">
          <a:avLst>
            <a:gd name="adj" fmla="val 10000"/>
          </a:avLst>
        </a:prstGeom>
        <a:solidFill>
          <a:srgbClr val="C00000"/>
        </a:solidFill>
        <a:ln w="12700" cap="flat" cmpd="sng" algn="ctr">
          <a:solidFill>
            <a:sysClr val="windowText" lastClr="000000">
              <a:shade val="80000"/>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ysClr val="window" lastClr="FFFFFF"/>
              </a:solidFill>
              <a:latin typeface="Roboto" panose="02000000000000000000" pitchFamily="2" charset="0"/>
              <a:ea typeface="Roboto" panose="02000000000000000000" pitchFamily="2" charset="0"/>
              <a:cs typeface="Roboto" panose="02000000000000000000" pitchFamily="2" charset="0"/>
            </a:rPr>
            <a:t>Selecting an initial sample</a:t>
          </a:r>
          <a:endParaRPr lang="en-SG" sz="1200" b="1" kern="1200" dirty="0">
            <a:solidFill>
              <a:sysClr val="window" lastClr="FFFFFF"/>
            </a:solidFill>
            <a:latin typeface="Roboto" panose="02000000000000000000" pitchFamily="2" charset="0"/>
            <a:ea typeface="Roboto" panose="02000000000000000000" pitchFamily="2" charset="0"/>
            <a:cs typeface="Roboto" panose="02000000000000000000" pitchFamily="2" charset="0"/>
          </a:endParaRPr>
        </a:p>
      </dsp:txBody>
      <dsp:txXfrm>
        <a:off x="21003" y="16309"/>
        <a:ext cx="2019756" cy="524200"/>
      </dsp:txXfrm>
    </dsp:sp>
    <dsp:sp modelId="{773DF61B-1821-4408-9EAD-4764351E85ED}">
      <dsp:nvSpPr>
        <dsp:cNvPr id="0" name=""/>
        <dsp:cNvSpPr/>
      </dsp:nvSpPr>
      <dsp:spPr>
        <a:xfrm>
          <a:off x="2262306" y="23914"/>
          <a:ext cx="435103" cy="508988"/>
        </a:xfrm>
        <a:prstGeom prst="rightArrow">
          <a:avLst>
            <a:gd name="adj1" fmla="val 60000"/>
            <a:gd name="adj2" fmla="val 50000"/>
          </a:avLst>
        </a:prstGeom>
        <a:solidFill>
          <a:sysClr val="window" lastClr="FFFFFF">
            <a:lumMod val="85000"/>
          </a:sys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b="1" kern="1200" dirty="0">
            <a:solidFill>
              <a:sysClr val="window" lastClr="FFFFFF"/>
            </a:solidFill>
            <a:latin typeface="Roboto" panose="02000000000000000000" pitchFamily="2" charset="0"/>
            <a:ea typeface="Roboto" panose="02000000000000000000" pitchFamily="2" charset="0"/>
            <a:cs typeface="Roboto" panose="02000000000000000000" pitchFamily="2" charset="0"/>
          </a:endParaRPr>
        </a:p>
      </dsp:txBody>
      <dsp:txXfrm>
        <a:off x="2262306" y="125712"/>
        <a:ext cx="304572" cy="305392"/>
      </dsp:txXfrm>
    </dsp:sp>
    <dsp:sp modelId="{A3FA1F55-8B14-4524-8AF1-E6B0333854B1}">
      <dsp:nvSpPr>
        <dsp:cNvPr id="0" name=""/>
        <dsp:cNvSpPr/>
      </dsp:nvSpPr>
      <dsp:spPr>
        <a:xfrm>
          <a:off x="2878019" y="0"/>
          <a:ext cx="2052374" cy="556818"/>
        </a:xfrm>
        <a:prstGeom prst="roundRect">
          <a:avLst>
            <a:gd name="adj" fmla="val 10000"/>
          </a:avLst>
        </a:prstGeom>
        <a:solidFill>
          <a:srgbClr val="C00000"/>
        </a:solidFill>
        <a:ln w="12700" cap="flat" cmpd="sng" algn="ctr">
          <a:solidFill>
            <a:sysClr val="windowText" lastClr="000000">
              <a:shade val="80000"/>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ysClr val="window" lastClr="FFFFFF"/>
              </a:solidFill>
              <a:latin typeface="Roboto" panose="02000000000000000000" pitchFamily="2" charset="0"/>
              <a:ea typeface="Roboto" panose="02000000000000000000" pitchFamily="2" charset="0"/>
              <a:cs typeface="Roboto" panose="02000000000000000000" pitchFamily="2" charset="0"/>
            </a:rPr>
            <a:t>Testing the sample</a:t>
          </a:r>
          <a:endParaRPr lang="en-SG" sz="1200" b="1" kern="1200" dirty="0">
            <a:solidFill>
              <a:sysClr val="window" lastClr="FFFFFF"/>
            </a:solidFill>
            <a:latin typeface="Roboto" panose="02000000000000000000" pitchFamily="2" charset="0"/>
            <a:ea typeface="Roboto" panose="02000000000000000000" pitchFamily="2" charset="0"/>
            <a:cs typeface="Roboto" panose="02000000000000000000" pitchFamily="2" charset="0"/>
          </a:endParaRPr>
        </a:p>
      </dsp:txBody>
      <dsp:txXfrm>
        <a:off x="2894328" y="16309"/>
        <a:ext cx="2019756" cy="524200"/>
      </dsp:txXfrm>
    </dsp:sp>
    <dsp:sp modelId="{F8B2FC15-B9BE-4DC9-8D1D-5A190665E699}">
      <dsp:nvSpPr>
        <dsp:cNvPr id="0" name=""/>
        <dsp:cNvSpPr/>
      </dsp:nvSpPr>
      <dsp:spPr>
        <a:xfrm>
          <a:off x="5135631" y="23914"/>
          <a:ext cx="435103" cy="508988"/>
        </a:xfrm>
        <a:prstGeom prst="rightArrow">
          <a:avLst>
            <a:gd name="adj1" fmla="val 60000"/>
            <a:gd name="adj2" fmla="val 50000"/>
          </a:avLst>
        </a:prstGeom>
        <a:solidFill>
          <a:sysClr val="window" lastClr="FFFFFF">
            <a:lumMod val="85000"/>
          </a:sys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b="1" kern="1200" dirty="0">
            <a:solidFill>
              <a:sysClr val="window" lastClr="FFFFFF"/>
            </a:solidFill>
            <a:latin typeface="Roboto" panose="02000000000000000000" pitchFamily="2" charset="0"/>
            <a:ea typeface="Roboto" panose="02000000000000000000" pitchFamily="2" charset="0"/>
            <a:cs typeface="Roboto" panose="02000000000000000000" pitchFamily="2" charset="0"/>
          </a:endParaRPr>
        </a:p>
      </dsp:txBody>
      <dsp:txXfrm>
        <a:off x="5135631" y="125712"/>
        <a:ext cx="304572" cy="305392"/>
      </dsp:txXfrm>
    </dsp:sp>
    <dsp:sp modelId="{00198F29-9893-4BB7-B6BE-B10C2C2C791C}">
      <dsp:nvSpPr>
        <dsp:cNvPr id="0" name=""/>
        <dsp:cNvSpPr/>
      </dsp:nvSpPr>
      <dsp:spPr>
        <a:xfrm>
          <a:off x="5751343" y="0"/>
          <a:ext cx="2052374" cy="556818"/>
        </a:xfrm>
        <a:prstGeom prst="roundRect">
          <a:avLst>
            <a:gd name="adj" fmla="val 10000"/>
          </a:avLst>
        </a:prstGeom>
        <a:solidFill>
          <a:srgbClr val="C00000"/>
        </a:solidFill>
        <a:ln w="12700" cap="flat" cmpd="sng" algn="ctr">
          <a:solidFill>
            <a:sysClr val="windowText" lastClr="000000">
              <a:shade val="80000"/>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ysClr val="window" lastClr="FFFFFF"/>
              </a:solidFill>
              <a:latin typeface="Roboto" panose="02000000000000000000" pitchFamily="2" charset="0"/>
              <a:ea typeface="Roboto" panose="02000000000000000000" pitchFamily="2" charset="0"/>
              <a:cs typeface="Roboto" panose="02000000000000000000" pitchFamily="2" charset="0"/>
            </a:rPr>
            <a:t>Projecting the results</a:t>
          </a:r>
          <a:endParaRPr lang="en-SG" sz="1200" b="1" kern="1200" dirty="0">
            <a:solidFill>
              <a:sysClr val="window" lastClr="FFFFFF"/>
            </a:solidFill>
            <a:latin typeface="Roboto" panose="02000000000000000000" pitchFamily="2" charset="0"/>
            <a:ea typeface="Roboto" panose="02000000000000000000" pitchFamily="2" charset="0"/>
            <a:cs typeface="Roboto" panose="02000000000000000000" pitchFamily="2" charset="0"/>
          </a:endParaRPr>
        </a:p>
      </dsp:txBody>
      <dsp:txXfrm>
        <a:off x="5767652" y="16309"/>
        <a:ext cx="2019756" cy="524200"/>
      </dsp:txXfrm>
    </dsp:sp>
    <dsp:sp modelId="{B5160785-489C-4D93-8FBA-E9417DA6BDFB}">
      <dsp:nvSpPr>
        <dsp:cNvPr id="0" name=""/>
        <dsp:cNvSpPr/>
      </dsp:nvSpPr>
      <dsp:spPr>
        <a:xfrm>
          <a:off x="8008956" y="23914"/>
          <a:ext cx="435103" cy="508988"/>
        </a:xfrm>
        <a:prstGeom prst="rightArrow">
          <a:avLst>
            <a:gd name="adj1" fmla="val 60000"/>
            <a:gd name="adj2" fmla="val 50000"/>
          </a:avLst>
        </a:prstGeom>
        <a:solidFill>
          <a:sysClr val="window" lastClr="FFFFFF">
            <a:lumMod val="85000"/>
          </a:sys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b="1" kern="1200" dirty="0">
            <a:solidFill>
              <a:sysClr val="window" lastClr="FFFFFF"/>
            </a:solidFill>
            <a:latin typeface="Roboto" panose="02000000000000000000" pitchFamily="2" charset="0"/>
            <a:ea typeface="Roboto" panose="02000000000000000000" pitchFamily="2" charset="0"/>
            <a:cs typeface="Roboto" panose="02000000000000000000" pitchFamily="2" charset="0"/>
          </a:endParaRPr>
        </a:p>
      </dsp:txBody>
      <dsp:txXfrm>
        <a:off x="8008956" y="125712"/>
        <a:ext cx="304572" cy="305392"/>
      </dsp:txXfrm>
    </dsp:sp>
    <dsp:sp modelId="{99F000A8-4303-4AE3-B5A4-7D3E33D2DC25}">
      <dsp:nvSpPr>
        <dsp:cNvPr id="0" name=""/>
        <dsp:cNvSpPr/>
      </dsp:nvSpPr>
      <dsp:spPr>
        <a:xfrm>
          <a:off x="8624668" y="0"/>
          <a:ext cx="2052374" cy="556818"/>
        </a:xfrm>
        <a:prstGeom prst="roundRect">
          <a:avLst>
            <a:gd name="adj" fmla="val 10000"/>
          </a:avLst>
        </a:prstGeom>
        <a:solidFill>
          <a:srgbClr val="C00000"/>
        </a:solidFill>
        <a:ln w="12700" cap="flat" cmpd="sng" algn="ctr">
          <a:solidFill>
            <a:sysClr val="windowText" lastClr="000000">
              <a:shade val="80000"/>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SG" sz="1200" b="1" kern="1200" dirty="0">
              <a:solidFill>
                <a:sysClr val="window" lastClr="FFFFFF"/>
              </a:solidFill>
              <a:latin typeface="Roboto" panose="02000000000000000000" pitchFamily="2" charset="0"/>
              <a:ea typeface="Roboto" panose="02000000000000000000" pitchFamily="2" charset="0"/>
              <a:cs typeface="Roboto" panose="02000000000000000000" pitchFamily="2" charset="0"/>
            </a:rPr>
            <a:t>Verifying the outcome </a:t>
          </a:r>
        </a:p>
      </dsp:txBody>
      <dsp:txXfrm>
        <a:off x="8640977" y="16309"/>
        <a:ext cx="2019756" cy="5242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1543" cy="341064"/>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622798" y="1"/>
            <a:ext cx="4301543" cy="341064"/>
          </a:xfrm>
          <a:prstGeom prst="rect">
            <a:avLst/>
          </a:prstGeom>
        </p:spPr>
        <p:txBody>
          <a:bodyPr vert="horz" lIns="91440" tIns="45720" rIns="91440" bIns="45720" rtlCol="0"/>
          <a:lstStyle>
            <a:lvl1pPr algn="r">
              <a:defRPr sz="1200"/>
            </a:lvl1pPr>
          </a:lstStyle>
          <a:p>
            <a:fld id="{03E325FB-8529-44C2-8C5A-AD99E46B7BFD}" type="datetimeFigureOut">
              <a:rPr lang="en-US" smtClean="0"/>
              <a:t>3/12/2026</a:t>
            </a:fld>
            <a:endParaRPr lang="en-US" dirty="0"/>
          </a:p>
        </p:txBody>
      </p:sp>
      <p:sp>
        <p:nvSpPr>
          <p:cNvPr id="4" name="Footer Placeholder 3"/>
          <p:cNvSpPr>
            <a:spLocks noGrp="1"/>
          </p:cNvSpPr>
          <p:nvPr>
            <p:ph type="ftr" sz="quarter" idx="2"/>
          </p:nvPr>
        </p:nvSpPr>
        <p:spPr>
          <a:xfrm>
            <a:off x="0" y="6456612"/>
            <a:ext cx="4301543" cy="341063"/>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622798" y="6456612"/>
            <a:ext cx="4301543" cy="341063"/>
          </a:xfrm>
          <a:prstGeom prst="rect">
            <a:avLst/>
          </a:prstGeom>
        </p:spPr>
        <p:txBody>
          <a:bodyPr vert="horz" lIns="91440" tIns="45720" rIns="91440" bIns="45720" rtlCol="0" anchor="b"/>
          <a:lstStyle>
            <a:lvl1pPr algn="r">
              <a:defRPr sz="1200"/>
            </a:lvl1pPr>
          </a:lstStyle>
          <a:p>
            <a:fld id="{9A2CA6F6-4097-441A-A124-104C9EC70C9B}" type="slidenum">
              <a:rPr lang="en-US" smtClean="0"/>
              <a:t>‹#›</a:t>
            </a:fld>
            <a:endParaRPr lang="en-US" dirty="0"/>
          </a:p>
        </p:txBody>
      </p:sp>
    </p:spTree>
    <p:extLst>
      <p:ext uri="{BB962C8B-B14F-4D97-AF65-F5344CB8AC3E}">
        <p14:creationId xmlns:p14="http://schemas.microsoft.com/office/powerpoint/2010/main" val="40813023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1543" cy="341064"/>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622798" y="1"/>
            <a:ext cx="4301543" cy="341064"/>
          </a:xfrm>
          <a:prstGeom prst="rect">
            <a:avLst/>
          </a:prstGeom>
        </p:spPr>
        <p:txBody>
          <a:bodyPr vert="horz" lIns="91440" tIns="45720" rIns="91440" bIns="45720" rtlCol="0"/>
          <a:lstStyle>
            <a:lvl1pPr algn="r">
              <a:defRPr sz="1200"/>
            </a:lvl1pPr>
          </a:lstStyle>
          <a:p>
            <a:fld id="{31E8306B-615D-41E5-829F-EF88879FBAAE}" type="datetimeFigureOut">
              <a:rPr lang="en-US" smtClean="0"/>
              <a:t>3/12/2026</a:t>
            </a:fld>
            <a:endParaRPr lang="en-US" dirty="0"/>
          </a:p>
        </p:txBody>
      </p:sp>
      <p:sp>
        <p:nvSpPr>
          <p:cNvPr id="4" name="Slide Image Placeholder 3"/>
          <p:cNvSpPr>
            <a:spLocks noGrp="1" noRot="1" noChangeAspect="1"/>
          </p:cNvSpPr>
          <p:nvPr>
            <p:ph type="sldImg" idx="2"/>
          </p:nvPr>
        </p:nvSpPr>
        <p:spPr>
          <a:xfrm>
            <a:off x="2924175" y="849313"/>
            <a:ext cx="4078288" cy="2293937"/>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92664" y="3271381"/>
            <a:ext cx="7941310" cy="267658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456612"/>
            <a:ext cx="4301543" cy="341063"/>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622798" y="6456612"/>
            <a:ext cx="4301543" cy="341063"/>
          </a:xfrm>
          <a:prstGeom prst="rect">
            <a:avLst/>
          </a:prstGeom>
        </p:spPr>
        <p:txBody>
          <a:bodyPr vert="horz" lIns="91440" tIns="45720" rIns="91440" bIns="45720" rtlCol="0" anchor="b"/>
          <a:lstStyle>
            <a:lvl1pPr algn="r">
              <a:defRPr sz="1200"/>
            </a:lvl1pPr>
          </a:lstStyle>
          <a:p>
            <a:fld id="{E0E6D4F8-71D8-4775-88F3-A7EB251E843F}" type="slidenum">
              <a:rPr lang="en-US" smtClean="0"/>
              <a:t>‹#›</a:t>
            </a:fld>
            <a:endParaRPr lang="en-US" dirty="0"/>
          </a:p>
        </p:txBody>
      </p:sp>
    </p:spTree>
    <p:extLst>
      <p:ext uri="{BB962C8B-B14F-4D97-AF65-F5344CB8AC3E}">
        <p14:creationId xmlns:p14="http://schemas.microsoft.com/office/powerpoint/2010/main" val="1744681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3:notes"/>
          <p:cNvSpPr>
            <a:spLocks noGrp="1" noRot="1" noChangeAspect="1"/>
          </p:cNvSpPr>
          <p:nvPr>
            <p:ph type="sldImg" idx="2"/>
          </p:nvPr>
        </p:nvSpPr>
        <p:spPr>
          <a:xfrm>
            <a:off x="2925763" y="849313"/>
            <a:ext cx="4075112" cy="22939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SG" dirty="0"/>
          </a:p>
        </p:txBody>
      </p:sp>
      <p:sp>
        <p:nvSpPr>
          <p:cNvPr id="214" name="Google Shape;214;p3:notes"/>
          <p:cNvSpPr txBox="1">
            <a:spLocks noGrp="1"/>
          </p:cNvSpPr>
          <p:nvPr>
            <p:ph type="body" idx="1"/>
          </p:nvPr>
        </p:nvSpPr>
        <p:spPr>
          <a:xfrm>
            <a:off x="992664" y="3271381"/>
            <a:ext cx="7941310" cy="267658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5" name="Google Shape;215;p3:notes"/>
          <p:cNvSpPr txBox="1">
            <a:spLocks noGrp="1"/>
          </p:cNvSpPr>
          <p:nvPr>
            <p:ph type="sldNum" idx="12"/>
          </p:nvPr>
        </p:nvSpPr>
        <p:spPr>
          <a:xfrm>
            <a:off x="5622798" y="6456612"/>
            <a:ext cx="4301543" cy="341063"/>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2</a:t>
            </a:fld>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431039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3:notes"/>
          <p:cNvSpPr>
            <a:spLocks noGrp="1" noRot="1" noChangeAspect="1"/>
          </p:cNvSpPr>
          <p:nvPr>
            <p:ph type="sldImg" idx="2"/>
          </p:nvPr>
        </p:nvSpPr>
        <p:spPr>
          <a:xfrm>
            <a:off x="2925763" y="849313"/>
            <a:ext cx="4075112" cy="22939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SG" dirty="0"/>
          </a:p>
        </p:txBody>
      </p:sp>
      <p:sp>
        <p:nvSpPr>
          <p:cNvPr id="214" name="Google Shape;214;p3:notes"/>
          <p:cNvSpPr txBox="1">
            <a:spLocks noGrp="1"/>
          </p:cNvSpPr>
          <p:nvPr>
            <p:ph type="body" idx="1"/>
          </p:nvPr>
        </p:nvSpPr>
        <p:spPr>
          <a:xfrm>
            <a:off x="992664" y="3271381"/>
            <a:ext cx="7941310" cy="267658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5" name="Google Shape;215;p3:notes"/>
          <p:cNvSpPr txBox="1">
            <a:spLocks noGrp="1"/>
          </p:cNvSpPr>
          <p:nvPr>
            <p:ph type="sldNum" idx="12"/>
          </p:nvPr>
        </p:nvSpPr>
        <p:spPr>
          <a:xfrm>
            <a:off x="5622798" y="6456612"/>
            <a:ext cx="4301543" cy="341063"/>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3</a:t>
            </a:fld>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50404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3:notes"/>
          <p:cNvSpPr>
            <a:spLocks noGrp="1" noRot="1" noChangeAspect="1"/>
          </p:cNvSpPr>
          <p:nvPr>
            <p:ph type="sldImg" idx="2"/>
          </p:nvPr>
        </p:nvSpPr>
        <p:spPr>
          <a:xfrm>
            <a:off x="2925763" y="849313"/>
            <a:ext cx="4075112" cy="22939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SG" dirty="0"/>
          </a:p>
        </p:txBody>
      </p:sp>
      <p:sp>
        <p:nvSpPr>
          <p:cNvPr id="214" name="Google Shape;214;p3:notes"/>
          <p:cNvSpPr txBox="1">
            <a:spLocks noGrp="1"/>
          </p:cNvSpPr>
          <p:nvPr>
            <p:ph type="body" idx="1"/>
          </p:nvPr>
        </p:nvSpPr>
        <p:spPr>
          <a:xfrm>
            <a:off x="992664" y="3271381"/>
            <a:ext cx="7941310" cy="267658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5" name="Google Shape;215;p3:notes"/>
          <p:cNvSpPr txBox="1">
            <a:spLocks noGrp="1"/>
          </p:cNvSpPr>
          <p:nvPr>
            <p:ph type="sldNum" idx="12"/>
          </p:nvPr>
        </p:nvSpPr>
        <p:spPr>
          <a:xfrm>
            <a:off x="5622798" y="6456612"/>
            <a:ext cx="4301543" cy="341063"/>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9</a:t>
            </a:fld>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50404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jp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17">
            <a:extLst>
              <a:ext uri="{FF2B5EF4-FFF2-40B4-BE49-F238E27FC236}">
                <a16:creationId xmlns:a16="http://schemas.microsoft.com/office/drawing/2014/main" id="{1907B19A-835D-3CF1-1538-D9BBEFE15102}"/>
              </a:ext>
            </a:extLst>
          </p:cNvPr>
          <p:cNvSpPr>
            <a:spLocks noGrp="1"/>
          </p:cNvSpPr>
          <p:nvPr>
            <p:ph type="body" sz="quarter" idx="12" hasCustomPrompt="1"/>
          </p:nvPr>
        </p:nvSpPr>
        <p:spPr>
          <a:xfrm>
            <a:off x="5582808" y="3649537"/>
            <a:ext cx="6007130" cy="665687"/>
          </a:xfrm>
          <a:prstGeom prst="rect">
            <a:avLst/>
          </a:prstGeom>
        </p:spPr>
        <p:txBody>
          <a:bodyPr vert="horz" anchor="ctr"/>
          <a:lstStyle>
            <a:lvl1pPr marL="0" indent="0" algn="r">
              <a:buFontTx/>
              <a:buNone/>
              <a:defRPr sz="40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dirty="0"/>
              <a:t>Presentation Title</a:t>
            </a:r>
          </a:p>
        </p:txBody>
      </p:sp>
      <p:sp>
        <p:nvSpPr>
          <p:cNvPr id="11" name="Text Placeholder 17">
            <a:extLst>
              <a:ext uri="{FF2B5EF4-FFF2-40B4-BE49-F238E27FC236}">
                <a16:creationId xmlns:a16="http://schemas.microsoft.com/office/drawing/2014/main" id="{AA08453E-1A9B-CAA0-BF50-232E3309FE45}"/>
              </a:ext>
            </a:extLst>
          </p:cNvPr>
          <p:cNvSpPr>
            <a:spLocks noGrp="1"/>
          </p:cNvSpPr>
          <p:nvPr>
            <p:ph type="body" sz="quarter" idx="15" hasCustomPrompt="1"/>
          </p:nvPr>
        </p:nvSpPr>
        <p:spPr>
          <a:xfrm>
            <a:off x="5582809" y="4373512"/>
            <a:ext cx="6007130" cy="366598"/>
          </a:xfrm>
          <a:prstGeom prst="rect">
            <a:avLst/>
          </a:prstGeom>
        </p:spPr>
        <p:txBody>
          <a:bodyPr vert="horz" anchor="ctr"/>
          <a:lstStyle>
            <a:lvl1pPr marL="0" indent="0" algn="r">
              <a:buFontTx/>
              <a:buNone/>
              <a:defRPr sz="16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Subheading</a:t>
            </a:r>
          </a:p>
        </p:txBody>
      </p:sp>
      <p:sp>
        <p:nvSpPr>
          <p:cNvPr id="12" name="Text Placeholder 8">
            <a:extLst>
              <a:ext uri="{FF2B5EF4-FFF2-40B4-BE49-F238E27FC236}">
                <a16:creationId xmlns:a16="http://schemas.microsoft.com/office/drawing/2014/main" id="{115B526E-6E3A-DC81-DA2C-C1EFA5E7E37B}"/>
              </a:ext>
            </a:extLst>
          </p:cNvPr>
          <p:cNvSpPr>
            <a:spLocks noGrp="1"/>
          </p:cNvSpPr>
          <p:nvPr>
            <p:ph type="body" sz="quarter" idx="11" hasCustomPrompt="1"/>
          </p:nvPr>
        </p:nvSpPr>
        <p:spPr>
          <a:xfrm>
            <a:off x="315013" y="6313094"/>
            <a:ext cx="4599890" cy="251490"/>
          </a:xfrm>
          <a:prstGeom prst="rect">
            <a:avLst/>
          </a:prstGeom>
        </p:spPr>
        <p:txBody>
          <a:bodyPr vert="horz"/>
          <a:lstStyle>
            <a:lvl1pPr marL="0" indent="0" algn="l">
              <a:buFontTx/>
              <a:buNone/>
              <a:defRPr sz="1300">
                <a:solidFill>
                  <a:schemeClr val="tx1">
                    <a:lumMod val="75000"/>
                    <a:lumOff val="25000"/>
                  </a:schemeClr>
                </a:solidFill>
                <a:latin typeface="Roboto" panose="02000000000000000000" pitchFamily="2" charset="0"/>
                <a:ea typeface="Roboto" panose="02000000000000000000" pitchFamily="2" charset="0"/>
                <a:cs typeface="Arial" pitchFamily="34" charset="0"/>
              </a:defRPr>
            </a:lvl1pPr>
          </a:lstStyle>
          <a:p>
            <a:pPr lvl="0"/>
            <a:r>
              <a:rPr lang="en-US"/>
              <a:t>Date</a:t>
            </a:r>
          </a:p>
        </p:txBody>
      </p:sp>
      <p:sp>
        <p:nvSpPr>
          <p:cNvPr id="13" name="Text Placeholder 17">
            <a:extLst>
              <a:ext uri="{FF2B5EF4-FFF2-40B4-BE49-F238E27FC236}">
                <a16:creationId xmlns:a16="http://schemas.microsoft.com/office/drawing/2014/main" id="{748EC28C-EAA8-3188-60CB-75131069B30A}"/>
              </a:ext>
            </a:extLst>
          </p:cNvPr>
          <p:cNvSpPr>
            <a:spLocks noGrp="1"/>
          </p:cNvSpPr>
          <p:nvPr>
            <p:ph type="body" sz="quarter" idx="13" hasCustomPrompt="1"/>
          </p:nvPr>
        </p:nvSpPr>
        <p:spPr>
          <a:xfrm>
            <a:off x="315012" y="6061604"/>
            <a:ext cx="4599884" cy="251490"/>
          </a:xfrm>
          <a:prstGeom prst="rect">
            <a:avLst/>
          </a:prstGeom>
        </p:spPr>
        <p:txBody>
          <a:bodyPr vert="horz" anchor="ctr"/>
          <a:lstStyle>
            <a:lvl1pPr marL="0" indent="0">
              <a:buFontTx/>
              <a:buNone/>
              <a:defRPr sz="1300" b="1" i="0" cap="all" baseline="0">
                <a:solidFill>
                  <a:schemeClr val="tx1">
                    <a:lumMod val="75000"/>
                    <a:lumOff val="25000"/>
                  </a:schemeClr>
                </a:solidFill>
                <a:latin typeface="Roboto" panose="02000000000000000000" pitchFamily="2" charset="0"/>
                <a:ea typeface="Roboto" panose="02000000000000000000" pitchFamily="2" charset="0"/>
                <a:cs typeface="Arial" pitchFamily="34" charset="0"/>
              </a:defRPr>
            </a:lvl1pPr>
          </a:lstStyle>
          <a:p>
            <a:pPr lvl="0"/>
            <a:r>
              <a:rPr lang="en-US" dirty="0"/>
              <a:t>Presenter Name</a:t>
            </a:r>
          </a:p>
        </p:txBody>
      </p:sp>
      <p:pic>
        <p:nvPicPr>
          <p:cNvPr id="2" name="Picture 1">
            <a:extLst>
              <a:ext uri="{FF2B5EF4-FFF2-40B4-BE49-F238E27FC236}">
                <a16:creationId xmlns:a16="http://schemas.microsoft.com/office/drawing/2014/main" id="{0BCDFE76-7C74-D8F2-B66A-FC23F70444EB}"/>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608267" y="1104991"/>
            <a:ext cx="2893477" cy="1247791"/>
          </a:xfrm>
          <a:prstGeom prst="rect">
            <a:avLst/>
          </a:prstGeom>
        </p:spPr>
      </p:pic>
    </p:spTree>
    <p:extLst>
      <p:ext uri="{BB962C8B-B14F-4D97-AF65-F5344CB8AC3E}">
        <p14:creationId xmlns:p14="http://schemas.microsoft.com/office/powerpoint/2010/main" val="3323858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8">
            <a:extLst>
              <a:ext uri="{FF2B5EF4-FFF2-40B4-BE49-F238E27FC236}">
                <a16:creationId xmlns:a16="http://schemas.microsoft.com/office/drawing/2014/main" id="{53D323B1-21FD-4D28-A103-B482BEF4C845}"/>
              </a:ext>
            </a:extLst>
          </p:cNvPr>
          <p:cNvSpPr>
            <a:spLocks noGrp="1"/>
          </p:cNvSpPr>
          <p:nvPr>
            <p:ph type="body" sz="quarter" idx="14" hasCustomPrompt="1"/>
          </p:nvPr>
        </p:nvSpPr>
        <p:spPr>
          <a:xfrm>
            <a:off x="218297" y="6374638"/>
            <a:ext cx="4599890" cy="251490"/>
          </a:xfrm>
          <a:prstGeom prst="rect">
            <a:avLst/>
          </a:prstGeom>
        </p:spPr>
        <p:txBody>
          <a:bodyPr vert="horz"/>
          <a:lstStyle>
            <a:lvl1pPr marL="0" indent="0" algn="l">
              <a:buFontTx/>
              <a:buNone/>
              <a:defRPr sz="1400">
                <a:solidFill>
                  <a:schemeClr val="tx1">
                    <a:lumMod val="75000"/>
                    <a:lumOff val="25000"/>
                  </a:schemeClr>
                </a:solidFill>
                <a:latin typeface="Roboto" panose="02000000000000000000" pitchFamily="2" charset="0"/>
                <a:ea typeface="Roboto" panose="02000000000000000000" pitchFamily="2" charset="0"/>
                <a:cs typeface="Arial" pitchFamily="34" charset="0"/>
              </a:defRPr>
            </a:lvl1pPr>
          </a:lstStyle>
          <a:p>
            <a:pPr lvl="0"/>
            <a:r>
              <a:rPr lang="en-US" dirty="0"/>
              <a:t>Date</a:t>
            </a:r>
          </a:p>
        </p:txBody>
      </p:sp>
      <p:sp>
        <p:nvSpPr>
          <p:cNvPr id="8" name="Text Placeholder 17">
            <a:extLst>
              <a:ext uri="{FF2B5EF4-FFF2-40B4-BE49-F238E27FC236}">
                <a16:creationId xmlns:a16="http://schemas.microsoft.com/office/drawing/2014/main" id="{D92C6864-2AC6-4527-A211-F55C3C73180D}"/>
              </a:ext>
            </a:extLst>
          </p:cNvPr>
          <p:cNvSpPr>
            <a:spLocks noGrp="1"/>
          </p:cNvSpPr>
          <p:nvPr>
            <p:ph type="body" sz="quarter" idx="15" hasCustomPrompt="1"/>
          </p:nvPr>
        </p:nvSpPr>
        <p:spPr>
          <a:xfrm>
            <a:off x="218297" y="6123148"/>
            <a:ext cx="4599884" cy="251490"/>
          </a:xfrm>
          <a:prstGeom prst="rect">
            <a:avLst/>
          </a:prstGeom>
        </p:spPr>
        <p:txBody>
          <a:bodyPr vert="horz" anchor="ctr"/>
          <a:lstStyle>
            <a:lvl1pPr marL="0" indent="0">
              <a:buFontTx/>
              <a:buNone/>
              <a:defRPr sz="1400" b="1" i="0" cap="all" baseline="0">
                <a:solidFill>
                  <a:schemeClr val="tx1">
                    <a:lumMod val="75000"/>
                    <a:lumOff val="25000"/>
                  </a:schemeClr>
                </a:solidFill>
                <a:latin typeface="Roboto" panose="02000000000000000000" pitchFamily="2" charset="0"/>
                <a:ea typeface="Roboto" panose="02000000000000000000" pitchFamily="2" charset="0"/>
                <a:cs typeface="Arial" pitchFamily="34" charset="0"/>
              </a:defRPr>
            </a:lvl1pPr>
          </a:lstStyle>
          <a:p>
            <a:pPr lvl="0"/>
            <a:r>
              <a:rPr lang="en-US" dirty="0"/>
              <a:t>Presenter Name</a:t>
            </a:r>
          </a:p>
        </p:txBody>
      </p:sp>
      <p:sp>
        <p:nvSpPr>
          <p:cNvPr id="10" name="Text Placeholder 17">
            <a:extLst>
              <a:ext uri="{FF2B5EF4-FFF2-40B4-BE49-F238E27FC236}">
                <a16:creationId xmlns:a16="http://schemas.microsoft.com/office/drawing/2014/main" id="{10F6883A-07FE-4FA5-BAEC-1E6EEBE5A7EA}"/>
              </a:ext>
            </a:extLst>
          </p:cNvPr>
          <p:cNvSpPr>
            <a:spLocks noGrp="1"/>
          </p:cNvSpPr>
          <p:nvPr>
            <p:ph type="body" sz="quarter" idx="12" hasCustomPrompt="1"/>
          </p:nvPr>
        </p:nvSpPr>
        <p:spPr>
          <a:xfrm>
            <a:off x="218297" y="2600785"/>
            <a:ext cx="3972703" cy="1167651"/>
          </a:xfrm>
          <a:prstGeom prst="rect">
            <a:avLst/>
          </a:prstGeom>
        </p:spPr>
        <p:txBody>
          <a:bodyPr vert="horz" anchor="ctr"/>
          <a:lstStyle>
            <a:lvl1pPr marL="0" indent="0">
              <a:buFontTx/>
              <a:buNone/>
              <a:defRPr sz="40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dirty="0"/>
              <a:t>Presentation Title</a:t>
            </a:r>
          </a:p>
        </p:txBody>
      </p:sp>
      <p:sp>
        <p:nvSpPr>
          <p:cNvPr id="11" name="Text Placeholder 17">
            <a:extLst>
              <a:ext uri="{FF2B5EF4-FFF2-40B4-BE49-F238E27FC236}">
                <a16:creationId xmlns:a16="http://schemas.microsoft.com/office/drawing/2014/main" id="{6D731901-0CE0-4FD2-99C7-F3014362F232}"/>
              </a:ext>
            </a:extLst>
          </p:cNvPr>
          <p:cNvSpPr>
            <a:spLocks noGrp="1"/>
          </p:cNvSpPr>
          <p:nvPr>
            <p:ph type="body" sz="quarter" idx="16" hasCustomPrompt="1"/>
          </p:nvPr>
        </p:nvSpPr>
        <p:spPr>
          <a:xfrm>
            <a:off x="218297" y="3900603"/>
            <a:ext cx="3688685" cy="366598"/>
          </a:xfrm>
          <a:prstGeom prst="rect">
            <a:avLst/>
          </a:prstGeom>
        </p:spPr>
        <p:txBody>
          <a:bodyPr vert="horz" anchor="ctr"/>
          <a:lstStyle>
            <a:lvl1pPr marL="0" indent="0">
              <a:buFontTx/>
              <a:buNone/>
              <a:defRPr sz="16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dirty="0"/>
              <a:t>Subheading</a:t>
            </a:r>
          </a:p>
        </p:txBody>
      </p:sp>
      <p:pic>
        <p:nvPicPr>
          <p:cNvPr id="2" name="Picture 1">
            <a:extLst>
              <a:ext uri="{FF2B5EF4-FFF2-40B4-BE49-F238E27FC236}">
                <a16:creationId xmlns:a16="http://schemas.microsoft.com/office/drawing/2014/main" id="{0C7FC89F-A8CF-740F-2C18-61A99F83B9C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3563" y="350595"/>
            <a:ext cx="2254676" cy="1072834"/>
          </a:xfrm>
          <a:prstGeom prst="rect">
            <a:avLst/>
          </a:prstGeom>
        </p:spPr>
      </p:pic>
    </p:spTree>
    <p:extLst>
      <p:ext uri="{BB962C8B-B14F-4D97-AF65-F5344CB8AC3E}">
        <p14:creationId xmlns:p14="http://schemas.microsoft.com/office/powerpoint/2010/main" val="5859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ision And Mission">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91CD504-EE6C-78D0-EC92-4D253D488E87}"/>
              </a:ext>
            </a:extLst>
          </p:cNvPr>
          <p:cNvSpPr/>
          <p:nvPr userDrawn="1"/>
        </p:nvSpPr>
        <p:spPr>
          <a:xfrm>
            <a:off x="6096784" y="0"/>
            <a:ext cx="6096000" cy="3250565"/>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0" name="Text Placeholder 73">
            <a:extLst>
              <a:ext uri="{FF2B5EF4-FFF2-40B4-BE49-F238E27FC236}">
                <a16:creationId xmlns:a16="http://schemas.microsoft.com/office/drawing/2014/main" id="{67A7C7E3-B86B-4AA8-9300-E7FF0CAC21A6}"/>
              </a:ext>
            </a:extLst>
          </p:cNvPr>
          <p:cNvSpPr>
            <a:spLocks noGrp="1"/>
          </p:cNvSpPr>
          <p:nvPr>
            <p:ph type="body" sz="quarter" idx="29"/>
          </p:nvPr>
        </p:nvSpPr>
        <p:spPr>
          <a:xfrm>
            <a:off x="404446" y="980054"/>
            <a:ext cx="5319346" cy="1666430"/>
          </a:xfrm>
          <a:prstGeom prst="rect">
            <a:avLst/>
          </a:prstGeom>
        </p:spPr>
        <p:txBody>
          <a:bodyPr>
            <a:normAutofit/>
          </a:bodyPr>
          <a:lstStyle>
            <a:lvl1pPr marL="0" indent="0" algn="l">
              <a:lnSpc>
                <a:spcPct val="130000"/>
              </a:lnSpc>
              <a:buNone/>
              <a:defRPr sz="1400">
                <a:solidFill>
                  <a:schemeClr val="bg1"/>
                </a:solidFill>
                <a:latin typeface="Roboto" panose="02000000000000000000" pitchFamily="2" charset="0"/>
                <a:ea typeface="Roboto" panose="02000000000000000000" pitchFamily="2" charset="0"/>
              </a:defRPr>
            </a:lvl1pPr>
          </a:lstStyle>
          <a:p>
            <a:pPr lvl="0"/>
            <a:endParaRPr lang="en-ID" dirty="0"/>
          </a:p>
        </p:txBody>
      </p:sp>
      <p:sp>
        <p:nvSpPr>
          <p:cNvPr id="31" name="Text Placeholder 73">
            <a:extLst>
              <a:ext uri="{FF2B5EF4-FFF2-40B4-BE49-F238E27FC236}">
                <a16:creationId xmlns:a16="http://schemas.microsoft.com/office/drawing/2014/main" id="{6703CD67-3C70-4509-A906-56F913076A5F}"/>
              </a:ext>
            </a:extLst>
          </p:cNvPr>
          <p:cNvSpPr>
            <a:spLocks noGrp="1"/>
          </p:cNvSpPr>
          <p:nvPr>
            <p:ph type="body" sz="quarter" idx="30"/>
          </p:nvPr>
        </p:nvSpPr>
        <p:spPr>
          <a:xfrm>
            <a:off x="404446" y="395654"/>
            <a:ext cx="5319346" cy="477226"/>
          </a:xfrm>
          <a:prstGeom prst="rect">
            <a:avLst/>
          </a:prstGeom>
        </p:spPr>
        <p:txBody>
          <a:bodyPr anchor="ctr">
            <a:noAutofit/>
          </a:bodyPr>
          <a:lstStyle>
            <a:lvl1pPr marL="0" indent="0" algn="l">
              <a:lnSpc>
                <a:spcPct val="130000"/>
              </a:lnSpc>
              <a:buNone/>
              <a:defRPr sz="1600" b="1">
                <a:solidFill>
                  <a:schemeClr val="bg1"/>
                </a:solidFill>
                <a:latin typeface="Roboto" panose="02000000000000000000" pitchFamily="2" charset="0"/>
                <a:ea typeface="Roboto" panose="02000000000000000000" pitchFamily="2" charset="0"/>
              </a:defRPr>
            </a:lvl1pPr>
          </a:lstStyle>
          <a:p>
            <a:pPr lvl="0"/>
            <a:endParaRPr lang="en-ID"/>
          </a:p>
        </p:txBody>
      </p:sp>
      <p:sp>
        <p:nvSpPr>
          <p:cNvPr id="40" name="Text Placeholder 73">
            <a:extLst>
              <a:ext uri="{FF2B5EF4-FFF2-40B4-BE49-F238E27FC236}">
                <a16:creationId xmlns:a16="http://schemas.microsoft.com/office/drawing/2014/main" id="{05EB29D3-8CF5-465F-BC33-3B28D2D537C2}"/>
              </a:ext>
            </a:extLst>
          </p:cNvPr>
          <p:cNvSpPr>
            <a:spLocks noGrp="1"/>
          </p:cNvSpPr>
          <p:nvPr>
            <p:ph type="body" sz="quarter" idx="48"/>
          </p:nvPr>
        </p:nvSpPr>
        <p:spPr>
          <a:xfrm>
            <a:off x="6500447" y="4719714"/>
            <a:ext cx="5319346" cy="1666430"/>
          </a:xfrm>
          <a:prstGeom prst="rect">
            <a:avLst/>
          </a:prstGeom>
        </p:spPr>
        <p:txBody>
          <a:bodyPr>
            <a:normAutofit/>
          </a:bodyPr>
          <a:lstStyle>
            <a:lvl1pPr marL="0" indent="0" algn="l">
              <a:lnSpc>
                <a:spcPct val="130000"/>
              </a:lnSpc>
              <a:buNone/>
              <a:defRPr sz="1400">
                <a:solidFill>
                  <a:schemeClr val="bg1"/>
                </a:solidFill>
              </a:defRPr>
            </a:lvl1pPr>
          </a:lstStyle>
          <a:p>
            <a:pPr lvl="0"/>
            <a:endParaRPr lang="en-ID"/>
          </a:p>
        </p:txBody>
      </p:sp>
      <p:sp>
        <p:nvSpPr>
          <p:cNvPr id="41" name="Text Placeholder 73">
            <a:extLst>
              <a:ext uri="{FF2B5EF4-FFF2-40B4-BE49-F238E27FC236}">
                <a16:creationId xmlns:a16="http://schemas.microsoft.com/office/drawing/2014/main" id="{BA091DE8-729C-4B00-BF03-BB84A69B7562}"/>
              </a:ext>
            </a:extLst>
          </p:cNvPr>
          <p:cNvSpPr>
            <a:spLocks noGrp="1"/>
          </p:cNvSpPr>
          <p:nvPr>
            <p:ph type="body" sz="quarter" idx="49"/>
          </p:nvPr>
        </p:nvSpPr>
        <p:spPr>
          <a:xfrm>
            <a:off x="6500447" y="4135314"/>
            <a:ext cx="5319346" cy="477226"/>
          </a:xfrm>
          <a:prstGeom prst="rect">
            <a:avLst/>
          </a:prstGeom>
        </p:spPr>
        <p:txBody>
          <a:bodyPr anchor="ctr">
            <a:noAutofit/>
          </a:bodyPr>
          <a:lstStyle>
            <a:lvl1pPr marL="0" indent="0" algn="l">
              <a:lnSpc>
                <a:spcPct val="130000"/>
              </a:lnSpc>
              <a:buNone/>
              <a:defRPr sz="1600" b="1">
                <a:solidFill>
                  <a:schemeClr val="bg1"/>
                </a:solidFill>
                <a:latin typeface="+mj-lt"/>
              </a:defRPr>
            </a:lvl1pPr>
          </a:lstStyle>
          <a:p>
            <a:pPr lvl="0"/>
            <a:endParaRPr lang="en-ID" dirty="0"/>
          </a:p>
        </p:txBody>
      </p:sp>
      <p:grpSp>
        <p:nvGrpSpPr>
          <p:cNvPr id="3" name="Group 2">
            <a:extLst>
              <a:ext uri="{FF2B5EF4-FFF2-40B4-BE49-F238E27FC236}">
                <a16:creationId xmlns:a16="http://schemas.microsoft.com/office/drawing/2014/main" id="{6A28C90A-DDD3-E09A-660D-2FF12B4EE0BB}"/>
              </a:ext>
            </a:extLst>
          </p:cNvPr>
          <p:cNvGrpSpPr/>
          <p:nvPr userDrawn="1"/>
        </p:nvGrpSpPr>
        <p:grpSpPr>
          <a:xfrm>
            <a:off x="0" y="6489376"/>
            <a:ext cx="12183035" cy="368831"/>
            <a:chOff x="0" y="6489376"/>
            <a:chExt cx="12183035" cy="368831"/>
          </a:xfrm>
        </p:grpSpPr>
        <p:sp>
          <p:nvSpPr>
            <p:cNvPr id="5" name="Rectangle 4">
              <a:extLst>
                <a:ext uri="{FF2B5EF4-FFF2-40B4-BE49-F238E27FC236}">
                  <a16:creationId xmlns:a16="http://schemas.microsoft.com/office/drawing/2014/main" id="{BA60688E-9FAF-9D6A-73A5-B41E2D93A23D}"/>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 name="Rectangle 5">
              <a:extLst>
                <a:ext uri="{FF2B5EF4-FFF2-40B4-BE49-F238E27FC236}">
                  <a16:creationId xmlns:a16="http://schemas.microsoft.com/office/drawing/2014/main" id="{0E1C4C65-6A5C-5976-59D0-15995E768AB5}"/>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 name="Rectangle 6">
              <a:extLst>
                <a:ext uri="{FF2B5EF4-FFF2-40B4-BE49-F238E27FC236}">
                  <a16:creationId xmlns:a16="http://schemas.microsoft.com/office/drawing/2014/main" id="{303B5615-E717-7935-416E-AF7D10FDB140}"/>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TextBox 7">
              <a:extLst>
                <a:ext uri="{FF2B5EF4-FFF2-40B4-BE49-F238E27FC236}">
                  <a16:creationId xmlns:a16="http://schemas.microsoft.com/office/drawing/2014/main" id="{D46C9CE7-F832-7612-1D3D-571FA0A922CE}"/>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9" name="Picture 8">
              <a:extLst>
                <a:ext uri="{FF2B5EF4-FFF2-40B4-BE49-F238E27FC236}">
                  <a16:creationId xmlns:a16="http://schemas.microsoft.com/office/drawing/2014/main" id="{473989C3-9316-8C56-51B8-645FAF6BE93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10" name="Slide Number Placeholder 5">
            <a:extLst>
              <a:ext uri="{FF2B5EF4-FFF2-40B4-BE49-F238E27FC236}">
                <a16:creationId xmlns:a16="http://schemas.microsoft.com/office/drawing/2014/main" id="{D6D83029-F867-7623-DB1D-7FC9298D3F99}"/>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
        <p:nvSpPr>
          <p:cNvPr id="18" name="Rectangle 17">
            <a:extLst>
              <a:ext uri="{FF2B5EF4-FFF2-40B4-BE49-F238E27FC236}">
                <a16:creationId xmlns:a16="http://schemas.microsoft.com/office/drawing/2014/main" id="{69A40F7B-A5C0-B37C-056A-6D7D56C86667}"/>
              </a:ext>
            </a:extLst>
          </p:cNvPr>
          <p:cNvSpPr/>
          <p:nvPr userDrawn="1"/>
        </p:nvSpPr>
        <p:spPr>
          <a:xfrm>
            <a:off x="6104965" y="-5877"/>
            <a:ext cx="6096000" cy="32505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 name="Rectangle 19">
            <a:extLst>
              <a:ext uri="{FF2B5EF4-FFF2-40B4-BE49-F238E27FC236}">
                <a16:creationId xmlns:a16="http://schemas.microsoft.com/office/drawing/2014/main" id="{B861C00F-B7B1-3A39-CC32-71CFD992B7C3}"/>
              </a:ext>
            </a:extLst>
          </p:cNvPr>
          <p:cNvSpPr/>
          <p:nvPr userDrawn="1"/>
        </p:nvSpPr>
        <p:spPr>
          <a:xfrm>
            <a:off x="6104965" y="0"/>
            <a:ext cx="6096000" cy="3250565"/>
          </a:xfrm>
          <a:prstGeom prst="rect">
            <a:avLst/>
          </a:prstGeom>
          <a:solidFill>
            <a:schemeClr val="bg1">
              <a:lumMod val="50000"/>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24" name="Picture 23">
            <a:extLst>
              <a:ext uri="{FF2B5EF4-FFF2-40B4-BE49-F238E27FC236}">
                <a16:creationId xmlns:a16="http://schemas.microsoft.com/office/drawing/2014/main" id="{F73EF367-A7D8-46E7-E924-EAE43692C958}"/>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9620" b="10210"/>
          <a:stretch/>
        </p:blipFill>
        <p:spPr>
          <a:xfrm>
            <a:off x="6089610" y="-5877"/>
            <a:ext cx="6078854" cy="3250565"/>
          </a:xfrm>
          <a:prstGeom prst="rect">
            <a:avLst/>
          </a:prstGeom>
        </p:spPr>
      </p:pic>
      <p:pic>
        <p:nvPicPr>
          <p:cNvPr id="33" name="Picture 32">
            <a:extLst>
              <a:ext uri="{FF2B5EF4-FFF2-40B4-BE49-F238E27FC236}">
                <a16:creationId xmlns:a16="http://schemas.microsoft.com/office/drawing/2014/main" id="{99D3FF09-79E2-DDBB-417B-EE1225BF68C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0634" b="9357"/>
          <a:stretch/>
        </p:blipFill>
        <p:spPr>
          <a:xfrm>
            <a:off x="-6193" y="3244688"/>
            <a:ext cx="6102193" cy="3256441"/>
          </a:xfrm>
          <a:prstGeom prst="rect">
            <a:avLst/>
          </a:prstGeom>
        </p:spPr>
      </p:pic>
      <p:sp>
        <p:nvSpPr>
          <p:cNvPr id="34" name="Rectangle 33">
            <a:extLst>
              <a:ext uri="{FF2B5EF4-FFF2-40B4-BE49-F238E27FC236}">
                <a16:creationId xmlns:a16="http://schemas.microsoft.com/office/drawing/2014/main" id="{EA3EFAD9-9DF4-F61E-4CCA-B65EB2A910BC}"/>
              </a:ext>
            </a:extLst>
          </p:cNvPr>
          <p:cNvSpPr/>
          <p:nvPr userDrawn="1"/>
        </p:nvSpPr>
        <p:spPr>
          <a:xfrm>
            <a:off x="6093386" y="-4523"/>
            <a:ext cx="6096000" cy="3250565"/>
          </a:xfrm>
          <a:prstGeom prst="rect">
            <a:avLst/>
          </a:prstGeom>
          <a:solidFill>
            <a:srgbClr val="2F465A">
              <a:alpha val="4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2" name="Rectangle 11">
            <a:extLst>
              <a:ext uri="{FF2B5EF4-FFF2-40B4-BE49-F238E27FC236}">
                <a16:creationId xmlns:a16="http://schemas.microsoft.com/office/drawing/2014/main" id="{59880180-7C70-7D54-5673-5B2DD18478A7}"/>
              </a:ext>
            </a:extLst>
          </p:cNvPr>
          <p:cNvSpPr/>
          <p:nvPr userDrawn="1"/>
        </p:nvSpPr>
        <p:spPr>
          <a:xfrm>
            <a:off x="6093385" y="3245753"/>
            <a:ext cx="6107579" cy="325056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Rectangle 34">
            <a:extLst>
              <a:ext uri="{FF2B5EF4-FFF2-40B4-BE49-F238E27FC236}">
                <a16:creationId xmlns:a16="http://schemas.microsoft.com/office/drawing/2014/main" id="{5A6A34F9-6B21-F28B-5E1B-1DC46583723D}"/>
              </a:ext>
            </a:extLst>
          </p:cNvPr>
          <p:cNvSpPr/>
          <p:nvPr userDrawn="1"/>
        </p:nvSpPr>
        <p:spPr>
          <a:xfrm>
            <a:off x="-1071" y="3249513"/>
            <a:ext cx="6096000" cy="3256441"/>
          </a:xfrm>
          <a:prstGeom prst="rect">
            <a:avLst/>
          </a:prstGeom>
          <a:solidFill>
            <a:srgbClr val="2F465A">
              <a:alpha val="4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Rectangle 10">
            <a:extLst>
              <a:ext uri="{FF2B5EF4-FFF2-40B4-BE49-F238E27FC236}">
                <a16:creationId xmlns:a16="http://schemas.microsoft.com/office/drawing/2014/main" id="{B83CE222-5DFC-E668-8B7C-ECAB17AD35A6}"/>
              </a:ext>
            </a:extLst>
          </p:cNvPr>
          <p:cNvSpPr/>
          <p:nvPr userDrawn="1"/>
        </p:nvSpPr>
        <p:spPr>
          <a:xfrm>
            <a:off x="0" y="-2406"/>
            <a:ext cx="6096000" cy="3250565"/>
          </a:xfrm>
          <a:prstGeom prst="rect">
            <a:avLst/>
          </a:prstGeom>
          <a:gradFill>
            <a:gsLst>
              <a:gs pos="53000">
                <a:srgbClr val="C00000">
                  <a:lumMod val="99000"/>
                </a:srgbClr>
              </a:gs>
              <a:gs pos="0">
                <a:srgbClr val="841618"/>
              </a:gs>
              <a:gs pos="100000">
                <a:srgbClr val="E60000"/>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6" name="Text Placeholder 73">
            <a:extLst>
              <a:ext uri="{FF2B5EF4-FFF2-40B4-BE49-F238E27FC236}">
                <a16:creationId xmlns:a16="http://schemas.microsoft.com/office/drawing/2014/main" id="{E4D908F5-9966-073B-C8E7-8164DF1D0E87}"/>
              </a:ext>
            </a:extLst>
          </p:cNvPr>
          <p:cNvSpPr>
            <a:spLocks noGrp="1"/>
          </p:cNvSpPr>
          <p:nvPr>
            <p:ph type="body" sz="quarter" idx="50"/>
          </p:nvPr>
        </p:nvSpPr>
        <p:spPr>
          <a:xfrm>
            <a:off x="556846" y="1132454"/>
            <a:ext cx="5319346" cy="1666430"/>
          </a:xfrm>
          <a:prstGeom prst="rect">
            <a:avLst/>
          </a:prstGeom>
        </p:spPr>
        <p:txBody>
          <a:bodyPr>
            <a:normAutofit/>
          </a:bodyPr>
          <a:lstStyle>
            <a:lvl1pPr marL="0" indent="0" algn="l">
              <a:lnSpc>
                <a:spcPct val="130000"/>
              </a:lnSpc>
              <a:buNone/>
              <a:defRPr sz="1400">
                <a:solidFill>
                  <a:schemeClr val="bg1"/>
                </a:solidFill>
                <a:latin typeface="Roboto" panose="02000000000000000000" pitchFamily="2" charset="0"/>
                <a:ea typeface="Roboto" panose="02000000000000000000" pitchFamily="2" charset="0"/>
              </a:defRPr>
            </a:lvl1pPr>
          </a:lstStyle>
          <a:p>
            <a:pPr lvl="0"/>
            <a:endParaRPr lang="en-ID" dirty="0"/>
          </a:p>
        </p:txBody>
      </p:sp>
      <p:sp>
        <p:nvSpPr>
          <p:cNvPr id="37" name="Text Placeholder 73">
            <a:extLst>
              <a:ext uri="{FF2B5EF4-FFF2-40B4-BE49-F238E27FC236}">
                <a16:creationId xmlns:a16="http://schemas.microsoft.com/office/drawing/2014/main" id="{1595C9CE-B8F0-1C54-B86D-DBFA2090B2E7}"/>
              </a:ext>
            </a:extLst>
          </p:cNvPr>
          <p:cNvSpPr>
            <a:spLocks noGrp="1"/>
          </p:cNvSpPr>
          <p:nvPr>
            <p:ph type="body" sz="quarter" idx="51"/>
          </p:nvPr>
        </p:nvSpPr>
        <p:spPr>
          <a:xfrm>
            <a:off x="556846" y="548054"/>
            <a:ext cx="5319346" cy="477226"/>
          </a:xfrm>
          <a:prstGeom prst="rect">
            <a:avLst/>
          </a:prstGeom>
        </p:spPr>
        <p:txBody>
          <a:bodyPr anchor="ctr">
            <a:noAutofit/>
          </a:bodyPr>
          <a:lstStyle>
            <a:lvl1pPr marL="0" indent="0" algn="l">
              <a:lnSpc>
                <a:spcPct val="130000"/>
              </a:lnSpc>
              <a:buNone/>
              <a:defRPr sz="1600" b="1">
                <a:solidFill>
                  <a:schemeClr val="bg1"/>
                </a:solidFill>
                <a:latin typeface="Roboto" panose="02000000000000000000" pitchFamily="2" charset="0"/>
                <a:ea typeface="Roboto" panose="02000000000000000000" pitchFamily="2" charset="0"/>
              </a:defRPr>
            </a:lvl1pPr>
          </a:lstStyle>
          <a:p>
            <a:pPr lvl="0"/>
            <a:endParaRPr lang="en-ID" dirty="0"/>
          </a:p>
        </p:txBody>
      </p:sp>
      <p:sp>
        <p:nvSpPr>
          <p:cNvPr id="42" name="Text Placeholder 73">
            <a:extLst>
              <a:ext uri="{FF2B5EF4-FFF2-40B4-BE49-F238E27FC236}">
                <a16:creationId xmlns:a16="http://schemas.microsoft.com/office/drawing/2014/main" id="{196F9EF2-537D-A129-A581-254B0F07EA6D}"/>
              </a:ext>
            </a:extLst>
          </p:cNvPr>
          <p:cNvSpPr>
            <a:spLocks noGrp="1"/>
          </p:cNvSpPr>
          <p:nvPr>
            <p:ph type="body" sz="quarter" idx="52"/>
          </p:nvPr>
        </p:nvSpPr>
        <p:spPr>
          <a:xfrm>
            <a:off x="6652847" y="4413967"/>
            <a:ext cx="5319346" cy="1666430"/>
          </a:xfrm>
          <a:prstGeom prst="rect">
            <a:avLst/>
          </a:prstGeom>
        </p:spPr>
        <p:txBody>
          <a:bodyPr>
            <a:normAutofit/>
          </a:bodyPr>
          <a:lstStyle>
            <a:lvl1pPr marL="0" indent="0" algn="l">
              <a:lnSpc>
                <a:spcPct val="130000"/>
              </a:lnSpc>
              <a:buNone/>
              <a:defRPr sz="1400">
                <a:solidFill>
                  <a:schemeClr val="tx1">
                    <a:lumMod val="75000"/>
                    <a:lumOff val="25000"/>
                  </a:schemeClr>
                </a:solidFill>
                <a:latin typeface="Roboto" panose="02000000000000000000" pitchFamily="2" charset="0"/>
                <a:ea typeface="Roboto" panose="02000000000000000000" pitchFamily="2" charset="0"/>
              </a:defRPr>
            </a:lvl1pPr>
          </a:lstStyle>
          <a:p>
            <a:pPr lvl="0"/>
            <a:endParaRPr lang="en-ID"/>
          </a:p>
        </p:txBody>
      </p:sp>
      <p:sp>
        <p:nvSpPr>
          <p:cNvPr id="43" name="Text Placeholder 73">
            <a:extLst>
              <a:ext uri="{FF2B5EF4-FFF2-40B4-BE49-F238E27FC236}">
                <a16:creationId xmlns:a16="http://schemas.microsoft.com/office/drawing/2014/main" id="{07F2932A-D571-5630-B378-136FA9EBF2FF}"/>
              </a:ext>
            </a:extLst>
          </p:cNvPr>
          <p:cNvSpPr>
            <a:spLocks noGrp="1"/>
          </p:cNvSpPr>
          <p:nvPr>
            <p:ph type="body" sz="quarter" idx="53"/>
          </p:nvPr>
        </p:nvSpPr>
        <p:spPr>
          <a:xfrm>
            <a:off x="6652847" y="3829567"/>
            <a:ext cx="5319346" cy="477226"/>
          </a:xfrm>
          <a:prstGeom prst="rect">
            <a:avLst/>
          </a:prstGeom>
        </p:spPr>
        <p:txBody>
          <a:bodyPr anchor="ctr">
            <a:noAutofit/>
          </a:bodyPr>
          <a:lstStyle>
            <a:lvl1pPr marL="0" indent="0" algn="l">
              <a:lnSpc>
                <a:spcPct val="130000"/>
              </a:lnSpc>
              <a:buNone/>
              <a:defRPr sz="1600" b="1">
                <a:solidFill>
                  <a:schemeClr val="tx1">
                    <a:lumMod val="75000"/>
                    <a:lumOff val="25000"/>
                  </a:schemeClr>
                </a:solidFill>
                <a:latin typeface="Roboto" panose="02000000000000000000" pitchFamily="2" charset="0"/>
                <a:ea typeface="Roboto" panose="02000000000000000000" pitchFamily="2" charset="0"/>
              </a:defRPr>
            </a:lvl1pPr>
          </a:lstStyle>
          <a:p>
            <a:pPr lvl="0"/>
            <a:endParaRPr lang="en-ID" dirty="0"/>
          </a:p>
        </p:txBody>
      </p:sp>
      <p:sp>
        <p:nvSpPr>
          <p:cNvPr id="46" name="Half Frame 45">
            <a:extLst>
              <a:ext uri="{FF2B5EF4-FFF2-40B4-BE49-F238E27FC236}">
                <a16:creationId xmlns:a16="http://schemas.microsoft.com/office/drawing/2014/main" id="{A3EC98CA-70CE-5304-7A68-58DF23D0910C}"/>
              </a:ext>
            </a:extLst>
          </p:cNvPr>
          <p:cNvSpPr/>
          <p:nvPr userDrawn="1"/>
        </p:nvSpPr>
        <p:spPr>
          <a:xfrm rot="10800000">
            <a:off x="6167264" y="3336474"/>
            <a:ext cx="532205" cy="532205"/>
          </a:xfrm>
          <a:prstGeom prst="halfFrame">
            <a:avLst>
              <a:gd name="adj1" fmla="val 12506"/>
              <a:gd name="adj2" fmla="val 13808"/>
            </a:avLst>
          </a:prstGeom>
          <a:gradFill>
            <a:gsLst>
              <a:gs pos="68000">
                <a:srgbClr val="C00000">
                  <a:lumMod val="99000"/>
                </a:srgbClr>
              </a:gs>
              <a:gs pos="0">
                <a:srgbClr val="841618"/>
              </a:gs>
              <a:gs pos="100000">
                <a:srgbClr val="E60000"/>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tx1"/>
              </a:solidFill>
            </a:endParaRPr>
          </a:p>
        </p:txBody>
      </p:sp>
      <p:sp>
        <p:nvSpPr>
          <p:cNvPr id="47" name="Half Frame 46">
            <a:extLst>
              <a:ext uri="{FF2B5EF4-FFF2-40B4-BE49-F238E27FC236}">
                <a16:creationId xmlns:a16="http://schemas.microsoft.com/office/drawing/2014/main" id="{82AA6FFF-5116-DAEE-A075-B101FF25D1A8}"/>
              </a:ext>
            </a:extLst>
          </p:cNvPr>
          <p:cNvSpPr/>
          <p:nvPr userDrawn="1"/>
        </p:nvSpPr>
        <p:spPr>
          <a:xfrm>
            <a:off x="5458082" y="2593134"/>
            <a:ext cx="532205" cy="532205"/>
          </a:xfrm>
          <a:prstGeom prst="halfFrame">
            <a:avLst>
              <a:gd name="adj1" fmla="val 12506"/>
              <a:gd name="adj2" fmla="val 1380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tx1"/>
              </a:solidFill>
            </a:endParaRPr>
          </a:p>
        </p:txBody>
      </p:sp>
      <p:pic>
        <p:nvPicPr>
          <p:cNvPr id="49" name="Picture 48">
            <a:extLst>
              <a:ext uri="{FF2B5EF4-FFF2-40B4-BE49-F238E27FC236}">
                <a16:creationId xmlns:a16="http://schemas.microsoft.com/office/drawing/2014/main" id="{2D7FF92B-B68B-09E6-CA69-0833DD353EF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523226" y="2665799"/>
            <a:ext cx="1126660" cy="1126660"/>
          </a:xfrm>
          <a:prstGeom prst="rect">
            <a:avLst/>
          </a:prstGeom>
        </p:spPr>
      </p:pic>
    </p:spTree>
    <p:extLst>
      <p:ext uri="{BB962C8B-B14F-4D97-AF65-F5344CB8AC3E}">
        <p14:creationId xmlns:p14="http://schemas.microsoft.com/office/powerpoint/2010/main" val="2028109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1">
    <p:bg>
      <p:bgPr>
        <a:blipFill dpi="0" rotWithShape="1">
          <a:blip r:embed="rId2">
            <a:lum/>
          </a:blip>
          <a:srcRect/>
          <a:stretch>
            <a:fillRect b="-9000"/>
          </a:stretch>
        </a:blip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28C4497C-2285-4EBC-A0D3-6751A1C45A17}"/>
              </a:ext>
            </a:extLst>
          </p:cNvPr>
          <p:cNvSpPr/>
          <p:nvPr userDrawn="1"/>
        </p:nvSpPr>
        <p:spPr>
          <a:xfrm>
            <a:off x="8320437" y="27838"/>
            <a:ext cx="3883277" cy="6855808"/>
          </a:xfrm>
          <a:custGeom>
            <a:avLst/>
            <a:gdLst>
              <a:gd name="connsiteX0" fmla="*/ 658177 w 657225"/>
              <a:gd name="connsiteY0" fmla="*/ 826770 h 819150"/>
              <a:gd name="connsiteX1" fmla="*/ 658177 w 657225"/>
              <a:gd name="connsiteY1" fmla="*/ 0 h 819150"/>
              <a:gd name="connsiteX2" fmla="*/ 0 w 657225"/>
              <a:gd name="connsiteY2" fmla="*/ 826770 h 819150"/>
              <a:gd name="connsiteX0" fmla="*/ 315602 w 315602"/>
              <a:gd name="connsiteY0" fmla="*/ 826770 h 829468"/>
              <a:gd name="connsiteX1" fmla="*/ 315602 w 315602"/>
              <a:gd name="connsiteY1" fmla="*/ 0 h 829468"/>
              <a:gd name="connsiteX2" fmla="*/ 0 w 315602"/>
              <a:gd name="connsiteY2" fmla="*/ 829468 h 829468"/>
              <a:gd name="connsiteX3" fmla="*/ 315602 w 315602"/>
              <a:gd name="connsiteY3" fmla="*/ 826770 h 829468"/>
            </a:gdLst>
            <a:ahLst/>
            <a:cxnLst>
              <a:cxn ang="0">
                <a:pos x="connsiteX0" y="connsiteY0"/>
              </a:cxn>
              <a:cxn ang="0">
                <a:pos x="connsiteX1" y="connsiteY1"/>
              </a:cxn>
              <a:cxn ang="0">
                <a:pos x="connsiteX2" y="connsiteY2"/>
              </a:cxn>
              <a:cxn ang="0">
                <a:pos x="connsiteX3" y="connsiteY3"/>
              </a:cxn>
            </a:cxnLst>
            <a:rect l="l" t="t" r="r" b="b"/>
            <a:pathLst>
              <a:path w="315602" h="829468">
                <a:moveTo>
                  <a:pt x="315602" y="826770"/>
                </a:moveTo>
                <a:lnTo>
                  <a:pt x="315602" y="0"/>
                </a:lnTo>
                <a:lnTo>
                  <a:pt x="0" y="829468"/>
                </a:lnTo>
                <a:cubicBezTo>
                  <a:pt x="219392" y="829468"/>
                  <a:pt x="96210" y="826770"/>
                  <a:pt x="315602" y="826770"/>
                </a:cubicBezTo>
                <a:close/>
              </a:path>
            </a:pathLst>
          </a:custGeom>
          <a:gradFill>
            <a:gsLst>
              <a:gs pos="23000">
                <a:srgbClr val="C00000"/>
              </a:gs>
              <a:gs pos="100000">
                <a:srgbClr val="841618"/>
              </a:gs>
              <a:gs pos="0">
                <a:srgbClr val="D60000"/>
              </a:gs>
            </a:gsLst>
            <a:lin ang="10800000" scaled="1"/>
          </a:gradFill>
          <a:ln w="9525" cap="flat">
            <a:noFill/>
            <a:prstDash val="solid"/>
            <a:miter/>
          </a:ln>
        </p:spPr>
        <p:txBody>
          <a:bodyPr rtlCol="0" anchor="ctr"/>
          <a:lstStyle/>
          <a:p>
            <a:endParaRPr lang="en-ID" dirty="0"/>
          </a:p>
        </p:txBody>
      </p:sp>
      <p:sp>
        <p:nvSpPr>
          <p:cNvPr id="21" name="Freeform: Shape 20">
            <a:extLst>
              <a:ext uri="{FF2B5EF4-FFF2-40B4-BE49-F238E27FC236}">
                <a16:creationId xmlns:a16="http://schemas.microsoft.com/office/drawing/2014/main" id="{03E1D31A-B631-40E3-81AC-4D0F0E092E54}"/>
              </a:ext>
            </a:extLst>
          </p:cNvPr>
          <p:cNvSpPr/>
          <p:nvPr/>
        </p:nvSpPr>
        <p:spPr>
          <a:xfrm>
            <a:off x="1492" y="-4268"/>
            <a:ext cx="12200668" cy="6894519"/>
          </a:xfrm>
          <a:custGeom>
            <a:avLst/>
            <a:gdLst>
              <a:gd name="connsiteX0" fmla="*/ 0 w 12200668"/>
              <a:gd name="connsiteY0" fmla="*/ 0 h 6848233"/>
              <a:gd name="connsiteX1" fmla="*/ 12200668 w 12200668"/>
              <a:gd name="connsiteY1" fmla="*/ 0 h 6848233"/>
              <a:gd name="connsiteX2" fmla="*/ 12200668 w 12200668"/>
              <a:gd name="connsiteY2" fmla="*/ 1720683 h 6848233"/>
              <a:gd name="connsiteX3" fmla="*/ 10204298 w 12200668"/>
              <a:gd name="connsiteY3" fmla="*/ 1720683 h 6848233"/>
              <a:gd name="connsiteX4" fmla="*/ 4923025 w 12200668"/>
              <a:gd name="connsiteY4" fmla="*/ 6217303 h 6848233"/>
              <a:gd name="connsiteX5" fmla="*/ 5610631 w 12200668"/>
              <a:gd name="connsiteY5" fmla="*/ 6846243 h 6848233"/>
              <a:gd name="connsiteX6" fmla="*/ 12200668 w 12200668"/>
              <a:gd name="connsiteY6" fmla="*/ 6846243 h 6848233"/>
              <a:gd name="connsiteX7" fmla="*/ 12200668 w 12200668"/>
              <a:gd name="connsiteY7" fmla="*/ 6848233 h 6848233"/>
              <a:gd name="connsiteX8" fmla="*/ 0 w 12200668"/>
              <a:gd name="connsiteY8" fmla="*/ 6848233 h 6848233"/>
              <a:gd name="connsiteX0" fmla="*/ 0 w 12200668"/>
              <a:gd name="connsiteY0" fmla="*/ 0 h 6868015"/>
              <a:gd name="connsiteX1" fmla="*/ 12200668 w 12200668"/>
              <a:gd name="connsiteY1" fmla="*/ 0 h 6868015"/>
              <a:gd name="connsiteX2" fmla="*/ 12200668 w 12200668"/>
              <a:gd name="connsiteY2" fmla="*/ 1720683 h 6868015"/>
              <a:gd name="connsiteX3" fmla="*/ 10204298 w 12200668"/>
              <a:gd name="connsiteY3" fmla="*/ 1720683 h 6868015"/>
              <a:gd name="connsiteX4" fmla="*/ 4923025 w 12200668"/>
              <a:gd name="connsiteY4" fmla="*/ 6217303 h 6868015"/>
              <a:gd name="connsiteX5" fmla="*/ 8310288 w 12200668"/>
              <a:gd name="connsiteY5" fmla="*/ 6868015 h 6868015"/>
              <a:gd name="connsiteX6" fmla="*/ 12200668 w 12200668"/>
              <a:gd name="connsiteY6" fmla="*/ 6846243 h 6868015"/>
              <a:gd name="connsiteX7" fmla="*/ 12200668 w 12200668"/>
              <a:gd name="connsiteY7" fmla="*/ 6848233 h 6868015"/>
              <a:gd name="connsiteX8" fmla="*/ 0 w 12200668"/>
              <a:gd name="connsiteY8" fmla="*/ 6848233 h 6868015"/>
              <a:gd name="connsiteX9" fmla="*/ 0 w 12200668"/>
              <a:gd name="connsiteY9" fmla="*/ 0 h 6868015"/>
              <a:gd name="connsiteX0" fmla="*/ 0 w 12200668"/>
              <a:gd name="connsiteY0" fmla="*/ 0 h 6868015"/>
              <a:gd name="connsiteX1" fmla="*/ 12200668 w 12200668"/>
              <a:gd name="connsiteY1" fmla="*/ 0 h 6868015"/>
              <a:gd name="connsiteX2" fmla="*/ 12200668 w 12200668"/>
              <a:gd name="connsiteY2" fmla="*/ 1720683 h 6868015"/>
              <a:gd name="connsiteX3" fmla="*/ 10204298 w 12200668"/>
              <a:gd name="connsiteY3" fmla="*/ 1720683 h 6868015"/>
              <a:gd name="connsiteX4" fmla="*/ 9070482 w 12200668"/>
              <a:gd name="connsiteY4" fmla="*/ 5575046 h 6868015"/>
              <a:gd name="connsiteX5" fmla="*/ 8310288 w 12200668"/>
              <a:gd name="connsiteY5" fmla="*/ 6868015 h 6868015"/>
              <a:gd name="connsiteX6" fmla="*/ 12200668 w 12200668"/>
              <a:gd name="connsiteY6" fmla="*/ 6846243 h 6868015"/>
              <a:gd name="connsiteX7" fmla="*/ 12200668 w 12200668"/>
              <a:gd name="connsiteY7" fmla="*/ 6848233 h 6868015"/>
              <a:gd name="connsiteX8" fmla="*/ 0 w 12200668"/>
              <a:gd name="connsiteY8" fmla="*/ 6848233 h 6868015"/>
              <a:gd name="connsiteX9" fmla="*/ 0 w 12200668"/>
              <a:gd name="connsiteY9" fmla="*/ 0 h 6868015"/>
              <a:gd name="connsiteX0" fmla="*/ 0 w 12200668"/>
              <a:gd name="connsiteY0" fmla="*/ 0 h 6868015"/>
              <a:gd name="connsiteX1" fmla="*/ 12200668 w 12200668"/>
              <a:gd name="connsiteY1" fmla="*/ 0 h 6868015"/>
              <a:gd name="connsiteX2" fmla="*/ 12200668 w 12200668"/>
              <a:gd name="connsiteY2" fmla="*/ 1720683 h 6868015"/>
              <a:gd name="connsiteX3" fmla="*/ 11238441 w 12200668"/>
              <a:gd name="connsiteY3" fmla="*/ 1720683 h 6868015"/>
              <a:gd name="connsiteX4" fmla="*/ 9070482 w 12200668"/>
              <a:gd name="connsiteY4" fmla="*/ 5575046 h 6868015"/>
              <a:gd name="connsiteX5" fmla="*/ 8310288 w 12200668"/>
              <a:gd name="connsiteY5" fmla="*/ 6868015 h 6868015"/>
              <a:gd name="connsiteX6" fmla="*/ 12200668 w 12200668"/>
              <a:gd name="connsiteY6" fmla="*/ 6846243 h 6868015"/>
              <a:gd name="connsiteX7" fmla="*/ 12200668 w 12200668"/>
              <a:gd name="connsiteY7" fmla="*/ 6848233 h 6868015"/>
              <a:gd name="connsiteX8" fmla="*/ 0 w 12200668"/>
              <a:gd name="connsiteY8" fmla="*/ 6848233 h 6868015"/>
              <a:gd name="connsiteX9" fmla="*/ 0 w 12200668"/>
              <a:gd name="connsiteY9" fmla="*/ 0 h 6868015"/>
              <a:gd name="connsiteX0" fmla="*/ 0 w 12200668"/>
              <a:gd name="connsiteY0" fmla="*/ 0 h 6868015"/>
              <a:gd name="connsiteX1" fmla="*/ 12200668 w 12200668"/>
              <a:gd name="connsiteY1" fmla="*/ 0 h 6868015"/>
              <a:gd name="connsiteX2" fmla="*/ 12200668 w 12200668"/>
              <a:gd name="connsiteY2" fmla="*/ 1720683 h 6868015"/>
              <a:gd name="connsiteX3" fmla="*/ 11238441 w 12200668"/>
              <a:gd name="connsiteY3" fmla="*/ 1727309 h 6868015"/>
              <a:gd name="connsiteX4" fmla="*/ 9070482 w 12200668"/>
              <a:gd name="connsiteY4" fmla="*/ 5575046 h 6868015"/>
              <a:gd name="connsiteX5" fmla="*/ 8310288 w 12200668"/>
              <a:gd name="connsiteY5" fmla="*/ 6868015 h 6868015"/>
              <a:gd name="connsiteX6" fmla="*/ 12200668 w 12200668"/>
              <a:gd name="connsiteY6" fmla="*/ 6846243 h 6868015"/>
              <a:gd name="connsiteX7" fmla="*/ 12200668 w 12200668"/>
              <a:gd name="connsiteY7" fmla="*/ 6848233 h 6868015"/>
              <a:gd name="connsiteX8" fmla="*/ 0 w 12200668"/>
              <a:gd name="connsiteY8" fmla="*/ 6848233 h 6868015"/>
              <a:gd name="connsiteX9" fmla="*/ 0 w 12200668"/>
              <a:gd name="connsiteY9" fmla="*/ 0 h 6868015"/>
              <a:gd name="connsiteX0" fmla="*/ 0 w 12200668"/>
              <a:gd name="connsiteY0" fmla="*/ 0 h 6894519"/>
              <a:gd name="connsiteX1" fmla="*/ 12200668 w 12200668"/>
              <a:gd name="connsiteY1" fmla="*/ 0 h 6894519"/>
              <a:gd name="connsiteX2" fmla="*/ 12200668 w 12200668"/>
              <a:gd name="connsiteY2" fmla="*/ 1720683 h 6894519"/>
              <a:gd name="connsiteX3" fmla="*/ 11238441 w 12200668"/>
              <a:gd name="connsiteY3" fmla="*/ 1727309 h 6894519"/>
              <a:gd name="connsiteX4" fmla="*/ 9070482 w 12200668"/>
              <a:gd name="connsiteY4" fmla="*/ 5575046 h 6894519"/>
              <a:gd name="connsiteX5" fmla="*/ 8323540 w 12200668"/>
              <a:gd name="connsiteY5" fmla="*/ 6894519 h 6894519"/>
              <a:gd name="connsiteX6" fmla="*/ 12200668 w 12200668"/>
              <a:gd name="connsiteY6" fmla="*/ 6846243 h 6894519"/>
              <a:gd name="connsiteX7" fmla="*/ 12200668 w 12200668"/>
              <a:gd name="connsiteY7" fmla="*/ 6848233 h 6894519"/>
              <a:gd name="connsiteX8" fmla="*/ 0 w 12200668"/>
              <a:gd name="connsiteY8" fmla="*/ 6848233 h 6894519"/>
              <a:gd name="connsiteX9" fmla="*/ 0 w 12200668"/>
              <a:gd name="connsiteY9" fmla="*/ 0 h 6894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0668" h="6894519">
                <a:moveTo>
                  <a:pt x="0" y="0"/>
                </a:moveTo>
                <a:lnTo>
                  <a:pt x="12200668" y="0"/>
                </a:lnTo>
                <a:lnTo>
                  <a:pt x="12200668" y="1720683"/>
                </a:lnTo>
                <a:lnTo>
                  <a:pt x="11238441" y="1727309"/>
                </a:lnTo>
                <a:lnTo>
                  <a:pt x="9070482" y="5575046"/>
                </a:lnTo>
                <a:lnTo>
                  <a:pt x="8323540" y="6894519"/>
                </a:lnTo>
                <a:lnTo>
                  <a:pt x="12200668" y="6846243"/>
                </a:lnTo>
                <a:lnTo>
                  <a:pt x="12200668" y="6848233"/>
                </a:lnTo>
                <a:lnTo>
                  <a:pt x="0" y="6848233"/>
                </a:lnTo>
                <a:lnTo>
                  <a:pt x="0" y="0"/>
                </a:lnTo>
                <a:close/>
              </a:path>
            </a:pathLst>
          </a:custGeom>
          <a:solidFill>
            <a:schemeClr val="bg1">
              <a:lumMod val="85000"/>
              <a:alpha val="22000"/>
            </a:schemeClr>
          </a:solidFill>
          <a:ln w="9525" cap="flat">
            <a:noFill/>
            <a:prstDash val="solid"/>
            <a:miter/>
          </a:ln>
        </p:spPr>
        <p:txBody>
          <a:bodyPr rtlCol="0" anchor="ctr"/>
          <a:lstStyle/>
          <a:p>
            <a:endParaRPr lang="en-ID" dirty="0"/>
          </a:p>
        </p:txBody>
      </p:sp>
      <p:sp>
        <p:nvSpPr>
          <p:cNvPr id="7" name="Freeform: Shape 6">
            <a:extLst>
              <a:ext uri="{FF2B5EF4-FFF2-40B4-BE49-F238E27FC236}">
                <a16:creationId xmlns:a16="http://schemas.microsoft.com/office/drawing/2014/main" id="{63D4E1F4-11BD-4C18-99AC-62A1F775EB7B}"/>
              </a:ext>
            </a:extLst>
          </p:cNvPr>
          <p:cNvSpPr/>
          <p:nvPr/>
        </p:nvSpPr>
        <p:spPr>
          <a:xfrm>
            <a:off x="11245319" y="20000"/>
            <a:ext cx="955348" cy="1700682"/>
          </a:xfrm>
          <a:custGeom>
            <a:avLst/>
            <a:gdLst>
              <a:gd name="connsiteX0" fmla="*/ 658177 w 657225"/>
              <a:gd name="connsiteY0" fmla="*/ 826770 h 819150"/>
              <a:gd name="connsiteX1" fmla="*/ 658177 w 657225"/>
              <a:gd name="connsiteY1" fmla="*/ 0 h 819150"/>
              <a:gd name="connsiteX2" fmla="*/ 0 w 657225"/>
              <a:gd name="connsiteY2" fmla="*/ 826770 h 819150"/>
              <a:gd name="connsiteX0" fmla="*/ 308917 w 308917"/>
              <a:gd name="connsiteY0" fmla="*/ 826770 h 826770"/>
              <a:gd name="connsiteX1" fmla="*/ 308917 w 308917"/>
              <a:gd name="connsiteY1" fmla="*/ 0 h 826770"/>
              <a:gd name="connsiteX2" fmla="*/ 0 w 308917"/>
              <a:gd name="connsiteY2" fmla="*/ 826770 h 826770"/>
              <a:gd name="connsiteX3" fmla="*/ 308917 w 308917"/>
              <a:gd name="connsiteY3" fmla="*/ 826770 h 826770"/>
              <a:gd name="connsiteX0" fmla="*/ 314966 w 314966"/>
              <a:gd name="connsiteY0" fmla="*/ 826770 h 826770"/>
              <a:gd name="connsiteX1" fmla="*/ 314966 w 314966"/>
              <a:gd name="connsiteY1" fmla="*/ 0 h 826770"/>
              <a:gd name="connsiteX2" fmla="*/ 0 w 314966"/>
              <a:gd name="connsiteY2" fmla="*/ 826770 h 826770"/>
              <a:gd name="connsiteX3" fmla="*/ 314966 w 314966"/>
              <a:gd name="connsiteY3" fmla="*/ 826770 h 826770"/>
            </a:gdLst>
            <a:ahLst/>
            <a:cxnLst>
              <a:cxn ang="0">
                <a:pos x="connsiteX0" y="connsiteY0"/>
              </a:cxn>
              <a:cxn ang="0">
                <a:pos x="connsiteX1" y="connsiteY1"/>
              </a:cxn>
              <a:cxn ang="0">
                <a:pos x="connsiteX2" y="connsiteY2"/>
              </a:cxn>
              <a:cxn ang="0">
                <a:pos x="connsiteX3" y="connsiteY3"/>
              </a:cxn>
            </a:cxnLst>
            <a:rect l="l" t="t" r="r" b="b"/>
            <a:pathLst>
              <a:path w="314966" h="826770">
                <a:moveTo>
                  <a:pt x="314966" y="826770"/>
                </a:moveTo>
                <a:lnTo>
                  <a:pt x="314966" y="0"/>
                </a:lnTo>
                <a:lnTo>
                  <a:pt x="0" y="826770"/>
                </a:lnTo>
                <a:lnTo>
                  <a:pt x="314966" y="826770"/>
                </a:lnTo>
                <a:close/>
              </a:path>
            </a:pathLst>
          </a:custGeom>
          <a:gradFill>
            <a:gsLst>
              <a:gs pos="49410">
                <a:srgbClr val="C00000"/>
              </a:gs>
              <a:gs pos="0">
                <a:srgbClr val="841618"/>
              </a:gs>
              <a:gs pos="90000">
                <a:srgbClr val="D60000"/>
              </a:gs>
            </a:gsLst>
            <a:lin ang="16200000" scaled="1"/>
          </a:gradFill>
          <a:ln w="9525" cap="flat">
            <a:noFill/>
            <a:prstDash val="solid"/>
            <a:miter/>
          </a:ln>
        </p:spPr>
        <p:txBody>
          <a:bodyPr rtlCol="0" anchor="ctr"/>
          <a:lstStyle/>
          <a:p>
            <a:endParaRPr lang="en-ID" dirty="0"/>
          </a:p>
        </p:txBody>
      </p:sp>
      <p:sp>
        <p:nvSpPr>
          <p:cNvPr id="12" name="Title 1">
            <a:extLst>
              <a:ext uri="{FF2B5EF4-FFF2-40B4-BE49-F238E27FC236}">
                <a16:creationId xmlns:a16="http://schemas.microsoft.com/office/drawing/2014/main" id="{64E594D8-9229-43B2-A502-9E33B8CDF6F7}"/>
              </a:ext>
            </a:extLst>
          </p:cNvPr>
          <p:cNvSpPr>
            <a:spLocks noGrp="1"/>
          </p:cNvSpPr>
          <p:nvPr>
            <p:ph type="title" hasCustomPrompt="1"/>
          </p:nvPr>
        </p:nvSpPr>
        <p:spPr>
          <a:xfrm>
            <a:off x="725715" y="2565069"/>
            <a:ext cx="6937828" cy="639947"/>
          </a:xfrm>
          <a:prstGeom prst="rect">
            <a:avLst/>
          </a:prstGeom>
        </p:spPr>
        <p:txBody>
          <a:bodyPr anchor="ctr"/>
          <a:lstStyle>
            <a:lvl1pPr>
              <a:defRPr sz="4000" b="1">
                <a:solidFill>
                  <a:schemeClr val="bg1"/>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3" name="Text Placeholder 17">
            <a:extLst>
              <a:ext uri="{FF2B5EF4-FFF2-40B4-BE49-F238E27FC236}">
                <a16:creationId xmlns:a16="http://schemas.microsoft.com/office/drawing/2014/main" id="{8D2B3B87-22B1-448C-A85D-956799FCF492}"/>
              </a:ext>
            </a:extLst>
          </p:cNvPr>
          <p:cNvSpPr>
            <a:spLocks noGrp="1"/>
          </p:cNvSpPr>
          <p:nvPr>
            <p:ph type="body" sz="quarter" idx="14" hasCustomPrompt="1"/>
          </p:nvPr>
        </p:nvSpPr>
        <p:spPr>
          <a:xfrm>
            <a:off x="725715" y="3298921"/>
            <a:ext cx="6937828" cy="366598"/>
          </a:xfrm>
          <a:prstGeom prst="rect">
            <a:avLst/>
          </a:prstGeom>
        </p:spPr>
        <p:txBody>
          <a:bodyPr vert="horz" anchor="ctr"/>
          <a:lstStyle>
            <a:lvl1pPr marL="0" indent="0">
              <a:buFontTx/>
              <a:buNone/>
              <a:defRPr sz="16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dirty="0"/>
              <a:t>Subheading</a:t>
            </a:r>
          </a:p>
        </p:txBody>
      </p:sp>
    </p:spTree>
    <p:extLst>
      <p:ext uri="{BB962C8B-B14F-4D97-AF65-F5344CB8AC3E}">
        <p14:creationId xmlns:p14="http://schemas.microsoft.com/office/powerpoint/2010/main" val="1543338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831DC-8291-4E49-AFD8-EEEC59B24461}"/>
              </a:ext>
            </a:extLst>
          </p:cNvPr>
          <p:cNvSpPr>
            <a:spLocks noGrp="1"/>
          </p:cNvSpPr>
          <p:nvPr>
            <p:ph type="title" hasCustomPrompt="1"/>
          </p:nvPr>
        </p:nvSpPr>
        <p:spPr>
          <a:xfrm>
            <a:off x="672962" y="3011436"/>
            <a:ext cx="6937828" cy="1985872"/>
          </a:xfrm>
          <a:prstGeom prst="rect">
            <a:avLst/>
          </a:prstGeom>
        </p:spPr>
        <p:txBody>
          <a:bodyPr anchor="ctr"/>
          <a:lstStyle>
            <a:lvl1pPr>
              <a:defRPr sz="4000" b="1">
                <a:solidFill>
                  <a:schemeClr val="bg1"/>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3" name="Text Placeholder 17">
            <a:extLst>
              <a:ext uri="{FF2B5EF4-FFF2-40B4-BE49-F238E27FC236}">
                <a16:creationId xmlns:a16="http://schemas.microsoft.com/office/drawing/2014/main" id="{969921DE-9821-3821-75C9-C9790FC5F5F2}"/>
              </a:ext>
            </a:extLst>
          </p:cNvPr>
          <p:cNvSpPr>
            <a:spLocks noGrp="1"/>
          </p:cNvSpPr>
          <p:nvPr>
            <p:ph type="body" sz="quarter" idx="14" hasCustomPrompt="1"/>
          </p:nvPr>
        </p:nvSpPr>
        <p:spPr>
          <a:xfrm>
            <a:off x="672962" y="4365721"/>
            <a:ext cx="6937828" cy="366598"/>
          </a:xfrm>
          <a:prstGeom prst="rect">
            <a:avLst/>
          </a:prstGeom>
        </p:spPr>
        <p:txBody>
          <a:bodyPr vert="horz" anchor="ctr"/>
          <a:lstStyle>
            <a:lvl1pPr marL="0" indent="0">
              <a:buFontTx/>
              <a:buNone/>
              <a:defRPr sz="16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dirty="0"/>
              <a:t>Subheading</a:t>
            </a:r>
          </a:p>
        </p:txBody>
      </p:sp>
    </p:spTree>
    <p:extLst>
      <p:ext uri="{BB962C8B-B14F-4D97-AF65-F5344CB8AC3E}">
        <p14:creationId xmlns:p14="http://schemas.microsoft.com/office/powerpoint/2010/main" val="1250525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831DC-8291-4E49-AFD8-EEEC59B24461}"/>
              </a:ext>
            </a:extLst>
          </p:cNvPr>
          <p:cNvSpPr>
            <a:spLocks noGrp="1"/>
          </p:cNvSpPr>
          <p:nvPr>
            <p:ph type="title" hasCustomPrompt="1"/>
          </p:nvPr>
        </p:nvSpPr>
        <p:spPr>
          <a:xfrm>
            <a:off x="5539602" y="2182973"/>
            <a:ext cx="4986158" cy="631587"/>
          </a:xfrm>
          <a:prstGeom prst="rect">
            <a:avLst/>
          </a:prstGeom>
        </p:spPr>
        <p:txBody>
          <a:bodyPr anchor="ctr"/>
          <a:lstStyle>
            <a:lvl1pPr>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3" name="Text Placeholder 17">
            <a:extLst>
              <a:ext uri="{FF2B5EF4-FFF2-40B4-BE49-F238E27FC236}">
                <a16:creationId xmlns:a16="http://schemas.microsoft.com/office/drawing/2014/main" id="{969921DE-9821-3821-75C9-C9790FC5F5F2}"/>
              </a:ext>
            </a:extLst>
          </p:cNvPr>
          <p:cNvSpPr>
            <a:spLocks noGrp="1"/>
          </p:cNvSpPr>
          <p:nvPr>
            <p:ph type="body" sz="quarter" idx="14" hasCustomPrompt="1"/>
          </p:nvPr>
        </p:nvSpPr>
        <p:spPr>
          <a:xfrm>
            <a:off x="5539602" y="2857201"/>
            <a:ext cx="4986158" cy="366598"/>
          </a:xfrm>
          <a:prstGeom prst="rect">
            <a:avLst/>
          </a:prstGeom>
        </p:spPr>
        <p:txBody>
          <a:bodyPr vert="horz" anchor="ctr"/>
          <a:lstStyle>
            <a:lvl1pPr marL="0" indent="0">
              <a:buFontTx/>
              <a:buNone/>
              <a:defRPr sz="1600" b="1" i="0" cap="all" baseline="0">
                <a:solidFill>
                  <a:schemeClr val="tx1">
                    <a:lumMod val="75000"/>
                    <a:lumOff val="25000"/>
                  </a:schemeClr>
                </a:solidFill>
                <a:latin typeface="Roboto" panose="02000000000000000000" pitchFamily="2" charset="0"/>
                <a:ea typeface="Roboto" panose="02000000000000000000" pitchFamily="2" charset="0"/>
                <a:cs typeface="Arial" pitchFamily="34" charset="0"/>
              </a:defRPr>
            </a:lvl1pPr>
          </a:lstStyle>
          <a:p>
            <a:pPr lvl="0"/>
            <a:r>
              <a:rPr lang="en-US" dirty="0"/>
              <a:t>Subheading</a:t>
            </a:r>
          </a:p>
        </p:txBody>
      </p:sp>
      <p:sp>
        <p:nvSpPr>
          <p:cNvPr id="4" name="Text Placeholder 73">
            <a:extLst>
              <a:ext uri="{FF2B5EF4-FFF2-40B4-BE49-F238E27FC236}">
                <a16:creationId xmlns:a16="http://schemas.microsoft.com/office/drawing/2014/main" id="{6532D6B6-2E91-41E9-D3C1-F5D336195CA2}"/>
              </a:ext>
            </a:extLst>
          </p:cNvPr>
          <p:cNvSpPr>
            <a:spLocks noGrp="1"/>
          </p:cNvSpPr>
          <p:nvPr>
            <p:ph type="body" sz="quarter" idx="29"/>
          </p:nvPr>
        </p:nvSpPr>
        <p:spPr>
          <a:xfrm>
            <a:off x="5539603" y="3429000"/>
            <a:ext cx="5575438" cy="1894840"/>
          </a:xfrm>
          <a:prstGeom prst="rect">
            <a:avLst/>
          </a:prstGeom>
        </p:spPr>
        <p:txBody>
          <a:bodyPr>
            <a:normAutofit/>
          </a:bodyPr>
          <a:lstStyle>
            <a:lvl1pPr marL="0" indent="0" algn="l">
              <a:lnSpc>
                <a:spcPct val="130000"/>
              </a:lnSpc>
              <a:buNone/>
              <a:defRPr sz="1400">
                <a:solidFill>
                  <a:schemeClr val="tx1"/>
                </a:solidFill>
                <a:latin typeface="Roboto" panose="02000000000000000000" pitchFamily="2" charset="0"/>
                <a:ea typeface="Roboto" panose="02000000000000000000" pitchFamily="2" charset="0"/>
              </a:defRPr>
            </a:lvl1pPr>
          </a:lstStyle>
          <a:p>
            <a:pPr lvl="0"/>
            <a:endParaRPr lang="en-ID" dirty="0"/>
          </a:p>
        </p:txBody>
      </p:sp>
    </p:spTree>
    <p:extLst>
      <p:ext uri="{BB962C8B-B14F-4D97-AF65-F5344CB8AC3E}">
        <p14:creationId xmlns:p14="http://schemas.microsoft.com/office/powerpoint/2010/main" val="3390115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4">
    <p:bg>
      <p:bgPr>
        <a:blipFill dpi="0" rotWithShape="1">
          <a:blip r:embed="rId2">
            <a:lum/>
          </a:blip>
          <a:srcRect/>
          <a:stretch>
            <a:fillRect t="-61000" b="-61000"/>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778F6A1-B205-4BB3-9594-2F4B6DBDD2BF}"/>
              </a:ext>
            </a:extLst>
          </p:cNvPr>
          <p:cNvSpPr/>
          <p:nvPr userDrawn="1"/>
        </p:nvSpPr>
        <p:spPr>
          <a:xfrm>
            <a:off x="0" y="0"/>
            <a:ext cx="12192000" cy="3193144"/>
          </a:xfrm>
          <a:prstGeom prst="rect">
            <a:avLst/>
          </a:prstGeom>
          <a:gradFill>
            <a:gsLst>
              <a:gs pos="46000">
                <a:srgbClr val="2F465A">
                  <a:alpha val="68000"/>
                </a:srgbClr>
              </a:gs>
              <a:gs pos="0">
                <a:schemeClr val="tx2">
                  <a:lumMod val="50000"/>
                  <a:alpha val="93000"/>
                </a:schemeClr>
              </a:gs>
              <a:gs pos="100000">
                <a:schemeClr val="tx2">
                  <a:lumMod val="60000"/>
                  <a:lumOff val="40000"/>
                  <a:alpha val="8200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endParaRPr>
          </a:p>
        </p:txBody>
      </p:sp>
      <p:sp>
        <p:nvSpPr>
          <p:cNvPr id="4" name="Rectangle 3">
            <a:extLst>
              <a:ext uri="{FF2B5EF4-FFF2-40B4-BE49-F238E27FC236}">
                <a16:creationId xmlns:a16="http://schemas.microsoft.com/office/drawing/2014/main" id="{99549B3F-34F4-4120-BB3A-06754E7F299D}"/>
              </a:ext>
            </a:extLst>
          </p:cNvPr>
          <p:cNvSpPr/>
          <p:nvPr userDrawn="1"/>
        </p:nvSpPr>
        <p:spPr>
          <a:xfrm>
            <a:off x="0" y="3193144"/>
            <a:ext cx="12192000" cy="36648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3" name="Rectangle 2">
            <a:extLst>
              <a:ext uri="{FF2B5EF4-FFF2-40B4-BE49-F238E27FC236}">
                <a16:creationId xmlns:a16="http://schemas.microsoft.com/office/drawing/2014/main" id="{99E6AE83-604F-4F38-88BB-D93EE8B33E01}"/>
              </a:ext>
            </a:extLst>
          </p:cNvPr>
          <p:cNvSpPr/>
          <p:nvPr userDrawn="1"/>
        </p:nvSpPr>
        <p:spPr>
          <a:xfrm>
            <a:off x="362857" y="2317071"/>
            <a:ext cx="11321143" cy="2162628"/>
          </a:xfrm>
          <a:prstGeom prst="rect">
            <a:avLst/>
          </a:prstGeom>
          <a:gradFill flip="none" rotWithShape="1">
            <a:gsLst>
              <a:gs pos="15000">
                <a:srgbClr val="841618"/>
              </a:gs>
              <a:gs pos="54000">
                <a:srgbClr val="C00000"/>
              </a:gs>
              <a:gs pos="100000">
                <a:srgbClr val="D60000"/>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8" name="Title 1">
            <a:extLst>
              <a:ext uri="{FF2B5EF4-FFF2-40B4-BE49-F238E27FC236}">
                <a16:creationId xmlns:a16="http://schemas.microsoft.com/office/drawing/2014/main" id="{9A9F7454-816B-4504-8B53-39225524A21B}"/>
              </a:ext>
            </a:extLst>
          </p:cNvPr>
          <p:cNvSpPr>
            <a:spLocks noGrp="1"/>
          </p:cNvSpPr>
          <p:nvPr>
            <p:ph type="title" hasCustomPrompt="1"/>
          </p:nvPr>
        </p:nvSpPr>
        <p:spPr>
          <a:xfrm>
            <a:off x="670147" y="537533"/>
            <a:ext cx="8877300" cy="719767"/>
          </a:xfrm>
          <a:prstGeom prst="rect">
            <a:avLst/>
          </a:prstGeom>
        </p:spPr>
        <p:txBody>
          <a:bodyPr/>
          <a:lstStyle>
            <a:lvl1pPr algn="l">
              <a:defRPr sz="4000" b="1">
                <a:solidFill>
                  <a:schemeClr val="bg1"/>
                </a:solidFill>
                <a:latin typeface="Roboto" panose="02000000000000000000" pitchFamily="2" charset="0"/>
                <a:ea typeface="Roboto" panose="02000000000000000000" pitchFamily="2" charset="0"/>
              </a:defRPr>
            </a:lvl1pPr>
          </a:lstStyle>
          <a:p>
            <a:r>
              <a:rPr lang="en-US" dirty="0"/>
              <a:t>HEADING HERE</a:t>
            </a:r>
            <a:endParaRPr lang="en-ID" dirty="0"/>
          </a:p>
        </p:txBody>
      </p:sp>
      <p:grpSp>
        <p:nvGrpSpPr>
          <p:cNvPr id="23" name="Group 22">
            <a:extLst>
              <a:ext uri="{FF2B5EF4-FFF2-40B4-BE49-F238E27FC236}">
                <a16:creationId xmlns:a16="http://schemas.microsoft.com/office/drawing/2014/main" id="{C271BD57-90F0-7EFA-02EC-2409B6C96182}"/>
              </a:ext>
            </a:extLst>
          </p:cNvPr>
          <p:cNvGrpSpPr/>
          <p:nvPr userDrawn="1"/>
        </p:nvGrpSpPr>
        <p:grpSpPr>
          <a:xfrm>
            <a:off x="0" y="6489376"/>
            <a:ext cx="12183035" cy="368831"/>
            <a:chOff x="0" y="6489376"/>
            <a:chExt cx="12183035" cy="368831"/>
          </a:xfrm>
        </p:grpSpPr>
        <p:sp>
          <p:nvSpPr>
            <p:cNvPr id="24" name="Rectangle 23">
              <a:extLst>
                <a:ext uri="{FF2B5EF4-FFF2-40B4-BE49-F238E27FC236}">
                  <a16:creationId xmlns:a16="http://schemas.microsoft.com/office/drawing/2014/main" id="{3DC71D52-2244-F191-3D31-008833934AE1}"/>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Rectangle 24">
              <a:extLst>
                <a:ext uri="{FF2B5EF4-FFF2-40B4-BE49-F238E27FC236}">
                  <a16:creationId xmlns:a16="http://schemas.microsoft.com/office/drawing/2014/main" id="{754F3C4E-8DA2-98C1-1A4A-20E32F2A07B4}"/>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Rectangle 25">
              <a:extLst>
                <a:ext uri="{FF2B5EF4-FFF2-40B4-BE49-F238E27FC236}">
                  <a16:creationId xmlns:a16="http://schemas.microsoft.com/office/drawing/2014/main" id="{C3CA8219-184D-6896-468A-5BB5D209C697}"/>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7" name="TextBox 26">
              <a:extLst>
                <a:ext uri="{FF2B5EF4-FFF2-40B4-BE49-F238E27FC236}">
                  <a16:creationId xmlns:a16="http://schemas.microsoft.com/office/drawing/2014/main" id="{1D33C99B-A3D1-78FF-FCDB-18E87DBE1344}"/>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28" name="Picture 27">
              <a:extLst>
                <a:ext uri="{FF2B5EF4-FFF2-40B4-BE49-F238E27FC236}">
                  <a16:creationId xmlns:a16="http://schemas.microsoft.com/office/drawing/2014/main" id="{8D041DF8-38EB-BB77-AF5C-6817E3B8820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29" name="Slide Number Placeholder 5">
            <a:extLst>
              <a:ext uri="{FF2B5EF4-FFF2-40B4-BE49-F238E27FC236}">
                <a16:creationId xmlns:a16="http://schemas.microsoft.com/office/drawing/2014/main" id="{1237C79B-5872-4D8B-267F-64F89A17C87D}"/>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Tree>
    <p:extLst>
      <p:ext uri="{BB962C8B-B14F-4D97-AF65-F5344CB8AC3E}">
        <p14:creationId xmlns:p14="http://schemas.microsoft.com/office/powerpoint/2010/main" val="3917950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ey Topic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ext Placeholder 73">
            <a:extLst>
              <a:ext uri="{FF2B5EF4-FFF2-40B4-BE49-F238E27FC236}">
                <a16:creationId xmlns:a16="http://schemas.microsoft.com/office/drawing/2014/main" id="{DD1E8958-7F92-4B7F-B25A-1E9E7EDE04AB}"/>
              </a:ext>
            </a:extLst>
          </p:cNvPr>
          <p:cNvSpPr>
            <a:spLocks noGrp="1"/>
          </p:cNvSpPr>
          <p:nvPr>
            <p:ph type="body" sz="quarter" idx="29"/>
          </p:nvPr>
        </p:nvSpPr>
        <p:spPr>
          <a:xfrm>
            <a:off x="448333" y="907303"/>
            <a:ext cx="4897390" cy="819151"/>
          </a:xfrm>
          <a:prstGeom prst="rect">
            <a:avLst/>
          </a:prstGeom>
        </p:spPr>
        <p:txBody>
          <a:bodyPr>
            <a:normAutofit/>
          </a:bodyPr>
          <a:lstStyle>
            <a:lvl1pPr marL="0" indent="0" algn="l">
              <a:lnSpc>
                <a:spcPct val="130000"/>
              </a:lnSpc>
              <a:buNone/>
              <a:defRPr sz="1400">
                <a:solidFill>
                  <a:schemeClr val="bg1"/>
                </a:solidFill>
                <a:latin typeface="Roboto" panose="02000000000000000000" pitchFamily="2" charset="0"/>
                <a:ea typeface="Roboto" panose="02000000000000000000" pitchFamily="2" charset="0"/>
              </a:defRPr>
            </a:lvl1pPr>
          </a:lstStyle>
          <a:p>
            <a:pPr lvl="0"/>
            <a:endParaRPr lang="en-ID" dirty="0"/>
          </a:p>
        </p:txBody>
      </p:sp>
      <p:sp>
        <p:nvSpPr>
          <p:cNvPr id="16" name="Text Placeholder 73">
            <a:extLst>
              <a:ext uri="{FF2B5EF4-FFF2-40B4-BE49-F238E27FC236}">
                <a16:creationId xmlns:a16="http://schemas.microsoft.com/office/drawing/2014/main" id="{74B5FBA8-C959-454D-8FB2-D0C0F155F730}"/>
              </a:ext>
            </a:extLst>
          </p:cNvPr>
          <p:cNvSpPr>
            <a:spLocks noGrp="1"/>
          </p:cNvSpPr>
          <p:nvPr>
            <p:ph type="body" sz="quarter" idx="30"/>
          </p:nvPr>
        </p:nvSpPr>
        <p:spPr>
          <a:xfrm>
            <a:off x="448333" y="395765"/>
            <a:ext cx="4897390" cy="466746"/>
          </a:xfrm>
          <a:prstGeom prst="rect">
            <a:avLst/>
          </a:prstGeom>
        </p:spPr>
        <p:txBody>
          <a:bodyPr anchor="ctr">
            <a:normAutofit/>
          </a:bodyPr>
          <a:lstStyle>
            <a:lvl1pPr marL="0" indent="0" algn="l">
              <a:lnSpc>
                <a:spcPct val="130000"/>
              </a:lnSpc>
              <a:buNone/>
              <a:defRPr sz="1600" b="1">
                <a:solidFill>
                  <a:schemeClr val="bg1"/>
                </a:solidFill>
                <a:latin typeface="Roboto Medium" panose="02000000000000000000" pitchFamily="2" charset="0"/>
                <a:ea typeface="Roboto Medium" panose="02000000000000000000" pitchFamily="2" charset="0"/>
              </a:defRPr>
            </a:lvl1pPr>
          </a:lstStyle>
          <a:p>
            <a:pPr lvl="0"/>
            <a:endParaRPr lang="en-ID" dirty="0"/>
          </a:p>
        </p:txBody>
      </p:sp>
      <p:sp>
        <p:nvSpPr>
          <p:cNvPr id="17" name="Text Placeholder 73">
            <a:extLst>
              <a:ext uri="{FF2B5EF4-FFF2-40B4-BE49-F238E27FC236}">
                <a16:creationId xmlns:a16="http://schemas.microsoft.com/office/drawing/2014/main" id="{DA096908-C778-4F48-A614-54CA104C3F44}"/>
              </a:ext>
            </a:extLst>
          </p:cNvPr>
          <p:cNvSpPr>
            <a:spLocks noGrp="1"/>
          </p:cNvSpPr>
          <p:nvPr>
            <p:ph type="body" sz="quarter" idx="31"/>
          </p:nvPr>
        </p:nvSpPr>
        <p:spPr>
          <a:xfrm>
            <a:off x="440994" y="2494195"/>
            <a:ext cx="4897390" cy="819151"/>
          </a:xfrm>
          <a:prstGeom prst="rect">
            <a:avLst/>
          </a:prstGeom>
        </p:spPr>
        <p:txBody>
          <a:bodyPr>
            <a:normAutofit/>
          </a:bodyPr>
          <a:lstStyle>
            <a:lvl1pPr marL="0" indent="0" algn="l">
              <a:lnSpc>
                <a:spcPct val="130000"/>
              </a:lnSpc>
              <a:buNone/>
              <a:defRPr sz="1400">
                <a:solidFill>
                  <a:schemeClr val="bg1"/>
                </a:solidFill>
              </a:defRPr>
            </a:lvl1pPr>
          </a:lstStyle>
          <a:p>
            <a:pPr lvl="0"/>
            <a:endParaRPr lang="en-ID"/>
          </a:p>
        </p:txBody>
      </p:sp>
      <p:sp>
        <p:nvSpPr>
          <p:cNvPr id="18" name="Text Placeholder 73">
            <a:extLst>
              <a:ext uri="{FF2B5EF4-FFF2-40B4-BE49-F238E27FC236}">
                <a16:creationId xmlns:a16="http://schemas.microsoft.com/office/drawing/2014/main" id="{78AE8284-34C2-4734-AF46-A0424697A9E0}"/>
              </a:ext>
            </a:extLst>
          </p:cNvPr>
          <p:cNvSpPr>
            <a:spLocks noGrp="1"/>
          </p:cNvSpPr>
          <p:nvPr>
            <p:ph type="body" sz="quarter" idx="32"/>
          </p:nvPr>
        </p:nvSpPr>
        <p:spPr>
          <a:xfrm>
            <a:off x="440994" y="1982657"/>
            <a:ext cx="4897390" cy="466746"/>
          </a:xfrm>
          <a:prstGeom prst="rect">
            <a:avLst/>
          </a:prstGeom>
        </p:spPr>
        <p:txBody>
          <a:bodyPr anchor="ctr">
            <a:normAutofit/>
          </a:bodyPr>
          <a:lstStyle>
            <a:lvl1pPr marL="0" indent="0" algn="l">
              <a:lnSpc>
                <a:spcPct val="130000"/>
              </a:lnSpc>
              <a:buNone/>
              <a:defRPr sz="1600" b="1">
                <a:solidFill>
                  <a:schemeClr val="bg1"/>
                </a:solidFill>
                <a:latin typeface="+mj-lt"/>
              </a:defRPr>
            </a:lvl1pPr>
          </a:lstStyle>
          <a:p>
            <a:pPr lvl="0"/>
            <a:endParaRPr lang="en-ID"/>
          </a:p>
        </p:txBody>
      </p:sp>
      <p:sp>
        <p:nvSpPr>
          <p:cNvPr id="19" name="Text Placeholder 73">
            <a:extLst>
              <a:ext uri="{FF2B5EF4-FFF2-40B4-BE49-F238E27FC236}">
                <a16:creationId xmlns:a16="http://schemas.microsoft.com/office/drawing/2014/main" id="{6A31EC19-04AC-4F10-A7B9-380D121D077C}"/>
              </a:ext>
            </a:extLst>
          </p:cNvPr>
          <p:cNvSpPr>
            <a:spLocks noGrp="1"/>
          </p:cNvSpPr>
          <p:nvPr>
            <p:ph type="body" sz="quarter" idx="33"/>
          </p:nvPr>
        </p:nvSpPr>
        <p:spPr>
          <a:xfrm>
            <a:off x="438862" y="4059760"/>
            <a:ext cx="4897390" cy="819151"/>
          </a:xfrm>
          <a:prstGeom prst="rect">
            <a:avLst/>
          </a:prstGeom>
        </p:spPr>
        <p:txBody>
          <a:bodyPr>
            <a:normAutofit/>
          </a:bodyPr>
          <a:lstStyle>
            <a:lvl1pPr marL="0" indent="0" algn="l">
              <a:lnSpc>
                <a:spcPct val="130000"/>
              </a:lnSpc>
              <a:buNone/>
              <a:defRPr sz="1400">
                <a:solidFill>
                  <a:schemeClr val="bg1"/>
                </a:solidFill>
              </a:defRPr>
            </a:lvl1pPr>
          </a:lstStyle>
          <a:p>
            <a:pPr lvl="0"/>
            <a:endParaRPr lang="en-ID"/>
          </a:p>
        </p:txBody>
      </p:sp>
      <p:sp>
        <p:nvSpPr>
          <p:cNvPr id="20" name="Text Placeholder 73">
            <a:extLst>
              <a:ext uri="{FF2B5EF4-FFF2-40B4-BE49-F238E27FC236}">
                <a16:creationId xmlns:a16="http://schemas.microsoft.com/office/drawing/2014/main" id="{8A2647F7-44C2-4E2D-B5C8-D80E8A557702}"/>
              </a:ext>
            </a:extLst>
          </p:cNvPr>
          <p:cNvSpPr>
            <a:spLocks noGrp="1"/>
          </p:cNvSpPr>
          <p:nvPr>
            <p:ph type="body" sz="quarter" idx="34"/>
          </p:nvPr>
        </p:nvSpPr>
        <p:spPr>
          <a:xfrm>
            <a:off x="438862" y="3548222"/>
            <a:ext cx="4897390" cy="466746"/>
          </a:xfrm>
          <a:prstGeom prst="rect">
            <a:avLst/>
          </a:prstGeom>
        </p:spPr>
        <p:txBody>
          <a:bodyPr anchor="ctr">
            <a:normAutofit/>
          </a:bodyPr>
          <a:lstStyle>
            <a:lvl1pPr marL="0" indent="0" algn="l">
              <a:lnSpc>
                <a:spcPct val="130000"/>
              </a:lnSpc>
              <a:buNone/>
              <a:defRPr sz="1600" b="1">
                <a:solidFill>
                  <a:schemeClr val="bg1"/>
                </a:solidFill>
                <a:latin typeface="+mj-lt"/>
              </a:defRPr>
            </a:lvl1pPr>
          </a:lstStyle>
          <a:p>
            <a:pPr lvl="0"/>
            <a:endParaRPr lang="en-ID"/>
          </a:p>
        </p:txBody>
      </p:sp>
      <p:grpSp>
        <p:nvGrpSpPr>
          <p:cNvPr id="24" name="Group 23">
            <a:extLst>
              <a:ext uri="{FF2B5EF4-FFF2-40B4-BE49-F238E27FC236}">
                <a16:creationId xmlns:a16="http://schemas.microsoft.com/office/drawing/2014/main" id="{F53821A9-EF9C-0324-7924-6E5C5F8051F2}"/>
              </a:ext>
            </a:extLst>
          </p:cNvPr>
          <p:cNvGrpSpPr/>
          <p:nvPr userDrawn="1"/>
        </p:nvGrpSpPr>
        <p:grpSpPr>
          <a:xfrm>
            <a:off x="0" y="6489376"/>
            <a:ext cx="12192000" cy="368831"/>
            <a:chOff x="0" y="6489376"/>
            <a:chExt cx="12183035" cy="368831"/>
          </a:xfrm>
        </p:grpSpPr>
        <p:sp>
          <p:nvSpPr>
            <p:cNvPr id="25" name="Rectangle 24">
              <a:extLst>
                <a:ext uri="{FF2B5EF4-FFF2-40B4-BE49-F238E27FC236}">
                  <a16:creationId xmlns:a16="http://schemas.microsoft.com/office/drawing/2014/main" id="{CF185CD8-35A2-1705-9EA2-1A2F587E2223}"/>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Rectangle 25">
              <a:extLst>
                <a:ext uri="{FF2B5EF4-FFF2-40B4-BE49-F238E27FC236}">
                  <a16:creationId xmlns:a16="http://schemas.microsoft.com/office/drawing/2014/main" id="{5A535686-7F77-12AB-22AF-075FCE1ADD0A}"/>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7" name="Rectangle 26">
              <a:extLst>
                <a:ext uri="{FF2B5EF4-FFF2-40B4-BE49-F238E27FC236}">
                  <a16:creationId xmlns:a16="http://schemas.microsoft.com/office/drawing/2014/main" id="{8A3ED9F1-B3BE-B8C8-1A0A-5026767DAC91}"/>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8" name="TextBox 27">
              <a:extLst>
                <a:ext uri="{FF2B5EF4-FFF2-40B4-BE49-F238E27FC236}">
                  <a16:creationId xmlns:a16="http://schemas.microsoft.com/office/drawing/2014/main" id="{E88B9356-83B3-C0B5-51DA-33806DF877AD}"/>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29" name="Picture 28">
              <a:extLst>
                <a:ext uri="{FF2B5EF4-FFF2-40B4-BE49-F238E27FC236}">
                  <a16:creationId xmlns:a16="http://schemas.microsoft.com/office/drawing/2014/main" id="{85FECC57-66B4-1241-30CA-288988BA855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30" name="Slide Number Placeholder 5">
            <a:extLst>
              <a:ext uri="{FF2B5EF4-FFF2-40B4-BE49-F238E27FC236}">
                <a16:creationId xmlns:a16="http://schemas.microsoft.com/office/drawing/2014/main" id="{14356EDA-0D02-56B5-CE21-7AE9820E94B1}"/>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
        <p:nvSpPr>
          <p:cNvPr id="2" name="Title 1">
            <a:extLst>
              <a:ext uri="{FF2B5EF4-FFF2-40B4-BE49-F238E27FC236}">
                <a16:creationId xmlns:a16="http://schemas.microsoft.com/office/drawing/2014/main" id="{79B5A406-4112-F0FE-01F0-63CBB92981F7}"/>
              </a:ext>
            </a:extLst>
          </p:cNvPr>
          <p:cNvSpPr>
            <a:spLocks noGrp="1"/>
          </p:cNvSpPr>
          <p:nvPr>
            <p:ph type="title" hasCustomPrompt="1"/>
          </p:nvPr>
        </p:nvSpPr>
        <p:spPr>
          <a:xfrm>
            <a:off x="7411219" y="2705475"/>
            <a:ext cx="4780781" cy="1985872"/>
          </a:xfrm>
          <a:prstGeom prst="rect">
            <a:avLst/>
          </a:prstGeom>
        </p:spPr>
        <p:txBody>
          <a:bodyPr anchor="ctr"/>
          <a:lstStyle>
            <a:lvl1pPr>
              <a:defRPr sz="4000" b="1">
                <a:solidFill>
                  <a:schemeClr val="bg1"/>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3" name="Text Placeholder 17">
            <a:extLst>
              <a:ext uri="{FF2B5EF4-FFF2-40B4-BE49-F238E27FC236}">
                <a16:creationId xmlns:a16="http://schemas.microsoft.com/office/drawing/2014/main" id="{3C41FE56-FD0F-66D6-59E5-7EC6F6800D28}"/>
              </a:ext>
            </a:extLst>
          </p:cNvPr>
          <p:cNvSpPr>
            <a:spLocks noGrp="1"/>
          </p:cNvSpPr>
          <p:nvPr>
            <p:ph type="body" sz="quarter" idx="14" hasCustomPrompt="1"/>
          </p:nvPr>
        </p:nvSpPr>
        <p:spPr>
          <a:xfrm>
            <a:off x="7411219" y="4059760"/>
            <a:ext cx="4780781" cy="366598"/>
          </a:xfrm>
          <a:prstGeom prst="rect">
            <a:avLst/>
          </a:prstGeom>
        </p:spPr>
        <p:txBody>
          <a:bodyPr vert="horz" anchor="ctr"/>
          <a:lstStyle>
            <a:lvl1pPr marL="0" indent="0">
              <a:buFontTx/>
              <a:buNone/>
              <a:defRPr sz="16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dirty="0"/>
              <a:t>Subheading</a:t>
            </a:r>
          </a:p>
        </p:txBody>
      </p:sp>
    </p:spTree>
    <p:extLst>
      <p:ext uri="{BB962C8B-B14F-4D97-AF65-F5344CB8AC3E}">
        <p14:creationId xmlns:p14="http://schemas.microsoft.com/office/powerpoint/2010/main" val="1189802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0D7B022B-E350-A79C-F96D-CAEC110DCBF1}"/>
              </a:ext>
            </a:extLst>
          </p:cNvPr>
          <p:cNvSpPr/>
          <p:nvPr userDrawn="1"/>
        </p:nvSpPr>
        <p:spPr>
          <a:xfrm>
            <a:off x="-1" y="0"/>
            <a:ext cx="11234966" cy="6851269"/>
          </a:xfrm>
          <a:custGeom>
            <a:avLst/>
            <a:gdLst>
              <a:gd name="connsiteX0" fmla="*/ 0 w 11234966"/>
              <a:gd name="connsiteY0" fmla="*/ 0 h 6851269"/>
              <a:gd name="connsiteX1" fmla="*/ 3626802 w 11234966"/>
              <a:gd name="connsiteY1" fmla="*/ 0 h 6851269"/>
              <a:gd name="connsiteX2" fmla="*/ 6829049 w 11234966"/>
              <a:gd name="connsiteY2" fmla="*/ 2881795 h 6851269"/>
              <a:gd name="connsiteX3" fmla="*/ 11234966 w 11234966"/>
              <a:gd name="connsiteY3" fmla="*/ 6851269 h 6851269"/>
              <a:gd name="connsiteX4" fmla="*/ 0 w 11234966"/>
              <a:gd name="connsiteY4" fmla="*/ 6851269 h 68512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34966" h="6851269">
                <a:moveTo>
                  <a:pt x="0" y="0"/>
                </a:moveTo>
                <a:lnTo>
                  <a:pt x="3626802" y="0"/>
                </a:lnTo>
                <a:lnTo>
                  <a:pt x="6829049" y="2881795"/>
                </a:lnTo>
                <a:lnTo>
                  <a:pt x="11234966" y="6851269"/>
                </a:lnTo>
                <a:lnTo>
                  <a:pt x="0" y="6851269"/>
                </a:lnTo>
                <a:close/>
              </a:path>
            </a:pathLst>
          </a:custGeom>
          <a:solidFill>
            <a:schemeClr val="bg2"/>
          </a:solidFill>
          <a:ln w="9525" cap="flat">
            <a:noFill/>
            <a:prstDash val="solid"/>
            <a:miter/>
          </a:ln>
        </p:spPr>
        <p:txBody>
          <a:bodyPr rtlCol="0" anchor="ctr"/>
          <a:lstStyle/>
          <a:p>
            <a:endParaRPr lang="en-ID" dirty="0"/>
          </a:p>
        </p:txBody>
      </p:sp>
      <p:sp>
        <p:nvSpPr>
          <p:cNvPr id="7" name="Picture Placeholder 12">
            <a:extLst>
              <a:ext uri="{FF2B5EF4-FFF2-40B4-BE49-F238E27FC236}">
                <a16:creationId xmlns:a16="http://schemas.microsoft.com/office/drawing/2014/main" id="{F85304C1-D661-F959-75C7-72A26716639D}"/>
              </a:ext>
            </a:extLst>
          </p:cNvPr>
          <p:cNvSpPr>
            <a:spLocks noGrp="1"/>
          </p:cNvSpPr>
          <p:nvPr>
            <p:ph type="pic" sz="quarter" idx="10"/>
          </p:nvPr>
        </p:nvSpPr>
        <p:spPr>
          <a:xfrm>
            <a:off x="0" y="2124275"/>
            <a:ext cx="12194547" cy="2030708"/>
          </a:xfrm>
          <a:custGeom>
            <a:avLst/>
            <a:gdLst>
              <a:gd name="connsiteX0" fmla="*/ 0 w 12194547"/>
              <a:gd name="connsiteY0" fmla="*/ 0 h 2030708"/>
              <a:gd name="connsiteX1" fmla="*/ 5984008 w 12194547"/>
              <a:gd name="connsiteY1" fmla="*/ 0 h 2030708"/>
              <a:gd name="connsiteX2" fmla="*/ 12194547 w 12194547"/>
              <a:gd name="connsiteY2" fmla="*/ 0 h 2030708"/>
              <a:gd name="connsiteX3" fmla="*/ 12194547 w 12194547"/>
              <a:gd name="connsiteY3" fmla="*/ 2030708 h 2030708"/>
              <a:gd name="connsiteX4" fmla="*/ 8241691 w 12194547"/>
              <a:gd name="connsiteY4" fmla="*/ 2030708 h 2030708"/>
              <a:gd name="connsiteX5" fmla="*/ 8241690 w 12194547"/>
              <a:gd name="connsiteY5" fmla="*/ 2030708 h 2030708"/>
              <a:gd name="connsiteX6" fmla="*/ 0 w 12194547"/>
              <a:gd name="connsiteY6" fmla="*/ 2030708 h 2030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4547" h="2030708">
                <a:moveTo>
                  <a:pt x="0" y="0"/>
                </a:moveTo>
                <a:lnTo>
                  <a:pt x="5984008" y="0"/>
                </a:lnTo>
                <a:lnTo>
                  <a:pt x="12194547" y="0"/>
                </a:lnTo>
                <a:lnTo>
                  <a:pt x="12194547" y="2030708"/>
                </a:lnTo>
                <a:lnTo>
                  <a:pt x="8241691" y="2030708"/>
                </a:lnTo>
                <a:lnTo>
                  <a:pt x="8241690" y="2030708"/>
                </a:lnTo>
                <a:lnTo>
                  <a:pt x="0" y="2030708"/>
                </a:lnTo>
                <a:close/>
              </a:path>
            </a:pathLst>
          </a:custGeom>
          <a:solidFill>
            <a:schemeClr val="bg1">
              <a:lumMod val="85000"/>
            </a:schemeClr>
          </a:solidFill>
        </p:spPr>
        <p:txBody>
          <a:bodyPr wrap="square">
            <a:noAutofit/>
          </a:bodyPr>
          <a:lstStyle>
            <a:lvl1pPr>
              <a:defRPr>
                <a:solidFill>
                  <a:schemeClr val="tx1">
                    <a:lumMod val="75000"/>
                    <a:lumOff val="25000"/>
                  </a:schemeClr>
                </a:solidFill>
                <a:latin typeface="Roboto" panose="02000000000000000000" pitchFamily="2" charset="0"/>
                <a:ea typeface="Roboto" panose="02000000000000000000" pitchFamily="2" charset="0"/>
              </a:defRPr>
            </a:lvl1pPr>
          </a:lstStyle>
          <a:p>
            <a:endParaRPr lang="en-ID" dirty="0"/>
          </a:p>
        </p:txBody>
      </p:sp>
      <p:sp>
        <p:nvSpPr>
          <p:cNvPr id="8" name="Text Placeholder 73">
            <a:extLst>
              <a:ext uri="{FF2B5EF4-FFF2-40B4-BE49-F238E27FC236}">
                <a16:creationId xmlns:a16="http://schemas.microsoft.com/office/drawing/2014/main" id="{9BB15FEF-6C5A-3559-3D74-8F1725C978EB}"/>
              </a:ext>
            </a:extLst>
          </p:cNvPr>
          <p:cNvSpPr>
            <a:spLocks noGrp="1"/>
          </p:cNvSpPr>
          <p:nvPr>
            <p:ph type="body" sz="quarter" idx="30"/>
          </p:nvPr>
        </p:nvSpPr>
        <p:spPr>
          <a:xfrm>
            <a:off x="295005" y="4673943"/>
            <a:ext cx="3851105" cy="1365664"/>
          </a:xfrm>
          <a:prstGeom prst="rect">
            <a:avLst/>
          </a:prstGeom>
        </p:spPr>
        <p:txBody>
          <a:bodyPr>
            <a:normAutofit/>
          </a:bodyPr>
          <a:lstStyle>
            <a:lvl1pPr marL="0" indent="0" algn="l">
              <a:lnSpc>
                <a:spcPct val="130000"/>
              </a:lnSpc>
              <a:buNone/>
              <a:defRPr sz="1400">
                <a:solidFill>
                  <a:schemeClr val="tx1">
                    <a:lumMod val="75000"/>
                    <a:lumOff val="25000"/>
                  </a:schemeClr>
                </a:solidFill>
                <a:latin typeface="Roboto" panose="02000000000000000000" pitchFamily="2" charset="0"/>
                <a:ea typeface="Roboto" panose="02000000000000000000" pitchFamily="2" charset="0"/>
              </a:defRPr>
            </a:lvl1pPr>
          </a:lstStyle>
          <a:p>
            <a:pPr lvl="0"/>
            <a:endParaRPr lang="en-ID" dirty="0"/>
          </a:p>
        </p:txBody>
      </p:sp>
      <p:sp>
        <p:nvSpPr>
          <p:cNvPr id="14" name="Rectangle 13">
            <a:extLst>
              <a:ext uri="{FF2B5EF4-FFF2-40B4-BE49-F238E27FC236}">
                <a16:creationId xmlns:a16="http://schemas.microsoft.com/office/drawing/2014/main" id="{18448683-2C7C-43B4-AB6C-D6EF94546AF4}"/>
              </a:ext>
            </a:extLst>
          </p:cNvPr>
          <p:cNvSpPr/>
          <p:nvPr userDrawn="1"/>
        </p:nvSpPr>
        <p:spPr>
          <a:xfrm>
            <a:off x="0" y="0"/>
            <a:ext cx="12192000" cy="1222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295005" y="432023"/>
            <a:ext cx="8148539" cy="579091"/>
          </a:xfrm>
          <a:prstGeom prst="rect">
            <a:avLst/>
          </a:prstGeom>
        </p:spPr>
        <p:txBody>
          <a:bodyPr/>
          <a:lstStyle>
            <a:lvl1pPr algn="l">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9" name="Freeform: Shape 8">
            <a:extLst>
              <a:ext uri="{FF2B5EF4-FFF2-40B4-BE49-F238E27FC236}">
                <a16:creationId xmlns:a16="http://schemas.microsoft.com/office/drawing/2014/main" id="{965C5992-4391-DB6E-B9C1-C416D1CC8C54}"/>
              </a:ext>
            </a:extLst>
          </p:cNvPr>
          <p:cNvSpPr/>
          <p:nvPr userDrawn="1"/>
        </p:nvSpPr>
        <p:spPr>
          <a:xfrm>
            <a:off x="5999279" y="2124275"/>
            <a:ext cx="6210539" cy="2018715"/>
          </a:xfrm>
          <a:custGeom>
            <a:avLst/>
            <a:gdLst>
              <a:gd name="connsiteX0" fmla="*/ 2324100 w 2324100"/>
              <a:gd name="connsiteY0" fmla="*/ 0 h 962025"/>
              <a:gd name="connsiteX1" fmla="*/ 0 w 2324100"/>
              <a:gd name="connsiteY1" fmla="*/ 0 h 962025"/>
              <a:gd name="connsiteX2" fmla="*/ 316230 w 2324100"/>
              <a:gd name="connsiteY2" fmla="*/ 360997 h 962025"/>
              <a:gd name="connsiteX3" fmla="*/ 844867 w 2324100"/>
              <a:gd name="connsiteY3" fmla="*/ 967740 h 962025"/>
              <a:gd name="connsiteX4" fmla="*/ 2324100 w 2324100"/>
              <a:gd name="connsiteY4" fmla="*/ 967740 h 962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00" h="962025">
                <a:moveTo>
                  <a:pt x="2324100" y="0"/>
                </a:moveTo>
                <a:lnTo>
                  <a:pt x="0" y="0"/>
                </a:lnTo>
                <a:lnTo>
                  <a:pt x="316230" y="360997"/>
                </a:lnTo>
                <a:lnTo>
                  <a:pt x="844867" y="967740"/>
                </a:lnTo>
                <a:lnTo>
                  <a:pt x="2324100" y="967740"/>
                </a:lnTo>
                <a:close/>
              </a:path>
            </a:pathLst>
          </a:cu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3600000" scaled="0"/>
            <a:tileRect/>
          </a:gradFill>
          <a:ln w="9525" cap="flat">
            <a:noFill/>
            <a:prstDash val="solid"/>
            <a:miter/>
          </a:ln>
        </p:spPr>
        <p:txBody>
          <a:bodyPr rtlCol="0" anchor="ctr"/>
          <a:lstStyle/>
          <a:p>
            <a:endParaRPr lang="en-ID" dirty="0"/>
          </a:p>
        </p:txBody>
      </p:sp>
      <p:grpSp>
        <p:nvGrpSpPr>
          <p:cNvPr id="10" name="Group 9">
            <a:extLst>
              <a:ext uri="{FF2B5EF4-FFF2-40B4-BE49-F238E27FC236}">
                <a16:creationId xmlns:a16="http://schemas.microsoft.com/office/drawing/2014/main" id="{DC27DA15-AC2F-065B-35D3-0AF1DB647551}"/>
              </a:ext>
            </a:extLst>
          </p:cNvPr>
          <p:cNvGrpSpPr/>
          <p:nvPr userDrawn="1"/>
        </p:nvGrpSpPr>
        <p:grpSpPr>
          <a:xfrm>
            <a:off x="0" y="6489376"/>
            <a:ext cx="12183035" cy="368831"/>
            <a:chOff x="0" y="6489376"/>
            <a:chExt cx="12183035" cy="368831"/>
          </a:xfrm>
        </p:grpSpPr>
        <p:sp>
          <p:nvSpPr>
            <p:cNvPr id="11" name="Rectangle 10">
              <a:extLst>
                <a:ext uri="{FF2B5EF4-FFF2-40B4-BE49-F238E27FC236}">
                  <a16:creationId xmlns:a16="http://schemas.microsoft.com/office/drawing/2014/main" id="{44691146-3509-BC48-7553-440A4215E414}"/>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2" name="Rectangle 11">
              <a:extLst>
                <a:ext uri="{FF2B5EF4-FFF2-40B4-BE49-F238E27FC236}">
                  <a16:creationId xmlns:a16="http://schemas.microsoft.com/office/drawing/2014/main" id="{DD517EFB-DA0A-68DA-0C6A-A2EA37092890}"/>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 name="Rectangle 12">
              <a:extLst>
                <a:ext uri="{FF2B5EF4-FFF2-40B4-BE49-F238E27FC236}">
                  <a16:creationId xmlns:a16="http://schemas.microsoft.com/office/drawing/2014/main" id="{9660D732-16B8-2E87-5B9F-72931F6DADA2}"/>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9" name="TextBox 18">
              <a:extLst>
                <a:ext uri="{FF2B5EF4-FFF2-40B4-BE49-F238E27FC236}">
                  <a16:creationId xmlns:a16="http://schemas.microsoft.com/office/drawing/2014/main" id="{5707D059-9A7D-578A-B985-F4EBD2E4E8A6}"/>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20" name="Picture 19">
              <a:extLst>
                <a:ext uri="{FF2B5EF4-FFF2-40B4-BE49-F238E27FC236}">
                  <a16:creationId xmlns:a16="http://schemas.microsoft.com/office/drawing/2014/main" id="{E2B54159-F9B0-09EF-7572-ACD3459907B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21" name="Slide Number Placeholder 5">
            <a:extLst>
              <a:ext uri="{FF2B5EF4-FFF2-40B4-BE49-F238E27FC236}">
                <a16:creationId xmlns:a16="http://schemas.microsoft.com/office/drawing/2014/main" id="{FF4BEDFD-8708-A281-3D72-1D5788CD7B34}"/>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Tree>
    <p:extLst>
      <p:ext uri="{BB962C8B-B14F-4D97-AF65-F5344CB8AC3E}">
        <p14:creationId xmlns:p14="http://schemas.microsoft.com/office/powerpoint/2010/main" val="3073349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Picture 2">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29E648CD-DF6A-4C0E-C1AC-8783B88FB467}"/>
              </a:ext>
            </a:extLst>
          </p:cNvPr>
          <p:cNvSpPr/>
          <p:nvPr userDrawn="1"/>
        </p:nvSpPr>
        <p:spPr>
          <a:xfrm>
            <a:off x="-1" y="2438621"/>
            <a:ext cx="5132905" cy="4405251"/>
          </a:xfrm>
          <a:custGeom>
            <a:avLst/>
            <a:gdLst>
              <a:gd name="connsiteX0" fmla="*/ 1033463 w 2486025"/>
              <a:gd name="connsiteY0" fmla="*/ 0 h 2133600"/>
              <a:gd name="connsiteX1" fmla="*/ 0 w 2486025"/>
              <a:gd name="connsiteY1" fmla="*/ 0 h 2133600"/>
              <a:gd name="connsiteX2" fmla="*/ 0 w 2486025"/>
              <a:gd name="connsiteY2" fmla="*/ 2138363 h 2133600"/>
              <a:gd name="connsiteX3" fmla="*/ 2493645 w 2486025"/>
              <a:gd name="connsiteY3" fmla="*/ 2138363 h 2133600"/>
            </a:gdLst>
            <a:ahLst/>
            <a:cxnLst>
              <a:cxn ang="0">
                <a:pos x="connsiteX0" y="connsiteY0"/>
              </a:cxn>
              <a:cxn ang="0">
                <a:pos x="connsiteX1" y="connsiteY1"/>
              </a:cxn>
              <a:cxn ang="0">
                <a:pos x="connsiteX2" y="connsiteY2"/>
              </a:cxn>
              <a:cxn ang="0">
                <a:pos x="connsiteX3" y="connsiteY3"/>
              </a:cxn>
            </a:cxnLst>
            <a:rect l="l" t="t" r="r" b="b"/>
            <a:pathLst>
              <a:path w="2486025" h="2133600">
                <a:moveTo>
                  <a:pt x="1033463" y="0"/>
                </a:moveTo>
                <a:lnTo>
                  <a:pt x="0" y="0"/>
                </a:lnTo>
                <a:lnTo>
                  <a:pt x="0" y="2138363"/>
                </a:lnTo>
                <a:lnTo>
                  <a:pt x="2493645" y="2138363"/>
                </a:lnTo>
                <a:close/>
              </a:path>
            </a:pathLst>
          </a:custGeom>
          <a:gradFill>
            <a:gsLst>
              <a:gs pos="54600">
                <a:srgbClr val="C00000"/>
              </a:gs>
              <a:gs pos="100000">
                <a:srgbClr val="841618"/>
              </a:gs>
              <a:gs pos="0">
                <a:srgbClr val="E60000"/>
              </a:gs>
            </a:gsLst>
            <a:lin ang="10200000" scaled="0"/>
          </a:gradFill>
          <a:ln w="9525" cap="flat">
            <a:noFill/>
            <a:prstDash val="solid"/>
            <a:miter/>
          </a:ln>
        </p:spPr>
        <p:txBody>
          <a:bodyPr rtlCol="0" anchor="ctr"/>
          <a:lstStyle/>
          <a:p>
            <a:endParaRPr lang="en-ID" dirty="0"/>
          </a:p>
        </p:txBody>
      </p:sp>
      <p:sp>
        <p:nvSpPr>
          <p:cNvPr id="5" name="Picture Placeholder 11">
            <a:extLst>
              <a:ext uri="{FF2B5EF4-FFF2-40B4-BE49-F238E27FC236}">
                <a16:creationId xmlns:a16="http://schemas.microsoft.com/office/drawing/2014/main" id="{D5563964-4E73-3139-C714-958BF47623B3}"/>
              </a:ext>
            </a:extLst>
          </p:cNvPr>
          <p:cNvSpPr>
            <a:spLocks noGrp="1"/>
          </p:cNvSpPr>
          <p:nvPr>
            <p:ph type="pic" sz="quarter" idx="10"/>
          </p:nvPr>
        </p:nvSpPr>
        <p:spPr>
          <a:xfrm>
            <a:off x="-1" y="2438621"/>
            <a:ext cx="4428852" cy="3360972"/>
          </a:xfrm>
          <a:custGeom>
            <a:avLst/>
            <a:gdLst>
              <a:gd name="connsiteX0" fmla="*/ 0 w 4428852"/>
              <a:gd name="connsiteY0" fmla="*/ 0 h 3360972"/>
              <a:gd name="connsiteX1" fmla="*/ 377593 w 4428852"/>
              <a:gd name="connsiteY1" fmla="*/ 0 h 3360972"/>
              <a:gd name="connsiteX2" fmla="*/ 2133795 w 4428852"/>
              <a:gd name="connsiteY2" fmla="*/ 0 h 3360972"/>
              <a:gd name="connsiteX3" fmla="*/ 4428852 w 4428852"/>
              <a:gd name="connsiteY3" fmla="*/ 3360972 h 3360972"/>
              <a:gd name="connsiteX4" fmla="*/ 2367823 w 4428852"/>
              <a:gd name="connsiteY4" fmla="*/ 3360972 h 3360972"/>
              <a:gd name="connsiteX5" fmla="*/ 0 w 4428852"/>
              <a:gd name="connsiteY5" fmla="*/ 3360972 h 3360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8852" h="3360972">
                <a:moveTo>
                  <a:pt x="0" y="0"/>
                </a:moveTo>
                <a:lnTo>
                  <a:pt x="377593" y="0"/>
                </a:lnTo>
                <a:lnTo>
                  <a:pt x="2133795" y="0"/>
                </a:lnTo>
                <a:lnTo>
                  <a:pt x="4428852" y="3360972"/>
                </a:lnTo>
                <a:lnTo>
                  <a:pt x="2367823" y="3360972"/>
                </a:lnTo>
                <a:lnTo>
                  <a:pt x="0" y="3360972"/>
                </a:lnTo>
                <a:close/>
              </a:path>
            </a:pathLst>
          </a:custGeom>
          <a:solidFill>
            <a:schemeClr val="bg2"/>
          </a:solidFill>
        </p:spPr>
        <p:txBody>
          <a:bodyPr wrap="square">
            <a:noAutofit/>
          </a:bodyPr>
          <a:lstStyle>
            <a:lvl1pPr>
              <a:defRPr>
                <a:solidFill>
                  <a:schemeClr val="tx1">
                    <a:lumMod val="75000"/>
                    <a:lumOff val="25000"/>
                  </a:schemeClr>
                </a:solidFill>
                <a:latin typeface="Roboto" panose="02000000000000000000" pitchFamily="2" charset="0"/>
                <a:ea typeface="Roboto" panose="02000000000000000000" pitchFamily="2" charset="0"/>
              </a:defRPr>
            </a:lvl1pPr>
          </a:lstStyle>
          <a:p>
            <a:endParaRPr lang="en-ID" dirty="0"/>
          </a:p>
        </p:txBody>
      </p:sp>
      <p:sp>
        <p:nvSpPr>
          <p:cNvPr id="6" name="Freeform: Shape 5">
            <a:extLst>
              <a:ext uri="{FF2B5EF4-FFF2-40B4-BE49-F238E27FC236}">
                <a16:creationId xmlns:a16="http://schemas.microsoft.com/office/drawing/2014/main" id="{5FA9BF5C-0530-9FB4-8E10-92AAE1681AAE}"/>
              </a:ext>
            </a:extLst>
          </p:cNvPr>
          <p:cNvSpPr/>
          <p:nvPr userDrawn="1"/>
        </p:nvSpPr>
        <p:spPr>
          <a:xfrm>
            <a:off x="-1" y="1799468"/>
            <a:ext cx="373660" cy="629322"/>
          </a:xfrm>
          <a:custGeom>
            <a:avLst/>
            <a:gdLst>
              <a:gd name="connsiteX0" fmla="*/ 182880 w 180975"/>
              <a:gd name="connsiteY0" fmla="*/ 309563 h 304800"/>
              <a:gd name="connsiteX1" fmla="*/ 0 w 180975"/>
              <a:gd name="connsiteY1" fmla="*/ 0 h 304800"/>
              <a:gd name="connsiteX2" fmla="*/ 0 w 180975"/>
              <a:gd name="connsiteY2" fmla="*/ 309563 h 304800"/>
              <a:gd name="connsiteX3" fmla="*/ 182880 w 180975"/>
              <a:gd name="connsiteY3" fmla="*/ 309563 h 304800"/>
            </a:gdLst>
            <a:ahLst/>
            <a:cxnLst>
              <a:cxn ang="0">
                <a:pos x="connsiteX0" y="connsiteY0"/>
              </a:cxn>
              <a:cxn ang="0">
                <a:pos x="connsiteX1" y="connsiteY1"/>
              </a:cxn>
              <a:cxn ang="0">
                <a:pos x="connsiteX2" y="connsiteY2"/>
              </a:cxn>
              <a:cxn ang="0">
                <a:pos x="connsiteX3" y="connsiteY3"/>
              </a:cxn>
            </a:cxnLst>
            <a:rect l="l" t="t" r="r" b="b"/>
            <a:pathLst>
              <a:path w="180975" h="304800">
                <a:moveTo>
                  <a:pt x="182880" y="309563"/>
                </a:moveTo>
                <a:lnTo>
                  <a:pt x="0" y="0"/>
                </a:lnTo>
                <a:lnTo>
                  <a:pt x="0" y="309563"/>
                </a:lnTo>
                <a:lnTo>
                  <a:pt x="182880" y="309563"/>
                </a:lnTo>
                <a:close/>
              </a:path>
            </a:pathLst>
          </a:custGeom>
          <a:solidFill>
            <a:schemeClr val="accent3"/>
          </a:solidFill>
          <a:ln w="9525" cap="flat">
            <a:noFill/>
            <a:prstDash val="solid"/>
            <a:miter/>
          </a:ln>
        </p:spPr>
        <p:txBody>
          <a:bodyPr rtlCol="0" anchor="ctr"/>
          <a:lstStyle/>
          <a:p>
            <a:endParaRPr lang="en-ID" dirty="0"/>
          </a:p>
        </p:txBody>
      </p:sp>
      <p:sp>
        <p:nvSpPr>
          <p:cNvPr id="14" name="Rectangle 13">
            <a:extLst>
              <a:ext uri="{FF2B5EF4-FFF2-40B4-BE49-F238E27FC236}">
                <a16:creationId xmlns:a16="http://schemas.microsoft.com/office/drawing/2014/main" id="{18448683-2C7C-43B4-AB6C-D6EF94546AF4}"/>
              </a:ext>
            </a:extLst>
          </p:cNvPr>
          <p:cNvSpPr/>
          <p:nvPr userDrawn="1"/>
        </p:nvSpPr>
        <p:spPr>
          <a:xfrm>
            <a:off x="0" y="0"/>
            <a:ext cx="12192000" cy="1222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295005" y="432023"/>
            <a:ext cx="8148539" cy="579091"/>
          </a:xfrm>
          <a:prstGeom prst="rect">
            <a:avLst/>
          </a:prstGeom>
        </p:spPr>
        <p:txBody>
          <a:bodyPr/>
          <a:lstStyle>
            <a:lvl1pPr algn="l">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2" name="Slide Number Placeholder 5">
            <a:extLst>
              <a:ext uri="{FF2B5EF4-FFF2-40B4-BE49-F238E27FC236}">
                <a16:creationId xmlns:a16="http://schemas.microsoft.com/office/drawing/2014/main" id="{1EDC2A64-09D8-2D24-2124-3A421ADFC534}"/>
              </a:ext>
            </a:extLst>
          </p:cNvPr>
          <p:cNvSpPr txBox="1">
            <a:spLocks/>
          </p:cNvSpPr>
          <p:nvPr userDrawn="1"/>
        </p:nvSpPr>
        <p:spPr>
          <a:xfrm>
            <a:off x="5679139" y="6489376"/>
            <a:ext cx="838201"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grpSp>
        <p:nvGrpSpPr>
          <p:cNvPr id="7" name="Group 6">
            <a:extLst>
              <a:ext uri="{FF2B5EF4-FFF2-40B4-BE49-F238E27FC236}">
                <a16:creationId xmlns:a16="http://schemas.microsoft.com/office/drawing/2014/main" id="{38D8C138-091A-1438-E8F1-CF0F07BAE3A5}"/>
              </a:ext>
            </a:extLst>
          </p:cNvPr>
          <p:cNvGrpSpPr/>
          <p:nvPr userDrawn="1"/>
        </p:nvGrpSpPr>
        <p:grpSpPr>
          <a:xfrm>
            <a:off x="0" y="6489376"/>
            <a:ext cx="12183035" cy="368831"/>
            <a:chOff x="0" y="6489376"/>
            <a:chExt cx="12183035" cy="368831"/>
          </a:xfrm>
        </p:grpSpPr>
        <p:sp>
          <p:nvSpPr>
            <p:cNvPr id="8" name="Rectangle 7">
              <a:extLst>
                <a:ext uri="{FF2B5EF4-FFF2-40B4-BE49-F238E27FC236}">
                  <a16:creationId xmlns:a16="http://schemas.microsoft.com/office/drawing/2014/main" id="{E10B090C-212E-EDA6-6DBB-4AC8F06BEBB5}"/>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Rectangle 8">
              <a:extLst>
                <a:ext uri="{FF2B5EF4-FFF2-40B4-BE49-F238E27FC236}">
                  <a16:creationId xmlns:a16="http://schemas.microsoft.com/office/drawing/2014/main" id="{3BEF5653-DC9E-0D17-1B60-9525427E6D2C}"/>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 name="Rectangle 9">
              <a:extLst>
                <a:ext uri="{FF2B5EF4-FFF2-40B4-BE49-F238E27FC236}">
                  <a16:creationId xmlns:a16="http://schemas.microsoft.com/office/drawing/2014/main" id="{702B2065-FC08-5306-1E45-51CD90B229C0}"/>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TextBox 10">
              <a:extLst>
                <a:ext uri="{FF2B5EF4-FFF2-40B4-BE49-F238E27FC236}">
                  <a16:creationId xmlns:a16="http://schemas.microsoft.com/office/drawing/2014/main" id="{DDE13107-089F-3EB5-A490-BBECF62BC599}"/>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12" name="Picture 11">
              <a:extLst>
                <a:ext uri="{FF2B5EF4-FFF2-40B4-BE49-F238E27FC236}">
                  <a16:creationId xmlns:a16="http://schemas.microsoft.com/office/drawing/2014/main" id="{D70FE313-3C30-031C-C6E3-CB07C3B1EFA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13" name="Slide Number Placeholder 5">
            <a:extLst>
              <a:ext uri="{FF2B5EF4-FFF2-40B4-BE49-F238E27FC236}">
                <a16:creationId xmlns:a16="http://schemas.microsoft.com/office/drawing/2014/main" id="{1B2F5F08-06DC-33A3-7B5C-896527057196}"/>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Tree>
    <p:extLst>
      <p:ext uri="{BB962C8B-B14F-4D97-AF65-F5344CB8AC3E}">
        <p14:creationId xmlns:p14="http://schemas.microsoft.com/office/powerpoint/2010/main" val="1914959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Picture 4">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8448683-2C7C-43B4-AB6C-D6EF94546AF4}"/>
              </a:ext>
            </a:extLst>
          </p:cNvPr>
          <p:cNvSpPr/>
          <p:nvPr userDrawn="1"/>
        </p:nvSpPr>
        <p:spPr>
          <a:xfrm>
            <a:off x="0" y="0"/>
            <a:ext cx="12192000" cy="1222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295005" y="432023"/>
            <a:ext cx="8148539" cy="579091"/>
          </a:xfrm>
          <a:prstGeom prst="rect">
            <a:avLst/>
          </a:prstGeom>
        </p:spPr>
        <p:txBody>
          <a:bodyPr/>
          <a:lstStyle>
            <a:lvl1pPr algn="l">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2" name="Slide Number Placeholder 5">
            <a:extLst>
              <a:ext uri="{FF2B5EF4-FFF2-40B4-BE49-F238E27FC236}">
                <a16:creationId xmlns:a16="http://schemas.microsoft.com/office/drawing/2014/main" id="{1EDC2A64-09D8-2D24-2124-3A421ADFC534}"/>
              </a:ext>
            </a:extLst>
          </p:cNvPr>
          <p:cNvSpPr txBox="1">
            <a:spLocks/>
          </p:cNvSpPr>
          <p:nvPr userDrawn="1"/>
        </p:nvSpPr>
        <p:spPr>
          <a:xfrm>
            <a:off x="5679139" y="6489376"/>
            <a:ext cx="838201"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grpSp>
        <p:nvGrpSpPr>
          <p:cNvPr id="31" name="Group 30">
            <a:extLst>
              <a:ext uri="{FF2B5EF4-FFF2-40B4-BE49-F238E27FC236}">
                <a16:creationId xmlns:a16="http://schemas.microsoft.com/office/drawing/2014/main" id="{66501DCF-B23E-2EF9-0C4C-489404C16017}"/>
              </a:ext>
            </a:extLst>
          </p:cNvPr>
          <p:cNvGrpSpPr/>
          <p:nvPr userDrawn="1"/>
        </p:nvGrpSpPr>
        <p:grpSpPr>
          <a:xfrm>
            <a:off x="0" y="6489376"/>
            <a:ext cx="12183035" cy="368831"/>
            <a:chOff x="0" y="6489376"/>
            <a:chExt cx="12183035" cy="368831"/>
          </a:xfrm>
        </p:grpSpPr>
        <p:sp>
          <p:nvSpPr>
            <p:cNvPr id="32" name="Rectangle 31">
              <a:extLst>
                <a:ext uri="{FF2B5EF4-FFF2-40B4-BE49-F238E27FC236}">
                  <a16:creationId xmlns:a16="http://schemas.microsoft.com/office/drawing/2014/main" id="{1E46C8D8-3900-C42E-B13F-6B040A5EACCE}"/>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Rectangle 32">
              <a:extLst>
                <a:ext uri="{FF2B5EF4-FFF2-40B4-BE49-F238E27FC236}">
                  <a16:creationId xmlns:a16="http://schemas.microsoft.com/office/drawing/2014/main" id="{0BD03563-B4A5-9658-3002-745DA9968A80}"/>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a:extLst>
                <a:ext uri="{FF2B5EF4-FFF2-40B4-BE49-F238E27FC236}">
                  <a16:creationId xmlns:a16="http://schemas.microsoft.com/office/drawing/2014/main" id="{0A5CE471-BC1A-04E1-EC9E-178F056D4595}"/>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TextBox 34">
              <a:extLst>
                <a:ext uri="{FF2B5EF4-FFF2-40B4-BE49-F238E27FC236}">
                  <a16:creationId xmlns:a16="http://schemas.microsoft.com/office/drawing/2014/main" id="{2A143DA4-EC93-1889-6492-7B2A4057FBED}"/>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36" name="Picture 35">
              <a:extLst>
                <a:ext uri="{FF2B5EF4-FFF2-40B4-BE49-F238E27FC236}">
                  <a16:creationId xmlns:a16="http://schemas.microsoft.com/office/drawing/2014/main" id="{9FD2BFE5-B967-216D-9DA9-78A1A5C5B8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37" name="Slide Number Placeholder 5">
            <a:extLst>
              <a:ext uri="{FF2B5EF4-FFF2-40B4-BE49-F238E27FC236}">
                <a16:creationId xmlns:a16="http://schemas.microsoft.com/office/drawing/2014/main" id="{C6170F28-611D-36D4-A2B6-E633E60C6491}"/>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
        <p:nvSpPr>
          <p:cNvPr id="5" name="Picture Placeholder 3">
            <a:extLst>
              <a:ext uri="{FF2B5EF4-FFF2-40B4-BE49-F238E27FC236}">
                <a16:creationId xmlns:a16="http://schemas.microsoft.com/office/drawing/2014/main" id="{D5F9D116-E2B8-08D1-83BE-D99231255D36}"/>
              </a:ext>
            </a:extLst>
          </p:cNvPr>
          <p:cNvSpPr>
            <a:spLocks noGrp="1"/>
          </p:cNvSpPr>
          <p:nvPr>
            <p:ph type="pic" sz="quarter" idx="11"/>
          </p:nvPr>
        </p:nvSpPr>
        <p:spPr>
          <a:xfrm>
            <a:off x="285741" y="1654153"/>
            <a:ext cx="2566988" cy="1697038"/>
          </a:xfrm>
          <a:prstGeom prst="rect">
            <a:avLst/>
          </a:prstGeom>
        </p:spPr>
        <p:txBody>
          <a:bodyPr/>
          <a:lstStyle>
            <a:lvl1pPr>
              <a:defRPr sz="1400">
                <a:latin typeface="Roboto" panose="02000000000000000000" pitchFamily="2" charset="0"/>
                <a:ea typeface="Roboto" panose="02000000000000000000" pitchFamily="2" charset="0"/>
              </a:defRPr>
            </a:lvl1pPr>
          </a:lstStyle>
          <a:p>
            <a:endParaRPr lang="en-IN" dirty="0"/>
          </a:p>
        </p:txBody>
      </p:sp>
      <p:sp>
        <p:nvSpPr>
          <p:cNvPr id="6" name="Rectangle 5">
            <a:extLst>
              <a:ext uri="{FF2B5EF4-FFF2-40B4-BE49-F238E27FC236}">
                <a16:creationId xmlns:a16="http://schemas.microsoft.com/office/drawing/2014/main" id="{4FB323AC-79DA-C54B-B463-614A606B390D}"/>
              </a:ext>
            </a:extLst>
          </p:cNvPr>
          <p:cNvSpPr/>
          <p:nvPr userDrawn="1"/>
        </p:nvSpPr>
        <p:spPr>
          <a:xfrm>
            <a:off x="3038006" y="1654153"/>
            <a:ext cx="4338745" cy="16970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 Placeholder 73">
            <a:extLst>
              <a:ext uri="{FF2B5EF4-FFF2-40B4-BE49-F238E27FC236}">
                <a16:creationId xmlns:a16="http://schemas.microsoft.com/office/drawing/2014/main" id="{60F886EA-F351-44D3-67BF-4439E7F7BC39}"/>
              </a:ext>
            </a:extLst>
          </p:cNvPr>
          <p:cNvSpPr>
            <a:spLocks noGrp="1"/>
          </p:cNvSpPr>
          <p:nvPr>
            <p:ph type="body" sz="quarter" idx="30"/>
          </p:nvPr>
        </p:nvSpPr>
        <p:spPr>
          <a:xfrm>
            <a:off x="3226447" y="1828713"/>
            <a:ext cx="3965665" cy="1347916"/>
          </a:xfrm>
          <a:prstGeom prst="rect">
            <a:avLst/>
          </a:prstGeom>
        </p:spPr>
        <p:txBody>
          <a:bodyPr>
            <a:normAutofit/>
          </a:bodyPr>
          <a:lstStyle>
            <a:lvl1pPr marL="0" indent="0" algn="l">
              <a:lnSpc>
                <a:spcPct val="130000"/>
              </a:lnSpc>
              <a:buNone/>
              <a:defRPr sz="1200">
                <a:solidFill>
                  <a:schemeClr val="tx1">
                    <a:lumMod val="75000"/>
                    <a:lumOff val="25000"/>
                  </a:schemeClr>
                </a:solidFill>
                <a:latin typeface="Roboto" panose="02000000000000000000" pitchFamily="2" charset="0"/>
                <a:ea typeface="Roboto" panose="02000000000000000000" pitchFamily="2" charset="0"/>
              </a:defRPr>
            </a:lvl1pPr>
          </a:lstStyle>
          <a:p>
            <a:pPr lvl="0"/>
            <a:endParaRPr lang="en-ID" dirty="0"/>
          </a:p>
        </p:txBody>
      </p:sp>
      <p:sp>
        <p:nvSpPr>
          <p:cNvPr id="8" name="Rectangle 7">
            <a:extLst>
              <a:ext uri="{FF2B5EF4-FFF2-40B4-BE49-F238E27FC236}">
                <a16:creationId xmlns:a16="http://schemas.microsoft.com/office/drawing/2014/main" id="{AEC1D2FF-B6C4-D2FB-0D8B-F45CADC36FE7}"/>
              </a:ext>
            </a:extLst>
          </p:cNvPr>
          <p:cNvSpPr/>
          <p:nvPr userDrawn="1"/>
        </p:nvSpPr>
        <p:spPr>
          <a:xfrm>
            <a:off x="285742" y="3455549"/>
            <a:ext cx="5706179" cy="22341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 Placeholder 73">
            <a:extLst>
              <a:ext uri="{FF2B5EF4-FFF2-40B4-BE49-F238E27FC236}">
                <a16:creationId xmlns:a16="http://schemas.microsoft.com/office/drawing/2014/main" id="{A05F8C67-1800-870B-CCA0-EB9636C76C86}"/>
              </a:ext>
            </a:extLst>
          </p:cNvPr>
          <p:cNvSpPr>
            <a:spLocks noGrp="1"/>
          </p:cNvSpPr>
          <p:nvPr>
            <p:ph type="body" sz="quarter" idx="32"/>
          </p:nvPr>
        </p:nvSpPr>
        <p:spPr>
          <a:xfrm>
            <a:off x="483577" y="3671481"/>
            <a:ext cx="5303906" cy="1838368"/>
          </a:xfrm>
          <a:prstGeom prst="rect">
            <a:avLst/>
          </a:prstGeom>
        </p:spPr>
        <p:txBody>
          <a:bodyPr>
            <a:normAutofit/>
          </a:bodyPr>
          <a:lstStyle>
            <a:lvl1pPr marL="0" indent="0" algn="l">
              <a:lnSpc>
                <a:spcPct val="130000"/>
              </a:lnSpc>
              <a:buNone/>
              <a:defRPr sz="1200">
                <a:solidFill>
                  <a:schemeClr val="tx1">
                    <a:lumMod val="75000"/>
                    <a:lumOff val="25000"/>
                  </a:schemeClr>
                </a:solidFill>
                <a:latin typeface="Roboto" panose="02000000000000000000" pitchFamily="2" charset="0"/>
                <a:ea typeface="Roboto" panose="02000000000000000000" pitchFamily="2" charset="0"/>
              </a:defRPr>
            </a:lvl1pPr>
          </a:lstStyle>
          <a:p>
            <a:pPr lvl="0"/>
            <a:endParaRPr lang="en-ID" dirty="0"/>
          </a:p>
        </p:txBody>
      </p:sp>
      <p:sp>
        <p:nvSpPr>
          <p:cNvPr id="10" name="Rectangle 9">
            <a:extLst>
              <a:ext uri="{FF2B5EF4-FFF2-40B4-BE49-F238E27FC236}">
                <a16:creationId xmlns:a16="http://schemas.microsoft.com/office/drawing/2014/main" id="{661ECD31-3CD1-C347-D10D-2678B7286F48}"/>
              </a:ext>
            </a:extLst>
          </p:cNvPr>
          <p:cNvSpPr/>
          <p:nvPr userDrawn="1"/>
        </p:nvSpPr>
        <p:spPr>
          <a:xfrm>
            <a:off x="7562028" y="1654153"/>
            <a:ext cx="4338745" cy="16970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 Placeholder 73">
            <a:extLst>
              <a:ext uri="{FF2B5EF4-FFF2-40B4-BE49-F238E27FC236}">
                <a16:creationId xmlns:a16="http://schemas.microsoft.com/office/drawing/2014/main" id="{FE8806B6-317C-302B-9EFD-2496DC8279E7}"/>
              </a:ext>
            </a:extLst>
          </p:cNvPr>
          <p:cNvSpPr>
            <a:spLocks noGrp="1"/>
          </p:cNvSpPr>
          <p:nvPr>
            <p:ph type="body" sz="quarter" idx="34"/>
          </p:nvPr>
        </p:nvSpPr>
        <p:spPr>
          <a:xfrm>
            <a:off x="7750469" y="1828713"/>
            <a:ext cx="3965665" cy="1347916"/>
          </a:xfrm>
          <a:prstGeom prst="rect">
            <a:avLst/>
          </a:prstGeom>
        </p:spPr>
        <p:txBody>
          <a:bodyPr>
            <a:normAutofit/>
          </a:bodyPr>
          <a:lstStyle>
            <a:lvl1pPr marL="0" indent="0" algn="l">
              <a:lnSpc>
                <a:spcPct val="130000"/>
              </a:lnSpc>
              <a:buNone/>
              <a:defRPr sz="1200">
                <a:solidFill>
                  <a:schemeClr val="tx1">
                    <a:lumMod val="75000"/>
                    <a:lumOff val="25000"/>
                  </a:schemeClr>
                </a:solidFill>
                <a:latin typeface="Roboto" panose="02000000000000000000" pitchFamily="2" charset="0"/>
                <a:ea typeface="Roboto" panose="02000000000000000000" pitchFamily="2" charset="0"/>
              </a:defRPr>
            </a:lvl1pPr>
          </a:lstStyle>
          <a:p>
            <a:pPr lvl="0"/>
            <a:endParaRPr lang="en-ID"/>
          </a:p>
        </p:txBody>
      </p:sp>
      <p:sp>
        <p:nvSpPr>
          <p:cNvPr id="12" name="Rectangle 11">
            <a:extLst>
              <a:ext uri="{FF2B5EF4-FFF2-40B4-BE49-F238E27FC236}">
                <a16:creationId xmlns:a16="http://schemas.microsoft.com/office/drawing/2014/main" id="{CCD699CA-70AF-2516-D614-0C8CC3D4FA60}"/>
              </a:ext>
            </a:extLst>
          </p:cNvPr>
          <p:cNvSpPr/>
          <p:nvPr userDrawn="1"/>
        </p:nvSpPr>
        <p:spPr>
          <a:xfrm>
            <a:off x="6200079" y="3455549"/>
            <a:ext cx="5706182" cy="22341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Text Placeholder 73">
            <a:extLst>
              <a:ext uri="{FF2B5EF4-FFF2-40B4-BE49-F238E27FC236}">
                <a16:creationId xmlns:a16="http://schemas.microsoft.com/office/drawing/2014/main" id="{D1EB2484-7D0D-6194-867D-472B9446AC44}"/>
              </a:ext>
            </a:extLst>
          </p:cNvPr>
          <p:cNvSpPr>
            <a:spLocks noGrp="1"/>
          </p:cNvSpPr>
          <p:nvPr>
            <p:ph type="body" sz="quarter" idx="35"/>
          </p:nvPr>
        </p:nvSpPr>
        <p:spPr>
          <a:xfrm>
            <a:off x="6400800" y="3671481"/>
            <a:ext cx="5330333" cy="1838368"/>
          </a:xfrm>
          <a:prstGeom prst="rect">
            <a:avLst/>
          </a:prstGeom>
        </p:spPr>
        <p:txBody>
          <a:bodyPr>
            <a:normAutofit/>
          </a:bodyPr>
          <a:lstStyle>
            <a:lvl1pPr marL="0" indent="0" algn="l">
              <a:lnSpc>
                <a:spcPct val="130000"/>
              </a:lnSpc>
              <a:buNone/>
              <a:defRPr sz="1200">
                <a:solidFill>
                  <a:schemeClr val="tx1">
                    <a:lumMod val="75000"/>
                    <a:lumOff val="25000"/>
                  </a:schemeClr>
                </a:solidFill>
                <a:latin typeface="Roboto" panose="02000000000000000000" pitchFamily="2" charset="0"/>
                <a:ea typeface="Roboto" panose="02000000000000000000" pitchFamily="2" charset="0"/>
              </a:defRPr>
            </a:lvl1pPr>
          </a:lstStyle>
          <a:p>
            <a:pPr lvl="0"/>
            <a:endParaRPr lang="en-ID" dirty="0"/>
          </a:p>
        </p:txBody>
      </p:sp>
      <p:sp>
        <p:nvSpPr>
          <p:cNvPr id="19" name="Flowchart: Process 18">
            <a:extLst>
              <a:ext uri="{FF2B5EF4-FFF2-40B4-BE49-F238E27FC236}">
                <a16:creationId xmlns:a16="http://schemas.microsoft.com/office/drawing/2014/main" id="{153473B7-3C48-B39E-BBED-18E294D112FA}"/>
              </a:ext>
            </a:extLst>
          </p:cNvPr>
          <p:cNvSpPr/>
          <p:nvPr userDrawn="1"/>
        </p:nvSpPr>
        <p:spPr>
          <a:xfrm>
            <a:off x="0" y="5884803"/>
            <a:ext cx="12192001" cy="485209"/>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Text Placeholder 9">
            <a:extLst>
              <a:ext uri="{FF2B5EF4-FFF2-40B4-BE49-F238E27FC236}">
                <a16:creationId xmlns:a16="http://schemas.microsoft.com/office/drawing/2014/main" id="{DC603B0B-5DF2-B8E4-A564-35B5FDD25C6F}"/>
              </a:ext>
            </a:extLst>
          </p:cNvPr>
          <p:cNvSpPr>
            <a:spLocks noGrp="1"/>
          </p:cNvSpPr>
          <p:nvPr>
            <p:ph type="body" sz="quarter" idx="15" hasCustomPrompt="1"/>
          </p:nvPr>
        </p:nvSpPr>
        <p:spPr>
          <a:xfrm>
            <a:off x="5249825" y="5915076"/>
            <a:ext cx="6650948" cy="449194"/>
          </a:xfrm>
          <a:prstGeom prst="rect">
            <a:avLst/>
          </a:prstGeom>
        </p:spPr>
        <p:txBody>
          <a:bodyPr anchor="ctr"/>
          <a:lstStyle>
            <a:lvl1pPr marL="0" indent="0" algn="r">
              <a:buNone/>
              <a:defRPr sz="2200" b="1" baseline="0">
                <a:solidFill>
                  <a:schemeClr val="bg1"/>
                </a:solidFill>
              </a:defRPr>
            </a:lvl1pPr>
          </a:lstStyle>
          <a:p>
            <a:pPr lvl="0"/>
            <a:r>
              <a:rPr lang="en-US" dirty="0"/>
              <a:t>Takeaway – Do Not Reduce Font Size</a:t>
            </a:r>
          </a:p>
        </p:txBody>
      </p:sp>
    </p:spTree>
    <p:extLst>
      <p:ext uri="{BB962C8B-B14F-4D97-AF65-F5344CB8AC3E}">
        <p14:creationId xmlns:p14="http://schemas.microsoft.com/office/powerpoint/2010/main" val="36751731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ngle Summary">
    <p:bg>
      <p:bgPr>
        <a:solidFill>
          <a:schemeClr val="bg1"/>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1702CA03-45FF-4C87-A3A7-F373200BBD17}"/>
              </a:ext>
            </a:extLst>
          </p:cNvPr>
          <p:cNvSpPr/>
          <p:nvPr/>
        </p:nvSpPr>
        <p:spPr>
          <a:xfrm rot="10800000" flipH="1">
            <a:off x="-6321" y="4594970"/>
            <a:ext cx="2915100" cy="2103414"/>
          </a:xfrm>
          <a:custGeom>
            <a:avLst/>
            <a:gdLst>
              <a:gd name="connsiteX0" fmla="*/ 2104073 w 2095500"/>
              <a:gd name="connsiteY0" fmla="*/ 1181100 h 1181100"/>
              <a:gd name="connsiteX1" fmla="*/ 0 w 2095500"/>
              <a:gd name="connsiteY1" fmla="*/ 1181100 h 1181100"/>
              <a:gd name="connsiteX2" fmla="*/ 0 w 2095500"/>
              <a:gd name="connsiteY2" fmla="*/ 0 h 1181100"/>
              <a:gd name="connsiteX3" fmla="*/ 1296353 w 2095500"/>
              <a:gd name="connsiteY3" fmla="*/ 0 h 1181100"/>
              <a:gd name="connsiteX0" fmla="*/ 2104073 w 2104073"/>
              <a:gd name="connsiteY0" fmla="*/ 1181100 h 1181100"/>
              <a:gd name="connsiteX1" fmla="*/ 0 w 2104073"/>
              <a:gd name="connsiteY1" fmla="*/ 1181100 h 1181100"/>
              <a:gd name="connsiteX2" fmla="*/ 0 w 2104073"/>
              <a:gd name="connsiteY2" fmla="*/ 0 h 1181100"/>
              <a:gd name="connsiteX3" fmla="*/ 1419593 w 2104073"/>
              <a:gd name="connsiteY3" fmla="*/ 174728 h 1181100"/>
              <a:gd name="connsiteX4" fmla="*/ 2104073 w 2104073"/>
              <a:gd name="connsiteY4" fmla="*/ 1181100 h 1181100"/>
              <a:gd name="connsiteX0" fmla="*/ 2111776 w 2111776"/>
              <a:gd name="connsiteY0" fmla="*/ 1016650 h 1016650"/>
              <a:gd name="connsiteX1" fmla="*/ 7703 w 2111776"/>
              <a:gd name="connsiteY1" fmla="*/ 1016650 h 1016650"/>
              <a:gd name="connsiteX2" fmla="*/ 0 w 2111776"/>
              <a:gd name="connsiteY2" fmla="*/ 0 h 1016650"/>
              <a:gd name="connsiteX3" fmla="*/ 1427296 w 2111776"/>
              <a:gd name="connsiteY3" fmla="*/ 10278 h 1016650"/>
              <a:gd name="connsiteX4" fmla="*/ 2111776 w 2111776"/>
              <a:gd name="connsiteY4" fmla="*/ 1016650 h 1016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776" h="1016650">
                <a:moveTo>
                  <a:pt x="2111776" y="1016650"/>
                </a:moveTo>
                <a:lnTo>
                  <a:pt x="7703" y="1016650"/>
                </a:lnTo>
                <a:cubicBezTo>
                  <a:pt x="5135" y="677767"/>
                  <a:pt x="2568" y="338883"/>
                  <a:pt x="0" y="0"/>
                </a:cubicBezTo>
                <a:lnTo>
                  <a:pt x="1427296" y="10278"/>
                </a:lnTo>
                <a:lnTo>
                  <a:pt x="2111776" y="1016650"/>
                </a:lnTo>
                <a:close/>
              </a:path>
            </a:pathLst>
          </a:custGeom>
          <a:gradFill>
            <a:gsLst>
              <a:gs pos="43000">
                <a:srgbClr val="C00000">
                  <a:lumMod val="99000"/>
                </a:srgbClr>
              </a:gs>
              <a:gs pos="0">
                <a:srgbClr val="841618"/>
              </a:gs>
              <a:gs pos="100000">
                <a:srgbClr val="E60000"/>
              </a:gs>
            </a:gsLst>
            <a:lin ang="18900000" scaled="1"/>
          </a:gradFill>
          <a:ln w="9525" cap="flat">
            <a:noFill/>
            <a:prstDash val="solid"/>
            <a:miter/>
          </a:ln>
        </p:spPr>
        <p:txBody>
          <a:bodyPr rtlCol="0" anchor="ctr"/>
          <a:lstStyle/>
          <a:p>
            <a:endParaRPr lang="en-ID" dirty="0"/>
          </a:p>
        </p:txBody>
      </p:sp>
      <p:sp>
        <p:nvSpPr>
          <p:cNvPr id="6" name="Freeform: Shape 5">
            <a:extLst>
              <a:ext uri="{FF2B5EF4-FFF2-40B4-BE49-F238E27FC236}">
                <a16:creationId xmlns:a16="http://schemas.microsoft.com/office/drawing/2014/main" id="{555C9978-CBFD-4B17-BCAD-8B3C323071F1}"/>
              </a:ext>
            </a:extLst>
          </p:cNvPr>
          <p:cNvSpPr/>
          <p:nvPr/>
        </p:nvSpPr>
        <p:spPr>
          <a:xfrm rot="10800000" flipH="1">
            <a:off x="0" y="0"/>
            <a:ext cx="3431714" cy="6858000"/>
          </a:xfrm>
          <a:custGeom>
            <a:avLst/>
            <a:gdLst>
              <a:gd name="connsiteX0" fmla="*/ 2493645 w 2486025"/>
              <a:gd name="connsiteY0" fmla="*/ 3319463 h 3314700"/>
              <a:gd name="connsiteX1" fmla="*/ 0 w 2486025"/>
              <a:gd name="connsiteY1" fmla="*/ 3319463 h 3314700"/>
              <a:gd name="connsiteX2" fmla="*/ 0 w 2486025"/>
              <a:gd name="connsiteY2" fmla="*/ 0 h 3314700"/>
              <a:gd name="connsiteX3" fmla="*/ 226695 w 2486025"/>
              <a:gd name="connsiteY3" fmla="*/ 0 h 3314700"/>
              <a:gd name="connsiteX4" fmla="*/ 1033463 w 2486025"/>
              <a:gd name="connsiteY4" fmla="*/ 118110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6025" h="3314700">
                <a:moveTo>
                  <a:pt x="2493645" y="3319463"/>
                </a:moveTo>
                <a:lnTo>
                  <a:pt x="0" y="3319463"/>
                </a:lnTo>
                <a:lnTo>
                  <a:pt x="0" y="0"/>
                </a:lnTo>
                <a:lnTo>
                  <a:pt x="226695" y="0"/>
                </a:lnTo>
                <a:lnTo>
                  <a:pt x="1033463" y="1181100"/>
                </a:lnTo>
                <a:close/>
              </a:path>
            </a:pathLst>
          </a:custGeom>
          <a:gradFill>
            <a:gsLst>
              <a:gs pos="0">
                <a:srgbClr val="841618"/>
              </a:gs>
              <a:gs pos="98851">
                <a:srgbClr val="E60000"/>
              </a:gs>
              <a:gs pos="58000">
                <a:srgbClr val="C00000"/>
              </a:gs>
            </a:gsLst>
            <a:lin ang="2700000" scaled="1"/>
          </a:gradFill>
          <a:ln w="9525" cap="flat">
            <a:noFill/>
            <a:prstDash val="solid"/>
            <a:miter/>
          </a:ln>
        </p:spPr>
        <p:txBody>
          <a:bodyPr rtlCol="0" anchor="ctr"/>
          <a:lstStyle/>
          <a:p>
            <a:endParaRPr lang="en-ID" dirty="0"/>
          </a:p>
        </p:txBody>
      </p:sp>
      <p:sp>
        <p:nvSpPr>
          <p:cNvPr id="7" name="Freeform: Shape 6">
            <a:extLst>
              <a:ext uri="{FF2B5EF4-FFF2-40B4-BE49-F238E27FC236}">
                <a16:creationId xmlns:a16="http://schemas.microsoft.com/office/drawing/2014/main" id="{9409CC58-756D-4B66-A086-D88FBDE6F994}"/>
              </a:ext>
            </a:extLst>
          </p:cNvPr>
          <p:cNvSpPr/>
          <p:nvPr/>
        </p:nvSpPr>
        <p:spPr>
          <a:xfrm rot="10800000" flipH="1">
            <a:off x="4312" y="1234943"/>
            <a:ext cx="1577800" cy="4000500"/>
          </a:xfrm>
          <a:custGeom>
            <a:avLst/>
            <a:gdLst>
              <a:gd name="connsiteX0" fmla="*/ 1146810 w 1143000"/>
              <a:gd name="connsiteY0" fmla="*/ 1937385 h 1933575"/>
              <a:gd name="connsiteX1" fmla="*/ 0 w 1143000"/>
              <a:gd name="connsiteY1" fmla="*/ 1937385 h 1933575"/>
              <a:gd name="connsiteX2" fmla="*/ 0 w 1143000"/>
              <a:gd name="connsiteY2" fmla="*/ 0 h 1933575"/>
              <a:gd name="connsiteX3" fmla="*/ 182880 w 1143000"/>
              <a:gd name="connsiteY3" fmla="*/ 309563 h 1933575"/>
            </a:gdLst>
            <a:ahLst/>
            <a:cxnLst>
              <a:cxn ang="0">
                <a:pos x="connsiteX0" y="connsiteY0"/>
              </a:cxn>
              <a:cxn ang="0">
                <a:pos x="connsiteX1" y="connsiteY1"/>
              </a:cxn>
              <a:cxn ang="0">
                <a:pos x="connsiteX2" y="connsiteY2"/>
              </a:cxn>
              <a:cxn ang="0">
                <a:pos x="connsiteX3" y="connsiteY3"/>
              </a:cxn>
            </a:cxnLst>
            <a:rect l="l" t="t" r="r" b="b"/>
            <a:pathLst>
              <a:path w="1143000" h="1933575">
                <a:moveTo>
                  <a:pt x="1146810" y="1937385"/>
                </a:moveTo>
                <a:lnTo>
                  <a:pt x="0" y="1937385"/>
                </a:lnTo>
                <a:lnTo>
                  <a:pt x="0" y="0"/>
                </a:lnTo>
                <a:lnTo>
                  <a:pt x="182880" y="309563"/>
                </a:lnTo>
                <a:close/>
              </a:path>
            </a:pathLst>
          </a:custGeom>
          <a:solidFill>
            <a:srgbClr val="2F465A"/>
          </a:solidFill>
          <a:ln w="9525" cap="flat">
            <a:noFill/>
            <a:prstDash val="solid"/>
            <a:miter/>
          </a:ln>
        </p:spPr>
        <p:txBody>
          <a:bodyPr rtlCol="0" anchor="ctr"/>
          <a:lstStyle/>
          <a:p>
            <a:endParaRPr lang="en-ID" dirty="0"/>
          </a:p>
        </p:txBody>
      </p:sp>
      <p:sp>
        <p:nvSpPr>
          <p:cNvPr id="10" name="Freeform: Shape 9">
            <a:extLst>
              <a:ext uri="{FF2B5EF4-FFF2-40B4-BE49-F238E27FC236}">
                <a16:creationId xmlns:a16="http://schemas.microsoft.com/office/drawing/2014/main" id="{B6E2658E-EA99-4B41-B1BF-591F4C99E21C}"/>
              </a:ext>
            </a:extLst>
          </p:cNvPr>
          <p:cNvSpPr/>
          <p:nvPr userDrawn="1"/>
        </p:nvSpPr>
        <p:spPr>
          <a:xfrm rot="10800000">
            <a:off x="256757" y="1227057"/>
            <a:ext cx="4179855" cy="3367909"/>
          </a:xfrm>
          <a:custGeom>
            <a:avLst/>
            <a:gdLst>
              <a:gd name="connsiteX0" fmla="*/ 2469055 w 6754835"/>
              <a:gd name="connsiteY0" fmla="*/ 0 h 3367909"/>
              <a:gd name="connsiteX1" fmla="*/ 6754835 w 6754835"/>
              <a:gd name="connsiteY1" fmla="*/ 0 h 3367909"/>
              <a:gd name="connsiteX2" fmla="*/ 4604508 w 6754835"/>
              <a:gd name="connsiteY2" fmla="*/ 3367909 h 3367909"/>
              <a:gd name="connsiteX3" fmla="*/ 0 w 6754835"/>
              <a:gd name="connsiteY3" fmla="*/ 3367909 h 3367909"/>
            </a:gdLst>
            <a:ahLst/>
            <a:cxnLst>
              <a:cxn ang="0">
                <a:pos x="connsiteX0" y="connsiteY0"/>
              </a:cxn>
              <a:cxn ang="0">
                <a:pos x="connsiteX1" y="connsiteY1"/>
              </a:cxn>
              <a:cxn ang="0">
                <a:pos x="connsiteX2" y="connsiteY2"/>
              </a:cxn>
              <a:cxn ang="0">
                <a:pos x="connsiteX3" y="connsiteY3"/>
              </a:cxn>
            </a:cxnLst>
            <a:rect l="l" t="t" r="r" b="b"/>
            <a:pathLst>
              <a:path w="6754835" h="3367909">
                <a:moveTo>
                  <a:pt x="2469055" y="0"/>
                </a:moveTo>
                <a:lnTo>
                  <a:pt x="6754835" y="0"/>
                </a:lnTo>
                <a:lnTo>
                  <a:pt x="4604508" y="3367909"/>
                </a:lnTo>
                <a:lnTo>
                  <a:pt x="0" y="3367909"/>
                </a:lnTo>
                <a:close/>
              </a:path>
            </a:pathLst>
          </a:custGeom>
          <a:gradFill>
            <a:gsLst>
              <a:gs pos="43000">
                <a:srgbClr val="C00000">
                  <a:lumMod val="99000"/>
                </a:srgbClr>
              </a:gs>
              <a:gs pos="0">
                <a:srgbClr val="841618"/>
              </a:gs>
              <a:gs pos="100000">
                <a:srgbClr val="E60000"/>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8" name="Freeform: Shape 7">
            <a:extLst>
              <a:ext uri="{FF2B5EF4-FFF2-40B4-BE49-F238E27FC236}">
                <a16:creationId xmlns:a16="http://schemas.microsoft.com/office/drawing/2014/main" id="{D6324AC4-8B66-4E43-AB67-F7EC1B44F383}"/>
              </a:ext>
            </a:extLst>
          </p:cNvPr>
          <p:cNvSpPr/>
          <p:nvPr userDrawn="1"/>
        </p:nvSpPr>
        <p:spPr>
          <a:xfrm rot="10800000" flipH="1">
            <a:off x="1430906" y="1244798"/>
            <a:ext cx="2997820" cy="3350172"/>
          </a:xfrm>
          <a:custGeom>
            <a:avLst/>
            <a:gdLst>
              <a:gd name="connsiteX0" fmla="*/ 1111568 w 2171700"/>
              <a:gd name="connsiteY0" fmla="*/ 1627823 h 1619250"/>
              <a:gd name="connsiteX1" fmla="*/ 2177415 w 2171700"/>
              <a:gd name="connsiteY1" fmla="*/ 1627823 h 1619250"/>
              <a:gd name="connsiteX2" fmla="*/ 1545907 w 2171700"/>
              <a:gd name="connsiteY2" fmla="*/ 699135 h 1619250"/>
              <a:gd name="connsiteX3" fmla="*/ 1070610 w 2171700"/>
              <a:gd name="connsiteY3" fmla="*/ 0 h 1619250"/>
              <a:gd name="connsiteX4" fmla="*/ 0 w 2171700"/>
              <a:gd name="connsiteY4" fmla="*/ 0 h 1619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700" h="1619250">
                <a:moveTo>
                  <a:pt x="1111568" y="1627823"/>
                </a:moveTo>
                <a:lnTo>
                  <a:pt x="2177415" y="1627823"/>
                </a:lnTo>
                <a:lnTo>
                  <a:pt x="1545907" y="699135"/>
                </a:lnTo>
                <a:lnTo>
                  <a:pt x="1070610" y="0"/>
                </a:lnTo>
                <a:lnTo>
                  <a:pt x="0" y="0"/>
                </a:lnTo>
                <a:close/>
              </a:path>
            </a:pathLst>
          </a:custGeom>
          <a:gradFill>
            <a:gsLst>
              <a:gs pos="15000">
                <a:srgbClr val="841618"/>
              </a:gs>
              <a:gs pos="78000">
                <a:srgbClr val="E60000"/>
              </a:gs>
              <a:gs pos="100000">
                <a:srgbClr val="C00000"/>
              </a:gs>
            </a:gsLst>
            <a:lin ang="2700000" scaled="1"/>
          </a:gradFill>
          <a:ln w="9525" cap="flat">
            <a:noFill/>
            <a:prstDash val="solid"/>
            <a:miter/>
          </a:ln>
        </p:spPr>
        <p:txBody>
          <a:bodyPr rtlCol="0" anchor="ctr"/>
          <a:lstStyle/>
          <a:p>
            <a:endParaRPr lang="en-ID" dirty="0"/>
          </a:p>
        </p:txBody>
      </p:sp>
      <p:sp>
        <p:nvSpPr>
          <p:cNvPr id="4" name="Oval 3">
            <a:extLst>
              <a:ext uri="{FF2B5EF4-FFF2-40B4-BE49-F238E27FC236}">
                <a16:creationId xmlns:a16="http://schemas.microsoft.com/office/drawing/2014/main" id="{423B247B-7748-4C04-A3ED-54C61AFE0BA4}"/>
              </a:ext>
            </a:extLst>
          </p:cNvPr>
          <p:cNvSpPr/>
          <p:nvPr userDrawn="1"/>
        </p:nvSpPr>
        <p:spPr>
          <a:xfrm>
            <a:off x="551785" y="1696915"/>
            <a:ext cx="3581174" cy="358117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6" name="Picture Placeholder 15">
            <a:extLst>
              <a:ext uri="{FF2B5EF4-FFF2-40B4-BE49-F238E27FC236}">
                <a16:creationId xmlns:a16="http://schemas.microsoft.com/office/drawing/2014/main" id="{203F2AC8-143B-49A1-BC9D-C762639D3F52}"/>
              </a:ext>
            </a:extLst>
          </p:cNvPr>
          <p:cNvSpPr>
            <a:spLocks noGrp="1"/>
          </p:cNvSpPr>
          <p:nvPr>
            <p:ph type="pic" sz="quarter" idx="10"/>
          </p:nvPr>
        </p:nvSpPr>
        <p:spPr>
          <a:xfrm>
            <a:off x="753273" y="1898403"/>
            <a:ext cx="3178198" cy="3178198"/>
          </a:xfrm>
          <a:custGeom>
            <a:avLst/>
            <a:gdLst>
              <a:gd name="connsiteX0" fmla="*/ 1482470 w 2964940"/>
              <a:gd name="connsiteY0" fmla="*/ 0 h 2964940"/>
              <a:gd name="connsiteX1" fmla="*/ 2964940 w 2964940"/>
              <a:gd name="connsiteY1" fmla="*/ 1482470 h 2964940"/>
              <a:gd name="connsiteX2" fmla="*/ 1482470 w 2964940"/>
              <a:gd name="connsiteY2" fmla="*/ 2964940 h 2964940"/>
              <a:gd name="connsiteX3" fmla="*/ 0 w 2964940"/>
              <a:gd name="connsiteY3" fmla="*/ 1482470 h 2964940"/>
              <a:gd name="connsiteX4" fmla="*/ 1482470 w 2964940"/>
              <a:gd name="connsiteY4" fmla="*/ 0 h 29649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4940" h="2964940">
                <a:moveTo>
                  <a:pt x="1482470" y="0"/>
                </a:moveTo>
                <a:cubicBezTo>
                  <a:pt x="2301216" y="0"/>
                  <a:pt x="2964940" y="663724"/>
                  <a:pt x="2964940" y="1482470"/>
                </a:cubicBezTo>
                <a:cubicBezTo>
                  <a:pt x="2964940" y="2301216"/>
                  <a:pt x="2301216" y="2964940"/>
                  <a:pt x="1482470" y="2964940"/>
                </a:cubicBezTo>
                <a:cubicBezTo>
                  <a:pt x="663724" y="2964940"/>
                  <a:pt x="0" y="2301216"/>
                  <a:pt x="0" y="1482470"/>
                </a:cubicBezTo>
                <a:cubicBezTo>
                  <a:pt x="0" y="663724"/>
                  <a:pt x="663724" y="0"/>
                  <a:pt x="1482470" y="0"/>
                </a:cubicBezTo>
                <a:close/>
              </a:path>
            </a:pathLst>
          </a:custGeom>
        </p:spPr>
        <p:txBody>
          <a:bodyPr wrap="square">
            <a:noAutofit/>
          </a:bodyPr>
          <a:lstStyle>
            <a:lvl1pPr>
              <a:defRPr>
                <a:latin typeface="Roboto" panose="02000000000000000000" pitchFamily="2" charset="0"/>
                <a:ea typeface="Roboto" panose="02000000000000000000" pitchFamily="2" charset="0"/>
              </a:defRPr>
            </a:lvl1pPr>
          </a:lstStyle>
          <a:p>
            <a:endParaRPr lang="en-ID" dirty="0"/>
          </a:p>
        </p:txBody>
      </p:sp>
      <p:sp>
        <p:nvSpPr>
          <p:cNvPr id="35" name="Title 31">
            <a:extLst>
              <a:ext uri="{FF2B5EF4-FFF2-40B4-BE49-F238E27FC236}">
                <a16:creationId xmlns:a16="http://schemas.microsoft.com/office/drawing/2014/main" id="{0E1517FA-5932-40E0-8AB1-8471753690B1}"/>
              </a:ext>
            </a:extLst>
          </p:cNvPr>
          <p:cNvSpPr>
            <a:spLocks noGrp="1"/>
          </p:cNvSpPr>
          <p:nvPr>
            <p:ph type="title"/>
          </p:nvPr>
        </p:nvSpPr>
        <p:spPr>
          <a:xfrm>
            <a:off x="4645992" y="533646"/>
            <a:ext cx="6994223" cy="1163269"/>
          </a:xfrm>
          <a:prstGeom prst="rect">
            <a:avLst/>
          </a:prstGeom>
        </p:spPr>
        <p:txBody>
          <a:bodyPr anchor="t"/>
          <a:lstStyle>
            <a:lvl1pPr>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Click to edit Master title style</a:t>
            </a:r>
            <a:endParaRPr lang="en-ID" dirty="0"/>
          </a:p>
        </p:txBody>
      </p:sp>
      <p:sp>
        <p:nvSpPr>
          <p:cNvPr id="14" name="Text Placeholder 73">
            <a:extLst>
              <a:ext uri="{FF2B5EF4-FFF2-40B4-BE49-F238E27FC236}">
                <a16:creationId xmlns:a16="http://schemas.microsoft.com/office/drawing/2014/main" id="{ABF3F41E-8875-4FA2-8287-36CAA1FF1E60}"/>
              </a:ext>
            </a:extLst>
          </p:cNvPr>
          <p:cNvSpPr>
            <a:spLocks noGrp="1"/>
          </p:cNvSpPr>
          <p:nvPr>
            <p:ph type="body" sz="quarter" idx="29"/>
          </p:nvPr>
        </p:nvSpPr>
        <p:spPr>
          <a:xfrm>
            <a:off x="4645992" y="2055813"/>
            <a:ext cx="6994223" cy="3581174"/>
          </a:xfrm>
          <a:prstGeom prst="rect">
            <a:avLst/>
          </a:prstGeom>
        </p:spPr>
        <p:txBody>
          <a:bodyPr>
            <a:normAutofit/>
          </a:bodyPr>
          <a:lstStyle>
            <a:lvl1pPr marL="0" indent="0" algn="l">
              <a:lnSpc>
                <a:spcPct val="130000"/>
              </a:lnSpc>
              <a:buNone/>
              <a:defRPr sz="1400">
                <a:solidFill>
                  <a:schemeClr val="tx1"/>
                </a:solidFill>
                <a:latin typeface="Roboto" panose="02000000000000000000" pitchFamily="2" charset="0"/>
                <a:ea typeface="Roboto" panose="02000000000000000000" pitchFamily="2" charset="0"/>
              </a:defRPr>
            </a:lvl1pPr>
          </a:lstStyle>
          <a:p>
            <a:pPr lvl="0"/>
            <a:endParaRPr lang="en-ID" dirty="0"/>
          </a:p>
        </p:txBody>
      </p:sp>
      <p:grpSp>
        <p:nvGrpSpPr>
          <p:cNvPr id="3" name="Group 2">
            <a:extLst>
              <a:ext uri="{FF2B5EF4-FFF2-40B4-BE49-F238E27FC236}">
                <a16:creationId xmlns:a16="http://schemas.microsoft.com/office/drawing/2014/main" id="{C6610D2F-519A-4691-2828-DA4B4B4D354D}"/>
              </a:ext>
            </a:extLst>
          </p:cNvPr>
          <p:cNvGrpSpPr/>
          <p:nvPr userDrawn="1"/>
        </p:nvGrpSpPr>
        <p:grpSpPr>
          <a:xfrm>
            <a:off x="0" y="6489376"/>
            <a:ext cx="12183035" cy="368831"/>
            <a:chOff x="0" y="6489376"/>
            <a:chExt cx="12183035" cy="368831"/>
          </a:xfrm>
        </p:grpSpPr>
        <p:sp>
          <p:nvSpPr>
            <p:cNvPr id="9" name="Rectangle 8">
              <a:extLst>
                <a:ext uri="{FF2B5EF4-FFF2-40B4-BE49-F238E27FC236}">
                  <a16:creationId xmlns:a16="http://schemas.microsoft.com/office/drawing/2014/main" id="{BDFDC8B3-8A35-184F-E6EF-53120DCD3CDA}"/>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Rectangle 10">
              <a:extLst>
                <a:ext uri="{FF2B5EF4-FFF2-40B4-BE49-F238E27FC236}">
                  <a16:creationId xmlns:a16="http://schemas.microsoft.com/office/drawing/2014/main" id="{8526AD2E-B6D3-7291-1CC0-819EDBF181B1}"/>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2" name="Rectangle 11">
              <a:extLst>
                <a:ext uri="{FF2B5EF4-FFF2-40B4-BE49-F238E27FC236}">
                  <a16:creationId xmlns:a16="http://schemas.microsoft.com/office/drawing/2014/main" id="{3C034785-652A-682E-ABB4-CCA295C334C8}"/>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 name="TextBox 14">
              <a:extLst>
                <a:ext uri="{FF2B5EF4-FFF2-40B4-BE49-F238E27FC236}">
                  <a16:creationId xmlns:a16="http://schemas.microsoft.com/office/drawing/2014/main" id="{FDF2C750-6FE1-DAB2-A584-3F0B0259399A}"/>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17" name="Picture 16">
              <a:extLst>
                <a:ext uri="{FF2B5EF4-FFF2-40B4-BE49-F238E27FC236}">
                  <a16:creationId xmlns:a16="http://schemas.microsoft.com/office/drawing/2014/main" id="{D23B1F7A-F558-6CCF-2485-89521443D40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18" name="Slide Number Placeholder 5">
            <a:extLst>
              <a:ext uri="{FF2B5EF4-FFF2-40B4-BE49-F238E27FC236}">
                <a16:creationId xmlns:a16="http://schemas.microsoft.com/office/drawing/2014/main" id="{8AA8EF16-149A-1701-F163-D5EC5435FB7A}"/>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Tree>
    <p:extLst>
      <p:ext uri="{BB962C8B-B14F-4D97-AF65-F5344CB8AC3E}">
        <p14:creationId xmlns:p14="http://schemas.microsoft.com/office/powerpoint/2010/main" val="1020124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Summary +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8448683-2C7C-43B4-AB6C-D6EF94546AF4}"/>
              </a:ext>
            </a:extLst>
          </p:cNvPr>
          <p:cNvSpPr/>
          <p:nvPr userDrawn="1"/>
        </p:nvSpPr>
        <p:spPr>
          <a:xfrm>
            <a:off x="0" y="0"/>
            <a:ext cx="12192000" cy="1222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295005" y="432023"/>
            <a:ext cx="8148539" cy="579091"/>
          </a:xfrm>
          <a:prstGeom prst="rect">
            <a:avLst/>
          </a:prstGeom>
        </p:spPr>
        <p:txBody>
          <a:bodyPr/>
          <a:lstStyle>
            <a:lvl1pPr algn="l">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2" name="Slide Number Placeholder 5">
            <a:extLst>
              <a:ext uri="{FF2B5EF4-FFF2-40B4-BE49-F238E27FC236}">
                <a16:creationId xmlns:a16="http://schemas.microsoft.com/office/drawing/2014/main" id="{1EDC2A64-09D8-2D24-2124-3A421ADFC534}"/>
              </a:ext>
            </a:extLst>
          </p:cNvPr>
          <p:cNvSpPr txBox="1">
            <a:spLocks/>
          </p:cNvSpPr>
          <p:nvPr userDrawn="1"/>
        </p:nvSpPr>
        <p:spPr>
          <a:xfrm>
            <a:off x="5679139" y="6489376"/>
            <a:ext cx="838201"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
        <p:nvSpPr>
          <p:cNvPr id="32" name="Slide Number Placeholder 5">
            <a:extLst>
              <a:ext uri="{FF2B5EF4-FFF2-40B4-BE49-F238E27FC236}">
                <a16:creationId xmlns:a16="http://schemas.microsoft.com/office/drawing/2014/main" id="{3C941877-ABE7-6360-ED57-4FBD6AAB1377}"/>
              </a:ext>
            </a:extLst>
          </p:cNvPr>
          <p:cNvSpPr txBox="1">
            <a:spLocks/>
          </p:cNvSpPr>
          <p:nvPr userDrawn="1"/>
        </p:nvSpPr>
        <p:spPr>
          <a:xfrm>
            <a:off x="5688103" y="6419880"/>
            <a:ext cx="823634" cy="438120"/>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grpSp>
        <p:nvGrpSpPr>
          <p:cNvPr id="33" name="Group 32">
            <a:extLst>
              <a:ext uri="{FF2B5EF4-FFF2-40B4-BE49-F238E27FC236}">
                <a16:creationId xmlns:a16="http://schemas.microsoft.com/office/drawing/2014/main" id="{FA3D73B4-27BA-6EC0-D86F-C63CBF1F9B11}"/>
              </a:ext>
            </a:extLst>
          </p:cNvPr>
          <p:cNvGrpSpPr/>
          <p:nvPr userDrawn="1"/>
        </p:nvGrpSpPr>
        <p:grpSpPr>
          <a:xfrm>
            <a:off x="0" y="6489376"/>
            <a:ext cx="12183035" cy="368831"/>
            <a:chOff x="0" y="6489376"/>
            <a:chExt cx="12183035" cy="368831"/>
          </a:xfrm>
        </p:grpSpPr>
        <p:sp>
          <p:nvSpPr>
            <p:cNvPr id="34" name="Rectangle 33">
              <a:extLst>
                <a:ext uri="{FF2B5EF4-FFF2-40B4-BE49-F238E27FC236}">
                  <a16:creationId xmlns:a16="http://schemas.microsoft.com/office/drawing/2014/main" id="{5731879F-D5D8-BB35-1533-66B402962C85}"/>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Rectangle 34">
              <a:extLst>
                <a:ext uri="{FF2B5EF4-FFF2-40B4-BE49-F238E27FC236}">
                  <a16:creationId xmlns:a16="http://schemas.microsoft.com/office/drawing/2014/main" id="{3691FD63-D1C9-F7AC-FD0A-36F271424AFC}"/>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6" name="Rectangle 35">
              <a:extLst>
                <a:ext uri="{FF2B5EF4-FFF2-40B4-BE49-F238E27FC236}">
                  <a16:creationId xmlns:a16="http://schemas.microsoft.com/office/drawing/2014/main" id="{3259CAE2-C8DC-3FAA-1FA2-278321A2DF34}"/>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7" name="TextBox 36">
              <a:extLst>
                <a:ext uri="{FF2B5EF4-FFF2-40B4-BE49-F238E27FC236}">
                  <a16:creationId xmlns:a16="http://schemas.microsoft.com/office/drawing/2014/main" id="{AC4B40D5-1819-50D4-C72E-3D9B73D3F2E8}"/>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38" name="Picture 37">
              <a:extLst>
                <a:ext uri="{FF2B5EF4-FFF2-40B4-BE49-F238E27FC236}">
                  <a16:creationId xmlns:a16="http://schemas.microsoft.com/office/drawing/2014/main" id="{86EACA8D-4057-2221-3422-8F6E21B7FDD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39" name="Slide Number Placeholder 5">
            <a:extLst>
              <a:ext uri="{FF2B5EF4-FFF2-40B4-BE49-F238E27FC236}">
                <a16:creationId xmlns:a16="http://schemas.microsoft.com/office/drawing/2014/main" id="{F334CAB1-092C-6347-9CC8-546DDA8B90EB}"/>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
        <p:nvSpPr>
          <p:cNvPr id="4" name="Text Placeholder 73">
            <a:extLst>
              <a:ext uri="{FF2B5EF4-FFF2-40B4-BE49-F238E27FC236}">
                <a16:creationId xmlns:a16="http://schemas.microsoft.com/office/drawing/2014/main" id="{300699A7-A808-3156-A482-9544E21508DD}"/>
              </a:ext>
            </a:extLst>
          </p:cNvPr>
          <p:cNvSpPr>
            <a:spLocks noGrp="1"/>
          </p:cNvSpPr>
          <p:nvPr>
            <p:ph type="body" sz="quarter" idx="29"/>
          </p:nvPr>
        </p:nvSpPr>
        <p:spPr>
          <a:xfrm>
            <a:off x="511888" y="2869015"/>
            <a:ext cx="3391897" cy="368624"/>
          </a:xfrm>
          <a:prstGeom prst="rect">
            <a:avLst/>
          </a:prstGeom>
        </p:spPr>
        <p:txBody>
          <a:bodyPr>
            <a:noAutofit/>
          </a:bodyPr>
          <a:lstStyle>
            <a:lvl1pPr marL="0" indent="0" algn="ctr">
              <a:lnSpc>
                <a:spcPct val="130000"/>
              </a:lnSpc>
              <a:buNone/>
              <a:defRPr sz="1600" b="1">
                <a:solidFill>
                  <a:srgbClr val="BB2121"/>
                </a:solidFill>
                <a:latin typeface="Roboto" panose="02000000000000000000" pitchFamily="2" charset="0"/>
                <a:ea typeface="Roboto" panose="02000000000000000000" pitchFamily="2" charset="0"/>
              </a:defRPr>
            </a:lvl1pPr>
          </a:lstStyle>
          <a:p>
            <a:pPr lvl="0"/>
            <a:endParaRPr lang="en-ID" dirty="0"/>
          </a:p>
        </p:txBody>
      </p:sp>
      <p:sp>
        <p:nvSpPr>
          <p:cNvPr id="5" name="Text Placeholder 73">
            <a:extLst>
              <a:ext uri="{FF2B5EF4-FFF2-40B4-BE49-F238E27FC236}">
                <a16:creationId xmlns:a16="http://schemas.microsoft.com/office/drawing/2014/main" id="{D6E7BE9F-54BA-AA3A-8E3B-174C3B18D16C}"/>
              </a:ext>
            </a:extLst>
          </p:cNvPr>
          <p:cNvSpPr>
            <a:spLocks noGrp="1"/>
          </p:cNvSpPr>
          <p:nvPr>
            <p:ph type="body" sz="quarter" idx="34"/>
          </p:nvPr>
        </p:nvSpPr>
        <p:spPr>
          <a:xfrm>
            <a:off x="511888" y="3364314"/>
            <a:ext cx="3391897" cy="2876148"/>
          </a:xfrm>
          <a:prstGeom prst="rect">
            <a:avLst/>
          </a:prstGeom>
        </p:spPr>
        <p:txBody>
          <a:bodyPr>
            <a:normAutofit/>
          </a:bodyPr>
          <a:lstStyle>
            <a:lvl1pPr marL="0" indent="0" algn="ctr">
              <a:lnSpc>
                <a:spcPct val="130000"/>
              </a:lnSpc>
              <a:buNone/>
              <a:defRPr sz="1400">
                <a:solidFill>
                  <a:schemeClr val="tx1">
                    <a:lumMod val="75000"/>
                    <a:lumOff val="25000"/>
                  </a:schemeClr>
                </a:solidFill>
                <a:latin typeface="Roboto" panose="02000000000000000000" pitchFamily="2" charset="0"/>
                <a:ea typeface="Roboto" panose="02000000000000000000" pitchFamily="2" charset="0"/>
              </a:defRPr>
            </a:lvl1pPr>
          </a:lstStyle>
          <a:p>
            <a:pPr lvl="0"/>
            <a:endParaRPr lang="en-ID" dirty="0"/>
          </a:p>
        </p:txBody>
      </p:sp>
      <p:sp>
        <p:nvSpPr>
          <p:cNvPr id="6" name="Picture Placeholder 3">
            <a:extLst>
              <a:ext uri="{FF2B5EF4-FFF2-40B4-BE49-F238E27FC236}">
                <a16:creationId xmlns:a16="http://schemas.microsoft.com/office/drawing/2014/main" id="{664DDBEC-AC22-9A07-9E96-524305A2AF05}"/>
              </a:ext>
            </a:extLst>
          </p:cNvPr>
          <p:cNvSpPr>
            <a:spLocks noGrp="1"/>
          </p:cNvSpPr>
          <p:nvPr>
            <p:ph type="pic" sz="quarter" idx="35"/>
          </p:nvPr>
        </p:nvSpPr>
        <p:spPr>
          <a:xfrm>
            <a:off x="1328361" y="1442669"/>
            <a:ext cx="1758950" cy="1300163"/>
          </a:xfrm>
          <a:prstGeom prst="round2DiagRect">
            <a:avLst/>
          </a:prstGeom>
        </p:spPr>
        <p:txBody>
          <a:bodyPr/>
          <a:lstStyle>
            <a:lvl1pPr>
              <a:defRPr sz="1400">
                <a:solidFill>
                  <a:schemeClr val="tx1">
                    <a:lumMod val="75000"/>
                    <a:lumOff val="25000"/>
                  </a:schemeClr>
                </a:solidFill>
                <a:latin typeface="Roboto" panose="02000000000000000000" pitchFamily="2" charset="0"/>
                <a:ea typeface="Roboto" panose="02000000000000000000" pitchFamily="2" charset="0"/>
              </a:defRPr>
            </a:lvl1pPr>
          </a:lstStyle>
          <a:p>
            <a:endParaRPr lang="en-IN" dirty="0"/>
          </a:p>
        </p:txBody>
      </p:sp>
      <p:sp>
        <p:nvSpPr>
          <p:cNvPr id="7" name="Text Placeholder 73">
            <a:extLst>
              <a:ext uri="{FF2B5EF4-FFF2-40B4-BE49-F238E27FC236}">
                <a16:creationId xmlns:a16="http://schemas.microsoft.com/office/drawing/2014/main" id="{03BC05F8-30D7-F65E-05DB-3CBA3E6A7262}"/>
              </a:ext>
            </a:extLst>
          </p:cNvPr>
          <p:cNvSpPr>
            <a:spLocks noGrp="1"/>
          </p:cNvSpPr>
          <p:nvPr>
            <p:ph type="body" sz="quarter" idx="36"/>
          </p:nvPr>
        </p:nvSpPr>
        <p:spPr>
          <a:xfrm>
            <a:off x="4423495" y="2869015"/>
            <a:ext cx="3391897" cy="368624"/>
          </a:xfrm>
          <a:prstGeom prst="rect">
            <a:avLst/>
          </a:prstGeom>
        </p:spPr>
        <p:txBody>
          <a:bodyPr>
            <a:noAutofit/>
          </a:bodyPr>
          <a:lstStyle>
            <a:lvl1pPr marL="0" indent="0" algn="ctr">
              <a:lnSpc>
                <a:spcPct val="130000"/>
              </a:lnSpc>
              <a:buNone/>
              <a:defRPr sz="1600" b="1">
                <a:solidFill>
                  <a:srgbClr val="BB2121"/>
                </a:solidFill>
                <a:latin typeface="Roboto" panose="02000000000000000000" pitchFamily="2" charset="0"/>
                <a:ea typeface="Roboto" panose="02000000000000000000" pitchFamily="2" charset="0"/>
              </a:defRPr>
            </a:lvl1pPr>
          </a:lstStyle>
          <a:p>
            <a:pPr lvl="0"/>
            <a:endParaRPr lang="en-ID" dirty="0"/>
          </a:p>
        </p:txBody>
      </p:sp>
      <p:sp>
        <p:nvSpPr>
          <p:cNvPr id="8" name="Text Placeholder 73">
            <a:extLst>
              <a:ext uri="{FF2B5EF4-FFF2-40B4-BE49-F238E27FC236}">
                <a16:creationId xmlns:a16="http://schemas.microsoft.com/office/drawing/2014/main" id="{5B94E8E7-B1A3-F1EF-66B3-AA9F85B31C81}"/>
              </a:ext>
            </a:extLst>
          </p:cNvPr>
          <p:cNvSpPr>
            <a:spLocks noGrp="1"/>
          </p:cNvSpPr>
          <p:nvPr>
            <p:ph type="body" sz="quarter" idx="37"/>
          </p:nvPr>
        </p:nvSpPr>
        <p:spPr>
          <a:xfrm>
            <a:off x="4423495" y="3364314"/>
            <a:ext cx="3391897" cy="2876148"/>
          </a:xfrm>
          <a:prstGeom prst="rect">
            <a:avLst/>
          </a:prstGeom>
        </p:spPr>
        <p:txBody>
          <a:bodyPr>
            <a:normAutofit/>
          </a:bodyPr>
          <a:lstStyle>
            <a:lvl1pPr marL="0" indent="0" algn="ctr">
              <a:lnSpc>
                <a:spcPct val="130000"/>
              </a:lnSpc>
              <a:buNone/>
              <a:defRPr sz="1400">
                <a:solidFill>
                  <a:schemeClr val="tx1">
                    <a:lumMod val="75000"/>
                    <a:lumOff val="25000"/>
                  </a:schemeClr>
                </a:solidFill>
                <a:latin typeface="Roboto" panose="02000000000000000000" pitchFamily="2" charset="0"/>
                <a:ea typeface="Roboto" panose="02000000000000000000" pitchFamily="2" charset="0"/>
              </a:defRPr>
            </a:lvl1pPr>
          </a:lstStyle>
          <a:p>
            <a:pPr lvl="0"/>
            <a:endParaRPr lang="en-ID"/>
          </a:p>
        </p:txBody>
      </p:sp>
      <p:sp>
        <p:nvSpPr>
          <p:cNvPr id="9" name="Picture Placeholder 3">
            <a:extLst>
              <a:ext uri="{FF2B5EF4-FFF2-40B4-BE49-F238E27FC236}">
                <a16:creationId xmlns:a16="http://schemas.microsoft.com/office/drawing/2014/main" id="{5CD9A4C5-444A-E4DA-7319-05DBEB0DDDC7}"/>
              </a:ext>
            </a:extLst>
          </p:cNvPr>
          <p:cNvSpPr>
            <a:spLocks noGrp="1"/>
          </p:cNvSpPr>
          <p:nvPr>
            <p:ph type="pic" sz="quarter" idx="38"/>
          </p:nvPr>
        </p:nvSpPr>
        <p:spPr>
          <a:xfrm>
            <a:off x="5239968" y="1442669"/>
            <a:ext cx="1758950" cy="1300163"/>
          </a:xfrm>
          <a:prstGeom prst="round2DiagRect">
            <a:avLst/>
          </a:prstGeom>
        </p:spPr>
        <p:txBody>
          <a:bodyPr/>
          <a:lstStyle>
            <a:lvl1pPr>
              <a:defRPr sz="1400">
                <a:solidFill>
                  <a:schemeClr val="tx1">
                    <a:lumMod val="75000"/>
                    <a:lumOff val="25000"/>
                  </a:schemeClr>
                </a:solidFill>
                <a:latin typeface="Roboto" panose="02000000000000000000" pitchFamily="2" charset="0"/>
                <a:ea typeface="Roboto" panose="02000000000000000000" pitchFamily="2" charset="0"/>
              </a:defRPr>
            </a:lvl1pPr>
          </a:lstStyle>
          <a:p>
            <a:endParaRPr lang="en-IN" dirty="0"/>
          </a:p>
        </p:txBody>
      </p:sp>
      <p:sp>
        <p:nvSpPr>
          <p:cNvPr id="10" name="Text Placeholder 73">
            <a:extLst>
              <a:ext uri="{FF2B5EF4-FFF2-40B4-BE49-F238E27FC236}">
                <a16:creationId xmlns:a16="http://schemas.microsoft.com/office/drawing/2014/main" id="{C2A1B9DE-74AF-6153-01E2-EF595B2DB755}"/>
              </a:ext>
            </a:extLst>
          </p:cNvPr>
          <p:cNvSpPr>
            <a:spLocks noGrp="1"/>
          </p:cNvSpPr>
          <p:nvPr>
            <p:ph type="body" sz="quarter" idx="39"/>
          </p:nvPr>
        </p:nvSpPr>
        <p:spPr>
          <a:xfrm>
            <a:off x="8305799" y="2853472"/>
            <a:ext cx="3391897" cy="368624"/>
          </a:xfrm>
          <a:prstGeom prst="rect">
            <a:avLst/>
          </a:prstGeom>
        </p:spPr>
        <p:txBody>
          <a:bodyPr>
            <a:noAutofit/>
          </a:bodyPr>
          <a:lstStyle>
            <a:lvl1pPr marL="0" indent="0" algn="ctr">
              <a:lnSpc>
                <a:spcPct val="130000"/>
              </a:lnSpc>
              <a:buNone/>
              <a:defRPr sz="1600" b="1">
                <a:solidFill>
                  <a:srgbClr val="BB2121"/>
                </a:solidFill>
                <a:latin typeface="Roboto" panose="02000000000000000000" pitchFamily="2" charset="0"/>
                <a:ea typeface="Roboto" panose="02000000000000000000" pitchFamily="2" charset="0"/>
              </a:defRPr>
            </a:lvl1pPr>
          </a:lstStyle>
          <a:p>
            <a:pPr lvl="0"/>
            <a:endParaRPr lang="en-ID"/>
          </a:p>
        </p:txBody>
      </p:sp>
      <p:sp>
        <p:nvSpPr>
          <p:cNvPr id="11" name="Text Placeholder 73">
            <a:extLst>
              <a:ext uri="{FF2B5EF4-FFF2-40B4-BE49-F238E27FC236}">
                <a16:creationId xmlns:a16="http://schemas.microsoft.com/office/drawing/2014/main" id="{05C0715E-CFD0-9660-8A8F-9DA27252F5A8}"/>
              </a:ext>
            </a:extLst>
          </p:cNvPr>
          <p:cNvSpPr>
            <a:spLocks noGrp="1"/>
          </p:cNvSpPr>
          <p:nvPr>
            <p:ph type="body" sz="quarter" idx="40"/>
          </p:nvPr>
        </p:nvSpPr>
        <p:spPr>
          <a:xfrm>
            <a:off x="8305799" y="3348771"/>
            <a:ext cx="3391897" cy="2876148"/>
          </a:xfrm>
          <a:prstGeom prst="rect">
            <a:avLst/>
          </a:prstGeom>
        </p:spPr>
        <p:txBody>
          <a:bodyPr>
            <a:normAutofit/>
          </a:bodyPr>
          <a:lstStyle>
            <a:lvl1pPr marL="0" indent="0" algn="ctr">
              <a:lnSpc>
                <a:spcPct val="130000"/>
              </a:lnSpc>
              <a:buNone/>
              <a:defRPr sz="1400">
                <a:solidFill>
                  <a:schemeClr val="tx1">
                    <a:lumMod val="75000"/>
                    <a:lumOff val="25000"/>
                  </a:schemeClr>
                </a:solidFill>
                <a:latin typeface="Roboto" panose="02000000000000000000" pitchFamily="2" charset="0"/>
                <a:ea typeface="Roboto" panose="02000000000000000000" pitchFamily="2" charset="0"/>
              </a:defRPr>
            </a:lvl1pPr>
          </a:lstStyle>
          <a:p>
            <a:pPr lvl="0"/>
            <a:endParaRPr lang="en-ID"/>
          </a:p>
        </p:txBody>
      </p:sp>
      <p:sp>
        <p:nvSpPr>
          <p:cNvPr id="12" name="Picture Placeholder 3">
            <a:extLst>
              <a:ext uri="{FF2B5EF4-FFF2-40B4-BE49-F238E27FC236}">
                <a16:creationId xmlns:a16="http://schemas.microsoft.com/office/drawing/2014/main" id="{EC601EED-74C3-793B-A167-246956352A8E}"/>
              </a:ext>
            </a:extLst>
          </p:cNvPr>
          <p:cNvSpPr>
            <a:spLocks noGrp="1"/>
          </p:cNvSpPr>
          <p:nvPr>
            <p:ph type="pic" sz="quarter" idx="41"/>
          </p:nvPr>
        </p:nvSpPr>
        <p:spPr>
          <a:xfrm>
            <a:off x="9122272" y="1427126"/>
            <a:ext cx="1758950" cy="1300163"/>
          </a:xfrm>
          <a:prstGeom prst="round2DiagRect">
            <a:avLst/>
          </a:prstGeom>
        </p:spPr>
        <p:txBody>
          <a:bodyPr/>
          <a:lstStyle>
            <a:lvl1pPr>
              <a:defRPr sz="1400">
                <a:solidFill>
                  <a:schemeClr val="tx1">
                    <a:lumMod val="75000"/>
                    <a:lumOff val="25000"/>
                  </a:schemeClr>
                </a:solidFill>
                <a:latin typeface="Roboto" panose="02000000000000000000" pitchFamily="2" charset="0"/>
                <a:ea typeface="Roboto" panose="02000000000000000000" pitchFamily="2" charset="0"/>
              </a:defRPr>
            </a:lvl1pPr>
          </a:lstStyle>
          <a:p>
            <a:endParaRPr lang="en-IN" dirty="0"/>
          </a:p>
        </p:txBody>
      </p:sp>
    </p:spTree>
    <p:extLst>
      <p:ext uri="{BB962C8B-B14F-4D97-AF65-F5344CB8AC3E}">
        <p14:creationId xmlns:p14="http://schemas.microsoft.com/office/powerpoint/2010/main" val="3737224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ngle Graph">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200F99A8-F13E-43C6-8473-843D5BD202C3}"/>
              </a:ext>
            </a:extLst>
          </p:cNvPr>
          <p:cNvSpPr>
            <a:spLocks noGrp="1"/>
          </p:cNvSpPr>
          <p:nvPr>
            <p:ph type="chart" sz="quarter" idx="11"/>
          </p:nvPr>
        </p:nvSpPr>
        <p:spPr>
          <a:xfrm>
            <a:off x="295004" y="1495304"/>
            <a:ext cx="11592195" cy="4729162"/>
          </a:xfrm>
          <a:prstGeom prst="rect">
            <a:avLst/>
          </a:prstGeom>
        </p:spPr>
        <p:txBody>
          <a:bodyPr/>
          <a:lstStyle>
            <a:lvl1pPr>
              <a:defRPr>
                <a:solidFill>
                  <a:schemeClr val="tx1">
                    <a:lumMod val="75000"/>
                    <a:lumOff val="25000"/>
                  </a:schemeClr>
                </a:solidFill>
                <a:latin typeface="Roboto" panose="02000000000000000000" pitchFamily="2" charset="0"/>
                <a:ea typeface="Roboto" panose="02000000000000000000" pitchFamily="2" charset="0"/>
              </a:defRPr>
            </a:lvl1pPr>
          </a:lstStyle>
          <a:p>
            <a:endParaRPr lang="en-IN" dirty="0"/>
          </a:p>
        </p:txBody>
      </p:sp>
      <p:sp>
        <p:nvSpPr>
          <p:cNvPr id="14" name="Rectangle 13">
            <a:extLst>
              <a:ext uri="{FF2B5EF4-FFF2-40B4-BE49-F238E27FC236}">
                <a16:creationId xmlns:a16="http://schemas.microsoft.com/office/drawing/2014/main" id="{18448683-2C7C-43B4-AB6C-D6EF94546AF4}"/>
              </a:ext>
            </a:extLst>
          </p:cNvPr>
          <p:cNvSpPr/>
          <p:nvPr userDrawn="1"/>
        </p:nvSpPr>
        <p:spPr>
          <a:xfrm>
            <a:off x="0" y="0"/>
            <a:ext cx="12192000" cy="1222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295005" y="432023"/>
            <a:ext cx="8148539" cy="579091"/>
          </a:xfrm>
          <a:prstGeom prst="rect">
            <a:avLst/>
          </a:prstGeom>
        </p:spPr>
        <p:txBody>
          <a:bodyPr/>
          <a:lstStyle>
            <a:lvl1pPr algn="l">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2" name="Slide Number Placeholder 5">
            <a:extLst>
              <a:ext uri="{FF2B5EF4-FFF2-40B4-BE49-F238E27FC236}">
                <a16:creationId xmlns:a16="http://schemas.microsoft.com/office/drawing/2014/main" id="{1EDC2A64-09D8-2D24-2124-3A421ADFC534}"/>
              </a:ext>
            </a:extLst>
          </p:cNvPr>
          <p:cNvSpPr txBox="1">
            <a:spLocks/>
          </p:cNvSpPr>
          <p:nvPr userDrawn="1"/>
        </p:nvSpPr>
        <p:spPr>
          <a:xfrm>
            <a:off x="5679139" y="6489376"/>
            <a:ext cx="838201"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grpSp>
        <p:nvGrpSpPr>
          <p:cNvPr id="31" name="Group 30">
            <a:extLst>
              <a:ext uri="{FF2B5EF4-FFF2-40B4-BE49-F238E27FC236}">
                <a16:creationId xmlns:a16="http://schemas.microsoft.com/office/drawing/2014/main" id="{66501DCF-B23E-2EF9-0C4C-489404C16017}"/>
              </a:ext>
            </a:extLst>
          </p:cNvPr>
          <p:cNvGrpSpPr/>
          <p:nvPr userDrawn="1"/>
        </p:nvGrpSpPr>
        <p:grpSpPr>
          <a:xfrm>
            <a:off x="0" y="6489376"/>
            <a:ext cx="12183035" cy="368831"/>
            <a:chOff x="0" y="6489376"/>
            <a:chExt cx="12183035" cy="368831"/>
          </a:xfrm>
        </p:grpSpPr>
        <p:sp>
          <p:nvSpPr>
            <p:cNvPr id="32" name="Rectangle 31">
              <a:extLst>
                <a:ext uri="{FF2B5EF4-FFF2-40B4-BE49-F238E27FC236}">
                  <a16:creationId xmlns:a16="http://schemas.microsoft.com/office/drawing/2014/main" id="{1E46C8D8-3900-C42E-B13F-6B040A5EACCE}"/>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Rectangle 32">
              <a:extLst>
                <a:ext uri="{FF2B5EF4-FFF2-40B4-BE49-F238E27FC236}">
                  <a16:creationId xmlns:a16="http://schemas.microsoft.com/office/drawing/2014/main" id="{0BD03563-B4A5-9658-3002-745DA9968A80}"/>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a:extLst>
                <a:ext uri="{FF2B5EF4-FFF2-40B4-BE49-F238E27FC236}">
                  <a16:creationId xmlns:a16="http://schemas.microsoft.com/office/drawing/2014/main" id="{0A5CE471-BC1A-04E1-EC9E-178F056D4595}"/>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TextBox 34">
              <a:extLst>
                <a:ext uri="{FF2B5EF4-FFF2-40B4-BE49-F238E27FC236}">
                  <a16:creationId xmlns:a16="http://schemas.microsoft.com/office/drawing/2014/main" id="{2A143DA4-EC93-1889-6492-7B2A4057FBED}"/>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36" name="Picture 35">
              <a:extLst>
                <a:ext uri="{FF2B5EF4-FFF2-40B4-BE49-F238E27FC236}">
                  <a16:creationId xmlns:a16="http://schemas.microsoft.com/office/drawing/2014/main" id="{9FD2BFE5-B967-216D-9DA9-78A1A5C5B8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37" name="Slide Number Placeholder 5">
            <a:extLst>
              <a:ext uri="{FF2B5EF4-FFF2-40B4-BE49-F238E27FC236}">
                <a16:creationId xmlns:a16="http://schemas.microsoft.com/office/drawing/2014/main" id="{C6170F28-611D-36D4-A2B6-E633E60C6491}"/>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Tree>
    <p:extLst>
      <p:ext uri="{BB962C8B-B14F-4D97-AF65-F5344CB8AC3E}">
        <p14:creationId xmlns:p14="http://schemas.microsoft.com/office/powerpoint/2010/main" val="812040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ngle Chart + Conten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8448683-2C7C-43B4-AB6C-D6EF94546AF4}"/>
              </a:ext>
            </a:extLst>
          </p:cNvPr>
          <p:cNvSpPr/>
          <p:nvPr userDrawn="1"/>
        </p:nvSpPr>
        <p:spPr>
          <a:xfrm>
            <a:off x="0" y="0"/>
            <a:ext cx="12192000" cy="1222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295005" y="432023"/>
            <a:ext cx="8148539" cy="579091"/>
          </a:xfrm>
          <a:prstGeom prst="rect">
            <a:avLst/>
          </a:prstGeom>
        </p:spPr>
        <p:txBody>
          <a:bodyPr/>
          <a:lstStyle>
            <a:lvl1pPr algn="l">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2" name="Slide Number Placeholder 5">
            <a:extLst>
              <a:ext uri="{FF2B5EF4-FFF2-40B4-BE49-F238E27FC236}">
                <a16:creationId xmlns:a16="http://schemas.microsoft.com/office/drawing/2014/main" id="{1EDC2A64-09D8-2D24-2124-3A421ADFC534}"/>
              </a:ext>
            </a:extLst>
          </p:cNvPr>
          <p:cNvSpPr txBox="1">
            <a:spLocks/>
          </p:cNvSpPr>
          <p:nvPr userDrawn="1"/>
        </p:nvSpPr>
        <p:spPr>
          <a:xfrm>
            <a:off x="5679139" y="6489376"/>
            <a:ext cx="838201"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grpSp>
        <p:nvGrpSpPr>
          <p:cNvPr id="31" name="Group 30">
            <a:extLst>
              <a:ext uri="{FF2B5EF4-FFF2-40B4-BE49-F238E27FC236}">
                <a16:creationId xmlns:a16="http://schemas.microsoft.com/office/drawing/2014/main" id="{66501DCF-B23E-2EF9-0C4C-489404C16017}"/>
              </a:ext>
            </a:extLst>
          </p:cNvPr>
          <p:cNvGrpSpPr/>
          <p:nvPr userDrawn="1"/>
        </p:nvGrpSpPr>
        <p:grpSpPr>
          <a:xfrm>
            <a:off x="0" y="6489376"/>
            <a:ext cx="12183035" cy="368831"/>
            <a:chOff x="0" y="6489376"/>
            <a:chExt cx="12183035" cy="368831"/>
          </a:xfrm>
        </p:grpSpPr>
        <p:sp>
          <p:nvSpPr>
            <p:cNvPr id="32" name="Rectangle 31">
              <a:extLst>
                <a:ext uri="{FF2B5EF4-FFF2-40B4-BE49-F238E27FC236}">
                  <a16:creationId xmlns:a16="http://schemas.microsoft.com/office/drawing/2014/main" id="{1E46C8D8-3900-C42E-B13F-6B040A5EACCE}"/>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Rectangle 32">
              <a:extLst>
                <a:ext uri="{FF2B5EF4-FFF2-40B4-BE49-F238E27FC236}">
                  <a16:creationId xmlns:a16="http://schemas.microsoft.com/office/drawing/2014/main" id="{0BD03563-B4A5-9658-3002-745DA9968A80}"/>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a:extLst>
                <a:ext uri="{FF2B5EF4-FFF2-40B4-BE49-F238E27FC236}">
                  <a16:creationId xmlns:a16="http://schemas.microsoft.com/office/drawing/2014/main" id="{0A5CE471-BC1A-04E1-EC9E-178F056D4595}"/>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TextBox 34">
              <a:extLst>
                <a:ext uri="{FF2B5EF4-FFF2-40B4-BE49-F238E27FC236}">
                  <a16:creationId xmlns:a16="http://schemas.microsoft.com/office/drawing/2014/main" id="{2A143DA4-EC93-1889-6492-7B2A4057FBED}"/>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36" name="Picture 35">
              <a:extLst>
                <a:ext uri="{FF2B5EF4-FFF2-40B4-BE49-F238E27FC236}">
                  <a16:creationId xmlns:a16="http://schemas.microsoft.com/office/drawing/2014/main" id="{9FD2BFE5-B967-216D-9DA9-78A1A5C5B8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37" name="Slide Number Placeholder 5">
            <a:extLst>
              <a:ext uri="{FF2B5EF4-FFF2-40B4-BE49-F238E27FC236}">
                <a16:creationId xmlns:a16="http://schemas.microsoft.com/office/drawing/2014/main" id="{C6170F28-611D-36D4-A2B6-E633E60C6491}"/>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
        <p:nvSpPr>
          <p:cNvPr id="3" name="Chart Placeholder 5">
            <a:extLst>
              <a:ext uri="{FF2B5EF4-FFF2-40B4-BE49-F238E27FC236}">
                <a16:creationId xmlns:a16="http://schemas.microsoft.com/office/drawing/2014/main" id="{BA6F3DA4-A82D-7724-12C9-0F2EBADA3FCB}"/>
              </a:ext>
            </a:extLst>
          </p:cNvPr>
          <p:cNvSpPr>
            <a:spLocks noGrp="1"/>
          </p:cNvSpPr>
          <p:nvPr>
            <p:ph type="chart" sz="quarter" idx="11"/>
          </p:nvPr>
        </p:nvSpPr>
        <p:spPr>
          <a:xfrm>
            <a:off x="295005" y="1487488"/>
            <a:ext cx="6932271" cy="4729162"/>
          </a:xfrm>
          <a:prstGeom prst="rect">
            <a:avLst/>
          </a:prstGeom>
        </p:spPr>
        <p:txBody>
          <a:bodyPr/>
          <a:lstStyle>
            <a:lvl1pPr>
              <a:defRPr>
                <a:solidFill>
                  <a:schemeClr val="tx1">
                    <a:lumMod val="75000"/>
                    <a:lumOff val="25000"/>
                  </a:schemeClr>
                </a:solidFill>
                <a:latin typeface="Roboto" panose="02000000000000000000" pitchFamily="2" charset="0"/>
                <a:ea typeface="Roboto" panose="02000000000000000000" pitchFamily="2" charset="0"/>
              </a:defRPr>
            </a:lvl1pPr>
          </a:lstStyle>
          <a:p>
            <a:endParaRPr lang="en-IN" dirty="0"/>
          </a:p>
        </p:txBody>
      </p:sp>
      <p:sp>
        <p:nvSpPr>
          <p:cNvPr id="4" name="Text Placeholder 6">
            <a:extLst>
              <a:ext uri="{FF2B5EF4-FFF2-40B4-BE49-F238E27FC236}">
                <a16:creationId xmlns:a16="http://schemas.microsoft.com/office/drawing/2014/main" id="{21472D07-F5DA-FCCD-116D-7F8F17F6A07F}"/>
              </a:ext>
            </a:extLst>
          </p:cNvPr>
          <p:cNvSpPr>
            <a:spLocks noGrp="1"/>
          </p:cNvSpPr>
          <p:nvPr>
            <p:ph type="body" sz="quarter" idx="12"/>
          </p:nvPr>
        </p:nvSpPr>
        <p:spPr>
          <a:xfrm>
            <a:off x="7407639" y="1487488"/>
            <a:ext cx="4489355" cy="4732337"/>
          </a:xfrm>
          <a:prstGeom prst="rect">
            <a:avLst/>
          </a:prstGeom>
        </p:spPr>
        <p:txBody>
          <a:bodyPr/>
          <a:lstStyle>
            <a:lvl1pPr>
              <a:defRPr sz="1400">
                <a:solidFill>
                  <a:schemeClr val="tx1">
                    <a:lumMod val="75000"/>
                    <a:lumOff val="25000"/>
                  </a:schemeClr>
                </a:solidFill>
                <a:latin typeface="Roboto" panose="02000000000000000000" pitchFamily="2" charset="0"/>
                <a:ea typeface="Roboto" panose="02000000000000000000" pitchFamily="2" charset="0"/>
              </a:defRPr>
            </a:lvl1pPr>
            <a:lvl2pPr>
              <a:defRPr sz="1400">
                <a:solidFill>
                  <a:schemeClr val="tx1">
                    <a:lumMod val="75000"/>
                    <a:lumOff val="25000"/>
                  </a:schemeClr>
                </a:solidFill>
                <a:latin typeface="Roboto" panose="02000000000000000000" pitchFamily="2" charset="0"/>
                <a:ea typeface="Roboto" panose="02000000000000000000" pitchFamily="2" charset="0"/>
              </a:defRPr>
            </a:lvl2pPr>
            <a:lvl3pPr>
              <a:defRPr sz="1400">
                <a:solidFill>
                  <a:schemeClr val="tx1">
                    <a:lumMod val="75000"/>
                    <a:lumOff val="25000"/>
                  </a:schemeClr>
                </a:solidFill>
                <a:latin typeface="Roboto" panose="02000000000000000000" pitchFamily="2" charset="0"/>
                <a:ea typeface="Roboto" panose="02000000000000000000" pitchFamily="2" charset="0"/>
              </a:defRPr>
            </a:lvl3pPr>
            <a:lvl4pPr>
              <a:defRPr sz="1400">
                <a:solidFill>
                  <a:schemeClr val="tx1">
                    <a:lumMod val="75000"/>
                    <a:lumOff val="25000"/>
                  </a:schemeClr>
                </a:solidFill>
                <a:latin typeface="Roboto" panose="02000000000000000000" pitchFamily="2" charset="0"/>
                <a:ea typeface="Roboto" panose="02000000000000000000" pitchFamily="2" charset="0"/>
              </a:defRPr>
            </a:lvl4pPr>
            <a:lvl5pPr>
              <a:defRPr sz="1400">
                <a:solidFill>
                  <a:schemeClr val="tx1">
                    <a:lumMod val="75000"/>
                    <a:lumOff val="25000"/>
                  </a:schemeClr>
                </a:solidFill>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33975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Graph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8448683-2C7C-43B4-AB6C-D6EF94546AF4}"/>
              </a:ext>
            </a:extLst>
          </p:cNvPr>
          <p:cNvSpPr/>
          <p:nvPr userDrawn="1"/>
        </p:nvSpPr>
        <p:spPr>
          <a:xfrm>
            <a:off x="0" y="0"/>
            <a:ext cx="12192000" cy="1222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295005" y="432023"/>
            <a:ext cx="8148539" cy="579091"/>
          </a:xfrm>
          <a:prstGeom prst="rect">
            <a:avLst/>
          </a:prstGeom>
        </p:spPr>
        <p:txBody>
          <a:bodyPr/>
          <a:lstStyle>
            <a:lvl1pPr algn="l">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2" name="Slide Number Placeholder 5">
            <a:extLst>
              <a:ext uri="{FF2B5EF4-FFF2-40B4-BE49-F238E27FC236}">
                <a16:creationId xmlns:a16="http://schemas.microsoft.com/office/drawing/2014/main" id="{1EDC2A64-09D8-2D24-2124-3A421ADFC534}"/>
              </a:ext>
            </a:extLst>
          </p:cNvPr>
          <p:cNvSpPr txBox="1">
            <a:spLocks/>
          </p:cNvSpPr>
          <p:nvPr userDrawn="1"/>
        </p:nvSpPr>
        <p:spPr>
          <a:xfrm>
            <a:off x="5679139" y="6489376"/>
            <a:ext cx="838201"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grpSp>
        <p:nvGrpSpPr>
          <p:cNvPr id="31" name="Group 30">
            <a:extLst>
              <a:ext uri="{FF2B5EF4-FFF2-40B4-BE49-F238E27FC236}">
                <a16:creationId xmlns:a16="http://schemas.microsoft.com/office/drawing/2014/main" id="{66501DCF-B23E-2EF9-0C4C-489404C16017}"/>
              </a:ext>
            </a:extLst>
          </p:cNvPr>
          <p:cNvGrpSpPr/>
          <p:nvPr userDrawn="1"/>
        </p:nvGrpSpPr>
        <p:grpSpPr>
          <a:xfrm>
            <a:off x="0" y="6489376"/>
            <a:ext cx="12183035" cy="368831"/>
            <a:chOff x="0" y="6489376"/>
            <a:chExt cx="12183035" cy="368831"/>
          </a:xfrm>
        </p:grpSpPr>
        <p:sp>
          <p:nvSpPr>
            <p:cNvPr id="32" name="Rectangle 31">
              <a:extLst>
                <a:ext uri="{FF2B5EF4-FFF2-40B4-BE49-F238E27FC236}">
                  <a16:creationId xmlns:a16="http://schemas.microsoft.com/office/drawing/2014/main" id="{1E46C8D8-3900-C42E-B13F-6B040A5EACCE}"/>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Rectangle 32">
              <a:extLst>
                <a:ext uri="{FF2B5EF4-FFF2-40B4-BE49-F238E27FC236}">
                  <a16:creationId xmlns:a16="http://schemas.microsoft.com/office/drawing/2014/main" id="{0BD03563-B4A5-9658-3002-745DA9968A80}"/>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a:extLst>
                <a:ext uri="{FF2B5EF4-FFF2-40B4-BE49-F238E27FC236}">
                  <a16:creationId xmlns:a16="http://schemas.microsoft.com/office/drawing/2014/main" id="{0A5CE471-BC1A-04E1-EC9E-178F056D4595}"/>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TextBox 34">
              <a:extLst>
                <a:ext uri="{FF2B5EF4-FFF2-40B4-BE49-F238E27FC236}">
                  <a16:creationId xmlns:a16="http://schemas.microsoft.com/office/drawing/2014/main" id="{2A143DA4-EC93-1889-6492-7B2A4057FBED}"/>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36" name="Picture 35">
              <a:extLst>
                <a:ext uri="{FF2B5EF4-FFF2-40B4-BE49-F238E27FC236}">
                  <a16:creationId xmlns:a16="http://schemas.microsoft.com/office/drawing/2014/main" id="{9FD2BFE5-B967-216D-9DA9-78A1A5C5B8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37" name="Slide Number Placeholder 5">
            <a:extLst>
              <a:ext uri="{FF2B5EF4-FFF2-40B4-BE49-F238E27FC236}">
                <a16:creationId xmlns:a16="http://schemas.microsoft.com/office/drawing/2014/main" id="{C6170F28-611D-36D4-A2B6-E633E60C6491}"/>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
        <p:nvSpPr>
          <p:cNvPr id="5" name="Chart Placeholder 5">
            <a:extLst>
              <a:ext uri="{FF2B5EF4-FFF2-40B4-BE49-F238E27FC236}">
                <a16:creationId xmlns:a16="http://schemas.microsoft.com/office/drawing/2014/main" id="{ABB00E73-C28E-714A-9B1F-EE555CC85143}"/>
              </a:ext>
            </a:extLst>
          </p:cNvPr>
          <p:cNvSpPr>
            <a:spLocks noGrp="1"/>
          </p:cNvSpPr>
          <p:nvPr>
            <p:ph type="chart" sz="quarter" idx="11"/>
          </p:nvPr>
        </p:nvSpPr>
        <p:spPr>
          <a:xfrm>
            <a:off x="295005" y="1821474"/>
            <a:ext cx="5774204" cy="4184527"/>
          </a:xfrm>
          <a:prstGeom prst="rect">
            <a:avLst/>
          </a:prstGeom>
        </p:spPr>
        <p:txBody>
          <a:bodyPr/>
          <a:lstStyle>
            <a:lvl1pPr>
              <a:defRPr>
                <a:solidFill>
                  <a:schemeClr val="tx1">
                    <a:lumMod val="75000"/>
                    <a:lumOff val="25000"/>
                  </a:schemeClr>
                </a:solidFill>
                <a:latin typeface="Roboto" panose="02000000000000000000" pitchFamily="2" charset="0"/>
                <a:ea typeface="Roboto" panose="02000000000000000000" pitchFamily="2" charset="0"/>
              </a:defRPr>
            </a:lvl1pPr>
          </a:lstStyle>
          <a:p>
            <a:endParaRPr lang="en-IN" dirty="0"/>
          </a:p>
        </p:txBody>
      </p:sp>
      <p:sp>
        <p:nvSpPr>
          <p:cNvPr id="6" name="Chart Placeholder 5">
            <a:extLst>
              <a:ext uri="{FF2B5EF4-FFF2-40B4-BE49-F238E27FC236}">
                <a16:creationId xmlns:a16="http://schemas.microsoft.com/office/drawing/2014/main" id="{4D31C139-1B38-919C-085A-C9BD52A8D47E}"/>
              </a:ext>
            </a:extLst>
          </p:cNvPr>
          <p:cNvSpPr>
            <a:spLocks noGrp="1"/>
          </p:cNvSpPr>
          <p:nvPr>
            <p:ph type="chart" sz="quarter" idx="12"/>
          </p:nvPr>
        </p:nvSpPr>
        <p:spPr>
          <a:xfrm>
            <a:off x="6232911" y="1821474"/>
            <a:ext cx="5664084" cy="4184527"/>
          </a:xfrm>
          <a:prstGeom prst="rect">
            <a:avLst/>
          </a:prstGeom>
        </p:spPr>
        <p:txBody>
          <a:bodyPr/>
          <a:lstStyle>
            <a:lvl1pPr>
              <a:defRPr>
                <a:solidFill>
                  <a:schemeClr val="tx1">
                    <a:lumMod val="75000"/>
                    <a:lumOff val="25000"/>
                  </a:schemeClr>
                </a:solidFill>
                <a:latin typeface="Roboto" panose="02000000000000000000" pitchFamily="2" charset="0"/>
                <a:ea typeface="Roboto" panose="02000000000000000000" pitchFamily="2" charset="0"/>
              </a:defRPr>
            </a:lvl1pPr>
          </a:lstStyle>
          <a:p>
            <a:endParaRPr lang="en-IN" dirty="0"/>
          </a:p>
        </p:txBody>
      </p:sp>
    </p:spTree>
    <p:extLst>
      <p:ext uri="{BB962C8B-B14F-4D97-AF65-F5344CB8AC3E}">
        <p14:creationId xmlns:p14="http://schemas.microsoft.com/office/powerpoint/2010/main" val="3095254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Graphs + Conten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8448683-2C7C-43B4-AB6C-D6EF94546AF4}"/>
              </a:ext>
            </a:extLst>
          </p:cNvPr>
          <p:cNvSpPr/>
          <p:nvPr userDrawn="1"/>
        </p:nvSpPr>
        <p:spPr>
          <a:xfrm>
            <a:off x="0" y="0"/>
            <a:ext cx="12192000" cy="1222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295005" y="432023"/>
            <a:ext cx="8148539" cy="579091"/>
          </a:xfrm>
          <a:prstGeom prst="rect">
            <a:avLst/>
          </a:prstGeom>
        </p:spPr>
        <p:txBody>
          <a:bodyPr/>
          <a:lstStyle>
            <a:lvl1pPr algn="l">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2" name="Slide Number Placeholder 5">
            <a:extLst>
              <a:ext uri="{FF2B5EF4-FFF2-40B4-BE49-F238E27FC236}">
                <a16:creationId xmlns:a16="http://schemas.microsoft.com/office/drawing/2014/main" id="{1EDC2A64-09D8-2D24-2124-3A421ADFC534}"/>
              </a:ext>
            </a:extLst>
          </p:cNvPr>
          <p:cNvSpPr txBox="1">
            <a:spLocks/>
          </p:cNvSpPr>
          <p:nvPr userDrawn="1"/>
        </p:nvSpPr>
        <p:spPr>
          <a:xfrm>
            <a:off x="5679139" y="6489376"/>
            <a:ext cx="838201"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grpSp>
        <p:nvGrpSpPr>
          <p:cNvPr id="31" name="Group 30">
            <a:extLst>
              <a:ext uri="{FF2B5EF4-FFF2-40B4-BE49-F238E27FC236}">
                <a16:creationId xmlns:a16="http://schemas.microsoft.com/office/drawing/2014/main" id="{66501DCF-B23E-2EF9-0C4C-489404C16017}"/>
              </a:ext>
            </a:extLst>
          </p:cNvPr>
          <p:cNvGrpSpPr/>
          <p:nvPr userDrawn="1"/>
        </p:nvGrpSpPr>
        <p:grpSpPr>
          <a:xfrm>
            <a:off x="0" y="6489376"/>
            <a:ext cx="12183035" cy="368831"/>
            <a:chOff x="0" y="6489376"/>
            <a:chExt cx="12183035" cy="368831"/>
          </a:xfrm>
        </p:grpSpPr>
        <p:sp>
          <p:nvSpPr>
            <p:cNvPr id="32" name="Rectangle 31">
              <a:extLst>
                <a:ext uri="{FF2B5EF4-FFF2-40B4-BE49-F238E27FC236}">
                  <a16:creationId xmlns:a16="http://schemas.microsoft.com/office/drawing/2014/main" id="{1E46C8D8-3900-C42E-B13F-6B040A5EACCE}"/>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Rectangle 32">
              <a:extLst>
                <a:ext uri="{FF2B5EF4-FFF2-40B4-BE49-F238E27FC236}">
                  <a16:creationId xmlns:a16="http://schemas.microsoft.com/office/drawing/2014/main" id="{0BD03563-B4A5-9658-3002-745DA9968A80}"/>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a:extLst>
                <a:ext uri="{FF2B5EF4-FFF2-40B4-BE49-F238E27FC236}">
                  <a16:creationId xmlns:a16="http://schemas.microsoft.com/office/drawing/2014/main" id="{0A5CE471-BC1A-04E1-EC9E-178F056D4595}"/>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TextBox 34">
              <a:extLst>
                <a:ext uri="{FF2B5EF4-FFF2-40B4-BE49-F238E27FC236}">
                  <a16:creationId xmlns:a16="http://schemas.microsoft.com/office/drawing/2014/main" id="{2A143DA4-EC93-1889-6492-7B2A4057FBED}"/>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36" name="Picture 35">
              <a:extLst>
                <a:ext uri="{FF2B5EF4-FFF2-40B4-BE49-F238E27FC236}">
                  <a16:creationId xmlns:a16="http://schemas.microsoft.com/office/drawing/2014/main" id="{9FD2BFE5-B967-216D-9DA9-78A1A5C5B8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37" name="Slide Number Placeholder 5">
            <a:extLst>
              <a:ext uri="{FF2B5EF4-FFF2-40B4-BE49-F238E27FC236}">
                <a16:creationId xmlns:a16="http://schemas.microsoft.com/office/drawing/2014/main" id="{C6170F28-611D-36D4-A2B6-E633E60C6491}"/>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
        <p:nvSpPr>
          <p:cNvPr id="3" name="Chart Placeholder 8">
            <a:extLst>
              <a:ext uri="{FF2B5EF4-FFF2-40B4-BE49-F238E27FC236}">
                <a16:creationId xmlns:a16="http://schemas.microsoft.com/office/drawing/2014/main" id="{2EFCFAEE-A2A4-C3F7-A915-8CADB18B8202}"/>
              </a:ext>
            </a:extLst>
          </p:cNvPr>
          <p:cNvSpPr>
            <a:spLocks noGrp="1"/>
          </p:cNvSpPr>
          <p:nvPr>
            <p:ph type="chart" sz="quarter" idx="11"/>
          </p:nvPr>
        </p:nvSpPr>
        <p:spPr>
          <a:xfrm>
            <a:off x="295005" y="1552662"/>
            <a:ext cx="6029072" cy="2157689"/>
          </a:xfrm>
          <a:prstGeom prst="rect">
            <a:avLst/>
          </a:prstGeom>
        </p:spPr>
        <p:txBody>
          <a:bodyPr/>
          <a:lstStyle>
            <a:lvl1pPr>
              <a:defRPr>
                <a:solidFill>
                  <a:schemeClr val="tx1">
                    <a:lumMod val="75000"/>
                    <a:lumOff val="25000"/>
                  </a:schemeClr>
                </a:solidFill>
                <a:latin typeface="Roboto" panose="02000000000000000000" pitchFamily="2" charset="0"/>
                <a:ea typeface="Roboto" panose="02000000000000000000" pitchFamily="2" charset="0"/>
              </a:defRPr>
            </a:lvl1pPr>
          </a:lstStyle>
          <a:p>
            <a:endParaRPr lang="en-IN" dirty="0"/>
          </a:p>
        </p:txBody>
      </p:sp>
      <p:sp>
        <p:nvSpPr>
          <p:cNvPr id="4" name="Text Placeholder 16">
            <a:extLst>
              <a:ext uri="{FF2B5EF4-FFF2-40B4-BE49-F238E27FC236}">
                <a16:creationId xmlns:a16="http://schemas.microsoft.com/office/drawing/2014/main" id="{AE202192-A094-9104-C3CA-45AAAA79BC45}"/>
              </a:ext>
            </a:extLst>
          </p:cNvPr>
          <p:cNvSpPr>
            <a:spLocks noGrp="1"/>
          </p:cNvSpPr>
          <p:nvPr>
            <p:ph type="body" sz="quarter" idx="12"/>
          </p:nvPr>
        </p:nvSpPr>
        <p:spPr>
          <a:xfrm>
            <a:off x="6471715" y="1552662"/>
            <a:ext cx="5425280" cy="2157689"/>
          </a:xfrm>
          <a:prstGeom prst="rect">
            <a:avLst/>
          </a:prstGeom>
        </p:spPr>
        <p:txBody>
          <a:bodyPr/>
          <a:lstStyle>
            <a:lvl1pPr>
              <a:defRPr sz="1400">
                <a:solidFill>
                  <a:schemeClr val="tx1">
                    <a:lumMod val="75000"/>
                    <a:lumOff val="25000"/>
                  </a:schemeClr>
                </a:solidFill>
                <a:latin typeface="Roboto" panose="02000000000000000000" pitchFamily="2" charset="0"/>
                <a:ea typeface="Roboto" panose="02000000000000000000" pitchFamily="2" charset="0"/>
              </a:defRPr>
            </a:lvl1pPr>
            <a:lvl2pPr>
              <a:defRPr sz="1400">
                <a:solidFill>
                  <a:schemeClr val="tx1">
                    <a:lumMod val="75000"/>
                    <a:lumOff val="25000"/>
                  </a:schemeClr>
                </a:solidFill>
                <a:latin typeface="Roboto" panose="02000000000000000000" pitchFamily="2" charset="0"/>
                <a:ea typeface="Roboto" panose="02000000000000000000" pitchFamily="2" charset="0"/>
              </a:defRPr>
            </a:lvl2pPr>
            <a:lvl3pPr>
              <a:defRPr sz="1400">
                <a:solidFill>
                  <a:schemeClr val="tx1">
                    <a:lumMod val="75000"/>
                    <a:lumOff val="25000"/>
                  </a:schemeClr>
                </a:solidFill>
                <a:latin typeface="Roboto" panose="02000000000000000000" pitchFamily="2" charset="0"/>
                <a:ea typeface="Roboto" panose="02000000000000000000" pitchFamily="2" charset="0"/>
              </a:defRPr>
            </a:lvl3pPr>
            <a:lvl4pPr>
              <a:defRPr sz="1400">
                <a:solidFill>
                  <a:schemeClr val="tx1">
                    <a:lumMod val="75000"/>
                    <a:lumOff val="25000"/>
                  </a:schemeClr>
                </a:solidFill>
                <a:latin typeface="Roboto" panose="02000000000000000000" pitchFamily="2" charset="0"/>
                <a:ea typeface="Roboto" panose="02000000000000000000" pitchFamily="2" charset="0"/>
              </a:defRPr>
            </a:lvl4pPr>
            <a:lvl5pPr>
              <a:defRPr sz="1400">
                <a:solidFill>
                  <a:schemeClr val="tx1">
                    <a:lumMod val="75000"/>
                    <a:lumOff val="25000"/>
                  </a:schemeClr>
                </a:solidFill>
                <a:latin typeface="Roboto" panose="02000000000000000000" pitchFamily="2" charset="0"/>
                <a:ea typeface="Roboto"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Chart Placeholder 8">
            <a:extLst>
              <a:ext uri="{FF2B5EF4-FFF2-40B4-BE49-F238E27FC236}">
                <a16:creationId xmlns:a16="http://schemas.microsoft.com/office/drawing/2014/main" id="{1170E00F-B1C3-668E-7E3B-F3326E14E1B8}"/>
              </a:ext>
            </a:extLst>
          </p:cNvPr>
          <p:cNvSpPr>
            <a:spLocks noGrp="1"/>
          </p:cNvSpPr>
          <p:nvPr>
            <p:ph type="chart" sz="quarter" idx="13"/>
          </p:nvPr>
        </p:nvSpPr>
        <p:spPr>
          <a:xfrm>
            <a:off x="295005" y="3999853"/>
            <a:ext cx="6029072" cy="2157689"/>
          </a:xfrm>
          <a:prstGeom prst="rect">
            <a:avLst/>
          </a:prstGeom>
        </p:spPr>
        <p:txBody>
          <a:bodyPr/>
          <a:lstStyle>
            <a:lvl1pPr>
              <a:defRPr>
                <a:solidFill>
                  <a:schemeClr val="tx1">
                    <a:lumMod val="75000"/>
                    <a:lumOff val="25000"/>
                  </a:schemeClr>
                </a:solidFill>
                <a:latin typeface="Roboto" panose="02000000000000000000" pitchFamily="2" charset="0"/>
                <a:ea typeface="Roboto" panose="02000000000000000000" pitchFamily="2" charset="0"/>
              </a:defRPr>
            </a:lvl1pPr>
          </a:lstStyle>
          <a:p>
            <a:endParaRPr lang="en-IN" dirty="0"/>
          </a:p>
        </p:txBody>
      </p:sp>
      <p:sp>
        <p:nvSpPr>
          <p:cNvPr id="8" name="Text Placeholder 16">
            <a:extLst>
              <a:ext uri="{FF2B5EF4-FFF2-40B4-BE49-F238E27FC236}">
                <a16:creationId xmlns:a16="http://schemas.microsoft.com/office/drawing/2014/main" id="{3BC93153-E10D-1060-CF41-CDF112643FB8}"/>
              </a:ext>
            </a:extLst>
          </p:cNvPr>
          <p:cNvSpPr>
            <a:spLocks noGrp="1"/>
          </p:cNvSpPr>
          <p:nvPr>
            <p:ph type="body" sz="quarter" idx="14"/>
          </p:nvPr>
        </p:nvSpPr>
        <p:spPr>
          <a:xfrm>
            <a:off x="6471715" y="3999853"/>
            <a:ext cx="5425280" cy="2157689"/>
          </a:xfrm>
          <a:prstGeom prst="rect">
            <a:avLst/>
          </a:prstGeom>
        </p:spPr>
        <p:txBody>
          <a:bodyPr/>
          <a:lstStyle>
            <a:lvl1pPr>
              <a:defRPr sz="1400">
                <a:solidFill>
                  <a:schemeClr val="tx1">
                    <a:lumMod val="75000"/>
                    <a:lumOff val="25000"/>
                  </a:schemeClr>
                </a:solidFill>
                <a:latin typeface="Roboto" panose="02000000000000000000" pitchFamily="2" charset="0"/>
                <a:ea typeface="Roboto" panose="02000000000000000000" pitchFamily="2" charset="0"/>
              </a:defRPr>
            </a:lvl1pPr>
            <a:lvl2pPr>
              <a:defRPr sz="1400">
                <a:solidFill>
                  <a:schemeClr val="tx1">
                    <a:lumMod val="75000"/>
                    <a:lumOff val="25000"/>
                  </a:schemeClr>
                </a:solidFill>
                <a:latin typeface="Roboto" panose="02000000000000000000" pitchFamily="2" charset="0"/>
                <a:ea typeface="Roboto" panose="02000000000000000000" pitchFamily="2" charset="0"/>
              </a:defRPr>
            </a:lvl2pPr>
            <a:lvl3pPr>
              <a:defRPr sz="1400">
                <a:solidFill>
                  <a:schemeClr val="tx1">
                    <a:lumMod val="75000"/>
                    <a:lumOff val="25000"/>
                  </a:schemeClr>
                </a:solidFill>
                <a:latin typeface="Roboto" panose="02000000000000000000" pitchFamily="2" charset="0"/>
                <a:ea typeface="Roboto" panose="02000000000000000000" pitchFamily="2" charset="0"/>
              </a:defRPr>
            </a:lvl3pPr>
            <a:lvl4pPr>
              <a:defRPr sz="1400">
                <a:solidFill>
                  <a:schemeClr val="tx1">
                    <a:lumMod val="75000"/>
                    <a:lumOff val="25000"/>
                  </a:schemeClr>
                </a:solidFill>
                <a:latin typeface="Roboto" panose="02000000000000000000" pitchFamily="2" charset="0"/>
                <a:ea typeface="Roboto" panose="02000000000000000000" pitchFamily="2" charset="0"/>
              </a:defRPr>
            </a:lvl4pPr>
            <a:lvl5pPr>
              <a:defRPr sz="1400">
                <a:solidFill>
                  <a:schemeClr val="tx1">
                    <a:lumMod val="75000"/>
                    <a:lumOff val="25000"/>
                  </a:schemeClr>
                </a:solidFill>
                <a:latin typeface="Roboto" panose="02000000000000000000" pitchFamily="2" charset="0"/>
                <a:ea typeface="Roboto"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624396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8448683-2C7C-43B4-AB6C-D6EF94546AF4}"/>
              </a:ext>
            </a:extLst>
          </p:cNvPr>
          <p:cNvSpPr/>
          <p:nvPr userDrawn="1"/>
        </p:nvSpPr>
        <p:spPr>
          <a:xfrm>
            <a:off x="0" y="0"/>
            <a:ext cx="12192000" cy="1222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295005" y="432023"/>
            <a:ext cx="8148539" cy="579091"/>
          </a:xfrm>
          <a:prstGeom prst="rect">
            <a:avLst/>
          </a:prstGeom>
        </p:spPr>
        <p:txBody>
          <a:bodyPr/>
          <a:lstStyle>
            <a:lvl1pPr algn="l">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2" name="Slide Number Placeholder 5">
            <a:extLst>
              <a:ext uri="{FF2B5EF4-FFF2-40B4-BE49-F238E27FC236}">
                <a16:creationId xmlns:a16="http://schemas.microsoft.com/office/drawing/2014/main" id="{1EDC2A64-09D8-2D24-2124-3A421ADFC534}"/>
              </a:ext>
            </a:extLst>
          </p:cNvPr>
          <p:cNvSpPr txBox="1">
            <a:spLocks/>
          </p:cNvSpPr>
          <p:nvPr userDrawn="1"/>
        </p:nvSpPr>
        <p:spPr>
          <a:xfrm>
            <a:off x="5679139" y="6489376"/>
            <a:ext cx="838201"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grpSp>
        <p:nvGrpSpPr>
          <p:cNvPr id="31" name="Group 30">
            <a:extLst>
              <a:ext uri="{FF2B5EF4-FFF2-40B4-BE49-F238E27FC236}">
                <a16:creationId xmlns:a16="http://schemas.microsoft.com/office/drawing/2014/main" id="{66501DCF-B23E-2EF9-0C4C-489404C16017}"/>
              </a:ext>
            </a:extLst>
          </p:cNvPr>
          <p:cNvGrpSpPr/>
          <p:nvPr userDrawn="1"/>
        </p:nvGrpSpPr>
        <p:grpSpPr>
          <a:xfrm>
            <a:off x="0" y="6489376"/>
            <a:ext cx="12183035" cy="368831"/>
            <a:chOff x="0" y="6489376"/>
            <a:chExt cx="12183035" cy="368831"/>
          </a:xfrm>
        </p:grpSpPr>
        <p:sp>
          <p:nvSpPr>
            <p:cNvPr id="32" name="Rectangle 31">
              <a:extLst>
                <a:ext uri="{FF2B5EF4-FFF2-40B4-BE49-F238E27FC236}">
                  <a16:creationId xmlns:a16="http://schemas.microsoft.com/office/drawing/2014/main" id="{1E46C8D8-3900-C42E-B13F-6B040A5EACCE}"/>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Rectangle 32">
              <a:extLst>
                <a:ext uri="{FF2B5EF4-FFF2-40B4-BE49-F238E27FC236}">
                  <a16:creationId xmlns:a16="http://schemas.microsoft.com/office/drawing/2014/main" id="{0BD03563-B4A5-9658-3002-745DA9968A80}"/>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a:extLst>
                <a:ext uri="{FF2B5EF4-FFF2-40B4-BE49-F238E27FC236}">
                  <a16:creationId xmlns:a16="http://schemas.microsoft.com/office/drawing/2014/main" id="{0A5CE471-BC1A-04E1-EC9E-178F056D4595}"/>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TextBox 34">
              <a:extLst>
                <a:ext uri="{FF2B5EF4-FFF2-40B4-BE49-F238E27FC236}">
                  <a16:creationId xmlns:a16="http://schemas.microsoft.com/office/drawing/2014/main" id="{2A143DA4-EC93-1889-6492-7B2A4057FBED}"/>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36" name="Picture 35">
              <a:extLst>
                <a:ext uri="{FF2B5EF4-FFF2-40B4-BE49-F238E27FC236}">
                  <a16:creationId xmlns:a16="http://schemas.microsoft.com/office/drawing/2014/main" id="{9FD2BFE5-B967-216D-9DA9-78A1A5C5B8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37" name="Slide Number Placeholder 5">
            <a:extLst>
              <a:ext uri="{FF2B5EF4-FFF2-40B4-BE49-F238E27FC236}">
                <a16:creationId xmlns:a16="http://schemas.microsoft.com/office/drawing/2014/main" id="{C6170F28-611D-36D4-A2B6-E633E60C6491}"/>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
        <p:nvSpPr>
          <p:cNvPr id="3" name="Text Placeholder 73">
            <a:extLst>
              <a:ext uri="{FF2B5EF4-FFF2-40B4-BE49-F238E27FC236}">
                <a16:creationId xmlns:a16="http://schemas.microsoft.com/office/drawing/2014/main" id="{BAFE1F7C-A7EA-466B-A713-C6C513EDDCD8}"/>
              </a:ext>
            </a:extLst>
          </p:cNvPr>
          <p:cNvSpPr>
            <a:spLocks noGrp="1"/>
          </p:cNvSpPr>
          <p:nvPr>
            <p:ph type="body" sz="quarter" idx="29"/>
          </p:nvPr>
        </p:nvSpPr>
        <p:spPr>
          <a:xfrm>
            <a:off x="295005" y="1558516"/>
            <a:ext cx="11638377" cy="1000046"/>
          </a:xfrm>
          <a:prstGeom prst="rect">
            <a:avLst/>
          </a:prstGeom>
        </p:spPr>
        <p:txBody>
          <a:bodyPr>
            <a:normAutofit/>
          </a:bodyPr>
          <a:lstStyle>
            <a:lvl1pPr marL="0" indent="0" algn="l">
              <a:lnSpc>
                <a:spcPct val="130000"/>
              </a:lnSpc>
              <a:buNone/>
              <a:defRPr sz="1400">
                <a:solidFill>
                  <a:schemeClr val="tx1">
                    <a:lumMod val="75000"/>
                    <a:lumOff val="25000"/>
                  </a:schemeClr>
                </a:solidFill>
                <a:latin typeface="Roboto" panose="02000000000000000000" pitchFamily="2" charset="0"/>
                <a:ea typeface="Roboto" panose="02000000000000000000" pitchFamily="2" charset="0"/>
              </a:defRPr>
            </a:lvl1pPr>
          </a:lstStyle>
          <a:p>
            <a:pPr lvl="0"/>
            <a:endParaRPr lang="en-ID" dirty="0"/>
          </a:p>
        </p:txBody>
      </p:sp>
      <p:sp>
        <p:nvSpPr>
          <p:cNvPr id="4" name="Table Placeholder 5">
            <a:extLst>
              <a:ext uri="{FF2B5EF4-FFF2-40B4-BE49-F238E27FC236}">
                <a16:creationId xmlns:a16="http://schemas.microsoft.com/office/drawing/2014/main" id="{E3E2DCE6-FE30-ACD4-456B-9C2890E92CB8}"/>
              </a:ext>
            </a:extLst>
          </p:cNvPr>
          <p:cNvSpPr>
            <a:spLocks noGrp="1"/>
          </p:cNvSpPr>
          <p:nvPr>
            <p:ph type="tbl" sz="quarter" idx="30"/>
          </p:nvPr>
        </p:nvSpPr>
        <p:spPr>
          <a:xfrm>
            <a:off x="295005" y="2716213"/>
            <a:ext cx="11638377" cy="3603625"/>
          </a:xfrm>
          <a:prstGeom prst="rect">
            <a:avLst/>
          </a:prstGeom>
        </p:spPr>
        <p:txBody>
          <a:bodyPr/>
          <a:lstStyle>
            <a:lvl1pPr>
              <a:defRPr sz="1400">
                <a:solidFill>
                  <a:schemeClr val="tx1">
                    <a:lumMod val="75000"/>
                    <a:lumOff val="25000"/>
                  </a:schemeClr>
                </a:solidFill>
                <a:latin typeface="Roboto" panose="02000000000000000000" pitchFamily="2" charset="0"/>
                <a:ea typeface="Roboto" panose="02000000000000000000" pitchFamily="2" charset="0"/>
              </a:defRPr>
            </a:lvl1pPr>
          </a:lstStyle>
          <a:p>
            <a:endParaRPr lang="en-IN" dirty="0"/>
          </a:p>
        </p:txBody>
      </p:sp>
    </p:spTree>
    <p:extLst>
      <p:ext uri="{BB962C8B-B14F-4D97-AF65-F5344CB8AC3E}">
        <p14:creationId xmlns:p14="http://schemas.microsoft.com/office/powerpoint/2010/main" val="3206828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8448683-2C7C-43B4-AB6C-D6EF94546AF4}"/>
              </a:ext>
            </a:extLst>
          </p:cNvPr>
          <p:cNvSpPr/>
          <p:nvPr userDrawn="1"/>
        </p:nvSpPr>
        <p:spPr>
          <a:xfrm>
            <a:off x="0" y="0"/>
            <a:ext cx="12192000" cy="1222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621318" y="432023"/>
            <a:ext cx="8148539" cy="579091"/>
          </a:xfrm>
          <a:prstGeom prst="rect">
            <a:avLst/>
          </a:prstGeom>
        </p:spPr>
        <p:txBody>
          <a:bodyPr/>
          <a:lstStyle>
            <a:lvl1pPr algn="l">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2" name="Slide Number Placeholder 5">
            <a:extLst>
              <a:ext uri="{FF2B5EF4-FFF2-40B4-BE49-F238E27FC236}">
                <a16:creationId xmlns:a16="http://schemas.microsoft.com/office/drawing/2014/main" id="{1EDC2A64-09D8-2D24-2124-3A421ADFC534}"/>
              </a:ext>
            </a:extLst>
          </p:cNvPr>
          <p:cNvSpPr txBox="1">
            <a:spLocks/>
          </p:cNvSpPr>
          <p:nvPr userDrawn="1"/>
        </p:nvSpPr>
        <p:spPr>
          <a:xfrm>
            <a:off x="5679139" y="6489376"/>
            <a:ext cx="838201"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grpSp>
        <p:nvGrpSpPr>
          <p:cNvPr id="31" name="Group 30">
            <a:extLst>
              <a:ext uri="{FF2B5EF4-FFF2-40B4-BE49-F238E27FC236}">
                <a16:creationId xmlns:a16="http://schemas.microsoft.com/office/drawing/2014/main" id="{66501DCF-B23E-2EF9-0C4C-489404C16017}"/>
              </a:ext>
            </a:extLst>
          </p:cNvPr>
          <p:cNvGrpSpPr/>
          <p:nvPr userDrawn="1"/>
        </p:nvGrpSpPr>
        <p:grpSpPr>
          <a:xfrm>
            <a:off x="0" y="6489376"/>
            <a:ext cx="12183035" cy="368831"/>
            <a:chOff x="0" y="6489376"/>
            <a:chExt cx="12183035" cy="368831"/>
          </a:xfrm>
        </p:grpSpPr>
        <p:sp>
          <p:nvSpPr>
            <p:cNvPr id="32" name="Rectangle 31">
              <a:extLst>
                <a:ext uri="{FF2B5EF4-FFF2-40B4-BE49-F238E27FC236}">
                  <a16:creationId xmlns:a16="http://schemas.microsoft.com/office/drawing/2014/main" id="{1E46C8D8-3900-C42E-B13F-6B040A5EACCE}"/>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Rectangle 32">
              <a:extLst>
                <a:ext uri="{FF2B5EF4-FFF2-40B4-BE49-F238E27FC236}">
                  <a16:creationId xmlns:a16="http://schemas.microsoft.com/office/drawing/2014/main" id="{0BD03563-B4A5-9658-3002-745DA9968A80}"/>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a:extLst>
                <a:ext uri="{FF2B5EF4-FFF2-40B4-BE49-F238E27FC236}">
                  <a16:creationId xmlns:a16="http://schemas.microsoft.com/office/drawing/2014/main" id="{0A5CE471-BC1A-04E1-EC9E-178F056D4595}"/>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TextBox 34">
              <a:extLst>
                <a:ext uri="{FF2B5EF4-FFF2-40B4-BE49-F238E27FC236}">
                  <a16:creationId xmlns:a16="http://schemas.microsoft.com/office/drawing/2014/main" id="{2A143DA4-EC93-1889-6492-7B2A4057FBED}"/>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pic>
          <p:nvPicPr>
            <p:cNvPr id="36" name="Picture 35">
              <a:extLst>
                <a:ext uri="{FF2B5EF4-FFF2-40B4-BE49-F238E27FC236}">
                  <a16:creationId xmlns:a16="http://schemas.microsoft.com/office/drawing/2014/main" id="{9FD2BFE5-B967-216D-9DA9-78A1A5C5B8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21616" y="6489583"/>
              <a:ext cx="737248" cy="368624"/>
            </a:xfrm>
            <a:prstGeom prst="rect">
              <a:avLst/>
            </a:prstGeom>
          </p:spPr>
        </p:pic>
      </p:grpSp>
      <p:sp>
        <p:nvSpPr>
          <p:cNvPr id="37" name="Slide Number Placeholder 5">
            <a:extLst>
              <a:ext uri="{FF2B5EF4-FFF2-40B4-BE49-F238E27FC236}">
                <a16:creationId xmlns:a16="http://schemas.microsoft.com/office/drawing/2014/main" id="{C6170F28-611D-36D4-A2B6-E633E60C6491}"/>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cxnSp>
        <p:nvCxnSpPr>
          <p:cNvPr id="3" name="Straight Connector 2">
            <a:extLst>
              <a:ext uri="{FF2B5EF4-FFF2-40B4-BE49-F238E27FC236}">
                <a16:creationId xmlns:a16="http://schemas.microsoft.com/office/drawing/2014/main" id="{757838AF-EB0D-D3E8-BC49-ADCCF5F5F522}"/>
              </a:ext>
            </a:extLst>
          </p:cNvPr>
          <p:cNvCxnSpPr>
            <a:cxnSpLocks/>
          </p:cNvCxnSpPr>
          <p:nvPr userDrawn="1"/>
        </p:nvCxnSpPr>
        <p:spPr>
          <a:xfrm>
            <a:off x="457200" y="327128"/>
            <a:ext cx="0" cy="725074"/>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250603CF-CA03-27DA-4F8D-7DB2FDC3E00D}"/>
              </a:ext>
            </a:extLst>
          </p:cNvPr>
          <p:cNvSpPr/>
          <p:nvPr userDrawn="1"/>
        </p:nvSpPr>
        <p:spPr>
          <a:xfrm>
            <a:off x="-15766" y="327128"/>
            <a:ext cx="335806" cy="725074"/>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Tree>
    <p:extLst>
      <p:ext uri="{BB962C8B-B14F-4D97-AF65-F5344CB8AC3E}">
        <p14:creationId xmlns:p14="http://schemas.microsoft.com/office/powerpoint/2010/main" val="19237241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8448683-2C7C-43B4-AB6C-D6EF94546AF4}"/>
              </a:ext>
            </a:extLst>
          </p:cNvPr>
          <p:cNvSpPr/>
          <p:nvPr userDrawn="1"/>
        </p:nvSpPr>
        <p:spPr>
          <a:xfrm>
            <a:off x="0" y="0"/>
            <a:ext cx="12192000" cy="1222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295005" y="432023"/>
            <a:ext cx="8148539" cy="579091"/>
          </a:xfrm>
          <a:prstGeom prst="rect">
            <a:avLst/>
          </a:prstGeom>
        </p:spPr>
        <p:txBody>
          <a:bodyPr/>
          <a:lstStyle>
            <a:lvl1pPr algn="l">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2" name="Slide Number Placeholder 5">
            <a:extLst>
              <a:ext uri="{FF2B5EF4-FFF2-40B4-BE49-F238E27FC236}">
                <a16:creationId xmlns:a16="http://schemas.microsoft.com/office/drawing/2014/main" id="{1EDC2A64-09D8-2D24-2124-3A421ADFC534}"/>
              </a:ext>
            </a:extLst>
          </p:cNvPr>
          <p:cNvSpPr txBox="1">
            <a:spLocks/>
          </p:cNvSpPr>
          <p:nvPr userDrawn="1"/>
        </p:nvSpPr>
        <p:spPr>
          <a:xfrm>
            <a:off x="5679139" y="6489376"/>
            <a:ext cx="838201"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grpSp>
        <p:nvGrpSpPr>
          <p:cNvPr id="31" name="Group 30">
            <a:extLst>
              <a:ext uri="{FF2B5EF4-FFF2-40B4-BE49-F238E27FC236}">
                <a16:creationId xmlns:a16="http://schemas.microsoft.com/office/drawing/2014/main" id="{66501DCF-B23E-2EF9-0C4C-489404C16017}"/>
              </a:ext>
            </a:extLst>
          </p:cNvPr>
          <p:cNvGrpSpPr/>
          <p:nvPr userDrawn="1"/>
        </p:nvGrpSpPr>
        <p:grpSpPr>
          <a:xfrm>
            <a:off x="0" y="6489376"/>
            <a:ext cx="12183035" cy="368624"/>
            <a:chOff x="0" y="6489376"/>
            <a:chExt cx="12183035" cy="368624"/>
          </a:xfrm>
        </p:grpSpPr>
        <p:sp>
          <p:nvSpPr>
            <p:cNvPr id="32" name="Rectangle 31">
              <a:extLst>
                <a:ext uri="{FF2B5EF4-FFF2-40B4-BE49-F238E27FC236}">
                  <a16:creationId xmlns:a16="http://schemas.microsoft.com/office/drawing/2014/main" id="{1E46C8D8-3900-C42E-B13F-6B040A5EACCE}"/>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Rectangle 32">
              <a:extLst>
                <a:ext uri="{FF2B5EF4-FFF2-40B4-BE49-F238E27FC236}">
                  <a16:creationId xmlns:a16="http://schemas.microsoft.com/office/drawing/2014/main" id="{0BD03563-B4A5-9658-3002-745DA9968A80}"/>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a:extLst>
                <a:ext uri="{FF2B5EF4-FFF2-40B4-BE49-F238E27FC236}">
                  <a16:creationId xmlns:a16="http://schemas.microsoft.com/office/drawing/2014/main" id="{0A5CE471-BC1A-04E1-EC9E-178F056D4595}"/>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TextBox 34">
              <a:extLst>
                <a:ext uri="{FF2B5EF4-FFF2-40B4-BE49-F238E27FC236}">
                  <a16:creationId xmlns:a16="http://schemas.microsoft.com/office/drawing/2014/main" id="{2A143DA4-EC93-1889-6492-7B2A4057FBED}"/>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grpSp>
      <p:sp>
        <p:nvSpPr>
          <p:cNvPr id="37" name="Slide Number Placeholder 5">
            <a:extLst>
              <a:ext uri="{FF2B5EF4-FFF2-40B4-BE49-F238E27FC236}">
                <a16:creationId xmlns:a16="http://schemas.microsoft.com/office/drawing/2014/main" id="{C6170F28-611D-36D4-A2B6-E633E60C6491}"/>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pic>
        <p:nvPicPr>
          <p:cNvPr id="3" name="Picture 2">
            <a:extLst>
              <a:ext uri="{FF2B5EF4-FFF2-40B4-BE49-F238E27FC236}">
                <a16:creationId xmlns:a16="http://schemas.microsoft.com/office/drawing/2014/main" id="{390A59C5-4B91-7D0F-3053-0DF98614C78E}"/>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221616" y="6489583"/>
            <a:ext cx="737248" cy="368623"/>
          </a:xfrm>
          <a:prstGeom prst="rect">
            <a:avLst/>
          </a:prstGeom>
        </p:spPr>
      </p:pic>
    </p:spTree>
    <p:extLst>
      <p:ext uri="{BB962C8B-B14F-4D97-AF65-F5344CB8AC3E}">
        <p14:creationId xmlns:p14="http://schemas.microsoft.com/office/powerpoint/2010/main" val="9630103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g_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A13815-8029-F48E-587D-ECF0A862D5A7}"/>
              </a:ext>
            </a:extLst>
          </p:cNvPr>
          <p:cNvSpPr/>
          <p:nvPr userDrawn="1"/>
        </p:nvSpPr>
        <p:spPr>
          <a:xfrm>
            <a:off x="5410200" y="6489376"/>
            <a:ext cx="1461655" cy="3686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0" name="Group 19">
            <a:extLst>
              <a:ext uri="{FF2B5EF4-FFF2-40B4-BE49-F238E27FC236}">
                <a16:creationId xmlns:a16="http://schemas.microsoft.com/office/drawing/2014/main" id="{EB265EB8-2714-F313-FB46-AE14C6AE4FEE}"/>
              </a:ext>
            </a:extLst>
          </p:cNvPr>
          <p:cNvGrpSpPr/>
          <p:nvPr userDrawn="1"/>
        </p:nvGrpSpPr>
        <p:grpSpPr>
          <a:xfrm>
            <a:off x="0" y="6489376"/>
            <a:ext cx="12183035" cy="368624"/>
            <a:chOff x="0" y="6489376"/>
            <a:chExt cx="12183035" cy="368624"/>
          </a:xfrm>
        </p:grpSpPr>
        <p:sp>
          <p:nvSpPr>
            <p:cNvPr id="21" name="Rectangle 20">
              <a:extLst>
                <a:ext uri="{FF2B5EF4-FFF2-40B4-BE49-F238E27FC236}">
                  <a16:creationId xmlns:a16="http://schemas.microsoft.com/office/drawing/2014/main" id="{A95350C0-FDB0-2290-3661-665FCC7AD3DE}"/>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Rectangle 21">
              <a:extLst>
                <a:ext uri="{FF2B5EF4-FFF2-40B4-BE49-F238E27FC236}">
                  <a16:creationId xmlns:a16="http://schemas.microsoft.com/office/drawing/2014/main" id="{32FF9010-BC31-2F61-7FA9-370CFBC27CA9}"/>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Rectangle 22">
              <a:extLst>
                <a:ext uri="{FF2B5EF4-FFF2-40B4-BE49-F238E27FC236}">
                  <a16:creationId xmlns:a16="http://schemas.microsoft.com/office/drawing/2014/main" id="{B8BC4829-C3A9-7241-4485-96DB61D991C0}"/>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TextBox 23">
              <a:extLst>
                <a:ext uri="{FF2B5EF4-FFF2-40B4-BE49-F238E27FC236}">
                  <a16:creationId xmlns:a16="http://schemas.microsoft.com/office/drawing/2014/main" id="{F6B5CA4E-D55C-F369-55A2-F23F57A19EBC}"/>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grpSp>
      <p:sp>
        <p:nvSpPr>
          <p:cNvPr id="26" name="Slide Number Placeholder 5">
            <a:extLst>
              <a:ext uri="{FF2B5EF4-FFF2-40B4-BE49-F238E27FC236}">
                <a16:creationId xmlns:a16="http://schemas.microsoft.com/office/drawing/2014/main" id="{40BA6B57-41A0-5459-EAB1-A4A11B5E36AE}"/>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pic>
        <p:nvPicPr>
          <p:cNvPr id="3" name="Picture 2">
            <a:extLst>
              <a:ext uri="{FF2B5EF4-FFF2-40B4-BE49-F238E27FC236}">
                <a16:creationId xmlns:a16="http://schemas.microsoft.com/office/drawing/2014/main" id="{F6EF2320-E301-32D8-59FE-EAD97C6638F2}"/>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221616" y="6489583"/>
            <a:ext cx="737248" cy="368623"/>
          </a:xfrm>
          <a:prstGeom prst="rect">
            <a:avLst/>
          </a:prstGeom>
        </p:spPr>
      </p:pic>
    </p:spTree>
    <p:extLst>
      <p:ext uri="{BB962C8B-B14F-4D97-AF65-F5344CB8AC3E}">
        <p14:creationId xmlns:p14="http://schemas.microsoft.com/office/powerpoint/2010/main" val="266289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74990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act Us">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3456154-E2CF-41B6-A45A-2C52327BE161}"/>
              </a:ext>
            </a:extLst>
          </p:cNvPr>
          <p:cNvSpPr/>
          <p:nvPr userDrawn="1"/>
        </p:nvSpPr>
        <p:spPr>
          <a:xfrm>
            <a:off x="8965" y="0"/>
            <a:ext cx="12192000" cy="6858000"/>
          </a:xfrm>
          <a:prstGeom prst="rect">
            <a:avLst/>
          </a:prstGeom>
          <a:solidFill>
            <a:srgbClr val="2F465A">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0" name="Rectangle 9">
            <a:extLst>
              <a:ext uri="{FF2B5EF4-FFF2-40B4-BE49-F238E27FC236}">
                <a16:creationId xmlns:a16="http://schemas.microsoft.com/office/drawing/2014/main" id="{E2A313FD-EA6D-4886-A54F-5282EDF3BB3E}"/>
              </a:ext>
            </a:extLst>
          </p:cNvPr>
          <p:cNvSpPr/>
          <p:nvPr userDrawn="1"/>
        </p:nvSpPr>
        <p:spPr>
          <a:xfrm>
            <a:off x="0" y="3719285"/>
            <a:ext cx="12192000" cy="2496877"/>
          </a:xfrm>
          <a:prstGeom prst="rect">
            <a:avLst/>
          </a:prstGeom>
          <a:gradFill flip="none" rotWithShape="1">
            <a:gsLst>
              <a:gs pos="51000">
                <a:srgbClr val="C00000">
                  <a:lumMod val="99000"/>
                  <a:alpha val="80000"/>
                </a:srgbClr>
              </a:gs>
              <a:gs pos="0">
                <a:srgbClr val="841618"/>
              </a:gs>
              <a:gs pos="100000">
                <a:srgbClr val="E60000">
                  <a:alpha val="76000"/>
                </a:srgb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3" name="Text Placeholder 8">
            <a:extLst>
              <a:ext uri="{FF2B5EF4-FFF2-40B4-BE49-F238E27FC236}">
                <a16:creationId xmlns:a16="http://schemas.microsoft.com/office/drawing/2014/main" id="{6125DD0E-B06D-477D-849E-CF97E97FE105}"/>
              </a:ext>
            </a:extLst>
          </p:cNvPr>
          <p:cNvSpPr>
            <a:spLocks noGrp="1"/>
          </p:cNvSpPr>
          <p:nvPr>
            <p:ph type="body" sz="quarter" idx="11" hasCustomPrompt="1"/>
          </p:nvPr>
        </p:nvSpPr>
        <p:spPr>
          <a:xfrm>
            <a:off x="1306799" y="4684059"/>
            <a:ext cx="4540270" cy="251490"/>
          </a:xfrm>
          <a:prstGeom prst="rect">
            <a:avLst/>
          </a:prstGeom>
        </p:spPr>
        <p:txBody>
          <a:bodyPr vert="horz"/>
          <a:lstStyle>
            <a:lvl1pPr marL="0" indent="0" algn="l">
              <a:buFontTx/>
              <a:buNone/>
              <a:defRPr sz="140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Designation</a:t>
            </a:r>
          </a:p>
        </p:txBody>
      </p:sp>
      <p:sp>
        <p:nvSpPr>
          <p:cNvPr id="15" name="Text Placeholder 8">
            <a:extLst>
              <a:ext uri="{FF2B5EF4-FFF2-40B4-BE49-F238E27FC236}">
                <a16:creationId xmlns:a16="http://schemas.microsoft.com/office/drawing/2014/main" id="{610C3DA5-CC48-40D6-AE59-A481447E9E50}"/>
              </a:ext>
            </a:extLst>
          </p:cNvPr>
          <p:cNvSpPr>
            <a:spLocks noGrp="1"/>
          </p:cNvSpPr>
          <p:nvPr>
            <p:ph type="body" sz="quarter" idx="12" hasCustomPrompt="1"/>
          </p:nvPr>
        </p:nvSpPr>
        <p:spPr>
          <a:xfrm>
            <a:off x="1306797" y="5008012"/>
            <a:ext cx="4540270" cy="251490"/>
          </a:xfrm>
          <a:prstGeom prst="rect">
            <a:avLst/>
          </a:prstGeom>
        </p:spPr>
        <p:txBody>
          <a:bodyPr vert="horz"/>
          <a:lstStyle>
            <a:lvl1pPr marL="0" indent="0" algn="l">
              <a:buFontTx/>
              <a:buNone/>
              <a:defRPr sz="140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Email id</a:t>
            </a:r>
          </a:p>
        </p:txBody>
      </p:sp>
      <p:sp>
        <p:nvSpPr>
          <p:cNvPr id="16" name="Text Placeholder 8">
            <a:extLst>
              <a:ext uri="{FF2B5EF4-FFF2-40B4-BE49-F238E27FC236}">
                <a16:creationId xmlns:a16="http://schemas.microsoft.com/office/drawing/2014/main" id="{4E9C4AE8-81CC-4637-B932-B4DB763FC6D7}"/>
              </a:ext>
            </a:extLst>
          </p:cNvPr>
          <p:cNvSpPr>
            <a:spLocks noGrp="1"/>
          </p:cNvSpPr>
          <p:nvPr>
            <p:ph type="body" sz="quarter" idx="13" hasCustomPrompt="1"/>
          </p:nvPr>
        </p:nvSpPr>
        <p:spPr>
          <a:xfrm>
            <a:off x="1306797" y="5331966"/>
            <a:ext cx="4540270" cy="251490"/>
          </a:xfrm>
          <a:prstGeom prst="rect">
            <a:avLst/>
          </a:prstGeom>
        </p:spPr>
        <p:txBody>
          <a:bodyPr vert="horz"/>
          <a:lstStyle>
            <a:lvl1pPr marL="0" indent="0" algn="l">
              <a:buFontTx/>
              <a:buNone/>
              <a:defRPr sz="140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Mobile Number </a:t>
            </a:r>
          </a:p>
        </p:txBody>
      </p:sp>
      <p:sp>
        <p:nvSpPr>
          <p:cNvPr id="17" name="Text Placeholder 17">
            <a:extLst>
              <a:ext uri="{FF2B5EF4-FFF2-40B4-BE49-F238E27FC236}">
                <a16:creationId xmlns:a16="http://schemas.microsoft.com/office/drawing/2014/main" id="{D5DDE5E6-2E19-4A50-A472-23C102B3B891}"/>
              </a:ext>
            </a:extLst>
          </p:cNvPr>
          <p:cNvSpPr>
            <a:spLocks noGrp="1"/>
          </p:cNvSpPr>
          <p:nvPr>
            <p:ph type="body" sz="quarter" idx="14" hasCustomPrompt="1"/>
          </p:nvPr>
        </p:nvSpPr>
        <p:spPr>
          <a:xfrm>
            <a:off x="1306798" y="4360106"/>
            <a:ext cx="4540269" cy="251490"/>
          </a:xfrm>
          <a:prstGeom prst="rect">
            <a:avLst/>
          </a:prstGeom>
        </p:spPr>
        <p:txBody>
          <a:bodyPr vert="horz" anchor="ctr"/>
          <a:lstStyle>
            <a:lvl1pPr marL="0" indent="0">
              <a:buFontTx/>
              <a:buNone/>
              <a:defRPr sz="14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Name</a:t>
            </a:r>
          </a:p>
        </p:txBody>
      </p:sp>
      <p:sp>
        <p:nvSpPr>
          <p:cNvPr id="18" name="Text Placeholder 8">
            <a:extLst>
              <a:ext uri="{FF2B5EF4-FFF2-40B4-BE49-F238E27FC236}">
                <a16:creationId xmlns:a16="http://schemas.microsoft.com/office/drawing/2014/main" id="{6329447F-0EA2-431F-82BB-0B13BBCEEC61}"/>
              </a:ext>
            </a:extLst>
          </p:cNvPr>
          <p:cNvSpPr>
            <a:spLocks noGrp="1"/>
          </p:cNvSpPr>
          <p:nvPr>
            <p:ph type="body" sz="quarter" idx="15" hasCustomPrompt="1"/>
          </p:nvPr>
        </p:nvSpPr>
        <p:spPr>
          <a:xfrm>
            <a:off x="6344934" y="4684059"/>
            <a:ext cx="4540270" cy="251490"/>
          </a:xfrm>
          <a:prstGeom prst="rect">
            <a:avLst/>
          </a:prstGeom>
        </p:spPr>
        <p:txBody>
          <a:bodyPr vert="horz"/>
          <a:lstStyle>
            <a:lvl1pPr marL="0" indent="0" algn="l">
              <a:buFontTx/>
              <a:buNone/>
              <a:defRPr sz="140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Designation</a:t>
            </a:r>
          </a:p>
        </p:txBody>
      </p:sp>
      <p:sp>
        <p:nvSpPr>
          <p:cNvPr id="19" name="Text Placeholder 8">
            <a:extLst>
              <a:ext uri="{FF2B5EF4-FFF2-40B4-BE49-F238E27FC236}">
                <a16:creationId xmlns:a16="http://schemas.microsoft.com/office/drawing/2014/main" id="{8562C244-65E7-49FC-8F39-31021CEDE16A}"/>
              </a:ext>
            </a:extLst>
          </p:cNvPr>
          <p:cNvSpPr>
            <a:spLocks noGrp="1"/>
          </p:cNvSpPr>
          <p:nvPr>
            <p:ph type="body" sz="quarter" idx="16" hasCustomPrompt="1"/>
          </p:nvPr>
        </p:nvSpPr>
        <p:spPr>
          <a:xfrm>
            <a:off x="6344932" y="5008012"/>
            <a:ext cx="4540270" cy="251490"/>
          </a:xfrm>
          <a:prstGeom prst="rect">
            <a:avLst/>
          </a:prstGeom>
        </p:spPr>
        <p:txBody>
          <a:bodyPr vert="horz"/>
          <a:lstStyle>
            <a:lvl1pPr marL="0" indent="0" algn="l">
              <a:buFontTx/>
              <a:buNone/>
              <a:defRPr sz="140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Email id</a:t>
            </a:r>
          </a:p>
        </p:txBody>
      </p:sp>
      <p:sp>
        <p:nvSpPr>
          <p:cNvPr id="20" name="Text Placeholder 8">
            <a:extLst>
              <a:ext uri="{FF2B5EF4-FFF2-40B4-BE49-F238E27FC236}">
                <a16:creationId xmlns:a16="http://schemas.microsoft.com/office/drawing/2014/main" id="{7DF42256-CDD6-4338-9E81-7E46929F283E}"/>
              </a:ext>
            </a:extLst>
          </p:cNvPr>
          <p:cNvSpPr>
            <a:spLocks noGrp="1"/>
          </p:cNvSpPr>
          <p:nvPr>
            <p:ph type="body" sz="quarter" idx="17" hasCustomPrompt="1"/>
          </p:nvPr>
        </p:nvSpPr>
        <p:spPr>
          <a:xfrm>
            <a:off x="6344932" y="5331966"/>
            <a:ext cx="4540270" cy="251490"/>
          </a:xfrm>
          <a:prstGeom prst="rect">
            <a:avLst/>
          </a:prstGeom>
        </p:spPr>
        <p:txBody>
          <a:bodyPr vert="horz"/>
          <a:lstStyle>
            <a:lvl1pPr marL="0" indent="0" algn="l">
              <a:buFontTx/>
              <a:buNone/>
              <a:defRPr sz="140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Mobile Number </a:t>
            </a:r>
          </a:p>
        </p:txBody>
      </p:sp>
      <p:sp>
        <p:nvSpPr>
          <p:cNvPr id="21" name="Text Placeholder 17">
            <a:extLst>
              <a:ext uri="{FF2B5EF4-FFF2-40B4-BE49-F238E27FC236}">
                <a16:creationId xmlns:a16="http://schemas.microsoft.com/office/drawing/2014/main" id="{B2D6A307-AB88-4B04-B56F-8151D3201AEB}"/>
              </a:ext>
            </a:extLst>
          </p:cNvPr>
          <p:cNvSpPr>
            <a:spLocks noGrp="1"/>
          </p:cNvSpPr>
          <p:nvPr>
            <p:ph type="body" sz="quarter" idx="18" hasCustomPrompt="1"/>
          </p:nvPr>
        </p:nvSpPr>
        <p:spPr>
          <a:xfrm>
            <a:off x="6344933" y="4360106"/>
            <a:ext cx="4540269" cy="251490"/>
          </a:xfrm>
          <a:prstGeom prst="rect">
            <a:avLst/>
          </a:prstGeom>
        </p:spPr>
        <p:txBody>
          <a:bodyPr vert="horz" anchor="ctr"/>
          <a:lstStyle>
            <a:lvl1pPr marL="0" indent="0">
              <a:buFontTx/>
              <a:buNone/>
              <a:defRPr sz="14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Name </a:t>
            </a:r>
          </a:p>
        </p:txBody>
      </p:sp>
      <p:grpSp>
        <p:nvGrpSpPr>
          <p:cNvPr id="32" name="Group 31">
            <a:extLst>
              <a:ext uri="{FF2B5EF4-FFF2-40B4-BE49-F238E27FC236}">
                <a16:creationId xmlns:a16="http://schemas.microsoft.com/office/drawing/2014/main" id="{769C9F91-2453-2A40-071F-6EDBCDBCC9D3}"/>
              </a:ext>
            </a:extLst>
          </p:cNvPr>
          <p:cNvGrpSpPr/>
          <p:nvPr userDrawn="1"/>
        </p:nvGrpSpPr>
        <p:grpSpPr>
          <a:xfrm>
            <a:off x="8898052" y="5753373"/>
            <a:ext cx="3284983" cy="462789"/>
            <a:chOff x="8907018" y="-1"/>
            <a:chExt cx="3284983" cy="1222131"/>
          </a:xfrm>
        </p:grpSpPr>
        <p:sp>
          <p:nvSpPr>
            <p:cNvPr id="29" name="Rectangle 28">
              <a:extLst>
                <a:ext uri="{FF2B5EF4-FFF2-40B4-BE49-F238E27FC236}">
                  <a16:creationId xmlns:a16="http://schemas.microsoft.com/office/drawing/2014/main" id="{A6DA2114-5F66-7F08-4713-A26EF9502512}"/>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Flowchart: Data 29">
              <a:extLst>
                <a:ext uri="{FF2B5EF4-FFF2-40B4-BE49-F238E27FC236}">
                  <a16:creationId xmlns:a16="http://schemas.microsoft.com/office/drawing/2014/main" id="{4B2F406E-43DA-58FE-8D27-291594A830EA}"/>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31" name="Flowchart: Data 30">
              <a:extLst>
                <a:ext uri="{FF2B5EF4-FFF2-40B4-BE49-F238E27FC236}">
                  <a16:creationId xmlns:a16="http://schemas.microsoft.com/office/drawing/2014/main" id="{E61610D7-B6B7-7A0B-C774-AA9EF89407AE}"/>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grpSp>
      <p:cxnSp>
        <p:nvCxnSpPr>
          <p:cNvPr id="35" name="Straight Connector 34">
            <a:extLst>
              <a:ext uri="{FF2B5EF4-FFF2-40B4-BE49-F238E27FC236}">
                <a16:creationId xmlns:a16="http://schemas.microsoft.com/office/drawing/2014/main" id="{F6AF70A0-5DF2-0996-394F-08248E779F7C}"/>
              </a:ext>
            </a:extLst>
          </p:cNvPr>
          <p:cNvCxnSpPr>
            <a:cxnSpLocks/>
          </p:cNvCxnSpPr>
          <p:nvPr userDrawn="1"/>
        </p:nvCxnSpPr>
        <p:spPr>
          <a:xfrm>
            <a:off x="3638071" y="2703926"/>
            <a:ext cx="0" cy="725074"/>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5CECD2A-79D7-F426-0E03-0CD45B9CA37B}"/>
              </a:ext>
            </a:extLst>
          </p:cNvPr>
          <p:cNvSpPr/>
          <p:nvPr userDrawn="1"/>
        </p:nvSpPr>
        <p:spPr>
          <a:xfrm>
            <a:off x="3165105" y="2703926"/>
            <a:ext cx="335806" cy="725074"/>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Title 1">
            <a:extLst>
              <a:ext uri="{FF2B5EF4-FFF2-40B4-BE49-F238E27FC236}">
                <a16:creationId xmlns:a16="http://schemas.microsoft.com/office/drawing/2014/main" id="{710A58E8-82E6-4E2D-80B9-58CEA08E6BE4}"/>
              </a:ext>
            </a:extLst>
          </p:cNvPr>
          <p:cNvSpPr>
            <a:spLocks noGrp="1"/>
          </p:cNvSpPr>
          <p:nvPr>
            <p:ph type="title" hasCustomPrompt="1"/>
          </p:nvPr>
        </p:nvSpPr>
        <p:spPr>
          <a:xfrm>
            <a:off x="3880338" y="2650986"/>
            <a:ext cx="4431323" cy="817822"/>
          </a:xfrm>
          <a:prstGeom prst="rect">
            <a:avLst/>
          </a:prstGeom>
        </p:spPr>
        <p:txBody>
          <a:bodyPr anchor="ctr"/>
          <a:lstStyle>
            <a:lvl1pPr algn="ctr">
              <a:defRPr b="1">
                <a:solidFill>
                  <a:schemeClr val="bg1"/>
                </a:solidFill>
                <a:latin typeface="Roboto" panose="02000000000000000000" pitchFamily="2" charset="0"/>
                <a:ea typeface="Roboto" panose="02000000000000000000" pitchFamily="2" charset="0"/>
              </a:defRPr>
            </a:lvl1pPr>
          </a:lstStyle>
          <a:p>
            <a:r>
              <a:rPr lang="en-US" dirty="0"/>
              <a:t>CONTACT US</a:t>
            </a:r>
            <a:endParaRPr lang="en-ID" dirty="0"/>
          </a:p>
        </p:txBody>
      </p:sp>
    </p:spTree>
    <p:extLst>
      <p:ext uri="{BB962C8B-B14F-4D97-AF65-F5344CB8AC3E}">
        <p14:creationId xmlns:p14="http://schemas.microsoft.com/office/powerpoint/2010/main" val="28838827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act Us">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3456154-E2CF-41B6-A45A-2C52327BE161}"/>
              </a:ext>
            </a:extLst>
          </p:cNvPr>
          <p:cNvSpPr/>
          <p:nvPr userDrawn="1"/>
        </p:nvSpPr>
        <p:spPr>
          <a:xfrm>
            <a:off x="8965" y="0"/>
            <a:ext cx="12192000" cy="6858000"/>
          </a:xfrm>
          <a:prstGeom prst="rect">
            <a:avLst/>
          </a:prstGeom>
          <a:solidFill>
            <a:srgbClr val="2F465A">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0" name="Rectangle 9">
            <a:extLst>
              <a:ext uri="{FF2B5EF4-FFF2-40B4-BE49-F238E27FC236}">
                <a16:creationId xmlns:a16="http://schemas.microsoft.com/office/drawing/2014/main" id="{E2A313FD-EA6D-4886-A54F-5282EDF3BB3E}"/>
              </a:ext>
            </a:extLst>
          </p:cNvPr>
          <p:cNvSpPr/>
          <p:nvPr userDrawn="1"/>
        </p:nvSpPr>
        <p:spPr>
          <a:xfrm>
            <a:off x="0" y="3719285"/>
            <a:ext cx="12192000" cy="2496877"/>
          </a:xfrm>
          <a:prstGeom prst="rect">
            <a:avLst/>
          </a:prstGeom>
          <a:gradFill flip="none" rotWithShape="1">
            <a:gsLst>
              <a:gs pos="58000">
                <a:srgbClr val="C00000">
                  <a:lumMod val="99000"/>
                  <a:alpha val="62000"/>
                </a:srgbClr>
              </a:gs>
              <a:gs pos="0">
                <a:srgbClr val="841618"/>
              </a:gs>
              <a:gs pos="100000">
                <a:srgbClr val="E60000">
                  <a:alpha val="87000"/>
                </a:srgb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3" name="Text Placeholder 8">
            <a:extLst>
              <a:ext uri="{FF2B5EF4-FFF2-40B4-BE49-F238E27FC236}">
                <a16:creationId xmlns:a16="http://schemas.microsoft.com/office/drawing/2014/main" id="{6125DD0E-B06D-477D-849E-CF97E97FE105}"/>
              </a:ext>
            </a:extLst>
          </p:cNvPr>
          <p:cNvSpPr>
            <a:spLocks noGrp="1"/>
          </p:cNvSpPr>
          <p:nvPr>
            <p:ph type="body" sz="quarter" idx="11" hasCustomPrompt="1"/>
          </p:nvPr>
        </p:nvSpPr>
        <p:spPr>
          <a:xfrm>
            <a:off x="1306799" y="4684059"/>
            <a:ext cx="4540270" cy="251490"/>
          </a:xfrm>
          <a:prstGeom prst="rect">
            <a:avLst/>
          </a:prstGeom>
        </p:spPr>
        <p:txBody>
          <a:bodyPr vert="horz"/>
          <a:lstStyle>
            <a:lvl1pPr marL="0" indent="0" algn="l">
              <a:buFontTx/>
              <a:buNone/>
              <a:defRPr sz="140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Designation</a:t>
            </a:r>
          </a:p>
        </p:txBody>
      </p:sp>
      <p:sp>
        <p:nvSpPr>
          <p:cNvPr id="15" name="Text Placeholder 8">
            <a:extLst>
              <a:ext uri="{FF2B5EF4-FFF2-40B4-BE49-F238E27FC236}">
                <a16:creationId xmlns:a16="http://schemas.microsoft.com/office/drawing/2014/main" id="{610C3DA5-CC48-40D6-AE59-A481447E9E50}"/>
              </a:ext>
            </a:extLst>
          </p:cNvPr>
          <p:cNvSpPr>
            <a:spLocks noGrp="1"/>
          </p:cNvSpPr>
          <p:nvPr>
            <p:ph type="body" sz="quarter" idx="12" hasCustomPrompt="1"/>
          </p:nvPr>
        </p:nvSpPr>
        <p:spPr>
          <a:xfrm>
            <a:off x="1306797" y="5008012"/>
            <a:ext cx="4540270" cy="251490"/>
          </a:xfrm>
          <a:prstGeom prst="rect">
            <a:avLst/>
          </a:prstGeom>
        </p:spPr>
        <p:txBody>
          <a:bodyPr vert="horz"/>
          <a:lstStyle>
            <a:lvl1pPr marL="0" indent="0" algn="l">
              <a:buFontTx/>
              <a:buNone/>
              <a:defRPr sz="140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Email id</a:t>
            </a:r>
          </a:p>
        </p:txBody>
      </p:sp>
      <p:sp>
        <p:nvSpPr>
          <p:cNvPr id="16" name="Text Placeholder 8">
            <a:extLst>
              <a:ext uri="{FF2B5EF4-FFF2-40B4-BE49-F238E27FC236}">
                <a16:creationId xmlns:a16="http://schemas.microsoft.com/office/drawing/2014/main" id="{4E9C4AE8-81CC-4637-B932-B4DB763FC6D7}"/>
              </a:ext>
            </a:extLst>
          </p:cNvPr>
          <p:cNvSpPr>
            <a:spLocks noGrp="1"/>
          </p:cNvSpPr>
          <p:nvPr>
            <p:ph type="body" sz="quarter" idx="13" hasCustomPrompt="1"/>
          </p:nvPr>
        </p:nvSpPr>
        <p:spPr>
          <a:xfrm>
            <a:off x="1306797" y="5331966"/>
            <a:ext cx="4540270" cy="251490"/>
          </a:xfrm>
          <a:prstGeom prst="rect">
            <a:avLst/>
          </a:prstGeom>
        </p:spPr>
        <p:txBody>
          <a:bodyPr vert="horz"/>
          <a:lstStyle>
            <a:lvl1pPr marL="0" indent="0" algn="l">
              <a:buFontTx/>
              <a:buNone/>
              <a:defRPr sz="140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Mobile Number </a:t>
            </a:r>
          </a:p>
        </p:txBody>
      </p:sp>
      <p:sp>
        <p:nvSpPr>
          <p:cNvPr id="17" name="Text Placeholder 17">
            <a:extLst>
              <a:ext uri="{FF2B5EF4-FFF2-40B4-BE49-F238E27FC236}">
                <a16:creationId xmlns:a16="http://schemas.microsoft.com/office/drawing/2014/main" id="{D5DDE5E6-2E19-4A50-A472-23C102B3B891}"/>
              </a:ext>
            </a:extLst>
          </p:cNvPr>
          <p:cNvSpPr>
            <a:spLocks noGrp="1"/>
          </p:cNvSpPr>
          <p:nvPr>
            <p:ph type="body" sz="quarter" idx="14" hasCustomPrompt="1"/>
          </p:nvPr>
        </p:nvSpPr>
        <p:spPr>
          <a:xfrm>
            <a:off x="1306798" y="4360106"/>
            <a:ext cx="4540269" cy="251490"/>
          </a:xfrm>
          <a:prstGeom prst="rect">
            <a:avLst/>
          </a:prstGeom>
        </p:spPr>
        <p:txBody>
          <a:bodyPr vert="horz" anchor="ctr"/>
          <a:lstStyle>
            <a:lvl1pPr marL="0" indent="0">
              <a:buFontTx/>
              <a:buNone/>
              <a:defRPr sz="14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Name</a:t>
            </a:r>
          </a:p>
        </p:txBody>
      </p:sp>
      <p:sp>
        <p:nvSpPr>
          <p:cNvPr id="18" name="Text Placeholder 8">
            <a:extLst>
              <a:ext uri="{FF2B5EF4-FFF2-40B4-BE49-F238E27FC236}">
                <a16:creationId xmlns:a16="http://schemas.microsoft.com/office/drawing/2014/main" id="{6329447F-0EA2-431F-82BB-0B13BBCEEC61}"/>
              </a:ext>
            </a:extLst>
          </p:cNvPr>
          <p:cNvSpPr>
            <a:spLocks noGrp="1"/>
          </p:cNvSpPr>
          <p:nvPr>
            <p:ph type="body" sz="quarter" idx="15" hasCustomPrompt="1"/>
          </p:nvPr>
        </p:nvSpPr>
        <p:spPr>
          <a:xfrm>
            <a:off x="6344934" y="4684059"/>
            <a:ext cx="4540270" cy="251490"/>
          </a:xfrm>
          <a:prstGeom prst="rect">
            <a:avLst/>
          </a:prstGeom>
        </p:spPr>
        <p:txBody>
          <a:bodyPr vert="horz"/>
          <a:lstStyle>
            <a:lvl1pPr marL="0" indent="0" algn="l">
              <a:buFontTx/>
              <a:buNone/>
              <a:defRPr sz="140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Designation</a:t>
            </a:r>
          </a:p>
        </p:txBody>
      </p:sp>
      <p:sp>
        <p:nvSpPr>
          <p:cNvPr id="19" name="Text Placeholder 8">
            <a:extLst>
              <a:ext uri="{FF2B5EF4-FFF2-40B4-BE49-F238E27FC236}">
                <a16:creationId xmlns:a16="http://schemas.microsoft.com/office/drawing/2014/main" id="{8562C244-65E7-49FC-8F39-31021CEDE16A}"/>
              </a:ext>
            </a:extLst>
          </p:cNvPr>
          <p:cNvSpPr>
            <a:spLocks noGrp="1"/>
          </p:cNvSpPr>
          <p:nvPr>
            <p:ph type="body" sz="quarter" idx="16" hasCustomPrompt="1"/>
          </p:nvPr>
        </p:nvSpPr>
        <p:spPr>
          <a:xfrm>
            <a:off x="6344932" y="5008012"/>
            <a:ext cx="4540270" cy="251490"/>
          </a:xfrm>
          <a:prstGeom prst="rect">
            <a:avLst/>
          </a:prstGeom>
        </p:spPr>
        <p:txBody>
          <a:bodyPr vert="horz"/>
          <a:lstStyle>
            <a:lvl1pPr marL="0" indent="0" algn="l">
              <a:buFontTx/>
              <a:buNone/>
              <a:defRPr sz="140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Email id</a:t>
            </a:r>
          </a:p>
        </p:txBody>
      </p:sp>
      <p:sp>
        <p:nvSpPr>
          <p:cNvPr id="20" name="Text Placeholder 8">
            <a:extLst>
              <a:ext uri="{FF2B5EF4-FFF2-40B4-BE49-F238E27FC236}">
                <a16:creationId xmlns:a16="http://schemas.microsoft.com/office/drawing/2014/main" id="{7DF42256-CDD6-4338-9E81-7E46929F283E}"/>
              </a:ext>
            </a:extLst>
          </p:cNvPr>
          <p:cNvSpPr>
            <a:spLocks noGrp="1"/>
          </p:cNvSpPr>
          <p:nvPr>
            <p:ph type="body" sz="quarter" idx="17" hasCustomPrompt="1"/>
          </p:nvPr>
        </p:nvSpPr>
        <p:spPr>
          <a:xfrm>
            <a:off x="6344932" y="5331966"/>
            <a:ext cx="4540270" cy="251490"/>
          </a:xfrm>
          <a:prstGeom prst="rect">
            <a:avLst/>
          </a:prstGeom>
        </p:spPr>
        <p:txBody>
          <a:bodyPr vert="horz"/>
          <a:lstStyle>
            <a:lvl1pPr marL="0" indent="0" algn="l">
              <a:buFontTx/>
              <a:buNone/>
              <a:defRPr sz="140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Mobile Number </a:t>
            </a:r>
          </a:p>
        </p:txBody>
      </p:sp>
      <p:sp>
        <p:nvSpPr>
          <p:cNvPr id="21" name="Text Placeholder 17">
            <a:extLst>
              <a:ext uri="{FF2B5EF4-FFF2-40B4-BE49-F238E27FC236}">
                <a16:creationId xmlns:a16="http://schemas.microsoft.com/office/drawing/2014/main" id="{B2D6A307-AB88-4B04-B56F-8151D3201AEB}"/>
              </a:ext>
            </a:extLst>
          </p:cNvPr>
          <p:cNvSpPr>
            <a:spLocks noGrp="1"/>
          </p:cNvSpPr>
          <p:nvPr>
            <p:ph type="body" sz="quarter" idx="18" hasCustomPrompt="1"/>
          </p:nvPr>
        </p:nvSpPr>
        <p:spPr>
          <a:xfrm>
            <a:off x="6344933" y="4360106"/>
            <a:ext cx="4540269" cy="251490"/>
          </a:xfrm>
          <a:prstGeom prst="rect">
            <a:avLst/>
          </a:prstGeom>
        </p:spPr>
        <p:txBody>
          <a:bodyPr vert="horz" anchor="ctr"/>
          <a:lstStyle>
            <a:lvl1pPr marL="0" indent="0">
              <a:buFontTx/>
              <a:buNone/>
              <a:defRPr sz="14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Name </a:t>
            </a:r>
          </a:p>
        </p:txBody>
      </p:sp>
      <p:grpSp>
        <p:nvGrpSpPr>
          <p:cNvPr id="32" name="Group 31">
            <a:extLst>
              <a:ext uri="{FF2B5EF4-FFF2-40B4-BE49-F238E27FC236}">
                <a16:creationId xmlns:a16="http://schemas.microsoft.com/office/drawing/2014/main" id="{769C9F91-2453-2A40-071F-6EDBCDBCC9D3}"/>
              </a:ext>
            </a:extLst>
          </p:cNvPr>
          <p:cNvGrpSpPr/>
          <p:nvPr userDrawn="1"/>
        </p:nvGrpSpPr>
        <p:grpSpPr>
          <a:xfrm>
            <a:off x="8898052" y="5753373"/>
            <a:ext cx="3284983" cy="462789"/>
            <a:chOff x="8907018" y="-1"/>
            <a:chExt cx="3284983" cy="1222131"/>
          </a:xfrm>
        </p:grpSpPr>
        <p:sp>
          <p:nvSpPr>
            <p:cNvPr id="29" name="Rectangle 28">
              <a:extLst>
                <a:ext uri="{FF2B5EF4-FFF2-40B4-BE49-F238E27FC236}">
                  <a16:creationId xmlns:a16="http://schemas.microsoft.com/office/drawing/2014/main" id="{A6DA2114-5F66-7F08-4713-A26EF9502512}"/>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Flowchart: Data 29">
              <a:extLst>
                <a:ext uri="{FF2B5EF4-FFF2-40B4-BE49-F238E27FC236}">
                  <a16:creationId xmlns:a16="http://schemas.microsoft.com/office/drawing/2014/main" id="{4B2F406E-43DA-58FE-8D27-291594A830EA}"/>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31" name="Flowchart: Data 30">
              <a:extLst>
                <a:ext uri="{FF2B5EF4-FFF2-40B4-BE49-F238E27FC236}">
                  <a16:creationId xmlns:a16="http://schemas.microsoft.com/office/drawing/2014/main" id="{E61610D7-B6B7-7A0B-C774-AA9EF89407AE}"/>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grpSp>
      <p:cxnSp>
        <p:nvCxnSpPr>
          <p:cNvPr id="35" name="Straight Connector 34">
            <a:extLst>
              <a:ext uri="{FF2B5EF4-FFF2-40B4-BE49-F238E27FC236}">
                <a16:creationId xmlns:a16="http://schemas.microsoft.com/office/drawing/2014/main" id="{F6AF70A0-5DF2-0996-394F-08248E779F7C}"/>
              </a:ext>
            </a:extLst>
          </p:cNvPr>
          <p:cNvCxnSpPr>
            <a:cxnSpLocks/>
          </p:cNvCxnSpPr>
          <p:nvPr userDrawn="1"/>
        </p:nvCxnSpPr>
        <p:spPr>
          <a:xfrm>
            <a:off x="3638071" y="2703926"/>
            <a:ext cx="0" cy="725074"/>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5CECD2A-79D7-F426-0E03-0CD45B9CA37B}"/>
              </a:ext>
            </a:extLst>
          </p:cNvPr>
          <p:cNvSpPr/>
          <p:nvPr userDrawn="1"/>
        </p:nvSpPr>
        <p:spPr>
          <a:xfrm>
            <a:off x="3165105" y="2703926"/>
            <a:ext cx="335806" cy="725074"/>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Title 1">
            <a:extLst>
              <a:ext uri="{FF2B5EF4-FFF2-40B4-BE49-F238E27FC236}">
                <a16:creationId xmlns:a16="http://schemas.microsoft.com/office/drawing/2014/main" id="{710A58E8-82E6-4E2D-80B9-58CEA08E6BE4}"/>
              </a:ext>
            </a:extLst>
          </p:cNvPr>
          <p:cNvSpPr>
            <a:spLocks noGrp="1"/>
          </p:cNvSpPr>
          <p:nvPr>
            <p:ph type="title" hasCustomPrompt="1"/>
          </p:nvPr>
        </p:nvSpPr>
        <p:spPr>
          <a:xfrm>
            <a:off x="3880338" y="2650986"/>
            <a:ext cx="4431323" cy="817822"/>
          </a:xfrm>
          <a:prstGeom prst="rect">
            <a:avLst/>
          </a:prstGeom>
        </p:spPr>
        <p:txBody>
          <a:bodyPr anchor="ctr"/>
          <a:lstStyle>
            <a:lvl1pPr algn="ctr">
              <a:defRPr b="1">
                <a:solidFill>
                  <a:schemeClr val="bg1"/>
                </a:solidFill>
                <a:latin typeface="Roboto" panose="02000000000000000000" pitchFamily="2" charset="0"/>
                <a:ea typeface="Roboto" panose="02000000000000000000" pitchFamily="2" charset="0"/>
              </a:defRPr>
            </a:lvl1pPr>
          </a:lstStyle>
          <a:p>
            <a:r>
              <a:rPr lang="en-US" dirty="0"/>
              <a:t>CONTACT US</a:t>
            </a:r>
            <a:endParaRPr lang="en-ID" dirty="0"/>
          </a:p>
        </p:txBody>
      </p:sp>
    </p:spTree>
    <p:extLst>
      <p:ext uri="{BB962C8B-B14F-4D97-AF65-F5344CB8AC3E}">
        <p14:creationId xmlns:p14="http://schemas.microsoft.com/office/powerpoint/2010/main" val="33619590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Presentation Titl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17">
            <a:extLst>
              <a:ext uri="{FF2B5EF4-FFF2-40B4-BE49-F238E27FC236}">
                <a16:creationId xmlns:a16="http://schemas.microsoft.com/office/drawing/2014/main" id="{1907B19A-835D-3CF1-1538-D9BBEFE15102}"/>
              </a:ext>
            </a:extLst>
          </p:cNvPr>
          <p:cNvSpPr>
            <a:spLocks noGrp="1"/>
          </p:cNvSpPr>
          <p:nvPr>
            <p:ph type="body" sz="quarter" idx="12" hasCustomPrompt="1"/>
          </p:nvPr>
        </p:nvSpPr>
        <p:spPr>
          <a:xfrm>
            <a:off x="5582808" y="3649537"/>
            <a:ext cx="6007130" cy="665687"/>
          </a:xfrm>
          <a:prstGeom prst="rect">
            <a:avLst/>
          </a:prstGeom>
        </p:spPr>
        <p:txBody>
          <a:bodyPr vert="horz" anchor="ctr"/>
          <a:lstStyle>
            <a:lvl1pPr marL="0" indent="0" algn="r">
              <a:buFontTx/>
              <a:buNone/>
              <a:defRPr sz="40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dirty="0"/>
              <a:t>Presentation Title</a:t>
            </a:r>
          </a:p>
        </p:txBody>
      </p:sp>
      <p:sp>
        <p:nvSpPr>
          <p:cNvPr id="11" name="Text Placeholder 17">
            <a:extLst>
              <a:ext uri="{FF2B5EF4-FFF2-40B4-BE49-F238E27FC236}">
                <a16:creationId xmlns:a16="http://schemas.microsoft.com/office/drawing/2014/main" id="{AA08453E-1A9B-CAA0-BF50-232E3309FE45}"/>
              </a:ext>
            </a:extLst>
          </p:cNvPr>
          <p:cNvSpPr>
            <a:spLocks noGrp="1"/>
          </p:cNvSpPr>
          <p:nvPr>
            <p:ph type="body" sz="quarter" idx="15" hasCustomPrompt="1"/>
          </p:nvPr>
        </p:nvSpPr>
        <p:spPr>
          <a:xfrm>
            <a:off x="5582809" y="4373512"/>
            <a:ext cx="6007130" cy="366598"/>
          </a:xfrm>
          <a:prstGeom prst="rect">
            <a:avLst/>
          </a:prstGeom>
        </p:spPr>
        <p:txBody>
          <a:bodyPr vert="horz" anchor="ctr"/>
          <a:lstStyle>
            <a:lvl1pPr marL="0" indent="0" algn="r">
              <a:buFontTx/>
              <a:buNone/>
              <a:defRPr sz="1600" b="1" i="0" cap="all" baseline="0">
                <a:solidFill>
                  <a:schemeClr val="bg1"/>
                </a:solidFill>
                <a:latin typeface="Roboto" panose="02000000000000000000" pitchFamily="2" charset="0"/>
                <a:ea typeface="Roboto" panose="02000000000000000000" pitchFamily="2" charset="0"/>
                <a:cs typeface="Arial" pitchFamily="34" charset="0"/>
              </a:defRPr>
            </a:lvl1pPr>
          </a:lstStyle>
          <a:p>
            <a:pPr lvl="0"/>
            <a:r>
              <a:rPr lang="en-US"/>
              <a:t>Subheading</a:t>
            </a:r>
          </a:p>
        </p:txBody>
      </p:sp>
      <p:sp>
        <p:nvSpPr>
          <p:cNvPr id="12" name="Text Placeholder 8">
            <a:extLst>
              <a:ext uri="{FF2B5EF4-FFF2-40B4-BE49-F238E27FC236}">
                <a16:creationId xmlns:a16="http://schemas.microsoft.com/office/drawing/2014/main" id="{115B526E-6E3A-DC81-DA2C-C1EFA5E7E37B}"/>
              </a:ext>
            </a:extLst>
          </p:cNvPr>
          <p:cNvSpPr>
            <a:spLocks noGrp="1"/>
          </p:cNvSpPr>
          <p:nvPr>
            <p:ph type="body" sz="quarter" idx="11" hasCustomPrompt="1"/>
          </p:nvPr>
        </p:nvSpPr>
        <p:spPr>
          <a:xfrm>
            <a:off x="315013" y="6313094"/>
            <a:ext cx="4599890" cy="251490"/>
          </a:xfrm>
          <a:prstGeom prst="rect">
            <a:avLst/>
          </a:prstGeom>
        </p:spPr>
        <p:txBody>
          <a:bodyPr vert="horz"/>
          <a:lstStyle>
            <a:lvl1pPr marL="0" indent="0" algn="l">
              <a:buFontTx/>
              <a:buNone/>
              <a:defRPr sz="1300">
                <a:solidFill>
                  <a:schemeClr val="tx1">
                    <a:lumMod val="75000"/>
                    <a:lumOff val="25000"/>
                  </a:schemeClr>
                </a:solidFill>
                <a:latin typeface="Roboto" panose="02000000000000000000" pitchFamily="2" charset="0"/>
                <a:ea typeface="Roboto" panose="02000000000000000000" pitchFamily="2" charset="0"/>
                <a:cs typeface="Arial" pitchFamily="34" charset="0"/>
              </a:defRPr>
            </a:lvl1pPr>
          </a:lstStyle>
          <a:p>
            <a:pPr lvl="0"/>
            <a:r>
              <a:rPr lang="en-US"/>
              <a:t>Date</a:t>
            </a:r>
          </a:p>
        </p:txBody>
      </p:sp>
      <p:sp>
        <p:nvSpPr>
          <p:cNvPr id="13" name="Text Placeholder 17">
            <a:extLst>
              <a:ext uri="{FF2B5EF4-FFF2-40B4-BE49-F238E27FC236}">
                <a16:creationId xmlns:a16="http://schemas.microsoft.com/office/drawing/2014/main" id="{748EC28C-EAA8-3188-60CB-75131069B30A}"/>
              </a:ext>
            </a:extLst>
          </p:cNvPr>
          <p:cNvSpPr>
            <a:spLocks noGrp="1"/>
          </p:cNvSpPr>
          <p:nvPr>
            <p:ph type="body" sz="quarter" idx="13" hasCustomPrompt="1"/>
          </p:nvPr>
        </p:nvSpPr>
        <p:spPr>
          <a:xfrm>
            <a:off x="315012" y="6061604"/>
            <a:ext cx="4599884" cy="251490"/>
          </a:xfrm>
          <a:prstGeom prst="rect">
            <a:avLst/>
          </a:prstGeom>
        </p:spPr>
        <p:txBody>
          <a:bodyPr vert="horz" anchor="ctr"/>
          <a:lstStyle>
            <a:lvl1pPr marL="0" indent="0">
              <a:buFontTx/>
              <a:buNone/>
              <a:defRPr sz="1300" b="1" i="0" cap="all" baseline="0">
                <a:solidFill>
                  <a:schemeClr val="tx1">
                    <a:lumMod val="75000"/>
                    <a:lumOff val="25000"/>
                  </a:schemeClr>
                </a:solidFill>
                <a:latin typeface="Roboto" panose="02000000000000000000" pitchFamily="2" charset="0"/>
                <a:ea typeface="Roboto" panose="02000000000000000000" pitchFamily="2" charset="0"/>
                <a:cs typeface="Arial" pitchFamily="34" charset="0"/>
              </a:defRPr>
            </a:lvl1pPr>
          </a:lstStyle>
          <a:p>
            <a:pPr lvl="0"/>
            <a:r>
              <a:rPr lang="en-US" dirty="0"/>
              <a:t>Presenter Name</a:t>
            </a:r>
          </a:p>
        </p:txBody>
      </p:sp>
      <p:pic>
        <p:nvPicPr>
          <p:cNvPr id="2" name="Picture 1">
            <a:extLst>
              <a:ext uri="{FF2B5EF4-FFF2-40B4-BE49-F238E27FC236}">
                <a16:creationId xmlns:a16="http://schemas.microsoft.com/office/drawing/2014/main" id="{1ABDEE05-5C7A-B32C-5968-59DDBAE8661B}"/>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455867" y="746403"/>
            <a:ext cx="2893477" cy="1247791"/>
          </a:xfrm>
          <a:prstGeom prst="rect">
            <a:avLst/>
          </a:prstGeom>
        </p:spPr>
      </p:pic>
    </p:spTree>
    <p:extLst>
      <p:ext uri="{BB962C8B-B14F-4D97-AF65-F5344CB8AC3E}">
        <p14:creationId xmlns:p14="http://schemas.microsoft.com/office/powerpoint/2010/main" val="17370455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Dark Section Heade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831DC-8291-4E49-AFD8-EEEC59B24461}"/>
              </a:ext>
            </a:extLst>
          </p:cNvPr>
          <p:cNvSpPr>
            <a:spLocks noGrp="1"/>
          </p:cNvSpPr>
          <p:nvPr>
            <p:ph type="title" hasCustomPrompt="1"/>
          </p:nvPr>
        </p:nvSpPr>
        <p:spPr>
          <a:xfrm>
            <a:off x="672962" y="3011436"/>
            <a:ext cx="6937828" cy="1985872"/>
          </a:xfrm>
          <a:prstGeom prst="rect">
            <a:avLst/>
          </a:prstGeom>
        </p:spPr>
        <p:txBody>
          <a:bodyPr anchor="ctr"/>
          <a:lstStyle>
            <a:lvl1pPr>
              <a:defRPr sz="4000" b="1">
                <a:solidFill>
                  <a:schemeClr val="bg1"/>
                </a:solidFill>
                <a:latin typeface="Roboto" panose="02000000000000000000" pitchFamily="2" charset="0"/>
                <a:ea typeface="Roboto" panose="02000000000000000000" pitchFamily="2" charset="0"/>
              </a:defRPr>
            </a:lvl1pPr>
          </a:lstStyle>
          <a:p>
            <a:r>
              <a:rPr lang="en-US" dirty="0"/>
              <a:t>HEADING HERE</a:t>
            </a:r>
            <a:endParaRPr lang="en-ID" dirty="0"/>
          </a:p>
        </p:txBody>
      </p:sp>
    </p:spTree>
    <p:extLst>
      <p:ext uri="{BB962C8B-B14F-4D97-AF65-F5344CB8AC3E}">
        <p14:creationId xmlns:p14="http://schemas.microsoft.com/office/powerpoint/2010/main" val="42123232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Light Section Header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8448683-2C7C-43B4-AB6C-D6EF94546AF4}"/>
              </a:ext>
            </a:extLst>
          </p:cNvPr>
          <p:cNvSpPr/>
          <p:nvPr userDrawn="1"/>
        </p:nvSpPr>
        <p:spPr>
          <a:xfrm>
            <a:off x="0" y="1"/>
            <a:ext cx="12192000" cy="8864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599"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295005" y="142478"/>
            <a:ext cx="8148539" cy="579091"/>
          </a:xfrm>
          <a:prstGeom prst="rect">
            <a:avLst/>
          </a:prstGeom>
        </p:spPr>
        <p:txBody>
          <a:bodyPr/>
          <a:lstStyle>
            <a:lvl1pPr algn="l">
              <a:defRPr sz="3999"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886408"/>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599"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886408"/>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599"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0"/>
            <a:ext cx="1327638" cy="886409"/>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599" dirty="0">
              <a:solidFill>
                <a:schemeClr val="accent6"/>
              </a:solidFill>
            </a:endParaRPr>
          </a:p>
        </p:txBody>
      </p:sp>
      <p:sp>
        <p:nvSpPr>
          <p:cNvPr id="2" name="Slide Number Placeholder 5">
            <a:extLst>
              <a:ext uri="{FF2B5EF4-FFF2-40B4-BE49-F238E27FC236}">
                <a16:creationId xmlns:a16="http://schemas.microsoft.com/office/drawing/2014/main" id="{1EDC2A64-09D8-2D24-2124-3A421ADFC534}"/>
              </a:ext>
            </a:extLst>
          </p:cNvPr>
          <p:cNvSpPr txBox="1">
            <a:spLocks/>
          </p:cNvSpPr>
          <p:nvPr userDrawn="1"/>
        </p:nvSpPr>
        <p:spPr>
          <a:xfrm>
            <a:off x="5679140" y="6489376"/>
            <a:ext cx="838201" cy="368624"/>
          </a:xfrm>
          <a:prstGeom prst="rect">
            <a:avLst/>
          </a:prstGeom>
        </p:spPr>
        <p:txBody>
          <a:bodyPr vert="horz" lIns="91416" tIns="45708" rIns="91416" bIns="45708"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z="1700" smtClean="0">
                <a:solidFill>
                  <a:schemeClr val="bg1"/>
                </a:solidFill>
              </a:rPr>
              <a:pPr algn="ctr"/>
              <a:t>‹#›</a:t>
            </a:fld>
            <a:endParaRPr lang="en-US" sz="1700" dirty="0">
              <a:solidFill>
                <a:schemeClr val="bg1"/>
              </a:solidFill>
            </a:endParaRPr>
          </a:p>
        </p:txBody>
      </p:sp>
      <p:sp>
        <p:nvSpPr>
          <p:cNvPr id="3" name="Picture Placeholder 2">
            <a:extLst>
              <a:ext uri="{FF2B5EF4-FFF2-40B4-BE49-F238E27FC236}">
                <a16:creationId xmlns:a16="http://schemas.microsoft.com/office/drawing/2014/main" id="{17C3DC66-72D2-C639-EA67-5D64C368CA52}"/>
              </a:ext>
            </a:extLst>
          </p:cNvPr>
          <p:cNvSpPr>
            <a:spLocks noGrp="1"/>
          </p:cNvSpPr>
          <p:nvPr>
            <p:ph type="pic" sz="quarter" idx="10"/>
          </p:nvPr>
        </p:nvSpPr>
        <p:spPr>
          <a:xfrm>
            <a:off x="8009326" y="1223163"/>
            <a:ext cx="4171786" cy="5254183"/>
          </a:xfrm>
          <a:custGeom>
            <a:avLst/>
            <a:gdLst>
              <a:gd name="connsiteX0" fmla="*/ 0 w 4171787"/>
              <a:gd name="connsiteY0" fmla="*/ 0 h 5614129"/>
              <a:gd name="connsiteX1" fmla="*/ 4171787 w 4171787"/>
              <a:gd name="connsiteY1" fmla="*/ 0 h 5614129"/>
              <a:gd name="connsiteX2" fmla="*/ 4171787 w 4171787"/>
              <a:gd name="connsiteY2" fmla="*/ 5614129 h 5614129"/>
              <a:gd name="connsiteX3" fmla="*/ 3751268 w 4171787"/>
              <a:gd name="connsiteY3" fmla="*/ 5614129 h 5614129"/>
              <a:gd name="connsiteX4" fmla="*/ 1906091 w 4171787"/>
              <a:gd name="connsiteY4" fmla="*/ 2772677 h 5614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1787" h="5614129">
                <a:moveTo>
                  <a:pt x="0" y="0"/>
                </a:moveTo>
                <a:lnTo>
                  <a:pt x="4171787" y="0"/>
                </a:lnTo>
                <a:lnTo>
                  <a:pt x="4171787" y="5614129"/>
                </a:lnTo>
                <a:lnTo>
                  <a:pt x="3751268" y="5614129"/>
                </a:lnTo>
                <a:lnTo>
                  <a:pt x="1906091" y="2772677"/>
                </a:lnTo>
                <a:close/>
              </a:path>
            </a:pathLst>
          </a:custGeom>
        </p:spPr>
        <p:txBody>
          <a:bodyPr wrap="square">
            <a:noAutofit/>
          </a:bodyPr>
          <a:lstStyle/>
          <a:p>
            <a:endParaRPr lang="en-ID" dirty="0"/>
          </a:p>
        </p:txBody>
      </p:sp>
      <p:sp>
        <p:nvSpPr>
          <p:cNvPr id="32" name="Slide Number Placeholder 5">
            <a:extLst>
              <a:ext uri="{FF2B5EF4-FFF2-40B4-BE49-F238E27FC236}">
                <a16:creationId xmlns:a16="http://schemas.microsoft.com/office/drawing/2014/main" id="{3C941877-ABE7-6360-ED57-4FBD6AAB1377}"/>
              </a:ext>
            </a:extLst>
          </p:cNvPr>
          <p:cNvSpPr txBox="1">
            <a:spLocks/>
          </p:cNvSpPr>
          <p:nvPr userDrawn="1"/>
        </p:nvSpPr>
        <p:spPr>
          <a:xfrm>
            <a:off x="5688103" y="6419880"/>
            <a:ext cx="823634" cy="438120"/>
          </a:xfrm>
          <a:prstGeom prst="rect">
            <a:avLst/>
          </a:prstGeom>
        </p:spPr>
        <p:txBody>
          <a:bodyPr vert="horz" lIns="91416" tIns="45708" rIns="91416" bIns="45708"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z="1700" smtClean="0">
                <a:solidFill>
                  <a:schemeClr val="bg1"/>
                </a:solidFill>
              </a:rPr>
              <a:pPr algn="ctr"/>
              <a:t>‹#›</a:t>
            </a:fld>
            <a:endParaRPr lang="en-US" sz="1700" dirty="0">
              <a:solidFill>
                <a:schemeClr val="bg1"/>
              </a:solidFill>
            </a:endParaRPr>
          </a:p>
        </p:txBody>
      </p:sp>
      <p:grpSp>
        <p:nvGrpSpPr>
          <p:cNvPr id="33" name="Group 32">
            <a:extLst>
              <a:ext uri="{FF2B5EF4-FFF2-40B4-BE49-F238E27FC236}">
                <a16:creationId xmlns:a16="http://schemas.microsoft.com/office/drawing/2014/main" id="{FA3D73B4-27BA-6EC0-D86F-C63CBF1F9B11}"/>
              </a:ext>
            </a:extLst>
          </p:cNvPr>
          <p:cNvGrpSpPr/>
          <p:nvPr userDrawn="1"/>
        </p:nvGrpSpPr>
        <p:grpSpPr>
          <a:xfrm>
            <a:off x="1" y="6489377"/>
            <a:ext cx="12183035" cy="368624"/>
            <a:chOff x="0" y="6489376"/>
            <a:chExt cx="12183035" cy="368624"/>
          </a:xfrm>
        </p:grpSpPr>
        <p:sp>
          <p:nvSpPr>
            <p:cNvPr id="34" name="Rectangle 33">
              <a:extLst>
                <a:ext uri="{FF2B5EF4-FFF2-40B4-BE49-F238E27FC236}">
                  <a16:creationId xmlns:a16="http://schemas.microsoft.com/office/drawing/2014/main" id="{5731879F-D5D8-BB35-1533-66B402962C85}"/>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35" name="Rectangle 34">
              <a:extLst>
                <a:ext uri="{FF2B5EF4-FFF2-40B4-BE49-F238E27FC236}">
                  <a16:creationId xmlns:a16="http://schemas.microsoft.com/office/drawing/2014/main" id="{3691FD63-D1C9-F7AC-FD0A-36F271424AFC}"/>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36" name="Rectangle 35">
              <a:extLst>
                <a:ext uri="{FF2B5EF4-FFF2-40B4-BE49-F238E27FC236}">
                  <a16:creationId xmlns:a16="http://schemas.microsoft.com/office/drawing/2014/main" id="{3259CAE2-C8DC-3FAA-1FA2-278321A2DF34}"/>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37" name="TextBox 36">
              <a:extLst>
                <a:ext uri="{FF2B5EF4-FFF2-40B4-BE49-F238E27FC236}">
                  <a16:creationId xmlns:a16="http://schemas.microsoft.com/office/drawing/2014/main" id="{AC4B40D5-1819-50D4-C72E-3D9B73D3F2E8}"/>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grpSp>
      <p:sp>
        <p:nvSpPr>
          <p:cNvPr id="39" name="Slide Number Placeholder 5">
            <a:extLst>
              <a:ext uri="{FF2B5EF4-FFF2-40B4-BE49-F238E27FC236}">
                <a16:creationId xmlns:a16="http://schemas.microsoft.com/office/drawing/2014/main" id="{F334CAB1-092C-6347-9CC8-546DDA8B90EB}"/>
              </a:ext>
            </a:extLst>
          </p:cNvPr>
          <p:cNvSpPr txBox="1">
            <a:spLocks/>
          </p:cNvSpPr>
          <p:nvPr userDrawn="1"/>
        </p:nvSpPr>
        <p:spPr>
          <a:xfrm>
            <a:off x="5688103" y="6489376"/>
            <a:ext cx="823634" cy="368624"/>
          </a:xfrm>
          <a:prstGeom prst="rect">
            <a:avLst/>
          </a:prstGeom>
        </p:spPr>
        <p:txBody>
          <a:bodyPr vert="horz" lIns="91416" tIns="45708" rIns="91416" bIns="45708"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z="1700" smtClean="0">
                <a:solidFill>
                  <a:schemeClr val="bg1"/>
                </a:solidFill>
              </a:rPr>
              <a:pPr algn="ctr"/>
              <a:t>‹#›</a:t>
            </a:fld>
            <a:endParaRPr lang="en-US" sz="1700" dirty="0">
              <a:solidFill>
                <a:schemeClr val="bg1"/>
              </a:solidFill>
            </a:endParaRPr>
          </a:p>
        </p:txBody>
      </p:sp>
      <p:pic>
        <p:nvPicPr>
          <p:cNvPr id="4" name="Picture 3">
            <a:extLst>
              <a:ext uri="{FF2B5EF4-FFF2-40B4-BE49-F238E27FC236}">
                <a16:creationId xmlns:a16="http://schemas.microsoft.com/office/drawing/2014/main" id="{643FB974-5FB2-7394-3805-9DB500F0DBFD}"/>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221616" y="6489583"/>
            <a:ext cx="737248" cy="368623"/>
          </a:xfrm>
          <a:prstGeom prst="rect">
            <a:avLst/>
          </a:prstGeom>
        </p:spPr>
      </p:pic>
    </p:spTree>
    <p:extLst>
      <p:ext uri="{BB962C8B-B14F-4D97-AF65-F5344CB8AC3E}">
        <p14:creationId xmlns:p14="http://schemas.microsoft.com/office/powerpoint/2010/main" val="33905641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ontent + Picture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8448683-2C7C-43B4-AB6C-D6EF94546AF4}"/>
              </a:ext>
            </a:extLst>
          </p:cNvPr>
          <p:cNvSpPr/>
          <p:nvPr userDrawn="1"/>
        </p:nvSpPr>
        <p:spPr>
          <a:xfrm>
            <a:off x="0" y="0"/>
            <a:ext cx="12192000" cy="12221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itle 1">
            <a:extLst>
              <a:ext uri="{FF2B5EF4-FFF2-40B4-BE49-F238E27FC236}">
                <a16:creationId xmlns:a16="http://schemas.microsoft.com/office/drawing/2014/main" id="{B083E5D1-54FB-4DF7-A141-F34BE254A5C5}"/>
              </a:ext>
            </a:extLst>
          </p:cNvPr>
          <p:cNvSpPr>
            <a:spLocks noGrp="1"/>
          </p:cNvSpPr>
          <p:nvPr>
            <p:ph type="title" hasCustomPrompt="1"/>
          </p:nvPr>
        </p:nvSpPr>
        <p:spPr>
          <a:xfrm>
            <a:off x="295005" y="432023"/>
            <a:ext cx="8148539" cy="579091"/>
          </a:xfrm>
          <a:prstGeom prst="rect">
            <a:avLst/>
          </a:prstGeom>
        </p:spPr>
        <p:txBody>
          <a:bodyPr/>
          <a:lstStyle>
            <a:lvl1pPr algn="l">
              <a:defRPr sz="4000" b="1">
                <a:solidFill>
                  <a:schemeClr val="tx1">
                    <a:lumMod val="75000"/>
                    <a:lumOff val="25000"/>
                  </a:schemeClr>
                </a:solidFill>
                <a:latin typeface="Roboto" panose="02000000000000000000" pitchFamily="2" charset="0"/>
                <a:ea typeface="Roboto" panose="02000000000000000000" pitchFamily="2" charset="0"/>
              </a:defRPr>
            </a:lvl1pPr>
          </a:lstStyle>
          <a:p>
            <a:r>
              <a:rPr lang="en-US" dirty="0"/>
              <a:t>HEADING HERE</a:t>
            </a:r>
            <a:endParaRPr lang="en-ID" dirty="0"/>
          </a:p>
        </p:txBody>
      </p:sp>
      <p:sp>
        <p:nvSpPr>
          <p:cNvPr id="16" name="Rectangle 15">
            <a:extLst>
              <a:ext uri="{FF2B5EF4-FFF2-40B4-BE49-F238E27FC236}">
                <a16:creationId xmlns:a16="http://schemas.microsoft.com/office/drawing/2014/main" id="{0C4680EC-2BD4-4F79-B4BD-52E4C7D372D8}"/>
              </a:ext>
            </a:extLst>
          </p:cNvPr>
          <p:cNvSpPr/>
          <p:nvPr userDrawn="1"/>
        </p:nvSpPr>
        <p:spPr>
          <a:xfrm>
            <a:off x="9873763" y="0"/>
            <a:ext cx="2318238" cy="1222130"/>
          </a:xfrm>
          <a:prstGeom prst="rect">
            <a:avLst/>
          </a:prstGeom>
          <a:gradFill>
            <a:gsLst>
              <a:gs pos="100000">
                <a:srgbClr val="9A0000"/>
              </a:gs>
              <a:gs pos="50000">
                <a:srgbClr val="B40000"/>
              </a:gs>
              <a:gs pos="0">
                <a:srgbClr val="E6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Flowchart: Data 16">
            <a:extLst>
              <a:ext uri="{FF2B5EF4-FFF2-40B4-BE49-F238E27FC236}">
                <a16:creationId xmlns:a16="http://schemas.microsoft.com/office/drawing/2014/main" id="{FD42294B-1EBA-4410-B4B5-459F64A10847}"/>
              </a:ext>
            </a:extLst>
          </p:cNvPr>
          <p:cNvSpPr/>
          <p:nvPr userDrawn="1"/>
        </p:nvSpPr>
        <p:spPr>
          <a:xfrm>
            <a:off x="9003323" y="0"/>
            <a:ext cx="1327638" cy="1222130"/>
          </a:xfrm>
          <a:prstGeom prst="flowChartInputOutpu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18" name="Flowchart: Data 17">
            <a:extLst>
              <a:ext uri="{FF2B5EF4-FFF2-40B4-BE49-F238E27FC236}">
                <a16:creationId xmlns:a16="http://schemas.microsoft.com/office/drawing/2014/main" id="{AA0ABE38-ADCC-4196-BC9F-432F23E6C629}"/>
              </a:ext>
            </a:extLst>
          </p:cNvPr>
          <p:cNvSpPr/>
          <p:nvPr userDrawn="1"/>
        </p:nvSpPr>
        <p:spPr>
          <a:xfrm>
            <a:off x="8907018" y="-1"/>
            <a:ext cx="1327638" cy="1222131"/>
          </a:xfrm>
          <a:prstGeom prst="flowChartInputOutput">
            <a:avLst/>
          </a:prstGeom>
          <a:solidFill>
            <a:srgbClr val="2F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6"/>
              </a:solidFill>
            </a:endParaRPr>
          </a:p>
        </p:txBody>
      </p:sp>
      <p:sp>
        <p:nvSpPr>
          <p:cNvPr id="2" name="Slide Number Placeholder 5">
            <a:extLst>
              <a:ext uri="{FF2B5EF4-FFF2-40B4-BE49-F238E27FC236}">
                <a16:creationId xmlns:a16="http://schemas.microsoft.com/office/drawing/2014/main" id="{1EDC2A64-09D8-2D24-2124-3A421ADFC534}"/>
              </a:ext>
            </a:extLst>
          </p:cNvPr>
          <p:cNvSpPr txBox="1">
            <a:spLocks/>
          </p:cNvSpPr>
          <p:nvPr userDrawn="1"/>
        </p:nvSpPr>
        <p:spPr>
          <a:xfrm>
            <a:off x="5679139" y="6489376"/>
            <a:ext cx="838201"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sp>
        <p:nvSpPr>
          <p:cNvPr id="3" name="Picture Placeholder 2">
            <a:extLst>
              <a:ext uri="{FF2B5EF4-FFF2-40B4-BE49-F238E27FC236}">
                <a16:creationId xmlns:a16="http://schemas.microsoft.com/office/drawing/2014/main" id="{17C3DC66-72D2-C639-EA67-5D64C368CA52}"/>
              </a:ext>
            </a:extLst>
          </p:cNvPr>
          <p:cNvSpPr>
            <a:spLocks noGrp="1"/>
          </p:cNvSpPr>
          <p:nvPr>
            <p:ph type="pic" sz="quarter" idx="10"/>
          </p:nvPr>
        </p:nvSpPr>
        <p:spPr>
          <a:xfrm>
            <a:off x="8009326" y="1223162"/>
            <a:ext cx="4171786" cy="5254183"/>
          </a:xfrm>
          <a:custGeom>
            <a:avLst/>
            <a:gdLst>
              <a:gd name="connsiteX0" fmla="*/ 0 w 4171787"/>
              <a:gd name="connsiteY0" fmla="*/ 0 h 5614129"/>
              <a:gd name="connsiteX1" fmla="*/ 4171787 w 4171787"/>
              <a:gd name="connsiteY1" fmla="*/ 0 h 5614129"/>
              <a:gd name="connsiteX2" fmla="*/ 4171787 w 4171787"/>
              <a:gd name="connsiteY2" fmla="*/ 5614129 h 5614129"/>
              <a:gd name="connsiteX3" fmla="*/ 3751268 w 4171787"/>
              <a:gd name="connsiteY3" fmla="*/ 5614129 h 5614129"/>
              <a:gd name="connsiteX4" fmla="*/ 1906091 w 4171787"/>
              <a:gd name="connsiteY4" fmla="*/ 2772677 h 5614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1787" h="5614129">
                <a:moveTo>
                  <a:pt x="0" y="0"/>
                </a:moveTo>
                <a:lnTo>
                  <a:pt x="4171787" y="0"/>
                </a:lnTo>
                <a:lnTo>
                  <a:pt x="4171787" y="5614129"/>
                </a:lnTo>
                <a:lnTo>
                  <a:pt x="3751268" y="5614129"/>
                </a:lnTo>
                <a:lnTo>
                  <a:pt x="1906091" y="2772677"/>
                </a:lnTo>
                <a:close/>
              </a:path>
            </a:pathLst>
          </a:custGeom>
        </p:spPr>
        <p:txBody>
          <a:bodyPr wrap="square">
            <a:noAutofit/>
          </a:bodyPr>
          <a:lstStyle>
            <a:lvl1pPr>
              <a:defRPr>
                <a:solidFill>
                  <a:schemeClr val="tx1">
                    <a:lumMod val="75000"/>
                    <a:lumOff val="25000"/>
                  </a:schemeClr>
                </a:solidFill>
                <a:latin typeface="Roboto" panose="02000000000000000000" pitchFamily="2" charset="0"/>
                <a:ea typeface="Roboto" panose="02000000000000000000" pitchFamily="2" charset="0"/>
              </a:defRPr>
            </a:lvl1pPr>
          </a:lstStyle>
          <a:p>
            <a:endParaRPr lang="en-ID" dirty="0"/>
          </a:p>
        </p:txBody>
      </p:sp>
      <p:sp>
        <p:nvSpPr>
          <p:cNvPr id="32" name="Slide Number Placeholder 5">
            <a:extLst>
              <a:ext uri="{FF2B5EF4-FFF2-40B4-BE49-F238E27FC236}">
                <a16:creationId xmlns:a16="http://schemas.microsoft.com/office/drawing/2014/main" id="{3C941877-ABE7-6360-ED57-4FBD6AAB1377}"/>
              </a:ext>
            </a:extLst>
          </p:cNvPr>
          <p:cNvSpPr txBox="1">
            <a:spLocks/>
          </p:cNvSpPr>
          <p:nvPr userDrawn="1"/>
        </p:nvSpPr>
        <p:spPr>
          <a:xfrm>
            <a:off x="5688103" y="6419880"/>
            <a:ext cx="823634" cy="438120"/>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grpSp>
        <p:nvGrpSpPr>
          <p:cNvPr id="33" name="Group 32">
            <a:extLst>
              <a:ext uri="{FF2B5EF4-FFF2-40B4-BE49-F238E27FC236}">
                <a16:creationId xmlns:a16="http://schemas.microsoft.com/office/drawing/2014/main" id="{FA3D73B4-27BA-6EC0-D86F-C63CBF1F9B11}"/>
              </a:ext>
            </a:extLst>
          </p:cNvPr>
          <p:cNvGrpSpPr/>
          <p:nvPr userDrawn="1"/>
        </p:nvGrpSpPr>
        <p:grpSpPr>
          <a:xfrm>
            <a:off x="0" y="6489376"/>
            <a:ext cx="12183035" cy="368624"/>
            <a:chOff x="0" y="6489376"/>
            <a:chExt cx="12183035" cy="368624"/>
          </a:xfrm>
        </p:grpSpPr>
        <p:sp>
          <p:nvSpPr>
            <p:cNvPr id="34" name="Rectangle 33">
              <a:extLst>
                <a:ext uri="{FF2B5EF4-FFF2-40B4-BE49-F238E27FC236}">
                  <a16:creationId xmlns:a16="http://schemas.microsoft.com/office/drawing/2014/main" id="{5731879F-D5D8-BB35-1533-66B402962C85}"/>
                </a:ext>
              </a:extLst>
            </p:cNvPr>
            <p:cNvSpPr/>
            <p:nvPr userDrawn="1"/>
          </p:nvSpPr>
          <p:spPr>
            <a:xfrm>
              <a:off x="6598024"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Rectangle 34">
              <a:extLst>
                <a:ext uri="{FF2B5EF4-FFF2-40B4-BE49-F238E27FC236}">
                  <a16:creationId xmlns:a16="http://schemas.microsoft.com/office/drawing/2014/main" id="{3691FD63-D1C9-F7AC-FD0A-36F271424AFC}"/>
                </a:ext>
              </a:extLst>
            </p:cNvPr>
            <p:cNvSpPr/>
            <p:nvPr userDrawn="1"/>
          </p:nvSpPr>
          <p:spPr>
            <a:xfrm>
              <a:off x="0" y="6489376"/>
              <a:ext cx="5585011" cy="368624"/>
            </a:xfrm>
            <a:prstGeom prst="rect">
              <a:avLst/>
            </a:prstGeom>
            <a:solidFill>
              <a:srgbClr val="2F46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6" name="Rectangle 35">
              <a:extLst>
                <a:ext uri="{FF2B5EF4-FFF2-40B4-BE49-F238E27FC236}">
                  <a16:creationId xmlns:a16="http://schemas.microsoft.com/office/drawing/2014/main" id="{3259CAE2-C8DC-3FAA-1FA2-278321A2DF34}"/>
                </a:ext>
              </a:extLst>
            </p:cNvPr>
            <p:cNvSpPr/>
            <p:nvPr userDrawn="1"/>
          </p:nvSpPr>
          <p:spPr>
            <a:xfrm>
              <a:off x="5679141" y="6489376"/>
              <a:ext cx="838200" cy="368624"/>
            </a:xfrm>
            <a:prstGeom prst="rect">
              <a:avLst/>
            </a:prstGeom>
            <a:gradFill flip="none" rotWithShape="1">
              <a:gsLst>
                <a:gs pos="0">
                  <a:srgbClr val="9A0000"/>
                </a:gs>
                <a:gs pos="50000">
                  <a:srgbClr val="B40000"/>
                </a:gs>
                <a:gs pos="100000">
                  <a:srgbClr val="E60000"/>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7" name="TextBox 36">
              <a:extLst>
                <a:ext uri="{FF2B5EF4-FFF2-40B4-BE49-F238E27FC236}">
                  <a16:creationId xmlns:a16="http://schemas.microsoft.com/office/drawing/2014/main" id="{AC4B40D5-1819-50D4-C72E-3D9B73D3F2E8}"/>
                </a:ext>
              </a:extLst>
            </p:cNvPr>
            <p:cNvSpPr txBox="1"/>
            <p:nvPr userDrawn="1"/>
          </p:nvSpPr>
          <p:spPr>
            <a:xfrm>
              <a:off x="8163929" y="6556454"/>
              <a:ext cx="3806455" cy="246221"/>
            </a:xfrm>
            <a:prstGeom prst="rect">
              <a:avLst/>
            </a:prstGeom>
            <a:noFill/>
          </p:spPr>
          <p:txBody>
            <a:bodyPr wrap="square" rtlCol="0">
              <a:spAutoFit/>
            </a:bodyPr>
            <a:lstStyle/>
            <a:p>
              <a:pPr algn="r"/>
              <a:r>
                <a:rPr lang="en-US" sz="1000" dirty="0">
                  <a:solidFill>
                    <a:schemeClr val="bg1"/>
                  </a:solidFill>
                  <a:latin typeface="Roboto" panose="02000000000000000000" pitchFamily="2" charset="0"/>
                  <a:ea typeface="Roboto" panose="02000000000000000000" pitchFamily="2" charset="0"/>
                </a:rPr>
                <a:t>©2024 InCorp Group of Companies. All Rights Reserved.</a:t>
              </a:r>
              <a:endParaRPr lang="en-SG" sz="1000" dirty="0">
                <a:solidFill>
                  <a:schemeClr val="bg1"/>
                </a:solidFill>
                <a:latin typeface="Roboto" panose="02000000000000000000" pitchFamily="2" charset="0"/>
                <a:ea typeface="Roboto" panose="02000000000000000000" pitchFamily="2" charset="0"/>
              </a:endParaRPr>
            </a:p>
          </p:txBody>
        </p:sp>
      </p:grpSp>
      <p:sp>
        <p:nvSpPr>
          <p:cNvPr id="39" name="Slide Number Placeholder 5">
            <a:extLst>
              <a:ext uri="{FF2B5EF4-FFF2-40B4-BE49-F238E27FC236}">
                <a16:creationId xmlns:a16="http://schemas.microsoft.com/office/drawing/2014/main" id="{F334CAB1-092C-6347-9CC8-546DDA8B90EB}"/>
              </a:ext>
            </a:extLst>
          </p:cNvPr>
          <p:cNvSpPr txBox="1">
            <a:spLocks/>
          </p:cNvSpPr>
          <p:nvPr userDrawn="1"/>
        </p:nvSpPr>
        <p:spPr>
          <a:xfrm>
            <a:off x="5688103" y="6489376"/>
            <a:ext cx="823634" cy="368624"/>
          </a:xfrm>
          <a:prstGeom prst="rect">
            <a:avLst/>
          </a:prstGeom>
        </p:spPr>
        <p:txBody>
          <a:bodyPr vert="horz" lIns="91440" tIns="45720" rIns="91440" bIns="45720" rtlCol="0" anchor="ctr"/>
          <a:lstStyle>
            <a:defPPr>
              <a:defRPr lang="en-US"/>
            </a:defPPr>
            <a:lvl1pPr marL="0" algn="r" defTabSz="457200" rtl="0" eaLnBrk="1" latinLnBrk="0" hangingPunct="1">
              <a:defRPr sz="17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C45EA8-30CA-4316-8BFD-1E60034722B4}" type="slidenum">
              <a:rPr lang="en-US" smtClean="0">
                <a:solidFill>
                  <a:schemeClr val="bg1"/>
                </a:solidFill>
              </a:rPr>
              <a:pPr algn="ctr"/>
              <a:t>‹#›</a:t>
            </a:fld>
            <a:endParaRPr lang="en-US" dirty="0">
              <a:solidFill>
                <a:schemeClr val="bg1"/>
              </a:solidFill>
            </a:endParaRPr>
          </a:p>
        </p:txBody>
      </p:sp>
      <p:pic>
        <p:nvPicPr>
          <p:cNvPr id="4" name="Picture 3">
            <a:extLst>
              <a:ext uri="{FF2B5EF4-FFF2-40B4-BE49-F238E27FC236}">
                <a16:creationId xmlns:a16="http://schemas.microsoft.com/office/drawing/2014/main" id="{B37BD04C-2BE4-3EB2-E5BF-2BB8A3EB2097}"/>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221616" y="6489583"/>
            <a:ext cx="737248" cy="368623"/>
          </a:xfrm>
          <a:prstGeom prst="rect">
            <a:avLst/>
          </a:prstGeom>
        </p:spPr>
      </p:pic>
    </p:spTree>
    <p:extLst>
      <p:ext uri="{BB962C8B-B14F-4D97-AF65-F5344CB8AC3E}">
        <p14:creationId xmlns:p14="http://schemas.microsoft.com/office/powerpoint/2010/main" val="290120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4002017"/>
      </p:ext>
    </p:extLst>
  </p:cSld>
  <p:clrMap bg1="lt1" tx1="dk1" bg2="lt2" tx2="dk2" accent1="accent1" accent2="accent2" accent3="accent3" accent4="accent4" accent5="accent5" accent6="accent6" hlink="hlink" folHlink="folHlink"/>
  <p:sldLayoutIdLst>
    <p:sldLayoutId id="2147483654" r:id="rId1"/>
    <p:sldLayoutId id="2147483728" r:id="rId2"/>
    <p:sldLayoutId id="2147483739" r:id="rId3"/>
    <p:sldLayoutId id="2147483737" r:id="rId4"/>
    <p:sldLayoutId id="2147483716" r:id="rId5"/>
    <p:sldLayoutId id="2147483750" r:id="rId6"/>
    <p:sldLayoutId id="2147483730" r:id="rId7"/>
    <p:sldLayoutId id="2147483733" r:id="rId8"/>
    <p:sldLayoutId id="2147483736" r:id="rId9"/>
    <p:sldLayoutId id="2147483735" r:id="rId10"/>
    <p:sldLayoutId id="2147483747" r:id="rId11"/>
    <p:sldLayoutId id="2147483738" r:id="rId12"/>
    <p:sldLayoutId id="2147483741" r:id="rId13"/>
    <p:sldLayoutId id="2147483727" r:id="rId14"/>
    <p:sldLayoutId id="2147483742" r:id="rId15"/>
    <p:sldLayoutId id="2147483743" r:id="rId16"/>
    <p:sldLayoutId id="2147483744" r:id="rId17"/>
    <p:sldLayoutId id="2147483746" r:id="rId18"/>
    <p:sldLayoutId id="2147483749" r:id="rId19"/>
    <p:sldLayoutId id="2147483745" r:id="rId20"/>
    <p:sldLayoutId id="2147483720" r:id="rId21"/>
    <p:sldLayoutId id="2147483652" r:id="rId22"/>
    <p:sldLayoutId id="2147483751" r:id="rId23"/>
    <p:sldLayoutId id="2147483748" r:id="rId24"/>
    <p:sldLayoutId id="2147483752" r:id="rId25"/>
    <p:sldLayoutId id="2147483753" r:id="rId26"/>
    <p:sldLayoutId id="2147483756" r:id="rId27"/>
    <p:sldLayoutId id="2147483757" r:id="rId2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xml"/><Relationship Id="rId1" Type="http://schemas.openxmlformats.org/officeDocument/2006/relationships/slideLayout" Target="../slideLayouts/slideLayout21.xml"/><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jpg"/><Relationship Id="rId18" Type="http://schemas.openxmlformats.org/officeDocument/2006/relationships/image" Target="../media/image31.jpeg"/><Relationship Id="rId3" Type="http://schemas.openxmlformats.org/officeDocument/2006/relationships/diagramLayout" Target="../diagrams/layout1.xml"/><Relationship Id="rId7" Type="http://schemas.openxmlformats.org/officeDocument/2006/relationships/image" Target="../media/image20.jp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diagramData" Target="../diagrams/data1.xml"/><Relationship Id="rId16" Type="http://schemas.openxmlformats.org/officeDocument/2006/relationships/image" Target="../media/image29.png"/><Relationship Id="rId20" Type="http://schemas.openxmlformats.org/officeDocument/2006/relationships/image" Target="../media/image33.jpeg"/><Relationship Id="rId1" Type="http://schemas.openxmlformats.org/officeDocument/2006/relationships/slideLayout" Target="../slideLayouts/slideLayout28.xml"/><Relationship Id="rId6" Type="http://schemas.microsoft.com/office/2007/relationships/diagramDrawing" Target="../diagrams/drawing1.xml"/><Relationship Id="rId11" Type="http://schemas.openxmlformats.org/officeDocument/2006/relationships/image" Target="../media/image24.jpg"/><Relationship Id="rId5" Type="http://schemas.openxmlformats.org/officeDocument/2006/relationships/diagramColors" Target="../diagrams/colors1.xml"/><Relationship Id="rId15" Type="http://schemas.openxmlformats.org/officeDocument/2006/relationships/image" Target="../media/image28.png"/><Relationship Id="rId10" Type="http://schemas.openxmlformats.org/officeDocument/2006/relationships/image" Target="../media/image23.jpg"/><Relationship Id="rId19" Type="http://schemas.openxmlformats.org/officeDocument/2006/relationships/image" Target="../media/image32.png"/><Relationship Id="rId4" Type="http://schemas.openxmlformats.org/officeDocument/2006/relationships/diagramQuickStyle" Target="../diagrams/quickStyle1.xml"/><Relationship Id="rId9" Type="http://schemas.openxmlformats.org/officeDocument/2006/relationships/image" Target="../media/image22.jpg"/><Relationship Id="rId14" Type="http://schemas.openxmlformats.org/officeDocument/2006/relationships/image" Target="../media/image27.jpg"/></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www.ascentium.com/" TargetMode="Externa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5.png"/><Relationship Id="rId1" Type="http://schemas.openxmlformats.org/officeDocument/2006/relationships/slideLayout" Target="../slideLayouts/slideLayout2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xml"/><Relationship Id="rId1" Type="http://schemas.openxmlformats.org/officeDocument/2006/relationships/slideLayout" Target="../slideLayouts/slideLayout21.xml"/><Relationship Id="rId5" Type="http://schemas.openxmlformats.org/officeDocument/2006/relationships/image" Target="../media/image37.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diagramLayout" Target="../diagrams/layout3.xml"/><Relationship Id="rId7" Type="http://schemas.openxmlformats.org/officeDocument/2006/relationships/image" Target="../media/image39.png"/><Relationship Id="rId2" Type="http://schemas.openxmlformats.org/officeDocument/2006/relationships/diagramData" Target="../diagrams/data3.xml"/><Relationship Id="rId1" Type="http://schemas.openxmlformats.org/officeDocument/2006/relationships/slideLayout" Target="../slideLayouts/slideLayout2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9"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5.png"/><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7.png"/><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7.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image" Target="../media/image50.jpeg"/></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2.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diagramLayout" Target="../diagrams/layout4.xml"/><Relationship Id="rId7" Type="http://schemas.openxmlformats.org/officeDocument/2006/relationships/image" Target="../media/image60.png"/><Relationship Id="rId2" Type="http://schemas.openxmlformats.org/officeDocument/2006/relationships/diagramData" Target="../diagrams/data4.xml"/><Relationship Id="rId1" Type="http://schemas.openxmlformats.org/officeDocument/2006/relationships/slideLayout" Target="../slideLayouts/slideLayout2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7.xml"/><Relationship Id="rId4" Type="http://schemas.openxmlformats.org/officeDocument/2006/relationships/image" Target="../media/image63.png"/></Relationships>
</file>

<file path=ppt/slides/_rels/slide4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1.png"/><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1.png"/><Relationship Id="rId1" Type="http://schemas.openxmlformats.org/officeDocument/2006/relationships/slideLayout" Target="../slideLayouts/slideLayout27.xml"/></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2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jpeg"/><Relationship Id="rId1" Type="http://schemas.openxmlformats.org/officeDocument/2006/relationships/slideLayout" Target="../slideLayouts/slideLayout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Layout" Target="../slideLayouts/slideLayout27.xml"/><Relationship Id="rId5" Type="http://schemas.openxmlformats.org/officeDocument/2006/relationships/image" Target="../media/image77.jpeg"/><Relationship Id="rId4" Type="http://schemas.openxmlformats.org/officeDocument/2006/relationships/image" Target="../media/image76.jpeg"/></Relationships>
</file>

<file path=ppt/slides/_rels/slide5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jpeg"/><Relationship Id="rId1" Type="http://schemas.openxmlformats.org/officeDocument/2006/relationships/slideLayout" Target="../slideLayouts/slideLayout27.xml"/><Relationship Id="rId5" Type="http://schemas.openxmlformats.org/officeDocument/2006/relationships/image" Target="../media/image81.png"/><Relationship Id="rId4" Type="http://schemas.openxmlformats.org/officeDocument/2006/relationships/image" Target="../media/image80.png"/></Relationships>
</file>

<file path=ppt/slides/_rels/slide6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hyperlink" Target="http://www.incorp.asia/"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6F24987-7BDD-410E-938B-7D212FBC6779}"/>
              </a:ext>
            </a:extLst>
          </p:cNvPr>
          <p:cNvSpPr>
            <a:spLocks noGrp="1"/>
          </p:cNvSpPr>
          <p:nvPr>
            <p:ph type="body" sz="quarter" idx="12"/>
          </p:nvPr>
        </p:nvSpPr>
        <p:spPr>
          <a:xfrm>
            <a:off x="4772968" y="3225521"/>
            <a:ext cx="7317714" cy="1894245"/>
          </a:xfrm>
        </p:spPr>
        <p:txBody>
          <a:bodyPr/>
          <a:lstStyle/>
          <a:p>
            <a:r>
              <a:rPr lang="en-SG" sz="2800" dirty="0"/>
              <a:t>INTERNAL AUDIT SERVICES</a:t>
            </a:r>
            <a:br>
              <a:rPr lang="en-US" sz="2000" dirty="0"/>
            </a:br>
            <a:endParaRPr lang="en-US" sz="2000" dirty="0"/>
          </a:p>
          <a:p>
            <a:r>
              <a:rPr lang="en-US" sz="2000" dirty="0"/>
              <a:t>for ABC INTEGRATED SERVICES LTD.</a:t>
            </a:r>
          </a:p>
        </p:txBody>
      </p:sp>
    </p:spTree>
    <p:extLst>
      <p:ext uri="{BB962C8B-B14F-4D97-AF65-F5344CB8AC3E}">
        <p14:creationId xmlns:p14="http://schemas.microsoft.com/office/powerpoint/2010/main" val="3461656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9B3EAB6-D864-A990-03C5-FE4E4E3CE505}"/>
              </a:ext>
            </a:extLst>
          </p:cNvPr>
          <p:cNvCxnSpPr>
            <a:cxnSpLocks/>
          </p:cNvCxnSpPr>
          <p:nvPr/>
        </p:nvCxnSpPr>
        <p:spPr>
          <a:xfrm>
            <a:off x="458669" y="327936"/>
            <a:ext cx="0" cy="72488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898C936-F6A2-D904-4DD6-7198EFD2C9B8}"/>
              </a:ext>
            </a:extLst>
          </p:cNvPr>
          <p:cNvSpPr/>
          <p:nvPr/>
        </p:nvSpPr>
        <p:spPr>
          <a:xfrm>
            <a:off x="-39844" y="327936"/>
            <a:ext cx="361388"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10" name="Text Placeholder 7">
            <a:extLst>
              <a:ext uri="{FF2B5EF4-FFF2-40B4-BE49-F238E27FC236}">
                <a16:creationId xmlns:a16="http://schemas.microsoft.com/office/drawing/2014/main" id="{64ECE5F7-B445-EB8A-06D4-C1534BA76863}"/>
              </a:ext>
            </a:extLst>
          </p:cNvPr>
          <p:cNvSpPr txBox="1">
            <a:spLocks/>
          </p:cNvSpPr>
          <p:nvPr/>
        </p:nvSpPr>
        <p:spPr>
          <a:xfrm>
            <a:off x="385992" y="142967"/>
            <a:ext cx="11602169" cy="6495640"/>
          </a:xfr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en-US" sz="1200" dirty="0">
                <a:latin typeface="Roboto" panose="02000000000000000000" pitchFamily="2" charset="0"/>
                <a:ea typeface="Roboto" panose="02000000000000000000" pitchFamily="2" charset="0"/>
                <a:cs typeface="Arial" pitchFamily="34" charset="0"/>
              </a:rPr>
              <a:t>7 November 2025</a:t>
            </a:r>
          </a:p>
          <a:p>
            <a:pPr>
              <a:lnSpc>
                <a:spcPct val="100000"/>
              </a:lnSpc>
              <a:spcBef>
                <a:spcPts val="0"/>
              </a:spcBef>
            </a:pPr>
            <a:endParaRPr lang="en-US" altLang="en-US" sz="1200" dirty="0">
              <a:latin typeface="Roboto" panose="02000000000000000000" pitchFamily="2" charset="0"/>
              <a:ea typeface="Roboto" panose="02000000000000000000" pitchFamily="2" charset="0"/>
              <a:cs typeface="Arial" pitchFamily="34" charset="0"/>
            </a:endParaRPr>
          </a:p>
          <a:p>
            <a:pPr marL="0" indent="0" algn="just">
              <a:lnSpc>
                <a:spcPct val="100000"/>
              </a:lnSpc>
              <a:spcBef>
                <a:spcPts val="0"/>
              </a:spcBef>
              <a:buNone/>
            </a:pPr>
            <a:r>
              <a:rPr lang="en-US" sz="1200" b="1" dirty="0">
                <a:latin typeface="Roboto" panose="02000000000000000000" pitchFamily="2" charset="0"/>
                <a:ea typeface="Roboto" panose="02000000000000000000" pitchFamily="2" charset="0"/>
                <a:cs typeface="Arial" pitchFamily="34" charset="0"/>
              </a:rPr>
              <a:t>ABC INTEGRATED SERVICES LTD.</a:t>
            </a:r>
          </a:p>
          <a:p>
            <a:pPr marL="0" indent="0" algn="just">
              <a:lnSpc>
                <a:spcPct val="100000"/>
              </a:lnSpc>
              <a:spcBef>
                <a:spcPts val="0"/>
              </a:spcBef>
              <a:buNone/>
            </a:pPr>
            <a:r>
              <a:rPr lang="en-US" sz="1200" dirty="0">
                <a:solidFill>
                  <a:schemeClr val="tx1"/>
                </a:solidFill>
                <a:latin typeface="Roboto" panose="02000000000000000000" pitchFamily="2" charset="0"/>
                <a:ea typeface="Roboto" panose="02000000000000000000" pitchFamily="2" charset="0"/>
                <a:cs typeface="Arial" pitchFamily="34" charset="0"/>
              </a:rPr>
              <a:t>XXX</a:t>
            </a:r>
            <a:endParaRPr lang="en-US" altLang="en-US" sz="1200" dirty="0">
              <a:latin typeface="Roboto" panose="02000000000000000000" pitchFamily="2" charset="0"/>
              <a:ea typeface="Roboto" panose="02000000000000000000" pitchFamily="2" charset="0"/>
              <a:cs typeface="Arial" pitchFamily="34" charset="0"/>
            </a:endParaRPr>
          </a:p>
          <a:p>
            <a:pPr marL="0" indent="0">
              <a:lnSpc>
                <a:spcPct val="100000"/>
              </a:lnSpc>
              <a:spcBef>
                <a:spcPts val="0"/>
              </a:spcBef>
              <a:buNone/>
            </a:pPr>
            <a:endParaRPr lang="en-US" altLang="en-US" sz="1200" dirty="0">
              <a:latin typeface="Roboto" panose="02000000000000000000" pitchFamily="2" charset="0"/>
              <a:ea typeface="Roboto" panose="02000000000000000000" pitchFamily="2" charset="0"/>
              <a:cs typeface="Arial" pitchFamily="34" charset="0"/>
            </a:endParaRPr>
          </a:p>
          <a:p>
            <a:pPr marL="0" indent="0">
              <a:lnSpc>
                <a:spcPct val="100000"/>
              </a:lnSpc>
              <a:spcBef>
                <a:spcPts val="0"/>
              </a:spcBef>
              <a:buNone/>
            </a:pPr>
            <a:r>
              <a:rPr lang="en-US" altLang="en-US" sz="1200" dirty="0">
                <a:latin typeface="Roboto" panose="02000000000000000000" pitchFamily="2" charset="0"/>
                <a:ea typeface="Roboto" panose="02000000000000000000" pitchFamily="2" charset="0"/>
                <a:cs typeface="Arial" pitchFamily="34" charset="0"/>
              </a:rPr>
              <a:t>Dear Sir or Madam,</a:t>
            </a:r>
          </a:p>
          <a:p>
            <a:pPr>
              <a:lnSpc>
                <a:spcPct val="100000"/>
              </a:lnSpc>
              <a:spcBef>
                <a:spcPts val="0"/>
              </a:spcBef>
            </a:pPr>
            <a:endParaRPr lang="en-US" altLang="en-US" sz="1200" dirty="0">
              <a:latin typeface="Roboto" panose="02000000000000000000" pitchFamily="2" charset="0"/>
              <a:ea typeface="Roboto" panose="02000000000000000000" pitchFamily="2" charset="0"/>
              <a:cs typeface="Arial" pitchFamily="34" charset="0"/>
            </a:endParaRPr>
          </a:p>
          <a:p>
            <a:pPr marL="0" indent="0" algn="just">
              <a:lnSpc>
                <a:spcPct val="100000"/>
              </a:lnSpc>
              <a:spcBef>
                <a:spcPts val="0"/>
              </a:spcBef>
              <a:buNone/>
            </a:pPr>
            <a:r>
              <a:rPr lang="en-US" altLang="en-US" sz="1200" b="1" dirty="0">
                <a:latin typeface="Roboto" panose="02000000000000000000" pitchFamily="2" charset="0"/>
                <a:ea typeface="Roboto" panose="02000000000000000000" pitchFamily="2" charset="0"/>
                <a:cs typeface="Arial" pitchFamily="34" charset="0"/>
              </a:rPr>
              <a:t>PROPOSAL FOR PROVISION OF INTERNAL AUDIT SERVICES</a:t>
            </a:r>
          </a:p>
          <a:p>
            <a:pPr algn="just">
              <a:lnSpc>
                <a:spcPct val="100000"/>
              </a:lnSpc>
              <a:spcBef>
                <a:spcPts val="0"/>
              </a:spcBef>
            </a:pPr>
            <a:endParaRPr lang="en-US" altLang="en-US" sz="1200" dirty="0">
              <a:latin typeface="Roboto" panose="02000000000000000000" pitchFamily="2" charset="0"/>
              <a:ea typeface="Roboto" panose="02000000000000000000" pitchFamily="2" charset="0"/>
              <a:cs typeface="Arial" pitchFamily="34" charset="0"/>
            </a:endParaRPr>
          </a:p>
          <a:p>
            <a:pPr marL="0" indent="0" algn="just">
              <a:lnSpc>
                <a:spcPct val="100000"/>
              </a:lnSpc>
              <a:spcBef>
                <a:spcPts val="0"/>
              </a:spcBef>
              <a:buNone/>
            </a:pPr>
            <a:r>
              <a:rPr lang="en-US" altLang="en-US" sz="1200" dirty="0">
                <a:latin typeface="Roboto" panose="02000000000000000000" pitchFamily="2" charset="0"/>
                <a:ea typeface="Roboto" panose="02000000000000000000" pitchFamily="2" charset="0"/>
                <a:cs typeface="Arial" pitchFamily="34" charset="0"/>
              </a:rPr>
              <a:t>Thank you for the opportunity to submit our proposal for the </a:t>
            </a:r>
            <a:r>
              <a:rPr lang="en-US" altLang="en-US" sz="1200" b="1" dirty="0">
                <a:latin typeface="Roboto" panose="02000000000000000000" pitchFamily="2" charset="0"/>
                <a:ea typeface="Roboto" panose="02000000000000000000" pitchFamily="2" charset="0"/>
                <a:cs typeface="Arial" pitchFamily="34" charset="0"/>
              </a:rPr>
              <a:t>provision of internal audit services </a:t>
            </a:r>
            <a:r>
              <a:rPr lang="en-US" altLang="en-US" sz="1200" dirty="0">
                <a:latin typeface="Roboto" panose="02000000000000000000" pitchFamily="2" charset="0"/>
                <a:ea typeface="Roboto" panose="02000000000000000000" pitchFamily="2" charset="0"/>
              </a:rPr>
              <a:t>to </a:t>
            </a:r>
            <a:r>
              <a:rPr lang="en-US" sz="1200" b="1" dirty="0">
                <a:latin typeface="Roboto" panose="02000000000000000000" pitchFamily="2" charset="0"/>
                <a:ea typeface="Roboto" panose="02000000000000000000" pitchFamily="2" charset="0"/>
                <a:cs typeface="Arial" pitchFamily="34" charset="0"/>
              </a:rPr>
              <a:t>ABC Integrated Services Ltd. </a:t>
            </a:r>
            <a:r>
              <a:rPr lang="en-US" altLang="en-US" sz="1200" b="1" dirty="0">
                <a:latin typeface="Roboto" panose="02000000000000000000" pitchFamily="2" charset="0"/>
                <a:ea typeface="Roboto" panose="02000000000000000000" pitchFamily="2" charset="0"/>
              </a:rPr>
              <a:t>(“ABC”). </a:t>
            </a:r>
            <a:r>
              <a:rPr lang="en-US" altLang="en-US" sz="1200" dirty="0">
                <a:latin typeface="Roboto" panose="02000000000000000000" pitchFamily="2" charset="0"/>
                <a:ea typeface="Roboto" panose="02000000000000000000" pitchFamily="2" charset="0"/>
                <a:cs typeface="Arial" pitchFamily="34" charset="0"/>
              </a:rPr>
              <a:t>We look forward to the prospect of working with you on this engagement and we wish to assure you of our most sincere commitment to provide you with the best resources of our organisation.</a:t>
            </a:r>
          </a:p>
          <a:p>
            <a:pPr algn="just">
              <a:lnSpc>
                <a:spcPct val="100000"/>
              </a:lnSpc>
              <a:spcBef>
                <a:spcPts val="0"/>
              </a:spcBef>
            </a:pPr>
            <a:endParaRPr lang="en-US" altLang="en-US" sz="1200" dirty="0">
              <a:latin typeface="Roboto" panose="02000000000000000000" pitchFamily="2" charset="0"/>
              <a:ea typeface="Roboto" panose="02000000000000000000" pitchFamily="2" charset="0"/>
              <a:cs typeface="Arial" pitchFamily="34" charset="0"/>
            </a:endParaRPr>
          </a:p>
          <a:p>
            <a:pPr marL="0" indent="0" algn="just">
              <a:lnSpc>
                <a:spcPct val="100000"/>
              </a:lnSpc>
              <a:spcBef>
                <a:spcPts val="0"/>
              </a:spcBef>
              <a:buNone/>
            </a:pPr>
            <a:r>
              <a:rPr lang="en-US" altLang="en-US" sz="1200" dirty="0">
                <a:latin typeface="Roboto" panose="02000000000000000000" pitchFamily="2" charset="0"/>
                <a:ea typeface="Roboto" panose="02000000000000000000" pitchFamily="2" charset="0"/>
                <a:cs typeface="Arial" pitchFamily="34" charset="0"/>
              </a:rPr>
              <a:t>We have prepared this document which outlines our </a:t>
            </a:r>
            <a:r>
              <a:rPr lang="en-US" altLang="en-US" sz="1200" b="1" dirty="0">
                <a:latin typeface="Roboto" panose="02000000000000000000" pitchFamily="2" charset="0"/>
                <a:ea typeface="Roboto" panose="02000000000000000000" pitchFamily="2" charset="0"/>
                <a:cs typeface="Arial" pitchFamily="34" charset="0"/>
              </a:rPr>
              <a:t>approach and</a:t>
            </a:r>
            <a:r>
              <a:rPr lang="en-US" altLang="en-US" sz="1200" dirty="0">
                <a:latin typeface="Roboto" panose="02000000000000000000" pitchFamily="2" charset="0"/>
                <a:ea typeface="Roboto" panose="02000000000000000000" pitchFamily="2" charset="0"/>
                <a:cs typeface="Arial" pitchFamily="34" charset="0"/>
              </a:rPr>
              <a:t> </a:t>
            </a:r>
            <a:r>
              <a:rPr lang="en-US" altLang="en-US" sz="1200" b="1" dirty="0">
                <a:latin typeface="Roboto" panose="02000000000000000000" pitchFamily="2" charset="0"/>
                <a:ea typeface="Roboto" panose="02000000000000000000" pitchFamily="2" charset="0"/>
                <a:cs typeface="Arial" pitchFamily="34" charset="0"/>
              </a:rPr>
              <a:t>methodology, </a:t>
            </a:r>
            <a:r>
              <a:rPr lang="en-US" altLang="en-US" sz="1200" dirty="0">
                <a:latin typeface="Roboto" panose="02000000000000000000" pitchFamily="2" charset="0"/>
                <a:ea typeface="Roboto" panose="02000000000000000000" pitchFamily="2" charset="0"/>
                <a:cs typeface="Arial" pitchFamily="34" charset="0"/>
              </a:rPr>
              <a:t>our</a:t>
            </a:r>
            <a:r>
              <a:rPr lang="en-US" altLang="en-US" sz="1200" b="1" dirty="0">
                <a:latin typeface="Roboto" panose="02000000000000000000" pitchFamily="2" charset="0"/>
                <a:ea typeface="Roboto" panose="02000000000000000000" pitchFamily="2" charset="0"/>
                <a:cs typeface="Arial" pitchFamily="34" charset="0"/>
              </a:rPr>
              <a:t> focus on quality</a:t>
            </a:r>
            <a:r>
              <a:rPr lang="en-US" altLang="en-US" sz="1200" dirty="0">
                <a:latin typeface="Roboto" panose="02000000000000000000" pitchFamily="2" charset="0"/>
                <a:ea typeface="Roboto" panose="02000000000000000000" pitchFamily="2" charset="0"/>
                <a:cs typeface="Arial" pitchFamily="34" charset="0"/>
              </a:rPr>
              <a:t> including our </a:t>
            </a:r>
            <a:r>
              <a:rPr lang="en-US" altLang="en-US" sz="1200" b="1" dirty="0">
                <a:latin typeface="Roboto" panose="02000000000000000000" pitchFamily="2" charset="0"/>
                <a:ea typeface="Roboto" panose="02000000000000000000" pitchFamily="2" charset="0"/>
                <a:cs typeface="Arial" pitchFamily="34" charset="0"/>
              </a:rPr>
              <a:t>qualifications</a:t>
            </a:r>
            <a:r>
              <a:rPr lang="en-US" altLang="en-US" sz="1200" dirty="0">
                <a:latin typeface="Roboto" panose="02000000000000000000" pitchFamily="2" charset="0"/>
                <a:ea typeface="Roboto" panose="02000000000000000000" pitchFamily="2" charset="0"/>
                <a:cs typeface="Arial" pitchFamily="34" charset="0"/>
              </a:rPr>
              <a:t>, </a:t>
            </a:r>
            <a:r>
              <a:rPr lang="en-US" altLang="en-US" sz="1200" b="1" dirty="0">
                <a:latin typeface="Roboto" panose="02000000000000000000" pitchFamily="2" charset="0"/>
                <a:ea typeface="Roboto" panose="02000000000000000000" pitchFamily="2" charset="0"/>
                <a:cs typeface="Arial" pitchFamily="34" charset="0"/>
              </a:rPr>
              <a:t>resources, cost and commitment</a:t>
            </a:r>
            <a:r>
              <a:rPr lang="en-US" altLang="en-US" sz="1200" dirty="0">
                <a:latin typeface="Roboto" panose="02000000000000000000" pitchFamily="2" charset="0"/>
                <a:ea typeface="Roboto" panose="02000000000000000000" pitchFamily="2" charset="0"/>
                <a:cs typeface="Arial" pitchFamily="34" charset="0"/>
              </a:rPr>
              <a:t> to serve you.</a:t>
            </a:r>
          </a:p>
          <a:p>
            <a:pPr algn="just">
              <a:lnSpc>
                <a:spcPct val="100000"/>
              </a:lnSpc>
              <a:spcBef>
                <a:spcPts val="0"/>
              </a:spcBef>
            </a:pPr>
            <a:endParaRPr lang="en-US" altLang="en-US" sz="1200" dirty="0">
              <a:latin typeface="Roboto" panose="02000000000000000000" pitchFamily="2" charset="0"/>
              <a:ea typeface="Roboto" panose="02000000000000000000" pitchFamily="2" charset="0"/>
              <a:cs typeface="Arial" pitchFamily="34" charset="0"/>
            </a:endParaRPr>
          </a:p>
          <a:p>
            <a:pPr marL="0" indent="0" algn="just">
              <a:lnSpc>
                <a:spcPct val="100000"/>
              </a:lnSpc>
              <a:spcBef>
                <a:spcPts val="0"/>
              </a:spcBef>
              <a:buNone/>
            </a:pPr>
            <a:r>
              <a:rPr lang="en-US" altLang="en-US" sz="1200" dirty="0">
                <a:latin typeface="Roboto" panose="02000000000000000000" pitchFamily="2" charset="0"/>
                <a:ea typeface="Roboto" panose="02000000000000000000" pitchFamily="2" charset="0"/>
                <a:cs typeface="Arial" pitchFamily="34" charset="0"/>
              </a:rPr>
              <a:t>Your team at In.Corp has substantive relevant experience in </a:t>
            </a:r>
            <a:r>
              <a:rPr lang="en-US" altLang="en-US" sz="1200" b="1" dirty="0">
                <a:latin typeface="Roboto" panose="02000000000000000000" pitchFamily="2" charset="0"/>
                <a:ea typeface="Roboto" panose="02000000000000000000" pitchFamily="2" charset="0"/>
                <a:cs typeface="Arial" pitchFamily="34" charset="0"/>
              </a:rPr>
              <a:t>internal audits, enterprise risk management, and </a:t>
            </a:r>
            <a:r>
              <a:rPr lang="en-US" sz="1200" b="1" dirty="0">
                <a:latin typeface="Roboto" panose="02000000000000000000" pitchFamily="2" charset="0"/>
                <a:ea typeface="Roboto" panose="02000000000000000000" pitchFamily="2" charset="0"/>
                <a:cs typeface="Arial" panose="020B0604020202020204" pitchFamily="34" charset="0"/>
              </a:rPr>
              <a:t>sustainability reporting </a:t>
            </a:r>
            <a:r>
              <a:rPr lang="en-US" altLang="en-US" sz="1200" b="1" dirty="0">
                <a:latin typeface="Roboto" panose="02000000000000000000" pitchFamily="2" charset="0"/>
                <a:ea typeface="Roboto" panose="02000000000000000000" pitchFamily="2" charset="0"/>
                <a:cs typeface="Arial" pitchFamily="34" charset="0"/>
              </a:rPr>
              <a:t>engagements </a:t>
            </a:r>
            <a:r>
              <a:rPr lang="en-US" altLang="en-US" sz="1200" dirty="0">
                <a:latin typeface="Roboto" panose="02000000000000000000" pitchFamily="2" charset="0"/>
                <a:ea typeface="Roboto" panose="02000000000000000000" pitchFamily="2" charset="0"/>
                <a:cs typeface="Arial" pitchFamily="34" charset="0"/>
              </a:rPr>
              <a:t>with various </a:t>
            </a:r>
            <a:r>
              <a:rPr lang="en-US" altLang="en-US" sz="1200" b="1" dirty="0">
                <a:latin typeface="Roboto" panose="02000000000000000000" pitchFamily="2" charset="0"/>
                <a:ea typeface="Roboto" panose="02000000000000000000" pitchFamily="2" charset="0"/>
                <a:cs typeface="Arial" pitchFamily="34" charset="0"/>
              </a:rPr>
              <a:t>public listed companies, multinationals, government ministries, organs of state, statutory boards, financial institutions, institutions of a public character and SMEs. </a:t>
            </a:r>
            <a:r>
              <a:rPr lang="en-US" altLang="en-US" sz="1200" dirty="0">
                <a:latin typeface="Roboto" panose="02000000000000000000" pitchFamily="2" charset="0"/>
                <a:ea typeface="Roboto" panose="02000000000000000000" pitchFamily="2" charset="0"/>
                <a:cs typeface="Arial" pitchFamily="34" charset="0"/>
              </a:rPr>
              <a:t>Please see </a:t>
            </a:r>
            <a:r>
              <a:rPr lang="en-US" altLang="en-US" sz="1200" b="1" dirty="0">
                <a:latin typeface="Roboto" panose="02000000000000000000" pitchFamily="2" charset="0"/>
                <a:ea typeface="Roboto" panose="02000000000000000000" pitchFamily="2" charset="0"/>
                <a:cs typeface="Arial" pitchFamily="34" charset="0"/>
              </a:rPr>
              <a:t>Section 3</a:t>
            </a:r>
            <a:r>
              <a:rPr lang="en-US" altLang="en-US" sz="1200" dirty="0">
                <a:latin typeface="Roboto" panose="02000000000000000000" pitchFamily="2" charset="0"/>
                <a:ea typeface="Roboto" panose="02000000000000000000" pitchFamily="2" charset="0"/>
                <a:cs typeface="Arial" pitchFamily="34" charset="0"/>
              </a:rPr>
              <a:t> of this proposal document.</a:t>
            </a:r>
          </a:p>
          <a:p>
            <a:pPr algn="just">
              <a:lnSpc>
                <a:spcPct val="100000"/>
              </a:lnSpc>
              <a:spcBef>
                <a:spcPts val="0"/>
              </a:spcBef>
            </a:pPr>
            <a:endParaRPr lang="en-US" altLang="en-US" sz="1200" dirty="0">
              <a:latin typeface="Roboto" panose="02000000000000000000" pitchFamily="2" charset="0"/>
              <a:ea typeface="Roboto" panose="02000000000000000000" pitchFamily="2" charset="0"/>
              <a:cs typeface="Arial" pitchFamily="34" charset="0"/>
            </a:endParaRPr>
          </a:p>
          <a:p>
            <a:pPr marL="0" indent="0" algn="just">
              <a:lnSpc>
                <a:spcPct val="100000"/>
              </a:lnSpc>
              <a:spcBef>
                <a:spcPts val="0"/>
              </a:spcBef>
              <a:buNone/>
            </a:pPr>
            <a:r>
              <a:rPr lang="en-US" altLang="en-US" sz="1200" dirty="0">
                <a:latin typeface="Roboto" panose="02000000000000000000" pitchFamily="2" charset="0"/>
                <a:ea typeface="Roboto" panose="02000000000000000000" pitchFamily="2" charset="0"/>
                <a:cs typeface="Arial" pitchFamily="34" charset="0"/>
              </a:rPr>
              <a:t>If we can be of any further assistance in the meantime, please do not hesitate to contact me at </a:t>
            </a:r>
            <a:r>
              <a:rPr lang="en-SG" sz="1200" b="1" dirty="0">
                <a:latin typeface="Roboto" panose="02000000000000000000" pitchFamily="2" charset="0"/>
                <a:ea typeface="Roboto" panose="02000000000000000000" pitchFamily="2" charset="0"/>
                <a:cs typeface="Arial" pitchFamily="34" charset="0"/>
              </a:rPr>
              <a:t>6028 4346.</a:t>
            </a:r>
          </a:p>
          <a:p>
            <a:pPr marL="0" indent="0" algn="just">
              <a:lnSpc>
                <a:spcPct val="100000"/>
              </a:lnSpc>
              <a:spcBef>
                <a:spcPts val="0"/>
              </a:spcBef>
              <a:buNone/>
            </a:pPr>
            <a:endParaRPr lang="en-US" altLang="en-US" sz="1200" dirty="0">
              <a:latin typeface="Roboto" panose="02000000000000000000" pitchFamily="2" charset="0"/>
              <a:ea typeface="Roboto" panose="02000000000000000000" pitchFamily="2" charset="0"/>
              <a:cs typeface="Arial" pitchFamily="34" charset="0"/>
            </a:endParaRPr>
          </a:p>
          <a:p>
            <a:pPr marL="0" indent="0" algn="just">
              <a:lnSpc>
                <a:spcPct val="100000"/>
              </a:lnSpc>
              <a:spcBef>
                <a:spcPts val="0"/>
              </a:spcBef>
              <a:buNone/>
            </a:pPr>
            <a:r>
              <a:rPr lang="en-US" altLang="en-US" sz="1200" dirty="0">
                <a:latin typeface="Roboto" panose="02000000000000000000" pitchFamily="2" charset="0"/>
                <a:ea typeface="Roboto" panose="02000000000000000000" pitchFamily="2" charset="0"/>
                <a:cs typeface="Arial" pitchFamily="34" charset="0"/>
              </a:rPr>
              <a:t>Yours faithfully</a:t>
            </a:r>
          </a:p>
          <a:p>
            <a:pPr marL="0" indent="0" algn="just">
              <a:lnSpc>
                <a:spcPct val="100000"/>
              </a:lnSpc>
              <a:spcBef>
                <a:spcPts val="0"/>
              </a:spcBef>
              <a:buNone/>
            </a:pPr>
            <a:r>
              <a:rPr lang="en-US" altLang="en-US" sz="1200" dirty="0">
                <a:latin typeface="Roboto" panose="02000000000000000000" pitchFamily="2" charset="0"/>
                <a:ea typeface="Roboto" panose="02000000000000000000" pitchFamily="2" charset="0"/>
                <a:cs typeface="Arial" pitchFamily="34" charset="0"/>
              </a:rPr>
              <a:t>For and behalf of</a:t>
            </a:r>
          </a:p>
          <a:p>
            <a:pPr marL="0" indent="0" algn="just">
              <a:lnSpc>
                <a:spcPct val="100000"/>
              </a:lnSpc>
              <a:spcBef>
                <a:spcPts val="0"/>
              </a:spcBef>
              <a:buNone/>
            </a:pPr>
            <a:r>
              <a:rPr lang="en-US" altLang="en-US" sz="1200" b="1" dirty="0">
                <a:latin typeface="Roboto" panose="02000000000000000000" pitchFamily="2" charset="0"/>
                <a:ea typeface="Roboto" panose="02000000000000000000" pitchFamily="2" charset="0"/>
                <a:cs typeface="Arial" pitchFamily="34" charset="0"/>
              </a:rPr>
              <a:t>In.Corp Business Advisory Pte. Ltd.</a:t>
            </a:r>
          </a:p>
          <a:p>
            <a:pPr algn="just">
              <a:lnSpc>
                <a:spcPct val="100000"/>
              </a:lnSpc>
              <a:spcBef>
                <a:spcPts val="0"/>
              </a:spcBef>
            </a:pPr>
            <a:endParaRPr lang="en-US" altLang="en-US" sz="1200" dirty="0">
              <a:latin typeface="Roboto" panose="02000000000000000000" pitchFamily="2" charset="0"/>
              <a:ea typeface="Roboto" panose="02000000000000000000" pitchFamily="2" charset="0"/>
              <a:cs typeface="Arial" pitchFamily="34" charset="0"/>
            </a:endParaRPr>
          </a:p>
          <a:p>
            <a:pPr algn="just">
              <a:lnSpc>
                <a:spcPct val="100000"/>
              </a:lnSpc>
              <a:spcBef>
                <a:spcPts val="0"/>
              </a:spcBef>
            </a:pPr>
            <a:endParaRPr lang="en-US" altLang="en-US" sz="1200" b="1" dirty="0">
              <a:latin typeface="Roboto" panose="02000000000000000000" pitchFamily="2" charset="0"/>
              <a:ea typeface="Roboto" panose="02000000000000000000" pitchFamily="2" charset="0"/>
              <a:cs typeface="Arial" pitchFamily="34" charset="0"/>
            </a:endParaRPr>
          </a:p>
          <a:p>
            <a:pPr algn="just">
              <a:lnSpc>
                <a:spcPct val="100000"/>
              </a:lnSpc>
              <a:spcBef>
                <a:spcPts val="0"/>
              </a:spcBef>
            </a:pPr>
            <a:endParaRPr lang="en-US" altLang="en-US" sz="1200" b="1" dirty="0">
              <a:latin typeface="Roboto" panose="02000000000000000000" pitchFamily="2" charset="0"/>
              <a:ea typeface="Roboto" panose="02000000000000000000" pitchFamily="2" charset="0"/>
              <a:cs typeface="Arial" pitchFamily="34" charset="0"/>
            </a:endParaRPr>
          </a:p>
          <a:p>
            <a:pPr algn="just">
              <a:lnSpc>
                <a:spcPct val="100000"/>
              </a:lnSpc>
              <a:spcBef>
                <a:spcPts val="0"/>
              </a:spcBef>
            </a:pPr>
            <a:endParaRPr lang="en-US" altLang="en-US" sz="1200" b="1" dirty="0">
              <a:latin typeface="Roboto" panose="02000000000000000000" pitchFamily="2" charset="0"/>
              <a:ea typeface="Roboto" panose="02000000000000000000" pitchFamily="2" charset="0"/>
              <a:cs typeface="Arial" pitchFamily="34" charset="0"/>
            </a:endParaRPr>
          </a:p>
          <a:p>
            <a:pPr marL="0" indent="0" algn="just">
              <a:lnSpc>
                <a:spcPct val="100000"/>
              </a:lnSpc>
              <a:spcBef>
                <a:spcPts val="0"/>
              </a:spcBef>
              <a:buNone/>
            </a:pPr>
            <a:r>
              <a:rPr lang="en-US" altLang="en-US" sz="1200" b="1" dirty="0">
                <a:latin typeface="Roboto" panose="02000000000000000000" pitchFamily="2" charset="0"/>
                <a:ea typeface="Roboto" panose="02000000000000000000" pitchFamily="2" charset="0"/>
                <a:cs typeface="Arial" pitchFamily="34" charset="0"/>
              </a:rPr>
              <a:t>Ruby Rouben</a:t>
            </a:r>
          </a:p>
          <a:p>
            <a:pPr marL="0" indent="0" algn="just">
              <a:lnSpc>
                <a:spcPct val="100000"/>
              </a:lnSpc>
              <a:spcBef>
                <a:spcPts val="0"/>
              </a:spcBef>
              <a:buNone/>
            </a:pPr>
            <a:r>
              <a:rPr lang="en-US" altLang="en-US" sz="1200" b="1" dirty="0">
                <a:latin typeface="Roboto" panose="02000000000000000000" pitchFamily="2" charset="0"/>
                <a:ea typeface="Roboto" panose="02000000000000000000" pitchFamily="2" charset="0"/>
                <a:cs typeface="Arial" pitchFamily="34" charset="0"/>
              </a:rPr>
              <a:t>Director – Head, Risk Assurance</a:t>
            </a:r>
          </a:p>
          <a:p>
            <a:pPr marL="0" indent="0" algn="just">
              <a:lnSpc>
                <a:spcPct val="100000"/>
              </a:lnSpc>
              <a:spcBef>
                <a:spcPts val="0"/>
              </a:spcBef>
              <a:buNone/>
            </a:pPr>
            <a:r>
              <a:rPr lang="en-US" altLang="en-US" sz="1200" b="1" dirty="0">
                <a:latin typeface="Roboto" panose="02000000000000000000" pitchFamily="2" charset="0"/>
                <a:ea typeface="Roboto" panose="02000000000000000000" pitchFamily="2" charset="0"/>
                <a:cs typeface="Arial" pitchFamily="34" charset="0"/>
              </a:rPr>
              <a:t>Singapore</a:t>
            </a:r>
          </a:p>
        </p:txBody>
      </p:sp>
      <p:pic>
        <p:nvPicPr>
          <p:cNvPr id="2" name="Picture 1">
            <a:extLst>
              <a:ext uri="{FF2B5EF4-FFF2-40B4-BE49-F238E27FC236}">
                <a16:creationId xmlns:a16="http://schemas.microsoft.com/office/drawing/2014/main" id="{03166B4D-4221-AB64-B1D9-806D21DA7685}"/>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0218993" y="142967"/>
            <a:ext cx="1772982" cy="764586"/>
          </a:xfrm>
          <a:prstGeom prst="rect">
            <a:avLst/>
          </a:prstGeom>
        </p:spPr>
      </p:pic>
    </p:spTree>
    <p:extLst>
      <p:ext uri="{BB962C8B-B14F-4D97-AF65-F5344CB8AC3E}">
        <p14:creationId xmlns:p14="http://schemas.microsoft.com/office/powerpoint/2010/main" val="2094244241"/>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8" name="Picture 27">
            <a:extLst>
              <a:ext uri="{FF2B5EF4-FFF2-40B4-BE49-F238E27FC236}">
                <a16:creationId xmlns:a16="http://schemas.microsoft.com/office/drawing/2014/main" id="{57D81BC2-FB63-3E99-9ADA-63A70F6D2BB3}"/>
              </a:ext>
            </a:extLst>
          </p:cNvPr>
          <p:cNvPicPr>
            <a:picLocks noChangeAspect="1"/>
          </p:cNvPicPr>
          <p:nvPr/>
        </p:nvPicPr>
        <p:blipFill rotWithShape="1">
          <a:blip r:embed="rId3">
            <a:extLst>
              <a:ext uri="{28A0092B-C50C-407E-A947-70E740481C1C}">
                <a14:useLocalDpi xmlns:a14="http://schemas.microsoft.com/office/drawing/2010/main" val="0"/>
              </a:ext>
            </a:extLst>
          </a:blip>
          <a:srcRect t="39837" b="14883"/>
          <a:stretch/>
        </p:blipFill>
        <p:spPr>
          <a:xfrm>
            <a:off x="-8907" y="-9952"/>
            <a:ext cx="12209814" cy="1552805"/>
          </a:xfrm>
          <a:prstGeom prst="rect">
            <a:avLst/>
          </a:prstGeom>
        </p:spPr>
      </p:pic>
      <p:sp>
        <p:nvSpPr>
          <p:cNvPr id="14" name="Rectangle 13">
            <a:extLst>
              <a:ext uri="{FF2B5EF4-FFF2-40B4-BE49-F238E27FC236}">
                <a16:creationId xmlns:a16="http://schemas.microsoft.com/office/drawing/2014/main" id="{2AC0629D-A312-0E03-4459-630AA2015B9E}"/>
              </a:ext>
            </a:extLst>
          </p:cNvPr>
          <p:cNvSpPr/>
          <p:nvPr/>
        </p:nvSpPr>
        <p:spPr>
          <a:xfrm>
            <a:off x="1588" y="894"/>
            <a:ext cx="12188825" cy="1541960"/>
          </a:xfrm>
          <a:prstGeom prst="rect">
            <a:avLst/>
          </a:prstGeom>
          <a:gradFill>
            <a:gsLst>
              <a:gs pos="46000">
                <a:srgbClr val="2F465A">
                  <a:alpha val="68000"/>
                </a:srgbClr>
              </a:gs>
              <a:gs pos="0">
                <a:schemeClr val="tx2">
                  <a:lumMod val="50000"/>
                  <a:alpha val="93000"/>
                </a:schemeClr>
              </a:gs>
              <a:gs pos="100000">
                <a:schemeClr val="tx2">
                  <a:lumMod val="60000"/>
                  <a:lumOff val="40000"/>
                  <a:alpha val="8200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3599" dirty="0">
              <a:solidFill>
                <a:schemeClr val="bg1"/>
              </a:solidFill>
            </a:endParaRPr>
          </a:p>
        </p:txBody>
      </p:sp>
      <p:sp>
        <p:nvSpPr>
          <p:cNvPr id="2" name="Google Shape;190;p2">
            <a:extLst>
              <a:ext uri="{FF2B5EF4-FFF2-40B4-BE49-F238E27FC236}">
                <a16:creationId xmlns:a16="http://schemas.microsoft.com/office/drawing/2014/main" id="{6B38454B-B4B4-293C-A6B3-FCC04D68FE86}"/>
              </a:ext>
            </a:extLst>
          </p:cNvPr>
          <p:cNvSpPr txBox="1"/>
          <p:nvPr/>
        </p:nvSpPr>
        <p:spPr>
          <a:xfrm>
            <a:off x="657514" y="413823"/>
            <a:ext cx="11199610" cy="628445"/>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3499" b="1" kern="0" dirty="0">
                <a:solidFill>
                  <a:schemeClr val="bg1"/>
                </a:solidFill>
                <a:latin typeface="Roboto" panose="02000000000000000000" pitchFamily="2" charset="0"/>
                <a:ea typeface="Roboto" panose="02000000000000000000" pitchFamily="2" charset="0"/>
                <a:cs typeface="Roboto"/>
                <a:sym typeface="Roboto"/>
              </a:rPr>
              <a:t>Overview</a:t>
            </a:r>
            <a:endParaRPr lang="en-SG" sz="3499" b="1" kern="0" dirty="0">
              <a:solidFill>
                <a:schemeClr val="bg1"/>
              </a:solidFill>
              <a:latin typeface="Roboto" panose="02000000000000000000" pitchFamily="2" charset="0"/>
              <a:ea typeface="Roboto" panose="02000000000000000000" pitchFamily="2" charset="0"/>
              <a:cs typeface="Arial"/>
              <a:sym typeface="Arial"/>
            </a:endParaRPr>
          </a:p>
        </p:txBody>
      </p:sp>
      <p:cxnSp>
        <p:nvCxnSpPr>
          <p:cNvPr id="3" name="Straight Connector 2">
            <a:extLst>
              <a:ext uri="{FF2B5EF4-FFF2-40B4-BE49-F238E27FC236}">
                <a16:creationId xmlns:a16="http://schemas.microsoft.com/office/drawing/2014/main" id="{19B3EAB6-D864-A990-03C5-FE4E4E3CE505}"/>
              </a:ext>
            </a:extLst>
          </p:cNvPr>
          <p:cNvCxnSpPr>
            <a:cxnSpLocks/>
          </p:cNvCxnSpPr>
          <p:nvPr/>
        </p:nvCxnSpPr>
        <p:spPr>
          <a:xfrm>
            <a:off x="458669" y="327936"/>
            <a:ext cx="0" cy="72488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898C936-F6A2-D904-4DD6-7198EFD2C9B8}"/>
              </a:ext>
            </a:extLst>
          </p:cNvPr>
          <p:cNvSpPr/>
          <p:nvPr/>
        </p:nvSpPr>
        <p:spPr>
          <a:xfrm>
            <a:off x="-39844" y="327936"/>
            <a:ext cx="361388"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TextBox 4">
            <a:extLst>
              <a:ext uri="{FF2B5EF4-FFF2-40B4-BE49-F238E27FC236}">
                <a16:creationId xmlns:a16="http://schemas.microsoft.com/office/drawing/2014/main" id="{55EEFCD6-7221-F214-2D0B-BBB848A824BD}"/>
              </a:ext>
            </a:extLst>
          </p:cNvPr>
          <p:cNvSpPr txBox="1"/>
          <p:nvPr/>
        </p:nvSpPr>
        <p:spPr>
          <a:xfrm>
            <a:off x="321544" y="1359280"/>
            <a:ext cx="8461069" cy="4926990"/>
          </a:xfrm>
          <a:prstGeom prst="rect">
            <a:avLst/>
          </a:prstGeom>
          <a:noFill/>
        </p:spPr>
        <p:txBody>
          <a:bodyPr wrap="square" anchor="ctr">
            <a:spAutoFit/>
          </a:bodyPr>
          <a:lstStyle/>
          <a:p>
            <a:pPr marL="635317" lvl="2" indent="-342900">
              <a:lnSpc>
                <a:spcPct val="200000"/>
              </a:lnSpc>
              <a:buFont typeface="+mj-lt"/>
              <a:buAutoNum type="arabicPeriod"/>
              <a:defRPr/>
            </a:pPr>
            <a:r>
              <a:rPr lang="en-US" sz="2000" b="1" dirty="0">
                <a:solidFill>
                  <a:srgbClr val="2F465A"/>
                </a:solidFill>
                <a:latin typeface="Roboto" panose="02000000000000000000" pitchFamily="2" charset="0"/>
                <a:ea typeface="Roboto" panose="02000000000000000000" pitchFamily="2" charset="0"/>
                <a:cs typeface="Roboto" panose="02000000000000000000" pitchFamily="2" charset="0"/>
              </a:rPr>
              <a:t>About InCorp</a:t>
            </a:r>
          </a:p>
          <a:p>
            <a:pPr marL="635317" lvl="2" indent="-342900" fontAlgn="auto">
              <a:lnSpc>
                <a:spcPct val="200000"/>
              </a:lnSpc>
              <a:spcBef>
                <a:spcPts val="0"/>
              </a:spcBef>
              <a:spcAft>
                <a:spcPts val="0"/>
              </a:spcAft>
              <a:buFont typeface="+mj-lt"/>
              <a:buAutoNum type="arabicPeriod"/>
              <a:defRPr/>
            </a:pPr>
            <a:r>
              <a:rPr lang="en-US" sz="2000" b="1" dirty="0">
                <a:solidFill>
                  <a:srgbClr val="2F465A"/>
                </a:solidFill>
                <a:latin typeface="Roboto" panose="02000000000000000000" pitchFamily="2" charset="0"/>
                <a:ea typeface="Roboto" panose="02000000000000000000" pitchFamily="2" charset="0"/>
                <a:cs typeface="Roboto" panose="02000000000000000000" pitchFamily="2" charset="0"/>
              </a:rPr>
              <a:t>Risk Assurance Practice </a:t>
            </a:r>
          </a:p>
          <a:p>
            <a:pPr marL="635317" lvl="2" indent="-342900" fontAlgn="auto">
              <a:lnSpc>
                <a:spcPct val="200000"/>
              </a:lnSpc>
              <a:spcBef>
                <a:spcPts val="0"/>
              </a:spcBef>
              <a:spcAft>
                <a:spcPts val="0"/>
              </a:spcAft>
              <a:buFont typeface="+mj-lt"/>
              <a:buAutoNum type="arabicPeriod"/>
              <a:defRPr/>
            </a:pPr>
            <a:r>
              <a:rPr lang="en-US" sz="2000" b="1" dirty="0">
                <a:solidFill>
                  <a:srgbClr val="2F465A"/>
                </a:solidFill>
                <a:latin typeface="Roboto" panose="02000000000000000000" pitchFamily="2" charset="0"/>
                <a:ea typeface="Roboto" panose="02000000000000000000" pitchFamily="2" charset="0"/>
                <a:cs typeface="Roboto" panose="02000000000000000000" pitchFamily="2" charset="0"/>
              </a:rPr>
              <a:t>Our Professional Track Record</a:t>
            </a:r>
          </a:p>
          <a:p>
            <a:pPr marL="635317" lvl="2" indent="-342900" fontAlgn="auto">
              <a:lnSpc>
                <a:spcPct val="200000"/>
              </a:lnSpc>
              <a:spcBef>
                <a:spcPts val="0"/>
              </a:spcBef>
              <a:spcAft>
                <a:spcPts val="0"/>
              </a:spcAft>
              <a:buFont typeface="+mj-lt"/>
              <a:buAutoNum type="arabicPeriod"/>
              <a:defRPr/>
            </a:pPr>
            <a:r>
              <a:rPr lang="en-US" sz="2000" b="1" dirty="0">
                <a:solidFill>
                  <a:srgbClr val="2F465A"/>
                </a:solidFill>
                <a:latin typeface="Roboto" panose="02000000000000000000" pitchFamily="2" charset="0"/>
                <a:ea typeface="Roboto" panose="02000000000000000000" pitchFamily="2" charset="0"/>
                <a:cs typeface="Roboto" panose="02000000000000000000" pitchFamily="2" charset="0"/>
              </a:rPr>
              <a:t>Your Service Team</a:t>
            </a:r>
          </a:p>
          <a:p>
            <a:pPr marL="635317" lvl="2" indent="-342900">
              <a:lnSpc>
                <a:spcPct val="200000"/>
              </a:lnSpc>
              <a:buFont typeface="+mj-lt"/>
              <a:buAutoNum type="arabicPeriod"/>
              <a:defRPr/>
            </a:pPr>
            <a:r>
              <a:rPr lang="en-US" sz="2000" b="1" dirty="0">
                <a:solidFill>
                  <a:srgbClr val="2F465A"/>
                </a:solidFill>
                <a:latin typeface="Roboto" panose="02000000000000000000" pitchFamily="2" charset="0"/>
                <a:ea typeface="Roboto" panose="02000000000000000000" pitchFamily="2" charset="0"/>
                <a:cs typeface="Roboto" panose="02000000000000000000" pitchFamily="2" charset="0"/>
              </a:rPr>
              <a:t>Internal Audit Services</a:t>
            </a:r>
          </a:p>
          <a:p>
            <a:pPr marL="635317" lvl="2" indent="-342900">
              <a:lnSpc>
                <a:spcPct val="200000"/>
              </a:lnSpc>
              <a:buFont typeface="+mj-lt"/>
              <a:buAutoNum type="arabicPeriod"/>
              <a:defRPr/>
            </a:pPr>
            <a:r>
              <a:rPr lang="en-US" sz="2000" b="1" dirty="0">
                <a:solidFill>
                  <a:srgbClr val="2F465A"/>
                </a:solidFill>
                <a:latin typeface="Roboto" panose="02000000000000000000" pitchFamily="2" charset="0"/>
                <a:ea typeface="Roboto" panose="02000000000000000000" pitchFamily="2" charset="0"/>
                <a:cs typeface="Roboto" panose="02000000000000000000" pitchFamily="2" charset="0"/>
              </a:rPr>
              <a:t>Professional Fees</a:t>
            </a:r>
          </a:p>
          <a:p>
            <a:pPr marL="635317" lvl="2" indent="-342900">
              <a:lnSpc>
                <a:spcPct val="200000"/>
              </a:lnSpc>
              <a:buFont typeface="+mj-lt"/>
              <a:buAutoNum type="arabicPeriod"/>
              <a:defRPr/>
            </a:pPr>
            <a:r>
              <a:rPr lang="en-US" sz="2000" b="1" dirty="0">
                <a:solidFill>
                  <a:srgbClr val="2F465A"/>
                </a:solidFill>
                <a:latin typeface="Roboto" panose="02000000000000000000" pitchFamily="2" charset="0"/>
                <a:ea typeface="Roboto" panose="02000000000000000000" pitchFamily="2" charset="0"/>
                <a:cs typeface="Roboto" panose="02000000000000000000" pitchFamily="2" charset="0"/>
              </a:rPr>
              <a:t>InCorp’s Strengths and Differentiators</a:t>
            </a:r>
          </a:p>
          <a:p>
            <a:pPr marL="635317" lvl="2" indent="-342900">
              <a:lnSpc>
                <a:spcPct val="200000"/>
              </a:lnSpc>
              <a:buFont typeface="+mj-lt"/>
              <a:buAutoNum type="arabicPeriod"/>
              <a:defRPr/>
            </a:pPr>
            <a:r>
              <a:rPr lang="en-US" sz="2000" b="1" dirty="0">
                <a:solidFill>
                  <a:srgbClr val="2F465A"/>
                </a:solidFill>
                <a:latin typeface="Roboto" panose="02000000000000000000" pitchFamily="2" charset="0"/>
                <a:ea typeface="Roboto" panose="02000000000000000000" pitchFamily="2" charset="0"/>
                <a:cs typeface="Roboto" panose="02000000000000000000" pitchFamily="2" charset="0"/>
              </a:rPr>
              <a:t>Value-added Services</a:t>
            </a:r>
          </a:p>
        </p:txBody>
      </p:sp>
      <p:pic>
        <p:nvPicPr>
          <p:cNvPr id="7" name="Picture 6" descr="A heart with people and boxes&#10;&#10;AI-generated content may be incorrect.">
            <a:extLst>
              <a:ext uri="{FF2B5EF4-FFF2-40B4-BE49-F238E27FC236}">
                <a16:creationId xmlns:a16="http://schemas.microsoft.com/office/drawing/2014/main" id="{AB6805FD-A881-F30A-34A4-783475228B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9363" y="1739088"/>
            <a:ext cx="6454487" cy="4437460"/>
          </a:xfrm>
          <a:prstGeom prst="rect">
            <a:avLst/>
          </a:prstGeom>
        </p:spPr>
      </p:pic>
    </p:spTree>
    <p:extLst>
      <p:ext uri="{BB962C8B-B14F-4D97-AF65-F5344CB8AC3E}">
        <p14:creationId xmlns:p14="http://schemas.microsoft.com/office/powerpoint/2010/main" val="3772330713"/>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7157BD-6843-E674-9696-E8674CC5FBDD}"/>
              </a:ext>
            </a:extLst>
          </p:cNvPr>
          <p:cNvGrpSpPr/>
          <p:nvPr/>
        </p:nvGrpSpPr>
        <p:grpSpPr>
          <a:xfrm>
            <a:off x="650415" y="1372015"/>
            <a:ext cx="4858288" cy="4858288"/>
            <a:chOff x="3415423" y="748423"/>
            <a:chExt cx="5361153" cy="5361153"/>
          </a:xfrm>
        </p:grpSpPr>
        <p:sp>
          <p:nvSpPr>
            <p:cNvPr id="5" name="Oval 4">
              <a:extLst>
                <a:ext uri="{FF2B5EF4-FFF2-40B4-BE49-F238E27FC236}">
                  <a16:creationId xmlns:a16="http://schemas.microsoft.com/office/drawing/2014/main" id="{3F0D58C7-F113-0B5F-AB34-8ACAA72E3C3F}"/>
                </a:ext>
              </a:extLst>
            </p:cNvPr>
            <p:cNvSpPr/>
            <p:nvPr/>
          </p:nvSpPr>
          <p:spPr>
            <a:xfrm>
              <a:off x="3415423" y="748423"/>
              <a:ext cx="5361153" cy="5361153"/>
            </a:xfrm>
            <a:prstGeom prst="ellipse">
              <a:avLst/>
            </a:prstGeom>
            <a:blipFill>
              <a:blip r:embed="rId2"/>
              <a:stretch>
                <a:fillRect l="1042" r="-104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6" name="Group 5">
              <a:extLst>
                <a:ext uri="{FF2B5EF4-FFF2-40B4-BE49-F238E27FC236}">
                  <a16:creationId xmlns:a16="http://schemas.microsoft.com/office/drawing/2014/main" id="{B8A568BB-B5DE-B9F3-B0A7-2EA033F8255A}"/>
                </a:ext>
              </a:extLst>
            </p:cNvPr>
            <p:cNvGrpSpPr/>
            <p:nvPr/>
          </p:nvGrpSpPr>
          <p:grpSpPr>
            <a:xfrm>
              <a:off x="3595551" y="890338"/>
              <a:ext cx="5091249" cy="5078723"/>
              <a:chOff x="3595551" y="890338"/>
              <a:chExt cx="5091249" cy="5078723"/>
            </a:xfrm>
          </p:grpSpPr>
          <p:sp>
            <p:nvSpPr>
              <p:cNvPr id="7" name="Oval 6">
                <a:extLst>
                  <a:ext uri="{FF2B5EF4-FFF2-40B4-BE49-F238E27FC236}">
                    <a16:creationId xmlns:a16="http://schemas.microsoft.com/office/drawing/2014/main" id="{97018C85-1181-28FF-CB27-EE1680996151}"/>
                  </a:ext>
                </a:extLst>
              </p:cNvPr>
              <p:cNvSpPr/>
              <p:nvPr/>
            </p:nvSpPr>
            <p:spPr>
              <a:xfrm>
                <a:off x="3608076" y="890338"/>
                <a:ext cx="5078724" cy="5078723"/>
              </a:xfrm>
              <a:prstGeom prst="ellipse">
                <a:avLst/>
              </a:prstGeom>
              <a:solidFill>
                <a:srgbClr val="CC0000">
                  <a:alpha val="58000"/>
                </a:srgb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Title 4">
                <a:extLst>
                  <a:ext uri="{FF2B5EF4-FFF2-40B4-BE49-F238E27FC236}">
                    <a16:creationId xmlns:a16="http://schemas.microsoft.com/office/drawing/2014/main" id="{97C6FD05-3DCD-0FFF-CED8-677EEF19662A}"/>
                  </a:ext>
                </a:extLst>
              </p:cNvPr>
              <p:cNvSpPr txBox="1">
                <a:spLocks/>
              </p:cNvSpPr>
              <p:nvPr/>
            </p:nvSpPr>
            <p:spPr>
              <a:xfrm>
                <a:off x="3595551" y="2821302"/>
                <a:ext cx="5078723" cy="1325563"/>
              </a:xfrm>
              <a:prstGeom prst="rect">
                <a:avLst/>
              </a:prstGeom>
            </p:spPr>
            <p:txBody>
              <a:bodyPr anchor="ctr" anchorCtr="1">
                <a:noAutofit/>
              </a:bodyPr>
              <a:lstStyle>
                <a:lvl1pPr algn="l" defTabSz="914377" rtl="0" eaLnBrk="1" latinLnBrk="0" hangingPunct="1">
                  <a:lnSpc>
                    <a:spcPct val="90000"/>
                  </a:lnSpc>
                  <a:spcBef>
                    <a:spcPct val="0"/>
                  </a:spcBef>
                  <a:buNone/>
                  <a:defRPr sz="4000" b="1" kern="1200">
                    <a:solidFill>
                      <a:schemeClr val="tx1"/>
                    </a:solidFill>
                    <a:latin typeface="Roboto" panose="02000000000000000000" pitchFamily="2" charset="0"/>
                    <a:ea typeface="Roboto" panose="02000000000000000000" pitchFamily="2" charset="0"/>
                    <a:cs typeface="+mj-cs"/>
                  </a:defRPr>
                </a:lvl1pPr>
              </a:lstStyle>
              <a:p>
                <a:pPr algn="ctr"/>
                <a:r>
                  <a:rPr lang="en-US" sz="4400" dirty="0">
                    <a:solidFill>
                      <a:schemeClr val="bg1"/>
                    </a:solidFill>
                  </a:rPr>
                  <a:t>About </a:t>
                </a:r>
              </a:p>
              <a:p>
                <a:pPr algn="ctr"/>
                <a:r>
                  <a:rPr lang="en-US" sz="4400" dirty="0">
                    <a:solidFill>
                      <a:schemeClr val="bg1"/>
                    </a:solidFill>
                  </a:rPr>
                  <a:t>InCorp</a:t>
                </a:r>
              </a:p>
            </p:txBody>
          </p:sp>
        </p:grpSp>
      </p:grpSp>
    </p:spTree>
    <p:extLst>
      <p:ext uri="{BB962C8B-B14F-4D97-AF65-F5344CB8AC3E}">
        <p14:creationId xmlns:p14="http://schemas.microsoft.com/office/powerpoint/2010/main" val="366343822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70044E4-A7BA-447C-9F64-FB947C28ECEC}"/>
              </a:ext>
            </a:extLst>
          </p:cNvPr>
          <p:cNvSpPr/>
          <p:nvPr/>
        </p:nvSpPr>
        <p:spPr>
          <a:xfrm>
            <a:off x="-1" y="1206321"/>
            <a:ext cx="3352801" cy="528394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3">
                  <a:lumMod val="10000"/>
                  <a:lumOff val="90000"/>
                </a:schemeClr>
              </a:solidFill>
            </a:endParaRPr>
          </a:p>
        </p:txBody>
      </p:sp>
      <p:sp>
        <p:nvSpPr>
          <p:cNvPr id="4" name="Title 3">
            <a:extLst>
              <a:ext uri="{FF2B5EF4-FFF2-40B4-BE49-F238E27FC236}">
                <a16:creationId xmlns:a16="http://schemas.microsoft.com/office/drawing/2014/main" id="{CDE1FC1D-C9C7-456D-8AD5-0734E353C904}"/>
              </a:ext>
            </a:extLst>
          </p:cNvPr>
          <p:cNvSpPr>
            <a:spLocks noGrp="1"/>
          </p:cNvSpPr>
          <p:nvPr>
            <p:ph type="title"/>
          </p:nvPr>
        </p:nvSpPr>
        <p:spPr/>
        <p:txBody>
          <a:bodyPr>
            <a:normAutofit fontScale="90000"/>
          </a:bodyPr>
          <a:lstStyle/>
          <a:p>
            <a:r>
              <a:rPr lang="en-IN" dirty="0">
                <a:solidFill>
                  <a:schemeClr val="tx1">
                    <a:lumMod val="75000"/>
                    <a:lumOff val="25000"/>
                  </a:schemeClr>
                </a:solidFill>
                <a:latin typeface="Roboto" panose="02000000000000000000" pitchFamily="2" charset="0"/>
                <a:ea typeface="Roboto" panose="02000000000000000000" pitchFamily="2" charset="0"/>
              </a:rPr>
              <a:t>InCorp Global</a:t>
            </a:r>
          </a:p>
        </p:txBody>
      </p:sp>
      <p:graphicFrame>
        <p:nvGraphicFramePr>
          <p:cNvPr id="7" name="Diagram 6">
            <a:extLst>
              <a:ext uri="{FF2B5EF4-FFF2-40B4-BE49-F238E27FC236}">
                <a16:creationId xmlns:a16="http://schemas.microsoft.com/office/drawing/2014/main" id="{F9E80AD2-2751-41C0-B793-28D79DAC6811}"/>
              </a:ext>
            </a:extLst>
          </p:cNvPr>
          <p:cNvGraphicFramePr/>
          <p:nvPr/>
        </p:nvGraphicFramePr>
        <p:xfrm>
          <a:off x="382739" y="1515055"/>
          <a:ext cx="2599947" cy="5183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oogle Shape;222;p3">
            <a:extLst>
              <a:ext uri="{FF2B5EF4-FFF2-40B4-BE49-F238E27FC236}">
                <a16:creationId xmlns:a16="http://schemas.microsoft.com/office/drawing/2014/main" id="{2013F195-7B00-9E4A-17F3-F65FA3056413}"/>
              </a:ext>
            </a:extLst>
          </p:cNvPr>
          <p:cNvPicPr preferRelativeResize="0"/>
          <p:nvPr/>
        </p:nvPicPr>
        <p:blipFill rotWithShape="1">
          <a:blip r:embed="rId7">
            <a:alphaModFix/>
          </a:blip>
          <a:srcRect/>
          <a:stretch/>
        </p:blipFill>
        <p:spPr>
          <a:xfrm>
            <a:off x="502191" y="1672544"/>
            <a:ext cx="422400" cy="246400"/>
          </a:xfrm>
          <a:prstGeom prst="rect">
            <a:avLst/>
          </a:prstGeom>
          <a:ln>
            <a:noFill/>
          </a:ln>
          <a:effectLst>
            <a:outerShdw blurRad="50800" dist="38100" dir="2700000" algn="tl" rotWithShape="0">
              <a:prstClr val="black">
                <a:alpha val="40000"/>
              </a:prstClr>
            </a:outerShdw>
          </a:effectLst>
        </p:spPr>
      </p:pic>
      <p:pic>
        <p:nvPicPr>
          <p:cNvPr id="8" name="Picture 7" descr="Flag of Australia - Wikipedia">
            <a:extLst>
              <a:ext uri="{FF2B5EF4-FFF2-40B4-BE49-F238E27FC236}">
                <a16:creationId xmlns:a16="http://schemas.microsoft.com/office/drawing/2014/main" id="{720A8663-C3E0-71D0-5EEB-7AA667EE4175}"/>
              </a:ext>
            </a:extLst>
          </p:cNvPr>
          <p:cNvPicPr>
            <a:picLocks noChangeAspect="1" noChangeArrowheads="1"/>
          </p:cNvPicPr>
          <p:nvPr/>
        </p:nvPicPr>
        <p:blipFill rotWithShape="1">
          <a:blip r:embed="rId8" cstate="screen">
            <a:extLst>
              <a:ext uri="{28A0092B-C50C-407E-A947-70E740481C1C}">
                <a14:useLocalDpi xmlns:a14="http://schemas.microsoft.com/office/drawing/2010/main" val="0"/>
              </a:ext>
            </a:extLst>
          </a:blip>
          <a:srcRect l="4700" r="7120" b="-2476"/>
          <a:stretch/>
        </p:blipFill>
        <p:spPr bwMode="auto">
          <a:xfrm>
            <a:off x="502191" y="2176090"/>
            <a:ext cx="422400" cy="246400"/>
          </a:xfrm>
          <a:prstGeom prst="rect">
            <a:avLst/>
          </a:prstGeom>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9" name="Google Shape;225;p3">
            <a:extLst>
              <a:ext uri="{FF2B5EF4-FFF2-40B4-BE49-F238E27FC236}">
                <a16:creationId xmlns:a16="http://schemas.microsoft.com/office/drawing/2014/main" id="{AA19E667-9801-867B-7173-92D2764FA4A6}"/>
              </a:ext>
            </a:extLst>
          </p:cNvPr>
          <p:cNvPicPr preferRelativeResize="0"/>
          <p:nvPr/>
        </p:nvPicPr>
        <p:blipFill rotWithShape="1">
          <a:blip r:embed="rId9">
            <a:alphaModFix/>
          </a:blip>
          <a:srcRect/>
          <a:stretch/>
        </p:blipFill>
        <p:spPr>
          <a:xfrm>
            <a:off x="502191" y="2701812"/>
            <a:ext cx="422400" cy="246400"/>
          </a:xfrm>
          <a:prstGeom prst="rect">
            <a:avLst/>
          </a:prstGeom>
          <a:ln>
            <a:noFill/>
          </a:ln>
          <a:effectLst>
            <a:outerShdw blurRad="50800" dist="38100" dir="2700000" algn="tl" rotWithShape="0">
              <a:prstClr val="black">
                <a:alpha val="40000"/>
              </a:prstClr>
            </a:outerShdw>
          </a:effectLst>
        </p:spPr>
      </p:pic>
      <p:pic>
        <p:nvPicPr>
          <p:cNvPr id="10" name="Google Shape;227;p3">
            <a:extLst>
              <a:ext uri="{FF2B5EF4-FFF2-40B4-BE49-F238E27FC236}">
                <a16:creationId xmlns:a16="http://schemas.microsoft.com/office/drawing/2014/main" id="{D84BA11D-A62A-A4E0-1E0B-4A0EF9E05B38}"/>
              </a:ext>
            </a:extLst>
          </p:cNvPr>
          <p:cNvPicPr preferRelativeResize="0"/>
          <p:nvPr/>
        </p:nvPicPr>
        <p:blipFill rotWithShape="1">
          <a:blip r:embed="rId10">
            <a:alphaModFix/>
          </a:blip>
          <a:srcRect/>
          <a:stretch/>
        </p:blipFill>
        <p:spPr>
          <a:xfrm>
            <a:off x="502191" y="3227534"/>
            <a:ext cx="422400" cy="246400"/>
          </a:xfrm>
          <a:prstGeom prst="rect">
            <a:avLst/>
          </a:prstGeom>
          <a:ln>
            <a:noFill/>
          </a:ln>
          <a:effectLst>
            <a:outerShdw blurRad="50800" dist="38100" dir="2700000" algn="tl" rotWithShape="0">
              <a:prstClr val="black">
                <a:alpha val="40000"/>
              </a:prstClr>
            </a:outerShdw>
          </a:effectLst>
        </p:spPr>
      </p:pic>
      <p:pic>
        <p:nvPicPr>
          <p:cNvPr id="11" name="Google Shape;223;p3">
            <a:extLst>
              <a:ext uri="{FF2B5EF4-FFF2-40B4-BE49-F238E27FC236}">
                <a16:creationId xmlns:a16="http://schemas.microsoft.com/office/drawing/2014/main" id="{9F52BBA0-3296-0F34-8B65-5B94A1B185DC}"/>
              </a:ext>
            </a:extLst>
          </p:cNvPr>
          <p:cNvPicPr preferRelativeResize="0"/>
          <p:nvPr/>
        </p:nvPicPr>
        <p:blipFill rotWithShape="1">
          <a:blip r:embed="rId11">
            <a:alphaModFix/>
          </a:blip>
          <a:srcRect l="1" r="1422"/>
          <a:stretch/>
        </p:blipFill>
        <p:spPr>
          <a:xfrm>
            <a:off x="509335" y="3737339"/>
            <a:ext cx="408111" cy="237600"/>
          </a:xfrm>
          <a:prstGeom prst="rect">
            <a:avLst/>
          </a:prstGeom>
          <a:ln>
            <a:noFill/>
          </a:ln>
          <a:effectLst>
            <a:outerShdw blurRad="50800" dist="38100" dir="2700000" algn="tl" rotWithShape="0">
              <a:prstClr val="black">
                <a:alpha val="40000"/>
              </a:prstClr>
            </a:outerShdw>
          </a:effectLst>
        </p:spPr>
      </p:pic>
      <p:pic>
        <p:nvPicPr>
          <p:cNvPr id="12" name="Google Shape;234;p3" descr="Malaysia flag vector - country flags">
            <a:extLst>
              <a:ext uri="{FF2B5EF4-FFF2-40B4-BE49-F238E27FC236}">
                <a16:creationId xmlns:a16="http://schemas.microsoft.com/office/drawing/2014/main" id="{CFE3A3CB-5D74-446B-50FE-2269F569E19E}"/>
              </a:ext>
            </a:extLst>
          </p:cNvPr>
          <p:cNvPicPr preferRelativeResize="0"/>
          <p:nvPr/>
        </p:nvPicPr>
        <p:blipFill rotWithShape="1">
          <a:blip r:embed="rId12">
            <a:alphaModFix/>
          </a:blip>
          <a:srcRect/>
          <a:stretch/>
        </p:blipFill>
        <p:spPr>
          <a:xfrm>
            <a:off x="510652" y="4768917"/>
            <a:ext cx="410459" cy="246400"/>
          </a:xfrm>
          <a:prstGeom prst="rect">
            <a:avLst/>
          </a:prstGeom>
          <a:ln>
            <a:noFill/>
          </a:ln>
          <a:effectLst>
            <a:outerShdw blurRad="50800" dist="38100" dir="2700000" algn="tl" rotWithShape="0">
              <a:prstClr val="black">
                <a:alpha val="40000"/>
              </a:prstClr>
            </a:outerShdw>
          </a:effectLst>
        </p:spPr>
      </p:pic>
      <p:pic>
        <p:nvPicPr>
          <p:cNvPr id="14" name="Google Shape;224;p3">
            <a:extLst>
              <a:ext uri="{FF2B5EF4-FFF2-40B4-BE49-F238E27FC236}">
                <a16:creationId xmlns:a16="http://schemas.microsoft.com/office/drawing/2014/main" id="{75348D2B-2EB1-20F2-C310-FAAC60348713}"/>
              </a:ext>
            </a:extLst>
          </p:cNvPr>
          <p:cNvPicPr preferRelativeResize="0"/>
          <p:nvPr/>
        </p:nvPicPr>
        <p:blipFill rotWithShape="1">
          <a:blip r:embed="rId13">
            <a:alphaModFix/>
          </a:blip>
          <a:srcRect/>
          <a:stretch/>
        </p:blipFill>
        <p:spPr>
          <a:xfrm>
            <a:off x="509335" y="5288144"/>
            <a:ext cx="422400" cy="246400"/>
          </a:xfrm>
          <a:prstGeom prst="rect">
            <a:avLst/>
          </a:prstGeom>
          <a:ln>
            <a:noFill/>
          </a:ln>
          <a:effectLst>
            <a:outerShdw blurRad="50800" dist="38100" dir="2700000" algn="tl" rotWithShape="0">
              <a:prstClr val="black">
                <a:alpha val="40000"/>
              </a:prstClr>
            </a:outerShdw>
          </a:effectLst>
        </p:spPr>
      </p:pic>
      <p:pic>
        <p:nvPicPr>
          <p:cNvPr id="15" name="Google Shape;226;p3">
            <a:extLst>
              <a:ext uri="{FF2B5EF4-FFF2-40B4-BE49-F238E27FC236}">
                <a16:creationId xmlns:a16="http://schemas.microsoft.com/office/drawing/2014/main" id="{44FC4E64-E3B6-C39A-E689-331308EE93B8}"/>
              </a:ext>
            </a:extLst>
          </p:cNvPr>
          <p:cNvPicPr preferRelativeResize="0"/>
          <p:nvPr/>
        </p:nvPicPr>
        <p:blipFill rotWithShape="1">
          <a:blip r:embed="rId14">
            <a:alphaModFix/>
          </a:blip>
          <a:srcRect/>
          <a:stretch/>
        </p:blipFill>
        <p:spPr>
          <a:xfrm>
            <a:off x="509335" y="5799058"/>
            <a:ext cx="422400" cy="246400"/>
          </a:xfrm>
          <a:prstGeom prst="rect">
            <a:avLst/>
          </a:prstGeom>
          <a:ln>
            <a:noFill/>
          </a:ln>
          <a:effectLst>
            <a:outerShdw blurRad="50800" dist="38100" dir="2700000" algn="tl" rotWithShape="0">
              <a:prstClr val="black">
                <a:alpha val="40000"/>
              </a:prstClr>
            </a:outerShdw>
          </a:effectLst>
        </p:spPr>
      </p:pic>
      <p:pic>
        <p:nvPicPr>
          <p:cNvPr id="2" name="Google Shape;223;p3">
            <a:extLst>
              <a:ext uri="{FF2B5EF4-FFF2-40B4-BE49-F238E27FC236}">
                <a16:creationId xmlns:a16="http://schemas.microsoft.com/office/drawing/2014/main" id="{835A1027-69EB-8681-2AB1-EB9853B171B6}"/>
              </a:ext>
            </a:extLst>
          </p:cNvPr>
          <p:cNvPicPr preferRelativeResize="0"/>
          <p:nvPr/>
        </p:nvPicPr>
        <p:blipFill>
          <a:blip r:embed="rId15" cstate="screen">
            <a:extLst>
              <a:ext uri="{28A0092B-C50C-407E-A947-70E740481C1C}">
                <a14:useLocalDpi xmlns:a14="http://schemas.microsoft.com/office/drawing/2010/main" val="0"/>
              </a:ext>
            </a:extLst>
          </a:blip>
          <a:srcRect/>
          <a:stretch/>
        </p:blipFill>
        <p:spPr>
          <a:xfrm>
            <a:off x="516480" y="4252195"/>
            <a:ext cx="408111" cy="237600"/>
          </a:xfrm>
          <a:prstGeom prst="rect">
            <a:avLst/>
          </a:prstGeom>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E2D0A4EE-64F5-A212-06B6-CF05E3842BB5}"/>
              </a:ext>
            </a:extLst>
          </p:cNvPr>
          <p:cNvSpPr/>
          <p:nvPr/>
        </p:nvSpPr>
        <p:spPr>
          <a:xfrm>
            <a:off x="3728747" y="3480826"/>
            <a:ext cx="2751837" cy="118468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t" anchorCtr="0"/>
          <a:lstStyle/>
          <a:p>
            <a:pPr algn="ctr"/>
            <a:r>
              <a:rPr lang="en-IN" sz="4200" b="1" dirty="0">
                <a:solidFill>
                  <a:schemeClr val="tx2"/>
                </a:solidFill>
              </a:rPr>
              <a:t>20,000+ </a:t>
            </a:r>
          </a:p>
          <a:p>
            <a:pPr algn="ctr">
              <a:lnSpc>
                <a:spcPct val="90000"/>
              </a:lnSpc>
            </a:pPr>
            <a:r>
              <a:rPr lang="en-IN" sz="1500" b="1" dirty="0">
                <a:solidFill>
                  <a:schemeClr val="tx1">
                    <a:lumMod val="75000"/>
                    <a:lumOff val="25000"/>
                  </a:schemeClr>
                </a:solidFill>
                <a:latin typeface="Roboto" panose="02000000000000000000" pitchFamily="2" charset="0"/>
                <a:ea typeface="Roboto" panose="02000000000000000000" pitchFamily="2" charset="0"/>
              </a:rPr>
              <a:t>Entities</a:t>
            </a:r>
          </a:p>
        </p:txBody>
      </p:sp>
      <p:sp>
        <p:nvSpPr>
          <p:cNvPr id="36" name="Rectangle 35">
            <a:extLst>
              <a:ext uri="{FF2B5EF4-FFF2-40B4-BE49-F238E27FC236}">
                <a16:creationId xmlns:a16="http://schemas.microsoft.com/office/drawing/2014/main" id="{AC9E400E-1B7F-D6A2-F1E3-A4C096F0537A}"/>
              </a:ext>
            </a:extLst>
          </p:cNvPr>
          <p:cNvSpPr/>
          <p:nvPr/>
        </p:nvSpPr>
        <p:spPr>
          <a:xfrm>
            <a:off x="6415678" y="3470109"/>
            <a:ext cx="2751837" cy="1189559"/>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t" anchorCtr="0"/>
          <a:lstStyle/>
          <a:p>
            <a:pPr algn="ctr"/>
            <a:r>
              <a:rPr lang="en-IN" sz="4200" b="1" dirty="0">
                <a:solidFill>
                  <a:schemeClr val="tx2"/>
                </a:solidFill>
              </a:rPr>
              <a:t>12,000+</a:t>
            </a:r>
          </a:p>
          <a:p>
            <a:pPr algn="ctr">
              <a:lnSpc>
                <a:spcPct val="90000"/>
              </a:lnSpc>
            </a:pPr>
            <a:r>
              <a:rPr lang="en-US" sz="1500" b="1" dirty="0">
                <a:solidFill>
                  <a:schemeClr val="tx1">
                    <a:lumMod val="75000"/>
                    <a:lumOff val="25000"/>
                  </a:schemeClr>
                </a:solidFill>
                <a:latin typeface="Roboto" panose="02000000000000000000" pitchFamily="2" charset="0"/>
                <a:ea typeface="Roboto" panose="02000000000000000000" pitchFamily="2" charset="0"/>
              </a:rPr>
              <a:t>Compliance Transactions</a:t>
            </a:r>
          </a:p>
          <a:p>
            <a:pPr algn="ctr"/>
            <a:r>
              <a:rPr lang="en-US" sz="1500" b="1" dirty="0">
                <a:solidFill>
                  <a:schemeClr val="tx1">
                    <a:lumMod val="75000"/>
                    <a:lumOff val="25000"/>
                  </a:schemeClr>
                </a:solidFill>
                <a:latin typeface="Roboto" panose="02000000000000000000" pitchFamily="2" charset="0"/>
                <a:ea typeface="Roboto" panose="02000000000000000000" pitchFamily="2" charset="0"/>
              </a:rPr>
              <a:t>Per Year</a:t>
            </a:r>
            <a:endParaRPr lang="en-IN" sz="1500" b="1" dirty="0">
              <a:solidFill>
                <a:schemeClr val="tx1">
                  <a:lumMod val="75000"/>
                  <a:lumOff val="25000"/>
                </a:schemeClr>
              </a:solidFill>
              <a:latin typeface="Roboto" panose="02000000000000000000" pitchFamily="2" charset="0"/>
              <a:ea typeface="Roboto" panose="02000000000000000000" pitchFamily="2" charset="0"/>
            </a:endParaRPr>
          </a:p>
        </p:txBody>
      </p:sp>
      <p:sp>
        <p:nvSpPr>
          <p:cNvPr id="37" name="Rectangle 36">
            <a:extLst>
              <a:ext uri="{FF2B5EF4-FFF2-40B4-BE49-F238E27FC236}">
                <a16:creationId xmlns:a16="http://schemas.microsoft.com/office/drawing/2014/main" id="{2E727A77-7701-37AD-5957-C5FE7D0591C8}"/>
              </a:ext>
            </a:extLst>
          </p:cNvPr>
          <p:cNvSpPr/>
          <p:nvPr/>
        </p:nvSpPr>
        <p:spPr>
          <a:xfrm>
            <a:off x="9439629" y="3474719"/>
            <a:ext cx="1836750" cy="146038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t" anchorCtr="0"/>
          <a:lstStyle/>
          <a:p>
            <a:pPr algn="ctr"/>
            <a:r>
              <a:rPr lang="en-IN" sz="4200" b="1" dirty="0">
                <a:solidFill>
                  <a:schemeClr val="tx2"/>
                </a:solidFill>
              </a:rPr>
              <a:t>30+</a:t>
            </a:r>
            <a:endParaRPr lang="en-IN" sz="4200" b="1" dirty="0">
              <a:solidFill>
                <a:schemeClr val="accent2"/>
              </a:solidFill>
            </a:endParaRPr>
          </a:p>
          <a:p>
            <a:pPr algn="ctr">
              <a:lnSpc>
                <a:spcPct val="90000"/>
              </a:lnSpc>
            </a:pPr>
            <a:r>
              <a:rPr lang="en-IN" sz="1500" b="1" dirty="0">
                <a:solidFill>
                  <a:schemeClr val="tx1">
                    <a:lumMod val="75000"/>
                    <a:lumOff val="25000"/>
                  </a:schemeClr>
                </a:solidFill>
                <a:latin typeface="Roboto" panose="02000000000000000000" pitchFamily="2" charset="0"/>
                <a:ea typeface="Roboto" panose="02000000000000000000" pitchFamily="2" charset="0"/>
              </a:rPr>
              <a:t>Years Operating </a:t>
            </a:r>
          </a:p>
          <a:p>
            <a:pPr algn="ctr"/>
            <a:r>
              <a:rPr lang="en-IN" sz="1500" b="1" dirty="0">
                <a:solidFill>
                  <a:schemeClr val="tx1">
                    <a:lumMod val="75000"/>
                    <a:lumOff val="25000"/>
                  </a:schemeClr>
                </a:solidFill>
                <a:latin typeface="Roboto" panose="02000000000000000000" pitchFamily="2" charset="0"/>
                <a:ea typeface="Roboto" panose="02000000000000000000" pitchFamily="2" charset="0"/>
              </a:rPr>
              <a:t>Track Record</a:t>
            </a:r>
          </a:p>
        </p:txBody>
      </p:sp>
      <p:grpSp>
        <p:nvGrpSpPr>
          <p:cNvPr id="40" name="Group 39">
            <a:extLst>
              <a:ext uri="{FF2B5EF4-FFF2-40B4-BE49-F238E27FC236}">
                <a16:creationId xmlns:a16="http://schemas.microsoft.com/office/drawing/2014/main" id="{AEBEB81A-22BD-6763-9D68-2377E7FA50C1}"/>
              </a:ext>
            </a:extLst>
          </p:cNvPr>
          <p:cNvGrpSpPr/>
          <p:nvPr/>
        </p:nvGrpSpPr>
        <p:grpSpPr>
          <a:xfrm>
            <a:off x="7061479" y="1607935"/>
            <a:ext cx="1430717" cy="1423871"/>
            <a:chOff x="3027437" y="1885079"/>
            <a:chExt cx="1864978" cy="1856054"/>
          </a:xfrm>
        </p:grpSpPr>
        <p:sp>
          <p:nvSpPr>
            <p:cNvPr id="42" name="Google Shape;207;p2">
              <a:extLst>
                <a:ext uri="{FF2B5EF4-FFF2-40B4-BE49-F238E27FC236}">
                  <a16:creationId xmlns:a16="http://schemas.microsoft.com/office/drawing/2014/main" id="{3DDC51C8-08C0-CD9A-B155-B889AEA7349B}"/>
                </a:ext>
              </a:extLst>
            </p:cNvPr>
            <p:cNvSpPr/>
            <p:nvPr/>
          </p:nvSpPr>
          <p:spPr>
            <a:xfrm>
              <a:off x="3036362" y="1885079"/>
              <a:ext cx="1856053" cy="1856054"/>
            </a:xfrm>
            <a:prstGeom prst="ellipse">
              <a:avLst/>
            </a:prstGeom>
            <a:solidFill>
              <a:srgbClr val="2F465A"/>
            </a:solidFill>
            <a:ln>
              <a:noFill/>
            </a:ln>
          </p:spPr>
          <p:txBody>
            <a:bodyPr spcFirstLastPara="1" wrap="square" lIns="89139" tIns="44558" rIns="89139" bIns="44558" anchor="ctr" anchorCtr="0">
              <a:noAutofit/>
            </a:bodyPr>
            <a:lstStyle/>
            <a:p>
              <a:pPr algn="ctr" defTabSz="891540">
                <a:buClr>
                  <a:srgbClr val="000000"/>
                </a:buClr>
                <a:defRPr/>
              </a:pPr>
              <a:endParaRPr sz="2535" kern="0" dirty="0">
                <a:solidFill>
                  <a:srgbClr val="C00000"/>
                </a:solidFill>
                <a:latin typeface="Calibri"/>
                <a:ea typeface="Calibri"/>
                <a:cs typeface="Calibri"/>
                <a:sym typeface="Calibri"/>
              </a:endParaRPr>
            </a:p>
          </p:txBody>
        </p:sp>
        <p:sp>
          <p:nvSpPr>
            <p:cNvPr id="43" name="Google Shape;208;p2">
              <a:extLst>
                <a:ext uri="{FF2B5EF4-FFF2-40B4-BE49-F238E27FC236}">
                  <a16:creationId xmlns:a16="http://schemas.microsoft.com/office/drawing/2014/main" id="{9B365FF7-24A9-492D-F6DF-03B8560B41F9}"/>
                </a:ext>
              </a:extLst>
            </p:cNvPr>
            <p:cNvSpPr txBox="1"/>
            <p:nvPr/>
          </p:nvSpPr>
          <p:spPr>
            <a:xfrm>
              <a:off x="3027437" y="2806210"/>
              <a:ext cx="1864977" cy="799330"/>
            </a:xfrm>
            <a:prstGeom prst="rect">
              <a:avLst/>
            </a:prstGeom>
            <a:noFill/>
            <a:ln>
              <a:noFill/>
            </a:ln>
          </p:spPr>
          <p:txBody>
            <a:bodyPr spcFirstLastPara="1" wrap="square" lIns="89139" tIns="44558" rIns="89139" bIns="44558" anchor="t" anchorCtr="0">
              <a:spAutoFit/>
            </a:bodyPr>
            <a:lstStyle/>
            <a:p>
              <a:pPr algn="ctr" defTabSz="891540">
                <a:buClr>
                  <a:srgbClr val="000000"/>
                </a:buClr>
                <a:defRPr/>
              </a:pPr>
              <a:r>
                <a:rPr lang="en-US" sz="2200" b="1" kern="0" dirty="0">
                  <a:solidFill>
                    <a:srgbClr val="FFFFFF"/>
                  </a:solidFill>
                  <a:latin typeface="Roboto"/>
                  <a:ea typeface="Roboto"/>
                  <a:cs typeface="Roboto"/>
                  <a:sym typeface="Roboto"/>
                </a:rPr>
                <a:t>1,500+</a:t>
              </a:r>
              <a:endParaRPr sz="2200" kern="0" dirty="0">
                <a:solidFill>
                  <a:srgbClr val="000000"/>
                </a:solidFill>
                <a:latin typeface="Arial"/>
                <a:cs typeface="Arial"/>
                <a:sym typeface="Arial"/>
              </a:endParaRPr>
            </a:p>
            <a:p>
              <a:pPr algn="ctr" defTabSz="891540">
                <a:buClr>
                  <a:srgbClr val="000000"/>
                </a:buClr>
                <a:defRPr/>
              </a:pPr>
              <a:r>
                <a:rPr lang="en" sz="1200" kern="0" dirty="0">
                  <a:solidFill>
                    <a:srgbClr val="FFFFFF"/>
                  </a:solidFill>
                  <a:latin typeface="Roboto"/>
                  <a:ea typeface="Roboto"/>
                  <a:cs typeface="Roboto"/>
                  <a:sym typeface="Roboto"/>
                </a:rPr>
                <a:t>Employees</a:t>
              </a:r>
              <a:endParaRPr sz="1200" kern="0" dirty="0">
                <a:solidFill>
                  <a:srgbClr val="000000"/>
                </a:solidFill>
                <a:latin typeface="Arial"/>
                <a:cs typeface="Arial"/>
                <a:sym typeface="Arial"/>
              </a:endParaRPr>
            </a:p>
          </p:txBody>
        </p:sp>
        <p:pic>
          <p:nvPicPr>
            <p:cNvPr id="44" name="Google Shape;210;p2">
              <a:extLst>
                <a:ext uri="{FF2B5EF4-FFF2-40B4-BE49-F238E27FC236}">
                  <a16:creationId xmlns:a16="http://schemas.microsoft.com/office/drawing/2014/main" id="{3645F52D-F538-D75D-B204-89EE8C22EC4A}"/>
                </a:ext>
              </a:extLst>
            </p:cNvPr>
            <p:cNvPicPr preferRelativeResize="0"/>
            <p:nvPr/>
          </p:nvPicPr>
          <p:blipFill rotWithShape="1">
            <a:blip r:embed="rId16">
              <a:alphaModFix/>
            </a:blip>
            <a:srcRect/>
            <a:stretch/>
          </p:blipFill>
          <p:spPr>
            <a:xfrm>
              <a:off x="3511315" y="2034374"/>
              <a:ext cx="935701" cy="935701"/>
            </a:xfrm>
            <a:prstGeom prst="rect">
              <a:avLst/>
            </a:prstGeom>
            <a:noFill/>
            <a:ln>
              <a:noFill/>
            </a:ln>
          </p:spPr>
        </p:pic>
      </p:grpSp>
      <p:grpSp>
        <p:nvGrpSpPr>
          <p:cNvPr id="45" name="Group 44">
            <a:extLst>
              <a:ext uri="{FF2B5EF4-FFF2-40B4-BE49-F238E27FC236}">
                <a16:creationId xmlns:a16="http://schemas.microsoft.com/office/drawing/2014/main" id="{7B52212F-B49C-D967-8DF4-2EF23070C562}"/>
              </a:ext>
            </a:extLst>
          </p:cNvPr>
          <p:cNvGrpSpPr/>
          <p:nvPr/>
        </p:nvGrpSpPr>
        <p:grpSpPr>
          <a:xfrm>
            <a:off x="4372468" y="1608111"/>
            <a:ext cx="1438391" cy="1433500"/>
            <a:chOff x="879923" y="1885255"/>
            <a:chExt cx="1874981" cy="1868606"/>
          </a:xfrm>
        </p:grpSpPr>
        <p:sp>
          <p:nvSpPr>
            <p:cNvPr id="46" name="Google Shape;204;p2">
              <a:extLst>
                <a:ext uri="{FF2B5EF4-FFF2-40B4-BE49-F238E27FC236}">
                  <a16:creationId xmlns:a16="http://schemas.microsoft.com/office/drawing/2014/main" id="{C0F35E13-13AA-86CD-C953-E4DA0E414FDA}"/>
                </a:ext>
              </a:extLst>
            </p:cNvPr>
            <p:cNvSpPr/>
            <p:nvPr/>
          </p:nvSpPr>
          <p:spPr>
            <a:xfrm>
              <a:off x="886298" y="1885255"/>
              <a:ext cx="1868606" cy="1868606"/>
            </a:xfrm>
            <a:prstGeom prst="ellipse">
              <a:avLst/>
            </a:prstGeom>
            <a:solidFill>
              <a:srgbClr val="C00000"/>
            </a:solidFill>
            <a:ln>
              <a:noFill/>
            </a:ln>
          </p:spPr>
          <p:txBody>
            <a:bodyPr spcFirstLastPara="1" wrap="square" lIns="89139" tIns="44558" rIns="89139" bIns="44558" anchor="ctr" anchorCtr="0">
              <a:noAutofit/>
            </a:bodyPr>
            <a:lstStyle/>
            <a:p>
              <a:pPr algn="ctr" defTabSz="891540">
                <a:buClr>
                  <a:srgbClr val="000000"/>
                </a:buClr>
                <a:defRPr/>
              </a:pPr>
              <a:endParaRPr sz="2535" kern="0" dirty="0">
                <a:solidFill>
                  <a:srgbClr val="C00000"/>
                </a:solidFill>
                <a:latin typeface="Calibri"/>
                <a:ea typeface="Calibri"/>
                <a:cs typeface="Calibri"/>
                <a:sym typeface="Calibri"/>
              </a:endParaRPr>
            </a:p>
          </p:txBody>
        </p:sp>
        <p:sp>
          <p:nvSpPr>
            <p:cNvPr id="47" name="Google Shape;205;p2">
              <a:extLst>
                <a:ext uri="{FF2B5EF4-FFF2-40B4-BE49-F238E27FC236}">
                  <a16:creationId xmlns:a16="http://schemas.microsoft.com/office/drawing/2014/main" id="{4A8DB634-7426-88B2-27E0-BC14C3412CD7}"/>
                </a:ext>
              </a:extLst>
            </p:cNvPr>
            <p:cNvSpPr txBox="1"/>
            <p:nvPr/>
          </p:nvSpPr>
          <p:spPr>
            <a:xfrm>
              <a:off x="879923" y="2836848"/>
              <a:ext cx="1868605" cy="799331"/>
            </a:xfrm>
            <a:prstGeom prst="rect">
              <a:avLst/>
            </a:prstGeom>
            <a:noFill/>
            <a:ln>
              <a:noFill/>
            </a:ln>
          </p:spPr>
          <p:txBody>
            <a:bodyPr spcFirstLastPara="1" wrap="square" lIns="89139" tIns="44558" rIns="89139" bIns="44558" anchor="t" anchorCtr="0">
              <a:spAutoFit/>
            </a:bodyPr>
            <a:lstStyle/>
            <a:p>
              <a:pPr algn="ctr" defTabSz="891540">
                <a:buClr>
                  <a:srgbClr val="000000"/>
                </a:buClr>
                <a:defRPr/>
              </a:pPr>
              <a:r>
                <a:rPr lang="en" sz="2200" b="1" kern="0" dirty="0">
                  <a:solidFill>
                    <a:srgbClr val="FFFFFF"/>
                  </a:solidFill>
                  <a:latin typeface="Roboto"/>
                  <a:ea typeface="Roboto"/>
                  <a:cs typeface="Roboto"/>
                  <a:sym typeface="Roboto"/>
                </a:rPr>
                <a:t>20,000+</a:t>
              </a:r>
              <a:r>
                <a:rPr lang="en" sz="2200" kern="0" dirty="0">
                  <a:solidFill>
                    <a:srgbClr val="FFFFFF"/>
                  </a:solidFill>
                  <a:latin typeface="Roboto"/>
                  <a:ea typeface="Roboto"/>
                  <a:cs typeface="Roboto"/>
                  <a:sym typeface="Roboto"/>
                </a:rPr>
                <a:t> </a:t>
              </a:r>
            </a:p>
            <a:p>
              <a:pPr algn="ctr" defTabSz="891540">
                <a:buClr>
                  <a:srgbClr val="000000"/>
                </a:buClr>
                <a:defRPr/>
              </a:pPr>
              <a:r>
                <a:rPr lang="en" sz="1200" kern="0" dirty="0">
                  <a:solidFill>
                    <a:srgbClr val="FFFFFF"/>
                  </a:solidFill>
                  <a:latin typeface="Roboto"/>
                  <a:ea typeface="Roboto"/>
                  <a:cs typeface="Roboto"/>
                  <a:sym typeface="Roboto"/>
                </a:rPr>
                <a:t>Clients</a:t>
              </a:r>
              <a:endParaRPr sz="1200" kern="0" dirty="0">
                <a:solidFill>
                  <a:srgbClr val="000000"/>
                </a:solidFill>
                <a:latin typeface="Arial"/>
                <a:cs typeface="Arial"/>
                <a:sym typeface="Arial"/>
              </a:endParaRPr>
            </a:p>
          </p:txBody>
        </p:sp>
        <p:grpSp>
          <p:nvGrpSpPr>
            <p:cNvPr id="48" name="Google Shape;3217;p42">
              <a:extLst>
                <a:ext uri="{FF2B5EF4-FFF2-40B4-BE49-F238E27FC236}">
                  <a16:creationId xmlns:a16="http://schemas.microsoft.com/office/drawing/2014/main" id="{F51AC6F5-36EA-1C1A-6C4C-C253A767532F}"/>
                </a:ext>
              </a:extLst>
            </p:cNvPr>
            <p:cNvGrpSpPr/>
            <p:nvPr/>
          </p:nvGrpSpPr>
          <p:grpSpPr>
            <a:xfrm>
              <a:off x="1500140" y="2059875"/>
              <a:ext cx="669344" cy="790730"/>
              <a:chOff x="6707084" y="3387403"/>
              <a:chExt cx="261145" cy="308504"/>
            </a:xfrm>
          </p:grpSpPr>
          <p:sp>
            <p:nvSpPr>
              <p:cNvPr id="49" name="Google Shape;3218;p42">
                <a:extLst>
                  <a:ext uri="{FF2B5EF4-FFF2-40B4-BE49-F238E27FC236}">
                    <a16:creationId xmlns:a16="http://schemas.microsoft.com/office/drawing/2014/main" id="{83CA7718-886D-1383-529F-FE546D4EF9BA}"/>
                  </a:ext>
                </a:extLst>
              </p:cNvPr>
              <p:cNvSpPr/>
              <p:nvPr/>
            </p:nvSpPr>
            <p:spPr>
              <a:xfrm>
                <a:off x="6726053" y="3542403"/>
                <a:ext cx="68238" cy="153504"/>
              </a:xfrm>
              <a:custGeom>
                <a:avLst/>
                <a:gdLst/>
                <a:ahLst/>
                <a:cxnLst/>
                <a:rect l="l" t="t" r="r" b="b"/>
                <a:pathLst>
                  <a:path w="2144" h="4823" extrusionOk="0">
                    <a:moveTo>
                      <a:pt x="1203" y="286"/>
                    </a:moveTo>
                    <a:cubicBezTo>
                      <a:pt x="1381" y="286"/>
                      <a:pt x="1524" y="417"/>
                      <a:pt x="1524" y="596"/>
                    </a:cubicBezTo>
                    <a:lnTo>
                      <a:pt x="1524" y="893"/>
                    </a:lnTo>
                    <a:cubicBezTo>
                      <a:pt x="1524" y="1143"/>
                      <a:pt x="1310" y="1358"/>
                      <a:pt x="1060" y="1358"/>
                    </a:cubicBezTo>
                    <a:cubicBezTo>
                      <a:pt x="810" y="1358"/>
                      <a:pt x="596" y="1143"/>
                      <a:pt x="596" y="893"/>
                    </a:cubicBezTo>
                    <a:lnTo>
                      <a:pt x="596" y="596"/>
                    </a:lnTo>
                    <a:cubicBezTo>
                      <a:pt x="596" y="417"/>
                      <a:pt x="726" y="286"/>
                      <a:pt x="905" y="286"/>
                    </a:cubicBezTo>
                    <a:close/>
                    <a:moveTo>
                      <a:pt x="1227" y="1643"/>
                    </a:moveTo>
                    <a:lnTo>
                      <a:pt x="1227" y="1715"/>
                    </a:lnTo>
                    <a:cubicBezTo>
                      <a:pt x="1227" y="1774"/>
                      <a:pt x="1238" y="1822"/>
                      <a:pt x="1262" y="1858"/>
                    </a:cubicBezTo>
                    <a:lnTo>
                      <a:pt x="1060" y="2036"/>
                    </a:lnTo>
                    <a:lnTo>
                      <a:pt x="846" y="1846"/>
                    </a:lnTo>
                    <a:cubicBezTo>
                      <a:pt x="881" y="1798"/>
                      <a:pt x="893" y="1762"/>
                      <a:pt x="893" y="1703"/>
                    </a:cubicBezTo>
                    <a:lnTo>
                      <a:pt x="893" y="1643"/>
                    </a:lnTo>
                    <a:close/>
                    <a:moveTo>
                      <a:pt x="1060" y="2036"/>
                    </a:moveTo>
                    <a:cubicBezTo>
                      <a:pt x="1060" y="2048"/>
                      <a:pt x="1057" y="2054"/>
                      <a:pt x="1055" y="2054"/>
                    </a:cubicBezTo>
                    <a:cubicBezTo>
                      <a:pt x="1054" y="2054"/>
                      <a:pt x="1054" y="2048"/>
                      <a:pt x="1060" y="2036"/>
                    </a:cubicBezTo>
                    <a:close/>
                    <a:moveTo>
                      <a:pt x="905" y="0"/>
                    </a:moveTo>
                    <a:cubicBezTo>
                      <a:pt x="584" y="0"/>
                      <a:pt x="310" y="274"/>
                      <a:pt x="310" y="596"/>
                    </a:cubicBezTo>
                    <a:lnTo>
                      <a:pt x="310" y="893"/>
                    </a:lnTo>
                    <a:cubicBezTo>
                      <a:pt x="310" y="1143"/>
                      <a:pt x="429" y="1358"/>
                      <a:pt x="607" y="1489"/>
                    </a:cubicBezTo>
                    <a:lnTo>
                      <a:pt x="607" y="1703"/>
                    </a:lnTo>
                    <a:lnTo>
                      <a:pt x="607" y="1715"/>
                    </a:lnTo>
                    <a:lnTo>
                      <a:pt x="250" y="1893"/>
                    </a:lnTo>
                    <a:cubicBezTo>
                      <a:pt x="107" y="1965"/>
                      <a:pt x="0" y="2120"/>
                      <a:pt x="0" y="2298"/>
                    </a:cubicBezTo>
                    <a:lnTo>
                      <a:pt x="0" y="3632"/>
                    </a:lnTo>
                    <a:cubicBezTo>
                      <a:pt x="0" y="3751"/>
                      <a:pt x="36" y="3870"/>
                      <a:pt x="107" y="3965"/>
                    </a:cubicBezTo>
                    <a:lnTo>
                      <a:pt x="250" y="4179"/>
                    </a:lnTo>
                    <a:cubicBezTo>
                      <a:pt x="286" y="4227"/>
                      <a:pt x="310" y="4298"/>
                      <a:pt x="310" y="4358"/>
                    </a:cubicBezTo>
                    <a:lnTo>
                      <a:pt x="310" y="4679"/>
                    </a:lnTo>
                    <a:cubicBezTo>
                      <a:pt x="310" y="4751"/>
                      <a:pt x="369" y="4822"/>
                      <a:pt x="465" y="4822"/>
                    </a:cubicBezTo>
                    <a:cubicBezTo>
                      <a:pt x="536" y="4822"/>
                      <a:pt x="607" y="4763"/>
                      <a:pt x="607" y="4679"/>
                    </a:cubicBezTo>
                    <a:lnTo>
                      <a:pt x="607" y="4358"/>
                    </a:lnTo>
                    <a:cubicBezTo>
                      <a:pt x="607" y="4239"/>
                      <a:pt x="584" y="4120"/>
                      <a:pt x="512" y="4036"/>
                    </a:cubicBezTo>
                    <a:lnTo>
                      <a:pt x="357" y="3810"/>
                    </a:lnTo>
                    <a:cubicBezTo>
                      <a:pt x="334" y="3763"/>
                      <a:pt x="298" y="3691"/>
                      <a:pt x="298" y="3632"/>
                    </a:cubicBezTo>
                    <a:lnTo>
                      <a:pt x="298" y="2298"/>
                    </a:lnTo>
                    <a:cubicBezTo>
                      <a:pt x="298" y="2239"/>
                      <a:pt x="334" y="2179"/>
                      <a:pt x="381" y="2143"/>
                    </a:cubicBezTo>
                    <a:lnTo>
                      <a:pt x="643" y="2024"/>
                    </a:lnTo>
                    <a:lnTo>
                      <a:pt x="857" y="2251"/>
                    </a:lnTo>
                    <a:cubicBezTo>
                      <a:pt x="929" y="2310"/>
                      <a:pt x="1000" y="2334"/>
                      <a:pt x="1072" y="2334"/>
                    </a:cubicBezTo>
                    <a:cubicBezTo>
                      <a:pt x="1143" y="2334"/>
                      <a:pt x="1227" y="2310"/>
                      <a:pt x="1286" y="2251"/>
                    </a:cubicBezTo>
                    <a:lnTo>
                      <a:pt x="1500" y="2024"/>
                    </a:lnTo>
                    <a:lnTo>
                      <a:pt x="1762" y="2143"/>
                    </a:lnTo>
                    <a:cubicBezTo>
                      <a:pt x="1822" y="2179"/>
                      <a:pt x="1846" y="2239"/>
                      <a:pt x="1846" y="2298"/>
                    </a:cubicBezTo>
                    <a:lnTo>
                      <a:pt x="1846" y="3632"/>
                    </a:lnTo>
                    <a:cubicBezTo>
                      <a:pt x="1846" y="3691"/>
                      <a:pt x="1834" y="3751"/>
                      <a:pt x="1786" y="3810"/>
                    </a:cubicBezTo>
                    <a:lnTo>
                      <a:pt x="1643" y="4036"/>
                    </a:lnTo>
                    <a:cubicBezTo>
                      <a:pt x="1572" y="4144"/>
                      <a:pt x="1536" y="4239"/>
                      <a:pt x="1536" y="4358"/>
                    </a:cubicBezTo>
                    <a:lnTo>
                      <a:pt x="1536" y="4679"/>
                    </a:lnTo>
                    <a:cubicBezTo>
                      <a:pt x="1536" y="4751"/>
                      <a:pt x="1596" y="4822"/>
                      <a:pt x="1679" y="4822"/>
                    </a:cubicBezTo>
                    <a:cubicBezTo>
                      <a:pt x="1750" y="4822"/>
                      <a:pt x="1834" y="4763"/>
                      <a:pt x="1834" y="4679"/>
                    </a:cubicBezTo>
                    <a:lnTo>
                      <a:pt x="1834" y="4358"/>
                    </a:lnTo>
                    <a:cubicBezTo>
                      <a:pt x="1834" y="4298"/>
                      <a:pt x="1846" y="4239"/>
                      <a:pt x="1893" y="4179"/>
                    </a:cubicBezTo>
                    <a:lnTo>
                      <a:pt x="2036" y="3965"/>
                    </a:lnTo>
                    <a:cubicBezTo>
                      <a:pt x="2096" y="3858"/>
                      <a:pt x="2143" y="3751"/>
                      <a:pt x="2143" y="3632"/>
                    </a:cubicBezTo>
                    <a:lnTo>
                      <a:pt x="2143" y="2298"/>
                    </a:lnTo>
                    <a:cubicBezTo>
                      <a:pt x="2096" y="2120"/>
                      <a:pt x="2012" y="1965"/>
                      <a:pt x="1858" y="1893"/>
                    </a:cubicBezTo>
                    <a:lnTo>
                      <a:pt x="1500" y="1715"/>
                    </a:lnTo>
                    <a:lnTo>
                      <a:pt x="1500" y="1703"/>
                    </a:lnTo>
                    <a:lnTo>
                      <a:pt x="1500" y="1489"/>
                    </a:lnTo>
                    <a:cubicBezTo>
                      <a:pt x="1679" y="1358"/>
                      <a:pt x="1798" y="1131"/>
                      <a:pt x="1798" y="893"/>
                    </a:cubicBezTo>
                    <a:lnTo>
                      <a:pt x="1798" y="596"/>
                    </a:lnTo>
                    <a:cubicBezTo>
                      <a:pt x="1798" y="274"/>
                      <a:pt x="1536" y="0"/>
                      <a:pt x="1203"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50" name="Google Shape;3219;p42">
                <a:extLst>
                  <a:ext uri="{FF2B5EF4-FFF2-40B4-BE49-F238E27FC236}">
                    <a16:creationId xmlns:a16="http://schemas.microsoft.com/office/drawing/2014/main" id="{D02DA19F-AE2A-7FEE-249E-D6B4EBC407A4}"/>
                  </a:ext>
                </a:extLst>
              </p:cNvPr>
              <p:cNvSpPr/>
              <p:nvPr/>
            </p:nvSpPr>
            <p:spPr>
              <a:xfrm>
                <a:off x="6803362" y="3542403"/>
                <a:ext cx="68238" cy="153504"/>
              </a:xfrm>
              <a:custGeom>
                <a:avLst/>
                <a:gdLst/>
                <a:ahLst/>
                <a:cxnLst/>
                <a:rect l="l" t="t" r="r" b="b"/>
                <a:pathLst>
                  <a:path w="2144" h="4823" extrusionOk="0">
                    <a:moveTo>
                      <a:pt x="1203" y="286"/>
                    </a:moveTo>
                    <a:cubicBezTo>
                      <a:pt x="1381" y="286"/>
                      <a:pt x="1512" y="417"/>
                      <a:pt x="1512" y="596"/>
                    </a:cubicBezTo>
                    <a:lnTo>
                      <a:pt x="1512" y="893"/>
                    </a:lnTo>
                    <a:cubicBezTo>
                      <a:pt x="1512" y="1143"/>
                      <a:pt x="1310" y="1358"/>
                      <a:pt x="1060" y="1358"/>
                    </a:cubicBezTo>
                    <a:cubicBezTo>
                      <a:pt x="798" y="1358"/>
                      <a:pt x="595" y="1143"/>
                      <a:pt x="595" y="893"/>
                    </a:cubicBezTo>
                    <a:lnTo>
                      <a:pt x="595" y="596"/>
                    </a:lnTo>
                    <a:cubicBezTo>
                      <a:pt x="595" y="417"/>
                      <a:pt x="726" y="286"/>
                      <a:pt x="905" y="286"/>
                    </a:cubicBezTo>
                    <a:close/>
                    <a:moveTo>
                      <a:pt x="1215" y="1643"/>
                    </a:moveTo>
                    <a:lnTo>
                      <a:pt x="1215" y="1715"/>
                    </a:lnTo>
                    <a:cubicBezTo>
                      <a:pt x="1215" y="1774"/>
                      <a:pt x="1226" y="1822"/>
                      <a:pt x="1262" y="1858"/>
                    </a:cubicBezTo>
                    <a:lnTo>
                      <a:pt x="1060" y="2036"/>
                    </a:lnTo>
                    <a:lnTo>
                      <a:pt x="845" y="1846"/>
                    </a:lnTo>
                    <a:cubicBezTo>
                      <a:pt x="881" y="1798"/>
                      <a:pt x="893" y="1762"/>
                      <a:pt x="893" y="1703"/>
                    </a:cubicBezTo>
                    <a:lnTo>
                      <a:pt x="893" y="1643"/>
                    </a:lnTo>
                    <a:close/>
                    <a:moveTo>
                      <a:pt x="1060" y="2036"/>
                    </a:moveTo>
                    <a:cubicBezTo>
                      <a:pt x="1060" y="2048"/>
                      <a:pt x="1054" y="2054"/>
                      <a:pt x="1051" y="2054"/>
                    </a:cubicBezTo>
                    <a:cubicBezTo>
                      <a:pt x="1048" y="2054"/>
                      <a:pt x="1048" y="2048"/>
                      <a:pt x="1060" y="2036"/>
                    </a:cubicBezTo>
                    <a:close/>
                    <a:moveTo>
                      <a:pt x="905" y="0"/>
                    </a:moveTo>
                    <a:cubicBezTo>
                      <a:pt x="583" y="0"/>
                      <a:pt x="310" y="274"/>
                      <a:pt x="310" y="596"/>
                    </a:cubicBezTo>
                    <a:lnTo>
                      <a:pt x="310" y="893"/>
                    </a:lnTo>
                    <a:cubicBezTo>
                      <a:pt x="310" y="1143"/>
                      <a:pt x="429" y="1358"/>
                      <a:pt x="607" y="1489"/>
                    </a:cubicBezTo>
                    <a:lnTo>
                      <a:pt x="607" y="1703"/>
                    </a:lnTo>
                    <a:lnTo>
                      <a:pt x="607" y="1715"/>
                    </a:lnTo>
                    <a:lnTo>
                      <a:pt x="250" y="1893"/>
                    </a:lnTo>
                    <a:cubicBezTo>
                      <a:pt x="107" y="1965"/>
                      <a:pt x="0" y="2120"/>
                      <a:pt x="0" y="2298"/>
                    </a:cubicBezTo>
                    <a:lnTo>
                      <a:pt x="0" y="3632"/>
                    </a:lnTo>
                    <a:cubicBezTo>
                      <a:pt x="0" y="3751"/>
                      <a:pt x="24" y="3870"/>
                      <a:pt x="107" y="3965"/>
                    </a:cubicBezTo>
                    <a:lnTo>
                      <a:pt x="250" y="4179"/>
                    </a:lnTo>
                    <a:cubicBezTo>
                      <a:pt x="286" y="4227"/>
                      <a:pt x="310" y="4298"/>
                      <a:pt x="310" y="4358"/>
                    </a:cubicBezTo>
                    <a:lnTo>
                      <a:pt x="310" y="4679"/>
                    </a:lnTo>
                    <a:cubicBezTo>
                      <a:pt x="310" y="4751"/>
                      <a:pt x="369" y="4822"/>
                      <a:pt x="464" y="4822"/>
                    </a:cubicBezTo>
                    <a:cubicBezTo>
                      <a:pt x="548" y="4822"/>
                      <a:pt x="607" y="4763"/>
                      <a:pt x="607" y="4679"/>
                    </a:cubicBezTo>
                    <a:lnTo>
                      <a:pt x="607" y="4358"/>
                    </a:lnTo>
                    <a:cubicBezTo>
                      <a:pt x="607" y="4239"/>
                      <a:pt x="583" y="4120"/>
                      <a:pt x="500" y="4036"/>
                    </a:cubicBezTo>
                    <a:lnTo>
                      <a:pt x="357" y="3810"/>
                    </a:lnTo>
                    <a:cubicBezTo>
                      <a:pt x="322" y="3763"/>
                      <a:pt x="298" y="3691"/>
                      <a:pt x="298" y="3632"/>
                    </a:cubicBezTo>
                    <a:lnTo>
                      <a:pt x="298" y="2298"/>
                    </a:lnTo>
                    <a:cubicBezTo>
                      <a:pt x="298" y="2239"/>
                      <a:pt x="322" y="2179"/>
                      <a:pt x="381" y="2143"/>
                    </a:cubicBezTo>
                    <a:lnTo>
                      <a:pt x="631" y="2024"/>
                    </a:lnTo>
                    <a:lnTo>
                      <a:pt x="857" y="2251"/>
                    </a:lnTo>
                    <a:cubicBezTo>
                      <a:pt x="917" y="2310"/>
                      <a:pt x="1000" y="2334"/>
                      <a:pt x="1072" y="2334"/>
                    </a:cubicBezTo>
                    <a:cubicBezTo>
                      <a:pt x="1143" y="2334"/>
                      <a:pt x="1215" y="2310"/>
                      <a:pt x="1274" y="2251"/>
                    </a:cubicBezTo>
                    <a:lnTo>
                      <a:pt x="1500" y="2024"/>
                    </a:lnTo>
                    <a:lnTo>
                      <a:pt x="1750" y="2143"/>
                    </a:lnTo>
                    <a:cubicBezTo>
                      <a:pt x="1810" y="2179"/>
                      <a:pt x="1846" y="2239"/>
                      <a:pt x="1846" y="2298"/>
                    </a:cubicBezTo>
                    <a:lnTo>
                      <a:pt x="1846" y="3632"/>
                    </a:lnTo>
                    <a:cubicBezTo>
                      <a:pt x="1846" y="3691"/>
                      <a:pt x="1834" y="3751"/>
                      <a:pt x="1786" y="3810"/>
                    </a:cubicBezTo>
                    <a:lnTo>
                      <a:pt x="1631" y="4036"/>
                    </a:lnTo>
                    <a:cubicBezTo>
                      <a:pt x="1572" y="4144"/>
                      <a:pt x="1524" y="4239"/>
                      <a:pt x="1524" y="4358"/>
                    </a:cubicBezTo>
                    <a:lnTo>
                      <a:pt x="1524" y="4679"/>
                    </a:lnTo>
                    <a:cubicBezTo>
                      <a:pt x="1524" y="4751"/>
                      <a:pt x="1596" y="4822"/>
                      <a:pt x="1679" y="4822"/>
                    </a:cubicBezTo>
                    <a:cubicBezTo>
                      <a:pt x="1750" y="4822"/>
                      <a:pt x="1822" y="4763"/>
                      <a:pt x="1822" y="4679"/>
                    </a:cubicBezTo>
                    <a:lnTo>
                      <a:pt x="1822" y="4358"/>
                    </a:lnTo>
                    <a:cubicBezTo>
                      <a:pt x="1822" y="4298"/>
                      <a:pt x="1846" y="4239"/>
                      <a:pt x="1893" y="4179"/>
                    </a:cubicBezTo>
                    <a:lnTo>
                      <a:pt x="2036" y="3965"/>
                    </a:lnTo>
                    <a:cubicBezTo>
                      <a:pt x="2096" y="3858"/>
                      <a:pt x="2143" y="3751"/>
                      <a:pt x="2143" y="3632"/>
                    </a:cubicBezTo>
                    <a:lnTo>
                      <a:pt x="2143" y="2298"/>
                    </a:lnTo>
                    <a:cubicBezTo>
                      <a:pt x="2096" y="2120"/>
                      <a:pt x="2012" y="1965"/>
                      <a:pt x="1857" y="1893"/>
                    </a:cubicBezTo>
                    <a:lnTo>
                      <a:pt x="1500" y="1715"/>
                    </a:lnTo>
                    <a:lnTo>
                      <a:pt x="1500" y="1703"/>
                    </a:lnTo>
                    <a:lnTo>
                      <a:pt x="1500" y="1489"/>
                    </a:lnTo>
                    <a:cubicBezTo>
                      <a:pt x="1679" y="1358"/>
                      <a:pt x="1798" y="1131"/>
                      <a:pt x="1798" y="893"/>
                    </a:cubicBezTo>
                    <a:lnTo>
                      <a:pt x="1798" y="596"/>
                    </a:lnTo>
                    <a:cubicBezTo>
                      <a:pt x="1798" y="274"/>
                      <a:pt x="1536" y="0"/>
                      <a:pt x="1203"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51" name="Google Shape;3220;p42">
                <a:extLst>
                  <a:ext uri="{FF2B5EF4-FFF2-40B4-BE49-F238E27FC236}">
                    <a16:creationId xmlns:a16="http://schemas.microsoft.com/office/drawing/2014/main" id="{A9DFC6E7-BAAE-B094-825A-58E38AF8E9FD}"/>
                  </a:ext>
                </a:extLst>
              </p:cNvPr>
              <p:cNvSpPr/>
              <p:nvPr/>
            </p:nvSpPr>
            <p:spPr>
              <a:xfrm>
                <a:off x="6880289" y="3542403"/>
                <a:ext cx="68620" cy="153504"/>
              </a:xfrm>
              <a:custGeom>
                <a:avLst/>
                <a:gdLst/>
                <a:ahLst/>
                <a:cxnLst/>
                <a:rect l="l" t="t" r="r" b="b"/>
                <a:pathLst>
                  <a:path w="2156" h="4823" extrusionOk="0">
                    <a:moveTo>
                      <a:pt x="1214" y="286"/>
                    </a:moveTo>
                    <a:cubicBezTo>
                      <a:pt x="1393" y="286"/>
                      <a:pt x="1524" y="417"/>
                      <a:pt x="1524" y="596"/>
                    </a:cubicBezTo>
                    <a:lnTo>
                      <a:pt x="1524" y="893"/>
                    </a:lnTo>
                    <a:cubicBezTo>
                      <a:pt x="1524" y="1143"/>
                      <a:pt x="1322" y="1358"/>
                      <a:pt x="1060" y="1358"/>
                    </a:cubicBezTo>
                    <a:cubicBezTo>
                      <a:pt x="810" y="1358"/>
                      <a:pt x="607" y="1143"/>
                      <a:pt x="607" y="893"/>
                    </a:cubicBezTo>
                    <a:lnTo>
                      <a:pt x="607" y="596"/>
                    </a:lnTo>
                    <a:cubicBezTo>
                      <a:pt x="607" y="417"/>
                      <a:pt x="738" y="286"/>
                      <a:pt x="917" y="286"/>
                    </a:cubicBezTo>
                    <a:close/>
                    <a:moveTo>
                      <a:pt x="1226" y="1643"/>
                    </a:moveTo>
                    <a:lnTo>
                      <a:pt x="1226" y="1715"/>
                    </a:lnTo>
                    <a:cubicBezTo>
                      <a:pt x="1226" y="1774"/>
                      <a:pt x="1238" y="1822"/>
                      <a:pt x="1274" y="1858"/>
                    </a:cubicBezTo>
                    <a:lnTo>
                      <a:pt x="1060" y="2036"/>
                    </a:lnTo>
                    <a:lnTo>
                      <a:pt x="857" y="1846"/>
                    </a:lnTo>
                    <a:cubicBezTo>
                      <a:pt x="881" y="1798"/>
                      <a:pt x="893" y="1762"/>
                      <a:pt x="893" y="1703"/>
                    </a:cubicBezTo>
                    <a:lnTo>
                      <a:pt x="893" y="1643"/>
                    </a:lnTo>
                    <a:close/>
                    <a:moveTo>
                      <a:pt x="917" y="0"/>
                    </a:moveTo>
                    <a:cubicBezTo>
                      <a:pt x="583" y="0"/>
                      <a:pt x="322" y="274"/>
                      <a:pt x="322" y="596"/>
                    </a:cubicBezTo>
                    <a:lnTo>
                      <a:pt x="322" y="893"/>
                    </a:lnTo>
                    <a:cubicBezTo>
                      <a:pt x="322" y="1143"/>
                      <a:pt x="441" y="1358"/>
                      <a:pt x="619" y="1489"/>
                    </a:cubicBezTo>
                    <a:lnTo>
                      <a:pt x="619" y="1703"/>
                    </a:lnTo>
                    <a:lnTo>
                      <a:pt x="619" y="1715"/>
                    </a:lnTo>
                    <a:lnTo>
                      <a:pt x="262" y="1893"/>
                    </a:lnTo>
                    <a:cubicBezTo>
                      <a:pt x="107" y="1965"/>
                      <a:pt x="0" y="2120"/>
                      <a:pt x="0" y="2298"/>
                    </a:cubicBezTo>
                    <a:lnTo>
                      <a:pt x="0" y="3632"/>
                    </a:lnTo>
                    <a:cubicBezTo>
                      <a:pt x="0" y="3751"/>
                      <a:pt x="36" y="3870"/>
                      <a:pt x="107" y="3965"/>
                    </a:cubicBezTo>
                    <a:lnTo>
                      <a:pt x="262" y="4179"/>
                    </a:lnTo>
                    <a:cubicBezTo>
                      <a:pt x="286" y="4227"/>
                      <a:pt x="322" y="4298"/>
                      <a:pt x="322" y="4358"/>
                    </a:cubicBezTo>
                    <a:lnTo>
                      <a:pt x="322" y="4679"/>
                    </a:lnTo>
                    <a:cubicBezTo>
                      <a:pt x="322" y="4751"/>
                      <a:pt x="381" y="4822"/>
                      <a:pt x="464" y="4822"/>
                    </a:cubicBezTo>
                    <a:cubicBezTo>
                      <a:pt x="548" y="4822"/>
                      <a:pt x="619" y="4763"/>
                      <a:pt x="619" y="4679"/>
                    </a:cubicBezTo>
                    <a:lnTo>
                      <a:pt x="619" y="4358"/>
                    </a:lnTo>
                    <a:cubicBezTo>
                      <a:pt x="619" y="4239"/>
                      <a:pt x="583" y="4120"/>
                      <a:pt x="512" y="4036"/>
                    </a:cubicBezTo>
                    <a:lnTo>
                      <a:pt x="369" y="3810"/>
                    </a:lnTo>
                    <a:cubicBezTo>
                      <a:pt x="333" y="3763"/>
                      <a:pt x="298" y="3691"/>
                      <a:pt x="298" y="3632"/>
                    </a:cubicBezTo>
                    <a:lnTo>
                      <a:pt x="298" y="2298"/>
                    </a:lnTo>
                    <a:cubicBezTo>
                      <a:pt x="298" y="2239"/>
                      <a:pt x="333" y="2179"/>
                      <a:pt x="393" y="2143"/>
                    </a:cubicBezTo>
                    <a:lnTo>
                      <a:pt x="643" y="2024"/>
                    </a:lnTo>
                    <a:lnTo>
                      <a:pt x="869" y="2251"/>
                    </a:lnTo>
                    <a:cubicBezTo>
                      <a:pt x="929" y="2310"/>
                      <a:pt x="1000" y="2334"/>
                      <a:pt x="1072" y="2334"/>
                    </a:cubicBezTo>
                    <a:cubicBezTo>
                      <a:pt x="1155" y="2334"/>
                      <a:pt x="1226" y="2310"/>
                      <a:pt x="1286" y="2251"/>
                    </a:cubicBezTo>
                    <a:lnTo>
                      <a:pt x="1512" y="2024"/>
                    </a:lnTo>
                    <a:lnTo>
                      <a:pt x="1762" y="2143"/>
                    </a:lnTo>
                    <a:cubicBezTo>
                      <a:pt x="1822" y="2179"/>
                      <a:pt x="1857" y="2239"/>
                      <a:pt x="1857" y="2298"/>
                    </a:cubicBezTo>
                    <a:lnTo>
                      <a:pt x="1857" y="3632"/>
                    </a:lnTo>
                    <a:cubicBezTo>
                      <a:pt x="1857" y="3691"/>
                      <a:pt x="1834" y="3751"/>
                      <a:pt x="1786" y="3810"/>
                    </a:cubicBezTo>
                    <a:lnTo>
                      <a:pt x="1643" y="4036"/>
                    </a:lnTo>
                    <a:cubicBezTo>
                      <a:pt x="1584" y="4144"/>
                      <a:pt x="1536" y="4239"/>
                      <a:pt x="1536" y="4358"/>
                    </a:cubicBezTo>
                    <a:lnTo>
                      <a:pt x="1536" y="4679"/>
                    </a:lnTo>
                    <a:cubicBezTo>
                      <a:pt x="1536" y="4751"/>
                      <a:pt x="1595" y="4822"/>
                      <a:pt x="1691" y="4822"/>
                    </a:cubicBezTo>
                    <a:cubicBezTo>
                      <a:pt x="1762" y="4822"/>
                      <a:pt x="1834" y="4763"/>
                      <a:pt x="1834" y="4679"/>
                    </a:cubicBezTo>
                    <a:lnTo>
                      <a:pt x="1834" y="4358"/>
                    </a:lnTo>
                    <a:cubicBezTo>
                      <a:pt x="1834" y="4298"/>
                      <a:pt x="1846" y="4239"/>
                      <a:pt x="1893" y="4179"/>
                    </a:cubicBezTo>
                    <a:lnTo>
                      <a:pt x="2048" y="3965"/>
                    </a:lnTo>
                    <a:cubicBezTo>
                      <a:pt x="2107" y="3858"/>
                      <a:pt x="2155" y="3751"/>
                      <a:pt x="2155" y="3632"/>
                    </a:cubicBezTo>
                    <a:lnTo>
                      <a:pt x="2155" y="2298"/>
                    </a:lnTo>
                    <a:cubicBezTo>
                      <a:pt x="2107" y="2120"/>
                      <a:pt x="2012" y="1965"/>
                      <a:pt x="1869" y="1893"/>
                    </a:cubicBezTo>
                    <a:lnTo>
                      <a:pt x="1512" y="1715"/>
                    </a:lnTo>
                    <a:lnTo>
                      <a:pt x="1512" y="1703"/>
                    </a:lnTo>
                    <a:lnTo>
                      <a:pt x="1512" y="1489"/>
                    </a:lnTo>
                    <a:cubicBezTo>
                      <a:pt x="1691" y="1358"/>
                      <a:pt x="1810" y="1131"/>
                      <a:pt x="1810" y="893"/>
                    </a:cubicBezTo>
                    <a:lnTo>
                      <a:pt x="1810" y="596"/>
                    </a:lnTo>
                    <a:cubicBezTo>
                      <a:pt x="1810" y="274"/>
                      <a:pt x="1536" y="0"/>
                      <a:pt x="1214"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52" name="Google Shape;3221;p42">
                <a:extLst>
                  <a:ext uri="{FF2B5EF4-FFF2-40B4-BE49-F238E27FC236}">
                    <a16:creationId xmlns:a16="http://schemas.microsoft.com/office/drawing/2014/main" id="{16D5905B-77ED-8BC0-6548-2706F222E1F7}"/>
                  </a:ext>
                </a:extLst>
              </p:cNvPr>
              <p:cNvSpPr/>
              <p:nvPr/>
            </p:nvSpPr>
            <p:spPr>
              <a:xfrm>
                <a:off x="6707084" y="3387403"/>
                <a:ext cx="261145" cy="183072"/>
              </a:xfrm>
              <a:custGeom>
                <a:avLst/>
                <a:gdLst/>
                <a:ahLst/>
                <a:cxnLst/>
                <a:rect l="l" t="t" r="r" b="b"/>
                <a:pathLst>
                  <a:path w="8205" h="5752" extrusionOk="0">
                    <a:moveTo>
                      <a:pt x="2727" y="536"/>
                    </a:moveTo>
                    <a:cubicBezTo>
                      <a:pt x="2501" y="715"/>
                      <a:pt x="2311" y="953"/>
                      <a:pt x="2132" y="1227"/>
                    </a:cubicBezTo>
                    <a:cubicBezTo>
                      <a:pt x="2013" y="1417"/>
                      <a:pt x="1906" y="1608"/>
                      <a:pt x="1799" y="1822"/>
                    </a:cubicBezTo>
                    <a:lnTo>
                      <a:pt x="1013" y="1822"/>
                    </a:lnTo>
                    <a:cubicBezTo>
                      <a:pt x="1465" y="1239"/>
                      <a:pt x="2037" y="798"/>
                      <a:pt x="2727" y="536"/>
                    </a:cubicBezTo>
                    <a:close/>
                    <a:moveTo>
                      <a:pt x="3930" y="286"/>
                    </a:moveTo>
                    <a:lnTo>
                      <a:pt x="3930" y="1822"/>
                    </a:lnTo>
                    <a:lnTo>
                      <a:pt x="2120" y="1822"/>
                    </a:lnTo>
                    <a:cubicBezTo>
                      <a:pt x="2537" y="941"/>
                      <a:pt x="3192" y="358"/>
                      <a:pt x="3930" y="286"/>
                    </a:cubicBezTo>
                    <a:close/>
                    <a:moveTo>
                      <a:pt x="4216" y="286"/>
                    </a:moveTo>
                    <a:cubicBezTo>
                      <a:pt x="4954" y="346"/>
                      <a:pt x="5609" y="941"/>
                      <a:pt x="6025" y="1822"/>
                    </a:cubicBezTo>
                    <a:lnTo>
                      <a:pt x="4216" y="1822"/>
                    </a:lnTo>
                    <a:lnTo>
                      <a:pt x="4216" y="286"/>
                    </a:lnTo>
                    <a:close/>
                    <a:moveTo>
                      <a:pt x="5418" y="536"/>
                    </a:moveTo>
                    <a:cubicBezTo>
                      <a:pt x="6109" y="798"/>
                      <a:pt x="6704" y="1239"/>
                      <a:pt x="7133" y="1822"/>
                    </a:cubicBezTo>
                    <a:lnTo>
                      <a:pt x="6347" y="1822"/>
                    </a:lnTo>
                    <a:cubicBezTo>
                      <a:pt x="6252" y="1608"/>
                      <a:pt x="6133" y="1406"/>
                      <a:pt x="6014" y="1227"/>
                    </a:cubicBezTo>
                    <a:cubicBezTo>
                      <a:pt x="5835" y="953"/>
                      <a:pt x="5644" y="715"/>
                      <a:pt x="5418" y="536"/>
                    </a:cubicBezTo>
                    <a:close/>
                    <a:moveTo>
                      <a:pt x="1680" y="2108"/>
                    </a:moveTo>
                    <a:cubicBezTo>
                      <a:pt x="1489" y="2668"/>
                      <a:pt x="1370" y="3299"/>
                      <a:pt x="1358" y="3953"/>
                    </a:cubicBezTo>
                    <a:lnTo>
                      <a:pt x="275" y="3953"/>
                    </a:lnTo>
                    <a:cubicBezTo>
                      <a:pt x="299" y="3275"/>
                      <a:pt x="489" y="2656"/>
                      <a:pt x="822" y="2108"/>
                    </a:cubicBezTo>
                    <a:close/>
                    <a:moveTo>
                      <a:pt x="3930" y="2108"/>
                    </a:moveTo>
                    <a:lnTo>
                      <a:pt x="3930" y="3953"/>
                    </a:lnTo>
                    <a:lnTo>
                      <a:pt x="1644" y="3953"/>
                    </a:lnTo>
                    <a:cubicBezTo>
                      <a:pt x="1656" y="3275"/>
                      <a:pt x="1787" y="2656"/>
                      <a:pt x="2001" y="2108"/>
                    </a:cubicBezTo>
                    <a:close/>
                    <a:moveTo>
                      <a:pt x="6145" y="2108"/>
                    </a:moveTo>
                    <a:cubicBezTo>
                      <a:pt x="6359" y="2644"/>
                      <a:pt x="6490" y="3263"/>
                      <a:pt x="6502" y="3953"/>
                    </a:cubicBezTo>
                    <a:lnTo>
                      <a:pt x="4216" y="3953"/>
                    </a:lnTo>
                    <a:lnTo>
                      <a:pt x="4216" y="2108"/>
                    </a:lnTo>
                    <a:close/>
                    <a:moveTo>
                      <a:pt x="7311" y="2108"/>
                    </a:moveTo>
                    <a:cubicBezTo>
                      <a:pt x="7633" y="2644"/>
                      <a:pt x="7847" y="3263"/>
                      <a:pt x="7859" y="3953"/>
                    </a:cubicBezTo>
                    <a:lnTo>
                      <a:pt x="6787" y="3953"/>
                    </a:lnTo>
                    <a:cubicBezTo>
                      <a:pt x="6776" y="3299"/>
                      <a:pt x="6656" y="2668"/>
                      <a:pt x="6442" y="2108"/>
                    </a:cubicBezTo>
                    <a:close/>
                    <a:moveTo>
                      <a:pt x="4085" y="1"/>
                    </a:moveTo>
                    <a:cubicBezTo>
                      <a:pt x="2989" y="1"/>
                      <a:pt x="1965" y="429"/>
                      <a:pt x="1192" y="1191"/>
                    </a:cubicBezTo>
                    <a:cubicBezTo>
                      <a:pt x="418" y="1953"/>
                      <a:pt x="1" y="3001"/>
                      <a:pt x="1" y="4084"/>
                    </a:cubicBezTo>
                    <a:cubicBezTo>
                      <a:pt x="1" y="4632"/>
                      <a:pt x="108" y="5156"/>
                      <a:pt x="310" y="5656"/>
                    </a:cubicBezTo>
                    <a:cubicBezTo>
                      <a:pt x="337" y="5719"/>
                      <a:pt x="392" y="5748"/>
                      <a:pt x="443" y="5748"/>
                    </a:cubicBezTo>
                    <a:cubicBezTo>
                      <a:pt x="459" y="5748"/>
                      <a:pt x="475" y="5745"/>
                      <a:pt x="489" y="5739"/>
                    </a:cubicBezTo>
                    <a:cubicBezTo>
                      <a:pt x="560" y="5704"/>
                      <a:pt x="596" y="5620"/>
                      <a:pt x="560" y="5549"/>
                    </a:cubicBezTo>
                    <a:cubicBezTo>
                      <a:pt x="382" y="5144"/>
                      <a:pt x="299" y="4692"/>
                      <a:pt x="287" y="4227"/>
                    </a:cubicBezTo>
                    <a:lnTo>
                      <a:pt x="1370" y="4227"/>
                    </a:lnTo>
                    <a:lnTo>
                      <a:pt x="1370" y="4394"/>
                    </a:lnTo>
                    <a:cubicBezTo>
                      <a:pt x="1370" y="4465"/>
                      <a:pt x="1442" y="4525"/>
                      <a:pt x="1513" y="4525"/>
                    </a:cubicBezTo>
                    <a:cubicBezTo>
                      <a:pt x="1596" y="4525"/>
                      <a:pt x="1656" y="4454"/>
                      <a:pt x="1656" y="4382"/>
                    </a:cubicBezTo>
                    <a:lnTo>
                      <a:pt x="1656" y="4227"/>
                    </a:lnTo>
                    <a:lnTo>
                      <a:pt x="3942" y="4227"/>
                    </a:lnTo>
                    <a:lnTo>
                      <a:pt x="3942" y="4394"/>
                    </a:lnTo>
                    <a:cubicBezTo>
                      <a:pt x="3942" y="4465"/>
                      <a:pt x="4001" y="4549"/>
                      <a:pt x="4097" y="4549"/>
                    </a:cubicBezTo>
                    <a:cubicBezTo>
                      <a:pt x="4168" y="4549"/>
                      <a:pt x="4240" y="4489"/>
                      <a:pt x="4240" y="4394"/>
                    </a:cubicBezTo>
                    <a:lnTo>
                      <a:pt x="4240" y="4227"/>
                    </a:lnTo>
                    <a:lnTo>
                      <a:pt x="6537" y="4227"/>
                    </a:lnTo>
                    <a:lnTo>
                      <a:pt x="6537" y="4382"/>
                    </a:lnTo>
                    <a:cubicBezTo>
                      <a:pt x="6537" y="4454"/>
                      <a:pt x="6597" y="4525"/>
                      <a:pt x="6668" y="4525"/>
                    </a:cubicBezTo>
                    <a:cubicBezTo>
                      <a:pt x="6740" y="4525"/>
                      <a:pt x="6799" y="4465"/>
                      <a:pt x="6823" y="4394"/>
                    </a:cubicBezTo>
                    <a:lnTo>
                      <a:pt x="6823" y="4227"/>
                    </a:lnTo>
                    <a:lnTo>
                      <a:pt x="7907" y="4227"/>
                    </a:lnTo>
                    <a:cubicBezTo>
                      <a:pt x="7895" y="4692"/>
                      <a:pt x="7788" y="5120"/>
                      <a:pt x="7621" y="5549"/>
                    </a:cubicBezTo>
                    <a:cubicBezTo>
                      <a:pt x="7597" y="5632"/>
                      <a:pt x="7621" y="5704"/>
                      <a:pt x="7692" y="5739"/>
                    </a:cubicBezTo>
                    <a:cubicBezTo>
                      <a:pt x="7704" y="5751"/>
                      <a:pt x="7728" y="5751"/>
                      <a:pt x="7752" y="5751"/>
                    </a:cubicBezTo>
                    <a:cubicBezTo>
                      <a:pt x="7811" y="5751"/>
                      <a:pt x="7859" y="5716"/>
                      <a:pt x="7895" y="5656"/>
                    </a:cubicBezTo>
                    <a:cubicBezTo>
                      <a:pt x="8097" y="5168"/>
                      <a:pt x="8204" y="4632"/>
                      <a:pt x="8204" y="4084"/>
                    </a:cubicBezTo>
                    <a:cubicBezTo>
                      <a:pt x="8157" y="3001"/>
                      <a:pt x="7740" y="1965"/>
                      <a:pt x="6966" y="1191"/>
                    </a:cubicBezTo>
                    <a:cubicBezTo>
                      <a:pt x="6192" y="417"/>
                      <a:pt x="5168" y="1"/>
                      <a:pt x="4085"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grpSp>
      </p:grpSp>
      <p:pic>
        <p:nvPicPr>
          <p:cNvPr id="53" name="Picture 52">
            <a:extLst>
              <a:ext uri="{FF2B5EF4-FFF2-40B4-BE49-F238E27FC236}">
                <a16:creationId xmlns:a16="http://schemas.microsoft.com/office/drawing/2014/main" id="{877DC23A-B590-02BC-0F7C-34BAD7F795B3}"/>
              </a:ext>
            </a:extLst>
          </p:cNvPr>
          <p:cNvPicPr>
            <a:picLocks noChangeAspect="1"/>
          </p:cNvPicPr>
          <p:nvPr/>
        </p:nvPicPr>
        <p:blipFill>
          <a:blip r:embed="rId17" cstate="screen">
            <a:extLst>
              <a:ext uri="{28A0092B-C50C-407E-A947-70E740481C1C}">
                <a14:useLocalDpi xmlns:a14="http://schemas.microsoft.com/office/drawing/2010/main" val="0"/>
              </a:ext>
            </a:extLst>
          </a:blip>
          <a:stretch>
            <a:fillRect/>
          </a:stretch>
        </p:blipFill>
        <p:spPr>
          <a:xfrm>
            <a:off x="9566098" y="1544975"/>
            <a:ext cx="1583813" cy="1583813"/>
          </a:xfrm>
          <a:prstGeom prst="rect">
            <a:avLst/>
          </a:prstGeom>
        </p:spPr>
      </p:pic>
      <p:cxnSp>
        <p:nvCxnSpPr>
          <p:cNvPr id="54" name="Straight Connector 53">
            <a:extLst>
              <a:ext uri="{FF2B5EF4-FFF2-40B4-BE49-F238E27FC236}">
                <a16:creationId xmlns:a16="http://schemas.microsoft.com/office/drawing/2014/main" id="{C2495C31-A30D-5638-210B-63B0114A165A}"/>
              </a:ext>
            </a:extLst>
          </p:cNvPr>
          <p:cNvCxnSpPr>
            <a:cxnSpLocks/>
          </p:cNvCxnSpPr>
          <p:nvPr/>
        </p:nvCxnSpPr>
        <p:spPr>
          <a:xfrm flipH="1">
            <a:off x="3880626" y="3296859"/>
            <a:ext cx="7735132"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0B9F49D-85A9-1DC2-6034-C8C185178B34}"/>
              </a:ext>
            </a:extLst>
          </p:cNvPr>
          <p:cNvCxnSpPr>
            <a:cxnSpLocks/>
          </p:cNvCxnSpPr>
          <p:nvPr/>
        </p:nvCxnSpPr>
        <p:spPr>
          <a:xfrm flipH="1">
            <a:off x="3880626" y="4824672"/>
            <a:ext cx="7735132"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6" name="Picture 55">
            <a:extLst>
              <a:ext uri="{FF2B5EF4-FFF2-40B4-BE49-F238E27FC236}">
                <a16:creationId xmlns:a16="http://schemas.microsoft.com/office/drawing/2014/main" id="{0A154F40-CDBD-2599-C436-1BA4FEE730AF}"/>
              </a:ext>
            </a:extLst>
          </p:cNvPr>
          <p:cNvPicPr>
            <a:picLocks noChangeAspect="1"/>
          </p:cNvPicPr>
          <p:nvPr/>
        </p:nvPicPr>
        <p:blipFill>
          <a:blip r:embed="rId18" cstate="screen">
            <a:extLst>
              <a:ext uri="{28A0092B-C50C-407E-A947-70E740481C1C}">
                <a14:useLocalDpi xmlns:a14="http://schemas.microsoft.com/office/drawing/2010/main" val="0"/>
              </a:ext>
            </a:extLst>
          </a:blip>
          <a:stretch>
            <a:fillRect/>
          </a:stretch>
        </p:blipFill>
        <p:spPr>
          <a:xfrm>
            <a:off x="4372879" y="5100478"/>
            <a:ext cx="1432677" cy="1080238"/>
          </a:xfrm>
          <a:prstGeom prst="rect">
            <a:avLst/>
          </a:prstGeom>
        </p:spPr>
      </p:pic>
      <p:pic>
        <p:nvPicPr>
          <p:cNvPr id="57" name="Picture 56">
            <a:extLst>
              <a:ext uri="{FF2B5EF4-FFF2-40B4-BE49-F238E27FC236}">
                <a16:creationId xmlns:a16="http://schemas.microsoft.com/office/drawing/2014/main" id="{992CBD0E-B7B2-F576-9818-22BF91F74205}"/>
              </a:ext>
            </a:extLst>
          </p:cNvPr>
          <p:cNvPicPr>
            <a:picLocks noChangeAspect="1"/>
          </p:cNvPicPr>
          <p:nvPr/>
        </p:nvPicPr>
        <p:blipFill>
          <a:blip r:embed="rId19" cstate="screen">
            <a:extLst>
              <a:ext uri="{28A0092B-C50C-407E-A947-70E740481C1C}">
                <a14:useLocalDpi xmlns:a14="http://schemas.microsoft.com/office/drawing/2010/main" val="0"/>
              </a:ext>
            </a:extLst>
          </a:blip>
          <a:stretch>
            <a:fillRect/>
          </a:stretch>
        </p:blipFill>
        <p:spPr>
          <a:xfrm>
            <a:off x="6786219" y="5090996"/>
            <a:ext cx="1998185" cy="1125644"/>
          </a:xfrm>
          <a:prstGeom prst="rect">
            <a:avLst/>
          </a:prstGeom>
        </p:spPr>
      </p:pic>
      <p:pic>
        <p:nvPicPr>
          <p:cNvPr id="58" name="Picture 57">
            <a:extLst>
              <a:ext uri="{FF2B5EF4-FFF2-40B4-BE49-F238E27FC236}">
                <a16:creationId xmlns:a16="http://schemas.microsoft.com/office/drawing/2014/main" id="{6B36F495-21F7-1F71-8CA1-3E944A38480F}"/>
              </a:ext>
            </a:extLst>
          </p:cNvPr>
          <p:cNvPicPr>
            <a:picLocks noChangeAspect="1"/>
          </p:cNvPicPr>
          <p:nvPr/>
        </p:nvPicPr>
        <p:blipFill>
          <a:blip r:embed="rId20" cstate="screen">
            <a:extLst>
              <a:ext uri="{28A0092B-C50C-407E-A947-70E740481C1C}">
                <a14:useLocalDpi xmlns:a14="http://schemas.microsoft.com/office/drawing/2010/main" val="0"/>
              </a:ext>
            </a:extLst>
          </a:blip>
          <a:stretch>
            <a:fillRect/>
          </a:stretch>
        </p:blipFill>
        <p:spPr>
          <a:xfrm>
            <a:off x="9609089" y="5100478"/>
            <a:ext cx="1497829" cy="1096679"/>
          </a:xfrm>
          <a:prstGeom prst="rect">
            <a:avLst/>
          </a:prstGeom>
        </p:spPr>
      </p:pic>
    </p:spTree>
    <p:extLst>
      <p:ext uri="{BB962C8B-B14F-4D97-AF65-F5344CB8AC3E}">
        <p14:creationId xmlns:p14="http://schemas.microsoft.com/office/powerpoint/2010/main" val="191425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withEffect">
                                  <p:stCondLst>
                                    <p:cond delay="0"/>
                                  </p:stCondLst>
                                  <p:childTnLst>
                                    <p:animEffect transition="out" filter="fade">
                                      <p:cBhvr>
                                        <p:cTn id="6" dur="300" tmFilter="0, 0; .2, .5; .8, .5; 1, 0"/>
                                        <p:tgtEl>
                                          <p:spTgt spid="45"/>
                                        </p:tgtEl>
                                      </p:cBhvr>
                                    </p:animEffect>
                                    <p:animScale>
                                      <p:cBhvr>
                                        <p:cTn id="7" dur="150" autoRev="1" fill="hold"/>
                                        <p:tgtEl>
                                          <p:spTgt spid="45"/>
                                        </p:tgtEl>
                                      </p:cBhvr>
                                      <p:by x="105000" y="105000"/>
                                    </p:animScale>
                                  </p:childTnLst>
                                </p:cTn>
                              </p:par>
                              <p:par>
                                <p:cTn id="8" presetID="26" presetClass="emph" presetSubtype="0" fill="hold" nodeType="withEffect">
                                  <p:stCondLst>
                                    <p:cond delay="0"/>
                                  </p:stCondLst>
                                  <p:childTnLst>
                                    <p:animEffect transition="out" filter="fade">
                                      <p:cBhvr>
                                        <p:cTn id="9" dur="300" tmFilter="0, 0; .2, .5; .8, .5; 1, 0"/>
                                        <p:tgtEl>
                                          <p:spTgt spid="40"/>
                                        </p:tgtEl>
                                      </p:cBhvr>
                                    </p:animEffect>
                                    <p:animScale>
                                      <p:cBhvr>
                                        <p:cTn id="10" dur="150" autoRev="1" fill="hold"/>
                                        <p:tgtEl>
                                          <p:spTgt spid="40"/>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53"/>
                                        </p:tgtEl>
                                      </p:cBhvr>
                                    </p:animEffect>
                                    <p:animScale>
                                      <p:cBhvr>
                                        <p:cTn id="13" dur="250" autoRev="1" fill="hold"/>
                                        <p:tgtEl>
                                          <p:spTgt spid="53"/>
                                        </p:tgtEl>
                                      </p:cBhvr>
                                      <p:by x="105000" y="105000"/>
                                    </p:animScale>
                                  </p:childTnLst>
                                </p:cTn>
                              </p:par>
                              <p:par>
                                <p:cTn id="14" presetID="22" presetClass="entr" presetSubtype="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500"/>
                                        <p:tgtEl>
                                          <p:spTgt spid="3"/>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up)">
                                      <p:cBhvr>
                                        <p:cTn id="19" dur="500"/>
                                        <p:tgtEl>
                                          <p:spTgt spid="36"/>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up)">
                                      <p:cBhvr>
                                        <p:cTn id="2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6" grpId="0"/>
      <p:bldP spid="3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B5E5D-BE2B-1E7F-4D13-59F98889271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AF69A0-7FC8-FAF5-6137-C5AF9D5A945E}"/>
              </a:ext>
            </a:extLst>
          </p:cNvPr>
          <p:cNvSpPr>
            <a:spLocks noGrp="1"/>
          </p:cNvSpPr>
          <p:nvPr>
            <p:ph type="title"/>
          </p:nvPr>
        </p:nvSpPr>
        <p:spPr/>
        <p:txBody>
          <a:bodyPr>
            <a:normAutofit fontScale="90000"/>
          </a:bodyPr>
          <a:lstStyle/>
          <a:p>
            <a:r>
              <a:rPr lang="en-IN" dirty="0">
                <a:solidFill>
                  <a:schemeClr val="tx1">
                    <a:lumMod val="75000"/>
                    <a:lumOff val="25000"/>
                  </a:schemeClr>
                </a:solidFill>
                <a:latin typeface="Roboto" panose="02000000000000000000" pitchFamily="2" charset="0"/>
                <a:ea typeface="Roboto" panose="02000000000000000000" pitchFamily="2" charset="0"/>
              </a:rPr>
              <a:t>About InCorp</a:t>
            </a:r>
          </a:p>
        </p:txBody>
      </p:sp>
      <p:sp>
        <p:nvSpPr>
          <p:cNvPr id="36" name="TextBox 35">
            <a:extLst>
              <a:ext uri="{FF2B5EF4-FFF2-40B4-BE49-F238E27FC236}">
                <a16:creationId xmlns:a16="http://schemas.microsoft.com/office/drawing/2014/main" id="{A6721363-202E-405F-8978-691103C69F07}"/>
              </a:ext>
            </a:extLst>
          </p:cNvPr>
          <p:cNvSpPr txBox="1"/>
          <p:nvPr/>
        </p:nvSpPr>
        <p:spPr>
          <a:xfrm>
            <a:off x="4657889" y="1969922"/>
            <a:ext cx="6456425" cy="3893374"/>
          </a:xfrm>
          <a:prstGeom prst="rect">
            <a:avLst/>
          </a:prstGeom>
          <a:noFill/>
        </p:spPr>
        <p:txBody>
          <a:bodyPr wrap="square">
            <a:spAutoFit/>
          </a:bodyPr>
          <a:lstStyle/>
          <a:p>
            <a:pPr algn="just"/>
            <a:r>
              <a:rPr lang="en-US" sz="1300" b="1" i="0" u="none" strike="noStrike" baseline="0" dirty="0">
                <a:solidFill>
                  <a:schemeClr val="tx1">
                    <a:lumMod val="75000"/>
                    <a:lumOff val="25000"/>
                  </a:schemeClr>
                </a:solidFill>
                <a:latin typeface="Roboto" panose="02000000000000000000" pitchFamily="2" charset="0"/>
                <a:ea typeface="Roboto" panose="02000000000000000000" pitchFamily="2" charset="0"/>
              </a:rPr>
              <a:t>In.Corp Business Advisory Pte Ltd,</a:t>
            </a:r>
            <a:r>
              <a:rPr lang="en-US" sz="1300" i="0" u="none" strike="noStrike" baseline="0" dirty="0">
                <a:solidFill>
                  <a:schemeClr val="tx1">
                    <a:lumMod val="75000"/>
                    <a:lumOff val="25000"/>
                  </a:schemeClr>
                </a:solidFill>
                <a:latin typeface="Roboto" panose="02000000000000000000" pitchFamily="2" charset="0"/>
                <a:ea typeface="Roboto" panose="02000000000000000000" pitchFamily="2" charset="0"/>
              </a:rPr>
              <a:t> a subsidiary </a:t>
            </a:r>
            <a:r>
              <a:rPr lang="en-US" sz="1300" dirty="0">
                <a:solidFill>
                  <a:schemeClr val="tx1">
                    <a:lumMod val="75000"/>
                    <a:lumOff val="25000"/>
                  </a:schemeClr>
                </a:solidFill>
                <a:latin typeface="Roboto" panose="02000000000000000000" pitchFamily="2" charset="0"/>
                <a:ea typeface="Roboto" panose="02000000000000000000" pitchFamily="2" charset="0"/>
              </a:rPr>
              <a:t>of InCorp Global Pte Ltd has been in </a:t>
            </a:r>
            <a:r>
              <a:rPr lang="en-US" sz="1300" dirty="0">
                <a:latin typeface="Roboto" panose="02000000000000000000" pitchFamily="2" charset="0"/>
                <a:ea typeface="Roboto" panose="02000000000000000000" pitchFamily="2" charset="0"/>
              </a:rPr>
              <a:t>operations since 28 October 2008. InCorp Business Advisory has experience in providing internal audit services since 2016.</a:t>
            </a:r>
          </a:p>
          <a:p>
            <a:pPr algn="just"/>
            <a:endParaRPr lang="en-US" sz="1300" b="1" i="0" u="none" strike="noStrike" baseline="0" dirty="0">
              <a:solidFill>
                <a:schemeClr val="tx1">
                  <a:lumMod val="75000"/>
                  <a:lumOff val="25000"/>
                </a:schemeClr>
              </a:solidFill>
              <a:latin typeface="Roboto" panose="02000000000000000000" pitchFamily="2" charset="0"/>
              <a:ea typeface="Roboto" panose="02000000000000000000" pitchFamily="2" charset="0"/>
            </a:endParaRPr>
          </a:p>
          <a:p>
            <a:pPr algn="just"/>
            <a:r>
              <a:rPr lang="en-US" sz="1300" b="1" i="0" u="none" strike="noStrike" baseline="0" dirty="0">
                <a:solidFill>
                  <a:schemeClr val="tx1">
                    <a:lumMod val="75000"/>
                    <a:lumOff val="25000"/>
                  </a:schemeClr>
                </a:solidFill>
                <a:latin typeface="Roboto" panose="02000000000000000000" pitchFamily="2" charset="0"/>
                <a:ea typeface="Roboto" panose="02000000000000000000" pitchFamily="2" charset="0"/>
              </a:rPr>
              <a:t>InCorp Global</a:t>
            </a:r>
            <a:r>
              <a:rPr lang="en-US" sz="1300" b="0" i="0" u="none" strike="noStrike" baseline="0" dirty="0">
                <a:solidFill>
                  <a:schemeClr val="tx1">
                    <a:lumMod val="75000"/>
                    <a:lumOff val="25000"/>
                  </a:schemeClr>
                </a:solidFill>
                <a:latin typeface="Roboto" panose="02000000000000000000" pitchFamily="2" charset="0"/>
                <a:ea typeface="Roboto" panose="02000000000000000000" pitchFamily="2" charset="0"/>
              </a:rPr>
              <a:t>, an </a:t>
            </a:r>
            <a:r>
              <a:rPr lang="en-US" sz="1300" i="0" u="sng" strike="noStrike" baseline="0" dirty="0">
                <a:solidFill>
                  <a:srgbClr val="C00000"/>
                </a:solidFill>
                <a:latin typeface="Roboto" panose="02000000000000000000" pitchFamily="2" charset="0"/>
                <a:ea typeface="Roboto" panose="02000000000000000000" pitchFamily="2" charset="0"/>
                <a:hlinkClick r:id="rId2">
                  <a:extLst>
                    <a:ext uri="{A12FA001-AC4F-418D-AE19-62706E023703}">
                      <ahyp:hlinkClr xmlns:ahyp="http://schemas.microsoft.com/office/drawing/2018/hyperlinkcolor" val="tx"/>
                    </a:ext>
                  </a:extLst>
                </a:hlinkClick>
              </a:rPr>
              <a:t>Ascentium</a:t>
            </a:r>
            <a:r>
              <a:rPr lang="en-US" sz="1300" b="0" i="0" u="none" strike="noStrike" baseline="0" dirty="0">
                <a:solidFill>
                  <a:schemeClr val="tx1">
                    <a:lumMod val="75000"/>
                    <a:lumOff val="25000"/>
                  </a:schemeClr>
                </a:solidFill>
                <a:latin typeface="Roboto" panose="02000000000000000000" pitchFamily="2" charset="0"/>
                <a:ea typeface="Roboto" panose="02000000000000000000" pitchFamily="2" charset="0"/>
              </a:rPr>
              <a:t> Company, </a:t>
            </a:r>
            <a:r>
              <a:rPr lang="en-US" sz="1300" dirty="0">
                <a:latin typeface="Roboto" panose="02000000000000000000" pitchFamily="2" charset="0"/>
                <a:ea typeface="Roboto" panose="02000000000000000000" pitchFamily="2" charset="0"/>
              </a:rPr>
              <a:t>is a leading corporate services provider in Asia Pacific. Headquartered in Singapore, we have a strong regional presence across 9 strategic markets: Singapore, Australia, India, Indonesia, Malaysia, Vietnam, the Philippines, mainland China, and Hong Kong SAR.</a:t>
            </a:r>
          </a:p>
          <a:p>
            <a:pPr algn="just"/>
            <a:r>
              <a:rPr lang="en-US" sz="1300" dirty="0">
                <a:latin typeface="Roboto" panose="02000000000000000000" pitchFamily="2" charset="0"/>
                <a:ea typeface="Roboto" panose="02000000000000000000" pitchFamily="2" charset="0"/>
              </a:rPr>
              <a:t> </a:t>
            </a:r>
          </a:p>
          <a:p>
            <a:pPr algn="just"/>
            <a:r>
              <a:rPr lang="en-US" sz="1300" dirty="0">
                <a:latin typeface="Roboto" panose="02000000000000000000" pitchFamily="2" charset="0"/>
                <a:ea typeface="Roboto" panose="02000000000000000000" pitchFamily="2" charset="0"/>
              </a:rPr>
              <a:t>With a team of over 1,500 dedicated professionals serving over 20,000 clients, we offer a comprehensive suite of services, including corporate secretarial, accounting, tax, payroll, HR, and other business advisory solutions.</a:t>
            </a:r>
          </a:p>
          <a:p>
            <a:pPr algn="just"/>
            <a:r>
              <a:rPr lang="en-US" sz="1300" dirty="0">
                <a:latin typeface="Roboto" panose="02000000000000000000" pitchFamily="2" charset="0"/>
                <a:ea typeface="Roboto" panose="02000000000000000000" pitchFamily="2" charset="0"/>
              </a:rPr>
              <a:t> </a:t>
            </a:r>
          </a:p>
          <a:p>
            <a:pPr algn="just"/>
            <a:r>
              <a:rPr lang="en-US" sz="1300" dirty="0">
                <a:latin typeface="Roboto" panose="02000000000000000000" pitchFamily="2" charset="0"/>
                <a:ea typeface="Roboto" panose="02000000000000000000" pitchFamily="2" charset="0"/>
              </a:rPr>
              <a:t>As part of </a:t>
            </a:r>
            <a:r>
              <a:rPr lang="en-US" sz="1300" b="1" dirty="0">
                <a:latin typeface="Roboto" panose="02000000000000000000" pitchFamily="2" charset="0"/>
                <a:ea typeface="Roboto" panose="02000000000000000000" pitchFamily="2" charset="0"/>
              </a:rPr>
              <a:t>Ascentium</a:t>
            </a:r>
            <a:r>
              <a:rPr lang="en-US" sz="1300" dirty="0">
                <a:latin typeface="Roboto" panose="02000000000000000000" pitchFamily="2" charset="0"/>
                <a:ea typeface="Roboto" panose="02000000000000000000" pitchFamily="2" charset="0"/>
              </a:rPr>
              <a:t>, a global business services platform with more than 2,300 professionals across 44 cities in 22 markets spanning Asia-Pacific (APAC), the Middle East, the Americas, and Europe, supporting over 50,000 client entities, we are expanding opportunities for our clients and partners by offering access to new markets and an even broader range of corporate services, finance and accounting, HR services, as well as fiduciary and trust services.</a:t>
            </a:r>
          </a:p>
        </p:txBody>
      </p:sp>
      <p:grpSp>
        <p:nvGrpSpPr>
          <p:cNvPr id="8" name="Group 7">
            <a:extLst>
              <a:ext uri="{FF2B5EF4-FFF2-40B4-BE49-F238E27FC236}">
                <a16:creationId xmlns:a16="http://schemas.microsoft.com/office/drawing/2014/main" id="{91E90F6B-E049-A758-C731-1F1609F30F08}"/>
              </a:ext>
            </a:extLst>
          </p:cNvPr>
          <p:cNvGrpSpPr/>
          <p:nvPr/>
        </p:nvGrpSpPr>
        <p:grpSpPr>
          <a:xfrm>
            <a:off x="1400584" y="2478795"/>
            <a:ext cx="2798285" cy="2688116"/>
            <a:chOff x="1520327" y="2588964"/>
            <a:chExt cx="2798285" cy="2688116"/>
          </a:xfrm>
        </p:grpSpPr>
        <p:sp>
          <p:nvSpPr>
            <p:cNvPr id="7" name="Rectangle 6">
              <a:extLst>
                <a:ext uri="{FF2B5EF4-FFF2-40B4-BE49-F238E27FC236}">
                  <a16:creationId xmlns:a16="http://schemas.microsoft.com/office/drawing/2014/main" id="{BF7E3CFB-8C61-060B-386B-503AE668B36B}"/>
                </a:ext>
              </a:extLst>
            </p:cNvPr>
            <p:cNvSpPr/>
            <p:nvPr/>
          </p:nvSpPr>
          <p:spPr>
            <a:xfrm>
              <a:off x="1520327" y="2588964"/>
              <a:ext cx="2798285" cy="2688116"/>
            </a:xfrm>
            <a:prstGeom prst="rect">
              <a:avLst/>
            </a:prstGeom>
            <a:solidFill>
              <a:schemeClr val="bg1"/>
            </a:solidFill>
            <a:ln>
              <a:noFill/>
            </a:ln>
            <a:effectLst>
              <a:outerShdw blurRad="63500" sx="102000" sy="102000" algn="ctr" rotWithShape="0">
                <a:prstClr val="black">
                  <a:alpha val="2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45" name="Picture 44">
              <a:extLst>
                <a:ext uri="{FF2B5EF4-FFF2-40B4-BE49-F238E27FC236}">
                  <a16:creationId xmlns:a16="http://schemas.microsoft.com/office/drawing/2014/main" id="{D9BD3ED6-6F15-555C-82D4-74823BF4B412}"/>
                </a:ext>
              </a:extLst>
            </p:cNvPr>
            <p:cNvPicPr>
              <a:picLocks noChangeAspect="1"/>
            </p:cNvPicPr>
            <p:nvPr/>
          </p:nvPicPr>
          <p:blipFill>
            <a:blip r:embed="rId3"/>
            <a:srcRect/>
            <a:stretch/>
          </p:blipFill>
          <p:spPr>
            <a:xfrm>
              <a:off x="1870490" y="3511383"/>
              <a:ext cx="2127171" cy="827895"/>
            </a:xfrm>
            <a:prstGeom prst="rect">
              <a:avLst/>
            </a:prstGeom>
          </p:spPr>
        </p:pic>
      </p:grpSp>
    </p:spTree>
    <p:extLst>
      <p:ext uri="{BB962C8B-B14F-4D97-AF65-F5344CB8AC3E}">
        <p14:creationId xmlns:p14="http://schemas.microsoft.com/office/powerpoint/2010/main" val="346983016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Vertical)">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left)">
                                      <p:cBhvr>
                                        <p:cTn id="1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2ACA518D-8A0E-22F6-8A1F-B2F63DE87896}"/>
              </a:ext>
            </a:extLst>
          </p:cNvPr>
          <p:cNvGraphicFramePr>
            <a:graphicFrameLocks noGrp="1"/>
          </p:cNvGraphicFramePr>
          <p:nvPr/>
        </p:nvGraphicFramePr>
        <p:xfrm>
          <a:off x="500709" y="4262533"/>
          <a:ext cx="11153456" cy="1752600"/>
        </p:xfrm>
        <a:graphic>
          <a:graphicData uri="http://schemas.openxmlformats.org/drawingml/2006/table">
            <a:tbl>
              <a:tblPr firstRow="1" bandRow="1">
                <a:tableStyleId>{93296810-A885-4BE3-A3E7-6D5BEEA58F35}</a:tableStyleId>
              </a:tblPr>
              <a:tblGrid>
                <a:gridCol w="2788364">
                  <a:extLst>
                    <a:ext uri="{9D8B030D-6E8A-4147-A177-3AD203B41FA5}">
                      <a16:colId xmlns:a16="http://schemas.microsoft.com/office/drawing/2014/main" val="1289077118"/>
                    </a:ext>
                  </a:extLst>
                </a:gridCol>
                <a:gridCol w="2788364">
                  <a:extLst>
                    <a:ext uri="{9D8B030D-6E8A-4147-A177-3AD203B41FA5}">
                      <a16:colId xmlns:a16="http://schemas.microsoft.com/office/drawing/2014/main" val="1854855569"/>
                    </a:ext>
                  </a:extLst>
                </a:gridCol>
                <a:gridCol w="2788364">
                  <a:extLst>
                    <a:ext uri="{9D8B030D-6E8A-4147-A177-3AD203B41FA5}">
                      <a16:colId xmlns:a16="http://schemas.microsoft.com/office/drawing/2014/main" val="977610032"/>
                    </a:ext>
                  </a:extLst>
                </a:gridCol>
                <a:gridCol w="2788364">
                  <a:extLst>
                    <a:ext uri="{9D8B030D-6E8A-4147-A177-3AD203B41FA5}">
                      <a16:colId xmlns:a16="http://schemas.microsoft.com/office/drawing/2014/main" val="2939065486"/>
                    </a:ext>
                  </a:extLst>
                </a:gridCol>
              </a:tblGrid>
              <a:tr h="984694">
                <a:tc>
                  <a:txBody>
                    <a:bodyPr/>
                    <a:lstStyle/>
                    <a:p>
                      <a:pPr algn="ctr"/>
                      <a:endParaRPr lang="en-IN" sz="8000" dirty="0">
                        <a:solidFill>
                          <a:schemeClr val="accent2"/>
                        </a:solidFill>
                        <a:latin typeface="Arial Black" panose="020B0A04020102020204" pitchFamily="34" charset="0"/>
                      </a:endParaRPr>
                    </a:p>
                  </a:txBody>
                  <a:tcPr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8000" dirty="0">
                        <a:solidFill>
                          <a:schemeClr val="accent5"/>
                        </a:solidFill>
                        <a:latin typeface="Arial Black" panose="020B0A04020102020204" pitchFamily="34" charset="0"/>
                      </a:endParaRPr>
                    </a:p>
                  </a:txBody>
                  <a:tcPr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8000" dirty="0">
                        <a:solidFill>
                          <a:schemeClr val="tx2"/>
                        </a:solidFill>
                        <a:latin typeface="Arial Black" panose="020B0A04020102020204" pitchFamily="34" charset="0"/>
                      </a:endParaRPr>
                    </a:p>
                  </a:txBody>
                  <a:tcPr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8000" dirty="0">
                        <a:solidFill>
                          <a:schemeClr val="accent1"/>
                        </a:solidFill>
                        <a:latin typeface="Arial Black" panose="020B0A04020102020204" pitchFamily="34" charset="0"/>
                      </a:endParaRPr>
                    </a:p>
                  </a:txBody>
                  <a:tcPr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1117305"/>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666666"/>
                          </a:solidFill>
                          <a:effectLst/>
                          <a:uLnTx/>
                          <a:uFillTx/>
                          <a:latin typeface="Roboto Black" panose="02000000000000000000" pitchFamily="2" charset="0"/>
                          <a:ea typeface="Roboto Black" panose="02000000000000000000" pitchFamily="2" charset="0"/>
                          <a:cs typeface="+mn-cs"/>
                        </a:rPr>
                        <a:t>Bespoke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666666"/>
                          </a:solidFill>
                          <a:effectLst/>
                          <a:uLnTx/>
                          <a:uFillTx/>
                          <a:latin typeface="Roboto Black" panose="02000000000000000000" pitchFamily="2" charset="0"/>
                          <a:ea typeface="Roboto Black" panose="02000000000000000000" pitchFamily="2" charset="0"/>
                          <a:cs typeface="+mn-cs"/>
                        </a:rPr>
                        <a:t>Service Delivery</a:t>
                      </a: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600" b="0" dirty="0">
                          <a:solidFill>
                            <a:srgbClr val="2F465A"/>
                          </a:solidFill>
                          <a:latin typeface="Roboto Black" panose="02000000000000000000" pitchFamily="2" charset="0"/>
                          <a:ea typeface="Roboto Black" panose="02000000000000000000" pitchFamily="2" charset="0"/>
                        </a:rPr>
                        <a:t>Trusted </a:t>
                      </a:r>
                    </a:p>
                    <a:p>
                      <a:pPr algn="ctr"/>
                      <a:r>
                        <a:rPr lang="en-IN" sz="1600" b="0" dirty="0">
                          <a:solidFill>
                            <a:srgbClr val="2F465A"/>
                          </a:solidFill>
                          <a:latin typeface="Roboto Black" panose="02000000000000000000" pitchFamily="2" charset="0"/>
                          <a:ea typeface="Roboto Black" panose="02000000000000000000" pitchFamily="2" charset="0"/>
                        </a:rPr>
                        <a:t>Advisors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600" b="0" dirty="0">
                          <a:solidFill>
                            <a:srgbClr val="666666"/>
                          </a:solidFill>
                          <a:latin typeface="Roboto Black" panose="02000000000000000000" pitchFamily="2" charset="0"/>
                          <a:ea typeface="Roboto Black" panose="02000000000000000000" pitchFamily="2" charset="0"/>
                        </a:rPr>
                        <a:t>Driven By </a:t>
                      </a:r>
                    </a:p>
                    <a:p>
                      <a:pPr algn="ctr"/>
                      <a:r>
                        <a:rPr lang="en-IN" sz="1600" b="0" dirty="0">
                          <a:solidFill>
                            <a:srgbClr val="666666"/>
                          </a:solidFill>
                          <a:latin typeface="Roboto Black" panose="02000000000000000000" pitchFamily="2" charset="0"/>
                          <a:ea typeface="Roboto Black" panose="02000000000000000000" pitchFamily="2" charset="0"/>
                        </a:rPr>
                        <a:t>Technology</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600" b="0" dirty="0">
                          <a:solidFill>
                            <a:srgbClr val="2F465A"/>
                          </a:solidFill>
                          <a:latin typeface="Roboto Black" panose="02000000000000000000" pitchFamily="2" charset="0"/>
                          <a:ea typeface="Roboto Black" panose="02000000000000000000" pitchFamily="2" charset="0"/>
                        </a:rPr>
                        <a:t>Simplified &amp;</a:t>
                      </a:r>
                    </a:p>
                    <a:p>
                      <a:pPr algn="ctr"/>
                      <a:r>
                        <a:rPr lang="en-IN" sz="1600" b="0" dirty="0">
                          <a:solidFill>
                            <a:srgbClr val="2F465A"/>
                          </a:solidFill>
                          <a:latin typeface="Roboto Black" panose="02000000000000000000" pitchFamily="2" charset="0"/>
                          <a:ea typeface="Roboto Black" panose="02000000000000000000" pitchFamily="2" charset="0"/>
                        </a:rPr>
                        <a:t>Seamless Process</a:t>
                      </a:r>
                    </a:p>
                  </a:txBody>
                  <a:tcPr marL="0" marR="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1646980"/>
                  </a:ext>
                </a:extLst>
              </a:tr>
            </a:tbl>
          </a:graphicData>
        </a:graphic>
      </p:graphicFrame>
      <p:sp>
        <p:nvSpPr>
          <p:cNvPr id="4" name="Title 3">
            <a:extLst>
              <a:ext uri="{FF2B5EF4-FFF2-40B4-BE49-F238E27FC236}">
                <a16:creationId xmlns:a16="http://schemas.microsoft.com/office/drawing/2014/main" id="{405A7BFB-A99E-72AE-F9C5-8B5167CCF0E9}"/>
              </a:ext>
            </a:extLst>
          </p:cNvPr>
          <p:cNvSpPr>
            <a:spLocks noGrp="1"/>
          </p:cNvSpPr>
          <p:nvPr>
            <p:ph type="title"/>
          </p:nvPr>
        </p:nvSpPr>
        <p:spPr/>
        <p:txBody>
          <a:bodyPr lIns="91440" tIns="45720" rIns="91440" bIns="45720" anchor="t">
            <a:normAutofit fontScale="90000"/>
          </a:bodyPr>
          <a:lstStyle/>
          <a:p>
            <a:r>
              <a:rPr lang="en-IN" dirty="0">
                <a:latin typeface="Roboto" panose="02000000000000000000" pitchFamily="2" charset="0"/>
                <a:ea typeface="Roboto" panose="02000000000000000000" pitchFamily="2" charset="0"/>
              </a:rPr>
              <a:t>Why InCorp</a:t>
            </a:r>
          </a:p>
        </p:txBody>
      </p:sp>
      <p:graphicFrame>
        <p:nvGraphicFramePr>
          <p:cNvPr id="7" name="Table 8">
            <a:extLst>
              <a:ext uri="{FF2B5EF4-FFF2-40B4-BE49-F238E27FC236}">
                <a16:creationId xmlns:a16="http://schemas.microsoft.com/office/drawing/2014/main" id="{088F9280-02EA-88AB-8DDB-FED5CC86E2C9}"/>
              </a:ext>
            </a:extLst>
          </p:cNvPr>
          <p:cNvGraphicFramePr>
            <a:graphicFrameLocks noGrp="1"/>
          </p:cNvGraphicFramePr>
          <p:nvPr/>
        </p:nvGraphicFramePr>
        <p:xfrm>
          <a:off x="500709" y="1841391"/>
          <a:ext cx="11153456" cy="1752600"/>
        </p:xfrm>
        <a:graphic>
          <a:graphicData uri="http://schemas.openxmlformats.org/drawingml/2006/table">
            <a:tbl>
              <a:tblPr firstRow="1" bandRow="1">
                <a:tableStyleId>{93296810-A885-4BE3-A3E7-6D5BEEA58F35}</a:tableStyleId>
              </a:tblPr>
              <a:tblGrid>
                <a:gridCol w="2788364">
                  <a:extLst>
                    <a:ext uri="{9D8B030D-6E8A-4147-A177-3AD203B41FA5}">
                      <a16:colId xmlns:a16="http://schemas.microsoft.com/office/drawing/2014/main" val="1289077118"/>
                    </a:ext>
                  </a:extLst>
                </a:gridCol>
                <a:gridCol w="2788364">
                  <a:extLst>
                    <a:ext uri="{9D8B030D-6E8A-4147-A177-3AD203B41FA5}">
                      <a16:colId xmlns:a16="http://schemas.microsoft.com/office/drawing/2014/main" val="1854855569"/>
                    </a:ext>
                  </a:extLst>
                </a:gridCol>
                <a:gridCol w="2788364">
                  <a:extLst>
                    <a:ext uri="{9D8B030D-6E8A-4147-A177-3AD203B41FA5}">
                      <a16:colId xmlns:a16="http://schemas.microsoft.com/office/drawing/2014/main" val="977610032"/>
                    </a:ext>
                  </a:extLst>
                </a:gridCol>
                <a:gridCol w="2788364">
                  <a:extLst>
                    <a:ext uri="{9D8B030D-6E8A-4147-A177-3AD203B41FA5}">
                      <a16:colId xmlns:a16="http://schemas.microsoft.com/office/drawing/2014/main" val="2939065486"/>
                    </a:ext>
                  </a:extLst>
                </a:gridCol>
              </a:tblGrid>
              <a:tr h="92639">
                <a:tc>
                  <a:txBody>
                    <a:bodyPr/>
                    <a:lstStyle/>
                    <a:p>
                      <a:pPr algn="ctr"/>
                      <a:endParaRPr lang="en-IN" sz="8000" dirty="0">
                        <a:solidFill>
                          <a:schemeClr val="tx2"/>
                        </a:solidFill>
                        <a:latin typeface="Arial Black" panose="020B0A04020102020204" pitchFamily="34" charset="0"/>
                      </a:endParaRPr>
                    </a:p>
                  </a:txBody>
                  <a:tcPr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8000" dirty="0">
                        <a:solidFill>
                          <a:schemeClr val="accent1"/>
                        </a:solidFill>
                        <a:latin typeface="Arial Black" panose="020B0A04020102020204" pitchFamily="34" charset="0"/>
                      </a:endParaRPr>
                    </a:p>
                  </a:txBody>
                  <a:tcPr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8000" dirty="0">
                        <a:solidFill>
                          <a:schemeClr val="accent4"/>
                        </a:solidFill>
                        <a:latin typeface="Arial Black" panose="020B0A04020102020204" pitchFamily="34" charset="0"/>
                      </a:endParaRPr>
                    </a:p>
                  </a:txBody>
                  <a:tcPr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8000" dirty="0">
                        <a:solidFill>
                          <a:schemeClr val="accent5"/>
                        </a:solidFill>
                        <a:latin typeface="Arial Black" panose="020B0A04020102020204" pitchFamily="34" charset="0"/>
                      </a:endParaRPr>
                    </a:p>
                  </a:txBody>
                  <a:tcPr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1117305"/>
                  </a:ext>
                </a:extLst>
              </a:tr>
              <a:tr h="0">
                <a:tc>
                  <a:txBody>
                    <a:bodyPr/>
                    <a:lstStyle/>
                    <a:p>
                      <a:pPr algn="ctr"/>
                      <a:r>
                        <a:rPr lang="en-IN" sz="1600" b="0" dirty="0">
                          <a:solidFill>
                            <a:srgbClr val="2F465A"/>
                          </a:solidFill>
                          <a:latin typeface="Roboto Black" panose="02000000000000000000" pitchFamily="2" charset="0"/>
                          <a:ea typeface="Roboto Black" panose="02000000000000000000" pitchFamily="2" charset="0"/>
                        </a:rPr>
                        <a:t>Unparalleled Expertise </a:t>
                      </a:r>
                    </a:p>
                    <a:p>
                      <a:pPr algn="ctr"/>
                      <a:r>
                        <a:rPr lang="en-IN" sz="1600" b="0" dirty="0">
                          <a:solidFill>
                            <a:srgbClr val="2F465A"/>
                          </a:solidFill>
                          <a:latin typeface="Roboto Black" panose="02000000000000000000" pitchFamily="2" charset="0"/>
                          <a:ea typeface="Roboto Black" panose="02000000000000000000" pitchFamily="2" charset="0"/>
                        </a:rPr>
                        <a:t>Across Borders</a:t>
                      </a: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600" b="0" dirty="0">
                          <a:solidFill>
                            <a:srgbClr val="666666"/>
                          </a:solidFill>
                          <a:latin typeface="Roboto Black" panose="02000000000000000000" pitchFamily="2" charset="0"/>
                          <a:ea typeface="Roboto Black" panose="02000000000000000000" pitchFamily="2" charset="0"/>
                        </a:rPr>
                        <a:t>Optimized </a:t>
                      </a:r>
                    </a:p>
                    <a:p>
                      <a:pPr algn="ctr"/>
                      <a:r>
                        <a:rPr lang="en-IN" sz="1600" b="0" dirty="0">
                          <a:solidFill>
                            <a:srgbClr val="666666"/>
                          </a:solidFill>
                          <a:latin typeface="Roboto Black" panose="02000000000000000000" pitchFamily="2" charset="0"/>
                          <a:ea typeface="Roboto Black" panose="02000000000000000000" pitchFamily="2" charset="0"/>
                        </a:rPr>
                        <a:t>Cost-Value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600" b="0" i="0" dirty="0">
                          <a:solidFill>
                            <a:srgbClr val="2F465A"/>
                          </a:solidFill>
                          <a:latin typeface="Roboto Black" panose="02000000000000000000" pitchFamily="2" charset="0"/>
                          <a:ea typeface="Roboto Black" panose="02000000000000000000" pitchFamily="2" charset="0"/>
                        </a:rPr>
                        <a:t>Long Term </a:t>
                      </a:r>
                    </a:p>
                    <a:p>
                      <a:pPr algn="ctr"/>
                      <a:r>
                        <a:rPr lang="en-IN" sz="1600" b="0" i="0" dirty="0">
                          <a:solidFill>
                            <a:srgbClr val="2F465A"/>
                          </a:solidFill>
                          <a:latin typeface="Roboto Black" panose="02000000000000000000" pitchFamily="2" charset="0"/>
                          <a:ea typeface="Roboto Black" panose="02000000000000000000" pitchFamily="2" charset="0"/>
                        </a:rPr>
                        <a:t>Relationships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600" b="0" dirty="0">
                          <a:solidFill>
                            <a:srgbClr val="666666"/>
                          </a:solidFill>
                          <a:latin typeface="Roboto Black" panose="02000000000000000000" pitchFamily="2" charset="0"/>
                          <a:ea typeface="Roboto Black" panose="02000000000000000000" pitchFamily="2" charset="0"/>
                        </a:rPr>
                        <a:t>Support Across </a:t>
                      </a:r>
                    </a:p>
                    <a:p>
                      <a:pPr algn="ctr"/>
                      <a:r>
                        <a:rPr lang="en-IN" sz="1600" b="0" dirty="0">
                          <a:solidFill>
                            <a:srgbClr val="666666"/>
                          </a:solidFill>
                          <a:latin typeface="Roboto Black" panose="02000000000000000000" pitchFamily="2" charset="0"/>
                          <a:ea typeface="Roboto Black" panose="02000000000000000000" pitchFamily="2" charset="0"/>
                        </a:rPr>
                        <a:t>8 Countries</a:t>
                      </a:r>
                    </a:p>
                  </a:txBody>
                  <a:tcPr marL="0" marR="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1646980"/>
                  </a:ext>
                </a:extLst>
              </a:tr>
            </a:tbl>
          </a:graphicData>
        </a:graphic>
      </p:graphicFrame>
      <p:cxnSp>
        <p:nvCxnSpPr>
          <p:cNvPr id="8" name="Straight Connector 7">
            <a:extLst>
              <a:ext uri="{FF2B5EF4-FFF2-40B4-BE49-F238E27FC236}">
                <a16:creationId xmlns:a16="http://schemas.microsoft.com/office/drawing/2014/main" id="{58A8E5B9-2BAC-CBA9-9B5F-BF2C21AB6297}"/>
              </a:ext>
            </a:extLst>
          </p:cNvPr>
          <p:cNvCxnSpPr>
            <a:cxnSpLocks/>
          </p:cNvCxnSpPr>
          <p:nvPr/>
        </p:nvCxnSpPr>
        <p:spPr>
          <a:xfrm>
            <a:off x="983226" y="3971044"/>
            <a:ext cx="1936955"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27BC9D-1FCD-BE87-6CA7-9A4DCBB1E6B9}"/>
              </a:ext>
            </a:extLst>
          </p:cNvPr>
          <p:cNvCxnSpPr>
            <a:cxnSpLocks/>
          </p:cNvCxnSpPr>
          <p:nvPr/>
        </p:nvCxnSpPr>
        <p:spPr>
          <a:xfrm>
            <a:off x="3710889" y="3971044"/>
            <a:ext cx="1936955"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53EA321-80E6-1972-65E1-9FD7D62CA4ED}"/>
              </a:ext>
            </a:extLst>
          </p:cNvPr>
          <p:cNvCxnSpPr>
            <a:cxnSpLocks/>
          </p:cNvCxnSpPr>
          <p:nvPr/>
        </p:nvCxnSpPr>
        <p:spPr>
          <a:xfrm>
            <a:off x="6489352" y="3971044"/>
            <a:ext cx="1936955"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5DA3D8-AB7B-2132-54FA-1E6792A9954B}"/>
              </a:ext>
            </a:extLst>
          </p:cNvPr>
          <p:cNvCxnSpPr>
            <a:cxnSpLocks/>
          </p:cNvCxnSpPr>
          <p:nvPr/>
        </p:nvCxnSpPr>
        <p:spPr>
          <a:xfrm>
            <a:off x="9255115" y="3971044"/>
            <a:ext cx="1936955"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7" name="Google Shape;2661;p42">
            <a:extLst>
              <a:ext uri="{FF2B5EF4-FFF2-40B4-BE49-F238E27FC236}">
                <a16:creationId xmlns:a16="http://schemas.microsoft.com/office/drawing/2014/main" id="{D433BBA5-36AD-15A7-A189-D3120D5371AB}"/>
              </a:ext>
            </a:extLst>
          </p:cNvPr>
          <p:cNvGrpSpPr/>
          <p:nvPr/>
        </p:nvGrpSpPr>
        <p:grpSpPr>
          <a:xfrm>
            <a:off x="1553519" y="1857347"/>
            <a:ext cx="797795" cy="945489"/>
            <a:chOff x="3122257" y="1508594"/>
            <a:chExt cx="294850" cy="349434"/>
          </a:xfrm>
          <a:solidFill>
            <a:srgbClr val="2F465A"/>
          </a:solidFill>
        </p:grpSpPr>
        <p:sp>
          <p:nvSpPr>
            <p:cNvPr id="28" name="Google Shape;2662;p42">
              <a:extLst>
                <a:ext uri="{FF2B5EF4-FFF2-40B4-BE49-F238E27FC236}">
                  <a16:creationId xmlns:a16="http://schemas.microsoft.com/office/drawing/2014/main" id="{F007ACD9-AD6A-6DCB-D3E2-524A0EBB2D16}"/>
                </a:ext>
              </a:extLst>
            </p:cNvPr>
            <p:cNvSpPr/>
            <p:nvPr/>
          </p:nvSpPr>
          <p:spPr>
            <a:xfrm>
              <a:off x="3226110" y="1659042"/>
              <a:ext cx="87557" cy="29568"/>
            </a:xfrm>
            <a:custGeom>
              <a:avLst/>
              <a:gdLst/>
              <a:ahLst/>
              <a:cxnLst/>
              <a:rect l="l" t="t" r="r" b="b"/>
              <a:pathLst>
                <a:path w="2751" h="929" extrusionOk="0">
                  <a:moveTo>
                    <a:pt x="1099" y="0"/>
                  </a:moveTo>
                  <a:cubicBezTo>
                    <a:pt x="771" y="0"/>
                    <a:pt x="476" y="33"/>
                    <a:pt x="286" y="60"/>
                  </a:cubicBezTo>
                  <a:cubicBezTo>
                    <a:pt x="119" y="96"/>
                    <a:pt x="0" y="227"/>
                    <a:pt x="0" y="393"/>
                  </a:cubicBezTo>
                  <a:lnTo>
                    <a:pt x="0" y="762"/>
                  </a:lnTo>
                  <a:cubicBezTo>
                    <a:pt x="0" y="846"/>
                    <a:pt x="72" y="929"/>
                    <a:pt x="167" y="929"/>
                  </a:cubicBezTo>
                  <a:cubicBezTo>
                    <a:pt x="250" y="929"/>
                    <a:pt x="322" y="846"/>
                    <a:pt x="322" y="762"/>
                  </a:cubicBezTo>
                  <a:lnTo>
                    <a:pt x="322" y="393"/>
                  </a:lnTo>
                  <a:cubicBezTo>
                    <a:pt x="322" y="393"/>
                    <a:pt x="322" y="369"/>
                    <a:pt x="345" y="369"/>
                  </a:cubicBezTo>
                  <a:cubicBezTo>
                    <a:pt x="509" y="350"/>
                    <a:pt x="813" y="315"/>
                    <a:pt x="1144" y="315"/>
                  </a:cubicBezTo>
                  <a:cubicBezTo>
                    <a:pt x="1222" y="315"/>
                    <a:pt x="1302" y="317"/>
                    <a:pt x="1381" y="322"/>
                  </a:cubicBezTo>
                  <a:cubicBezTo>
                    <a:pt x="1893" y="358"/>
                    <a:pt x="2250" y="488"/>
                    <a:pt x="2465" y="703"/>
                  </a:cubicBezTo>
                  <a:cubicBezTo>
                    <a:pt x="2494" y="733"/>
                    <a:pt x="2536" y="747"/>
                    <a:pt x="2578" y="747"/>
                  </a:cubicBezTo>
                  <a:cubicBezTo>
                    <a:pt x="2619" y="747"/>
                    <a:pt x="2661" y="733"/>
                    <a:pt x="2691" y="703"/>
                  </a:cubicBezTo>
                  <a:cubicBezTo>
                    <a:pt x="2750" y="643"/>
                    <a:pt x="2750" y="536"/>
                    <a:pt x="2679" y="477"/>
                  </a:cubicBezTo>
                  <a:cubicBezTo>
                    <a:pt x="2297" y="95"/>
                    <a:pt x="1652" y="0"/>
                    <a:pt x="1099"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solidFill>
                  <a:schemeClr val="tx1">
                    <a:lumMod val="75000"/>
                    <a:lumOff val="25000"/>
                  </a:schemeClr>
                </a:solidFill>
              </a:endParaRPr>
            </a:p>
          </p:txBody>
        </p:sp>
        <p:sp>
          <p:nvSpPr>
            <p:cNvPr id="29" name="Google Shape;2663;p42">
              <a:extLst>
                <a:ext uri="{FF2B5EF4-FFF2-40B4-BE49-F238E27FC236}">
                  <a16:creationId xmlns:a16="http://schemas.microsoft.com/office/drawing/2014/main" id="{8649A656-0693-A84A-5C61-FB7FC1472001}"/>
                </a:ext>
              </a:extLst>
            </p:cNvPr>
            <p:cNvSpPr/>
            <p:nvPr/>
          </p:nvSpPr>
          <p:spPr>
            <a:xfrm>
              <a:off x="3171144" y="1612033"/>
              <a:ext cx="196694" cy="245613"/>
            </a:xfrm>
            <a:custGeom>
              <a:avLst/>
              <a:gdLst/>
              <a:ahLst/>
              <a:cxnLst/>
              <a:rect l="l" t="t" r="r" b="b"/>
              <a:pathLst>
                <a:path w="6180" h="7717" extrusionOk="0">
                  <a:moveTo>
                    <a:pt x="4835" y="334"/>
                  </a:moveTo>
                  <a:lnTo>
                    <a:pt x="4835" y="1894"/>
                  </a:lnTo>
                  <a:cubicBezTo>
                    <a:pt x="4835" y="2132"/>
                    <a:pt x="4775" y="2358"/>
                    <a:pt x="4692" y="2561"/>
                  </a:cubicBezTo>
                  <a:cubicBezTo>
                    <a:pt x="4668" y="2585"/>
                    <a:pt x="4668" y="2608"/>
                    <a:pt x="4668" y="2644"/>
                  </a:cubicBezTo>
                  <a:lnTo>
                    <a:pt x="4668" y="3097"/>
                  </a:lnTo>
                  <a:cubicBezTo>
                    <a:pt x="4668" y="3537"/>
                    <a:pt x="4489" y="3930"/>
                    <a:pt x="4180" y="4228"/>
                  </a:cubicBezTo>
                  <a:cubicBezTo>
                    <a:pt x="3900" y="4497"/>
                    <a:pt x="3532" y="4649"/>
                    <a:pt x="3129" y="4649"/>
                  </a:cubicBezTo>
                  <a:cubicBezTo>
                    <a:pt x="3087" y="4649"/>
                    <a:pt x="3044" y="4648"/>
                    <a:pt x="3001" y="4644"/>
                  </a:cubicBezTo>
                  <a:cubicBezTo>
                    <a:pt x="2168" y="4597"/>
                    <a:pt x="1537" y="3894"/>
                    <a:pt x="1537" y="3037"/>
                  </a:cubicBezTo>
                  <a:lnTo>
                    <a:pt x="1537" y="2644"/>
                  </a:lnTo>
                  <a:cubicBezTo>
                    <a:pt x="1537" y="2608"/>
                    <a:pt x="1537" y="2597"/>
                    <a:pt x="1513" y="2561"/>
                  </a:cubicBezTo>
                  <a:cubicBezTo>
                    <a:pt x="1418" y="2358"/>
                    <a:pt x="1370" y="2120"/>
                    <a:pt x="1370" y="1894"/>
                  </a:cubicBezTo>
                  <a:lnTo>
                    <a:pt x="1370" y="1549"/>
                  </a:lnTo>
                  <a:cubicBezTo>
                    <a:pt x="1370" y="882"/>
                    <a:pt x="1918" y="334"/>
                    <a:pt x="2584" y="334"/>
                  </a:cubicBezTo>
                  <a:close/>
                  <a:moveTo>
                    <a:pt x="3954" y="4763"/>
                  </a:moveTo>
                  <a:lnTo>
                    <a:pt x="3954" y="5061"/>
                  </a:lnTo>
                  <a:lnTo>
                    <a:pt x="3096" y="5656"/>
                  </a:lnTo>
                  <a:lnTo>
                    <a:pt x="2215" y="5061"/>
                  </a:lnTo>
                  <a:lnTo>
                    <a:pt x="2215" y="4763"/>
                  </a:lnTo>
                  <a:cubicBezTo>
                    <a:pt x="2441" y="4883"/>
                    <a:pt x="2691" y="4966"/>
                    <a:pt x="2965" y="4978"/>
                  </a:cubicBezTo>
                  <a:lnTo>
                    <a:pt x="3096" y="4978"/>
                  </a:lnTo>
                  <a:cubicBezTo>
                    <a:pt x="3406" y="4978"/>
                    <a:pt x="3704" y="4894"/>
                    <a:pt x="3954" y="4763"/>
                  </a:cubicBezTo>
                  <a:close/>
                  <a:moveTo>
                    <a:pt x="2084" y="5359"/>
                  </a:moveTo>
                  <a:lnTo>
                    <a:pt x="2846" y="5883"/>
                  </a:lnTo>
                  <a:lnTo>
                    <a:pt x="2441" y="6276"/>
                  </a:lnTo>
                  <a:lnTo>
                    <a:pt x="2430" y="6276"/>
                  </a:lnTo>
                  <a:lnTo>
                    <a:pt x="1918" y="5525"/>
                  </a:lnTo>
                  <a:lnTo>
                    <a:pt x="2084" y="5359"/>
                  </a:lnTo>
                  <a:close/>
                  <a:moveTo>
                    <a:pt x="4108" y="5347"/>
                  </a:moveTo>
                  <a:lnTo>
                    <a:pt x="4275" y="5514"/>
                  </a:lnTo>
                  <a:lnTo>
                    <a:pt x="3763" y="6276"/>
                  </a:lnTo>
                  <a:lnTo>
                    <a:pt x="3751" y="6276"/>
                  </a:lnTo>
                  <a:lnTo>
                    <a:pt x="3346" y="5871"/>
                  </a:lnTo>
                  <a:lnTo>
                    <a:pt x="4108" y="5347"/>
                  </a:lnTo>
                  <a:close/>
                  <a:moveTo>
                    <a:pt x="2572" y="1"/>
                  </a:moveTo>
                  <a:cubicBezTo>
                    <a:pt x="1727" y="1"/>
                    <a:pt x="1037" y="692"/>
                    <a:pt x="1037" y="1537"/>
                  </a:cubicBezTo>
                  <a:lnTo>
                    <a:pt x="1037" y="1882"/>
                  </a:lnTo>
                  <a:cubicBezTo>
                    <a:pt x="1037" y="2144"/>
                    <a:pt x="1096" y="2418"/>
                    <a:pt x="1215" y="2668"/>
                  </a:cubicBezTo>
                  <a:lnTo>
                    <a:pt x="1215" y="3025"/>
                  </a:lnTo>
                  <a:cubicBezTo>
                    <a:pt x="1215" y="3620"/>
                    <a:pt x="1489" y="4168"/>
                    <a:pt x="1906" y="4525"/>
                  </a:cubicBezTo>
                  <a:lnTo>
                    <a:pt x="1906" y="5061"/>
                  </a:lnTo>
                  <a:lnTo>
                    <a:pt x="1608" y="5383"/>
                  </a:lnTo>
                  <a:cubicBezTo>
                    <a:pt x="1572" y="5406"/>
                    <a:pt x="1560" y="5454"/>
                    <a:pt x="1560" y="5502"/>
                  </a:cubicBezTo>
                  <a:lnTo>
                    <a:pt x="560" y="5859"/>
                  </a:lnTo>
                  <a:cubicBezTo>
                    <a:pt x="239" y="5978"/>
                    <a:pt x="1" y="6299"/>
                    <a:pt x="1" y="6657"/>
                  </a:cubicBezTo>
                  <a:lnTo>
                    <a:pt x="1" y="7549"/>
                  </a:lnTo>
                  <a:cubicBezTo>
                    <a:pt x="1" y="7645"/>
                    <a:pt x="72" y="7716"/>
                    <a:pt x="167" y="7716"/>
                  </a:cubicBezTo>
                  <a:cubicBezTo>
                    <a:pt x="251" y="7716"/>
                    <a:pt x="322" y="7645"/>
                    <a:pt x="322" y="7549"/>
                  </a:cubicBezTo>
                  <a:lnTo>
                    <a:pt x="322" y="6657"/>
                  </a:lnTo>
                  <a:cubicBezTo>
                    <a:pt x="322" y="6430"/>
                    <a:pt x="465" y="6240"/>
                    <a:pt x="667" y="6168"/>
                  </a:cubicBezTo>
                  <a:lnTo>
                    <a:pt x="1715" y="5775"/>
                  </a:lnTo>
                  <a:lnTo>
                    <a:pt x="2144" y="6430"/>
                  </a:lnTo>
                  <a:cubicBezTo>
                    <a:pt x="2203" y="6526"/>
                    <a:pt x="2287" y="6561"/>
                    <a:pt x="2382" y="6585"/>
                  </a:cubicBezTo>
                  <a:lnTo>
                    <a:pt x="2406" y="6585"/>
                  </a:lnTo>
                  <a:cubicBezTo>
                    <a:pt x="2501" y="6585"/>
                    <a:pt x="2584" y="6549"/>
                    <a:pt x="2644" y="6478"/>
                  </a:cubicBezTo>
                  <a:lnTo>
                    <a:pt x="2918" y="6204"/>
                  </a:lnTo>
                  <a:lnTo>
                    <a:pt x="2918" y="7549"/>
                  </a:lnTo>
                  <a:cubicBezTo>
                    <a:pt x="2918" y="7633"/>
                    <a:pt x="2989" y="7716"/>
                    <a:pt x="3084" y="7716"/>
                  </a:cubicBezTo>
                  <a:cubicBezTo>
                    <a:pt x="3168" y="7716"/>
                    <a:pt x="3239" y="7633"/>
                    <a:pt x="3239" y="7549"/>
                  </a:cubicBezTo>
                  <a:lnTo>
                    <a:pt x="3239" y="6204"/>
                  </a:lnTo>
                  <a:lnTo>
                    <a:pt x="3513" y="6478"/>
                  </a:lnTo>
                  <a:cubicBezTo>
                    <a:pt x="3573" y="6537"/>
                    <a:pt x="3656" y="6585"/>
                    <a:pt x="3751" y="6585"/>
                  </a:cubicBezTo>
                  <a:lnTo>
                    <a:pt x="3775" y="6585"/>
                  </a:lnTo>
                  <a:cubicBezTo>
                    <a:pt x="3882" y="6561"/>
                    <a:pt x="3977" y="6526"/>
                    <a:pt x="4013" y="6430"/>
                  </a:cubicBezTo>
                  <a:lnTo>
                    <a:pt x="4454" y="5775"/>
                  </a:lnTo>
                  <a:lnTo>
                    <a:pt x="5489" y="6168"/>
                  </a:lnTo>
                  <a:cubicBezTo>
                    <a:pt x="5704" y="6240"/>
                    <a:pt x="5835" y="6430"/>
                    <a:pt x="5835" y="6657"/>
                  </a:cubicBezTo>
                  <a:lnTo>
                    <a:pt x="5835" y="7549"/>
                  </a:lnTo>
                  <a:cubicBezTo>
                    <a:pt x="5835" y="7645"/>
                    <a:pt x="5906" y="7716"/>
                    <a:pt x="6001" y="7716"/>
                  </a:cubicBezTo>
                  <a:cubicBezTo>
                    <a:pt x="6085" y="7716"/>
                    <a:pt x="6156" y="7645"/>
                    <a:pt x="6156" y="7549"/>
                  </a:cubicBezTo>
                  <a:lnTo>
                    <a:pt x="6156" y="6657"/>
                  </a:lnTo>
                  <a:cubicBezTo>
                    <a:pt x="6180" y="6311"/>
                    <a:pt x="5954" y="6002"/>
                    <a:pt x="5620" y="5883"/>
                  </a:cubicBezTo>
                  <a:lnTo>
                    <a:pt x="4632" y="5525"/>
                  </a:lnTo>
                  <a:cubicBezTo>
                    <a:pt x="4632" y="5478"/>
                    <a:pt x="4608" y="5442"/>
                    <a:pt x="4585" y="5406"/>
                  </a:cubicBezTo>
                  <a:lnTo>
                    <a:pt x="4287" y="5097"/>
                  </a:lnTo>
                  <a:lnTo>
                    <a:pt x="4287" y="4549"/>
                  </a:lnTo>
                  <a:cubicBezTo>
                    <a:pt x="4311" y="4513"/>
                    <a:pt x="4346" y="4490"/>
                    <a:pt x="4370" y="4466"/>
                  </a:cubicBezTo>
                  <a:cubicBezTo>
                    <a:pt x="4751" y="4109"/>
                    <a:pt x="4966" y="3620"/>
                    <a:pt x="4966" y="3097"/>
                  </a:cubicBezTo>
                  <a:lnTo>
                    <a:pt x="4966" y="2680"/>
                  </a:lnTo>
                  <a:cubicBezTo>
                    <a:pt x="5085" y="2430"/>
                    <a:pt x="5144" y="2180"/>
                    <a:pt x="5144" y="1894"/>
                  </a:cubicBezTo>
                  <a:lnTo>
                    <a:pt x="5144" y="168"/>
                  </a:lnTo>
                  <a:cubicBezTo>
                    <a:pt x="5144" y="72"/>
                    <a:pt x="5073" y="1"/>
                    <a:pt x="4989" y="1"/>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solidFill>
                  <a:schemeClr val="tx1">
                    <a:lumMod val="75000"/>
                    <a:lumOff val="25000"/>
                  </a:schemeClr>
                </a:solidFill>
              </a:endParaRPr>
            </a:p>
          </p:txBody>
        </p:sp>
        <p:sp>
          <p:nvSpPr>
            <p:cNvPr id="30" name="Google Shape;2664;p42">
              <a:extLst>
                <a:ext uri="{FF2B5EF4-FFF2-40B4-BE49-F238E27FC236}">
                  <a16:creationId xmlns:a16="http://schemas.microsoft.com/office/drawing/2014/main" id="{ADD42B6E-0444-4FB0-090E-5DB36486008B}"/>
                </a:ext>
              </a:extLst>
            </p:cNvPr>
            <p:cNvSpPr/>
            <p:nvPr/>
          </p:nvSpPr>
          <p:spPr>
            <a:xfrm>
              <a:off x="3204117" y="1836767"/>
              <a:ext cx="10630" cy="21261"/>
            </a:xfrm>
            <a:custGeom>
              <a:avLst/>
              <a:gdLst/>
              <a:ahLst/>
              <a:cxnLst/>
              <a:rect l="l" t="t" r="r" b="b"/>
              <a:pathLst>
                <a:path w="334" h="668" extrusionOk="0">
                  <a:moveTo>
                    <a:pt x="167" y="0"/>
                  </a:moveTo>
                  <a:cubicBezTo>
                    <a:pt x="84" y="0"/>
                    <a:pt x="1" y="72"/>
                    <a:pt x="1" y="167"/>
                  </a:cubicBezTo>
                  <a:lnTo>
                    <a:pt x="1" y="500"/>
                  </a:lnTo>
                  <a:cubicBezTo>
                    <a:pt x="1" y="596"/>
                    <a:pt x="84" y="667"/>
                    <a:pt x="167" y="667"/>
                  </a:cubicBezTo>
                  <a:cubicBezTo>
                    <a:pt x="262" y="667"/>
                    <a:pt x="334" y="596"/>
                    <a:pt x="334" y="500"/>
                  </a:cubicBezTo>
                  <a:lnTo>
                    <a:pt x="334" y="167"/>
                  </a:lnTo>
                  <a:cubicBezTo>
                    <a:pt x="334" y="72"/>
                    <a:pt x="262" y="0"/>
                    <a:pt x="167"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solidFill>
                  <a:schemeClr val="tx1">
                    <a:lumMod val="75000"/>
                    <a:lumOff val="25000"/>
                  </a:schemeClr>
                </a:solidFill>
              </a:endParaRPr>
            </a:p>
          </p:txBody>
        </p:sp>
        <p:sp>
          <p:nvSpPr>
            <p:cNvPr id="31" name="Google Shape;2665;p42">
              <a:extLst>
                <a:ext uri="{FF2B5EF4-FFF2-40B4-BE49-F238E27FC236}">
                  <a16:creationId xmlns:a16="http://schemas.microsoft.com/office/drawing/2014/main" id="{CAB315EA-605D-4D35-A028-5FB92D465E03}"/>
                </a:ext>
              </a:extLst>
            </p:cNvPr>
            <p:cNvSpPr/>
            <p:nvPr/>
          </p:nvSpPr>
          <p:spPr>
            <a:xfrm>
              <a:off x="3324616" y="1836767"/>
              <a:ext cx="10280" cy="21261"/>
            </a:xfrm>
            <a:custGeom>
              <a:avLst/>
              <a:gdLst/>
              <a:ahLst/>
              <a:cxnLst/>
              <a:rect l="l" t="t" r="r" b="b"/>
              <a:pathLst>
                <a:path w="323" h="668" extrusionOk="0">
                  <a:moveTo>
                    <a:pt x="167" y="0"/>
                  </a:moveTo>
                  <a:cubicBezTo>
                    <a:pt x="72" y="0"/>
                    <a:pt x="1" y="72"/>
                    <a:pt x="1" y="167"/>
                  </a:cubicBezTo>
                  <a:lnTo>
                    <a:pt x="1" y="500"/>
                  </a:lnTo>
                  <a:cubicBezTo>
                    <a:pt x="1" y="596"/>
                    <a:pt x="72" y="667"/>
                    <a:pt x="167" y="667"/>
                  </a:cubicBezTo>
                  <a:cubicBezTo>
                    <a:pt x="251" y="667"/>
                    <a:pt x="322" y="596"/>
                    <a:pt x="322" y="500"/>
                  </a:cubicBezTo>
                  <a:lnTo>
                    <a:pt x="322" y="167"/>
                  </a:lnTo>
                  <a:cubicBezTo>
                    <a:pt x="322" y="72"/>
                    <a:pt x="251" y="0"/>
                    <a:pt x="167"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solidFill>
                  <a:schemeClr val="tx1">
                    <a:lumMod val="75000"/>
                    <a:lumOff val="25000"/>
                  </a:schemeClr>
                </a:solidFill>
              </a:endParaRPr>
            </a:p>
          </p:txBody>
        </p:sp>
        <p:sp>
          <p:nvSpPr>
            <p:cNvPr id="32" name="Google Shape;2666;p42">
              <a:extLst>
                <a:ext uri="{FF2B5EF4-FFF2-40B4-BE49-F238E27FC236}">
                  <a16:creationId xmlns:a16="http://schemas.microsoft.com/office/drawing/2014/main" id="{4E319D49-1359-C7FE-8E29-3B1CF887F9CF}"/>
                </a:ext>
              </a:extLst>
            </p:cNvPr>
            <p:cNvSpPr/>
            <p:nvPr/>
          </p:nvSpPr>
          <p:spPr>
            <a:xfrm>
              <a:off x="3122257" y="1508594"/>
              <a:ext cx="294850" cy="278554"/>
            </a:xfrm>
            <a:custGeom>
              <a:avLst/>
              <a:gdLst/>
              <a:ahLst/>
              <a:cxnLst/>
              <a:rect l="l" t="t" r="r" b="b"/>
              <a:pathLst>
                <a:path w="9264" h="8752" extrusionOk="0">
                  <a:moveTo>
                    <a:pt x="3096" y="584"/>
                  </a:moveTo>
                  <a:lnTo>
                    <a:pt x="3096" y="584"/>
                  </a:lnTo>
                  <a:cubicBezTo>
                    <a:pt x="2858" y="798"/>
                    <a:pt x="2620" y="1060"/>
                    <a:pt x="2430" y="1382"/>
                  </a:cubicBezTo>
                  <a:cubicBezTo>
                    <a:pt x="2299" y="1584"/>
                    <a:pt x="2156" y="1810"/>
                    <a:pt x="2061" y="2048"/>
                  </a:cubicBezTo>
                  <a:lnTo>
                    <a:pt x="1168" y="2048"/>
                  </a:lnTo>
                  <a:cubicBezTo>
                    <a:pt x="1656" y="1394"/>
                    <a:pt x="2322" y="882"/>
                    <a:pt x="3096" y="584"/>
                  </a:cubicBezTo>
                  <a:close/>
                  <a:moveTo>
                    <a:pt x="4466" y="310"/>
                  </a:moveTo>
                  <a:lnTo>
                    <a:pt x="4466" y="2048"/>
                  </a:lnTo>
                  <a:lnTo>
                    <a:pt x="2418" y="2048"/>
                  </a:lnTo>
                  <a:cubicBezTo>
                    <a:pt x="2894" y="1048"/>
                    <a:pt x="3632" y="382"/>
                    <a:pt x="4466" y="310"/>
                  </a:cubicBezTo>
                  <a:close/>
                  <a:moveTo>
                    <a:pt x="4799" y="310"/>
                  </a:moveTo>
                  <a:cubicBezTo>
                    <a:pt x="5644" y="382"/>
                    <a:pt x="6371" y="1048"/>
                    <a:pt x="6847" y="2048"/>
                  </a:cubicBezTo>
                  <a:lnTo>
                    <a:pt x="4799" y="2048"/>
                  </a:lnTo>
                  <a:lnTo>
                    <a:pt x="4799" y="310"/>
                  </a:lnTo>
                  <a:close/>
                  <a:moveTo>
                    <a:pt x="6168" y="608"/>
                  </a:moveTo>
                  <a:cubicBezTo>
                    <a:pt x="6942" y="905"/>
                    <a:pt x="7609" y="1405"/>
                    <a:pt x="8097" y="2060"/>
                  </a:cubicBezTo>
                  <a:lnTo>
                    <a:pt x="7204" y="2060"/>
                  </a:lnTo>
                  <a:cubicBezTo>
                    <a:pt x="7097" y="1810"/>
                    <a:pt x="6966" y="1584"/>
                    <a:pt x="6835" y="1382"/>
                  </a:cubicBezTo>
                  <a:cubicBezTo>
                    <a:pt x="6621" y="1072"/>
                    <a:pt x="6406" y="810"/>
                    <a:pt x="6168" y="608"/>
                  </a:cubicBezTo>
                  <a:close/>
                  <a:moveTo>
                    <a:pt x="1941" y="2382"/>
                  </a:moveTo>
                  <a:cubicBezTo>
                    <a:pt x="1703" y="3013"/>
                    <a:pt x="1560" y="3715"/>
                    <a:pt x="1549" y="4465"/>
                  </a:cubicBezTo>
                  <a:lnTo>
                    <a:pt x="322" y="4465"/>
                  </a:lnTo>
                  <a:cubicBezTo>
                    <a:pt x="358" y="3703"/>
                    <a:pt x="584" y="2989"/>
                    <a:pt x="953" y="2382"/>
                  </a:cubicBezTo>
                  <a:close/>
                  <a:moveTo>
                    <a:pt x="8323" y="2382"/>
                  </a:moveTo>
                  <a:cubicBezTo>
                    <a:pt x="8692" y="2989"/>
                    <a:pt x="8919" y="3703"/>
                    <a:pt x="8942" y="4465"/>
                  </a:cubicBezTo>
                  <a:lnTo>
                    <a:pt x="7728" y="4465"/>
                  </a:lnTo>
                  <a:cubicBezTo>
                    <a:pt x="7692" y="3715"/>
                    <a:pt x="7561" y="3013"/>
                    <a:pt x="7335" y="2382"/>
                  </a:cubicBezTo>
                  <a:close/>
                  <a:moveTo>
                    <a:pt x="1537" y="4787"/>
                  </a:moveTo>
                  <a:cubicBezTo>
                    <a:pt x="1560" y="5466"/>
                    <a:pt x="1668" y="6132"/>
                    <a:pt x="1882" y="6739"/>
                  </a:cubicBezTo>
                  <a:lnTo>
                    <a:pt x="1918" y="6870"/>
                  </a:lnTo>
                  <a:lnTo>
                    <a:pt x="941" y="6870"/>
                  </a:lnTo>
                  <a:cubicBezTo>
                    <a:pt x="572" y="6239"/>
                    <a:pt x="346" y="5525"/>
                    <a:pt x="310" y="4787"/>
                  </a:cubicBezTo>
                  <a:close/>
                  <a:moveTo>
                    <a:pt x="8919" y="4787"/>
                  </a:moveTo>
                  <a:cubicBezTo>
                    <a:pt x="8919" y="5501"/>
                    <a:pt x="8704" y="6204"/>
                    <a:pt x="8347" y="6811"/>
                  </a:cubicBezTo>
                  <a:cubicBezTo>
                    <a:pt x="8335" y="6823"/>
                    <a:pt x="8323" y="6859"/>
                    <a:pt x="8311" y="6870"/>
                  </a:cubicBezTo>
                  <a:lnTo>
                    <a:pt x="7323" y="6870"/>
                  </a:lnTo>
                  <a:lnTo>
                    <a:pt x="7371" y="6739"/>
                  </a:lnTo>
                  <a:cubicBezTo>
                    <a:pt x="7573" y="6120"/>
                    <a:pt x="7680" y="5466"/>
                    <a:pt x="7692" y="4787"/>
                  </a:cubicBezTo>
                  <a:close/>
                  <a:moveTo>
                    <a:pt x="4632" y="1"/>
                  </a:moveTo>
                  <a:cubicBezTo>
                    <a:pt x="3394" y="1"/>
                    <a:pt x="2239" y="477"/>
                    <a:pt x="1358" y="1346"/>
                  </a:cubicBezTo>
                  <a:cubicBezTo>
                    <a:pt x="477" y="2227"/>
                    <a:pt x="1" y="3382"/>
                    <a:pt x="1" y="4620"/>
                  </a:cubicBezTo>
                  <a:cubicBezTo>
                    <a:pt x="1" y="6358"/>
                    <a:pt x="953" y="7930"/>
                    <a:pt x="2501" y="8728"/>
                  </a:cubicBezTo>
                  <a:cubicBezTo>
                    <a:pt x="2537" y="8752"/>
                    <a:pt x="2549" y="8752"/>
                    <a:pt x="2573" y="8752"/>
                  </a:cubicBezTo>
                  <a:cubicBezTo>
                    <a:pt x="2632" y="8752"/>
                    <a:pt x="2692" y="8716"/>
                    <a:pt x="2727" y="8656"/>
                  </a:cubicBezTo>
                  <a:cubicBezTo>
                    <a:pt x="2775" y="8585"/>
                    <a:pt x="2739" y="8478"/>
                    <a:pt x="2656" y="8430"/>
                  </a:cubicBezTo>
                  <a:cubicBezTo>
                    <a:pt x="2061" y="8121"/>
                    <a:pt x="1560" y="7692"/>
                    <a:pt x="1179" y="7180"/>
                  </a:cubicBezTo>
                  <a:lnTo>
                    <a:pt x="2072" y="7180"/>
                  </a:lnTo>
                  <a:cubicBezTo>
                    <a:pt x="2263" y="7632"/>
                    <a:pt x="2513" y="8013"/>
                    <a:pt x="2799" y="8335"/>
                  </a:cubicBezTo>
                  <a:cubicBezTo>
                    <a:pt x="2831" y="8368"/>
                    <a:pt x="2879" y="8386"/>
                    <a:pt x="2924" y="8386"/>
                  </a:cubicBezTo>
                  <a:cubicBezTo>
                    <a:pt x="2962" y="8386"/>
                    <a:pt x="2998" y="8374"/>
                    <a:pt x="3025" y="8347"/>
                  </a:cubicBezTo>
                  <a:cubicBezTo>
                    <a:pt x="3084" y="8287"/>
                    <a:pt x="3096" y="8180"/>
                    <a:pt x="3037" y="8121"/>
                  </a:cubicBezTo>
                  <a:cubicBezTo>
                    <a:pt x="2799" y="7859"/>
                    <a:pt x="2596" y="7537"/>
                    <a:pt x="2430" y="7180"/>
                  </a:cubicBezTo>
                  <a:cubicBezTo>
                    <a:pt x="2501" y="7168"/>
                    <a:pt x="2561" y="7109"/>
                    <a:pt x="2561" y="7025"/>
                  </a:cubicBezTo>
                  <a:cubicBezTo>
                    <a:pt x="2561" y="6930"/>
                    <a:pt x="2489" y="6859"/>
                    <a:pt x="2394" y="6859"/>
                  </a:cubicBezTo>
                  <a:lnTo>
                    <a:pt x="2275" y="6859"/>
                  </a:lnTo>
                  <a:cubicBezTo>
                    <a:pt x="2025" y="6228"/>
                    <a:pt x="1894" y="5513"/>
                    <a:pt x="1882" y="4775"/>
                  </a:cubicBezTo>
                  <a:lnTo>
                    <a:pt x="2061" y="4775"/>
                  </a:lnTo>
                  <a:cubicBezTo>
                    <a:pt x="2144" y="4775"/>
                    <a:pt x="2215" y="4704"/>
                    <a:pt x="2215" y="4608"/>
                  </a:cubicBezTo>
                  <a:cubicBezTo>
                    <a:pt x="2215" y="4513"/>
                    <a:pt x="2144" y="4442"/>
                    <a:pt x="2061" y="4442"/>
                  </a:cubicBezTo>
                  <a:lnTo>
                    <a:pt x="1882" y="4442"/>
                  </a:lnTo>
                  <a:cubicBezTo>
                    <a:pt x="1894" y="3680"/>
                    <a:pt x="2037" y="2965"/>
                    <a:pt x="2275" y="2358"/>
                  </a:cubicBezTo>
                  <a:lnTo>
                    <a:pt x="4478" y="2358"/>
                  </a:lnTo>
                  <a:lnTo>
                    <a:pt x="4478" y="2715"/>
                  </a:lnTo>
                  <a:cubicBezTo>
                    <a:pt x="4478" y="2810"/>
                    <a:pt x="4561" y="2882"/>
                    <a:pt x="4644" y="2882"/>
                  </a:cubicBezTo>
                  <a:cubicBezTo>
                    <a:pt x="4739" y="2882"/>
                    <a:pt x="4811" y="2810"/>
                    <a:pt x="4811" y="2715"/>
                  </a:cubicBezTo>
                  <a:lnTo>
                    <a:pt x="4811" y="2358"/>
                  </a:lnTo>
                  <a:lnTo>
                    <a:pt x="7014" y="2358"/>
                  </a:lnTo>
                  <a:cubicBezTo>
                    <a:pt x="7252" y="2965"/>
                    <a:pt x="7395" y="3680"/>
                    <a:pt x="7418" y="4442"/>
                  </a:cubicBezTo>
                  <a:lnTo>
                    <a:pt x="7204" y="4442"/>
                  </a:lnTo>
                  <a:cubicBezTo>
                    <a:pt x="7121" y="4442"/>
                    <a:pt x="7037" y="4513"/>
                    <a:pt x="7037" y="4608"/>
                  </a:cubicBezTo>
                  <a:cubicBezTo>
                    <a:pt x="7037" y="4704"/>
                    <a:pt x="7121" y="4775"/>
                    <a:pt x="7204" y="4775"/>
                  </a:cubicBezTo>
                  <a:lnTo>
                    <a:pt x="7383" y="4775"/>
                  </a:lnTo>
                  <a:cubicBezTo>
                    <a:pt x="7371" y="5513"/>
                    <a:pt x="7216" y="6228"/>
                    <a:pt x="6978" y="6859"/>
                  </a:cubicBezTo>
                  <a:lnTo>
                    <a:pt x="6859" y="6859"/>
                  </a:lnTo>
                  <a:cubicBezTo>
                    <a:pt x="6775" y="6859"/>
                    <a:pt x="6704" y="6930"/>
                    <a:pt x="6704" y="7025"/>
                  </a:cubicBezTo>
                  <a:cubicBezTo>
                    <a:pt x="6704" y="7109"/>
                    <a:pt x="6764" y="7168"/>
                    <a:pt x="6835" y="7180"/>
                  </a:cubicBezTo>
                  <a:cubicBezTo>
                    <a:pt x="6668" y="7537"/>
                    <a:pt x="6466" y="7859"/>
                    <a:pt x="6228" y="8121"/>
                  </a:cubicBezTo>
                  <a:cubicBezTo>
                    <a:pt x="6168" y="8180"/>
                    <a:pt x="6168" y="8287"/>
                    <a:pt x="6240" y="8347"/>
                  </a:cubicBezTo>
                  <a:cubicBezTo>
                    <a:pt x="6263" y="8371"/>
                    <a:pt x="6311" y="8394"/>
                    <a:pt x="6347" y="8394"/>
                  </a:cubicBezTo>
                  <a:cubicBezTo>
                    <a:pt x="6383" y="8394"/>
                    <a:pt x="6430" y="8371"/>
                    <a:pt x="6466" y="8335"/>
                  </a:cubicBezTo>
                  <a:cubicBezTo>
                    <a:pt x="6740" y="8013"/>
                    <a:pt x="7002" y="7621"/>
                    <a:pt x="7192" y="7180"/>
                  </a:cubicBezTo>
                  <a:lnTo>
                    <a:pt x="8085" y="7180"/>
                  </a:lnTo>
                  <a:cubicBezTo>
                    <a:pt x="7728" y="7656"/>
                    <a:pt x="7299" y="8061"/>
                    <a:pt x="6775" y="8347"/>
                  </a:cubicBezTo>
                  <a:cubicBezTo>
                    <a:pt x="6704" y="8394"/>
                    <a:pt x="6668" y="8490"/>
                    <a:pt x="6716" y="8573"/>
                  </a:cubicBezTo>
                  <a:cubicBezTo>
                    <a:pt x="6749" y="8622"/>
                    <a:pt x="6804" y="8649"/>
                    <a:pt x="6863" y="8649"/>
                  </a:cubicBezTo>
                  <a:cubicBezTo>
                    <a:pt x="6889" y="8649"/>
                    <a:pt x="6916" y="8644"/>
                    <a:pt x="6942" y="8633"/>
                  </a:cubicBezTo>
                  <a:cubicBezTo>
                    <a:pt x="7621" y="8228"/>
                    <a:pt x="8204" y="7644"/>
                    <a:pt x="8621" y="6966"/>
                  </a:cubicBezTo>
                  <a:cubicBezTo>
                    <a:pt x="9038" y="6251"/>
                    <a:pt x="9264" y="5442"/>
                    <a:pt x="9264" y="4608"/>
                  </a:cubicBezTo>
                  <a:cubicBezTo>
                    <a:pt x="9264" y="3382"/>
                    <a:pt x="8788" y="2227"/>
                    <a:pt x="7907" y="1346"/>
                  </a:cubicBezTo>
                  <a:cubicBezTo>
                    <a:pt x="7025" y="477"/>
                    <a:pt x="5871" y="1"/>
                    <a:pt x="4632" y="1"/>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solidFill>
                  <a:schemeClr val="tx1">
                    <a:lumMod val="75000"/>
                    <a:lumOff val="25000"/>
                  </a:schemeClr>
                </a:solidFill>
              </a:endParaRPr>
            </a:p>
          </p:txBody>
        </p:sp>
      </p:grpSp>
      <p:grpSp>
        <p:nvGrpSpPr>
          <p:cNvPr id="33" name="Google Shape;3132;p42">
            <a:extLst>
              <a:ext uri="{FF2B5EF4-FFF2-40B4-BE49-F238E27FC236}">
                <a16:creationId xmlns:a16="http://schemas.microsoft.com/office/drawing/2014/main" id="{C1D84037-EB88-E733-BD85-953F22D8CFFB}"/>
              </a:ext>
            </a:extLst>
          </p:cNvPr>
          <p:cNvGrpSpPr/>
          <p:nvPr/>
        </p:nvGrpSpPr>
        <p:grpSpPr>
          <a:xfrm>
            <a:off x="4258011" y="1968853"/>
            <a:ext cx="1012633" cy="912291"/>
            <a:chOff x="3988156" y="3380210"/>
            <a:chExt cx="353954" cy="318880"/>
          </a:xfrm>
          <a:solidFill>
            <a:srgbClr val="666666"/>
          </a:solidFill>
        </p:grpSpPr>
        <p:sp>
          <p:nvSpPr>
            <p:cNvPr id="34" name="Google Shape;3133;p42">
              <a:extLst>
                <a:ext uri="{FF2B5EF4-FFF2-40B4-BE49-F238E27FC236}">
                  <a16:creationId xmlns:a16="http://schemas.microsoft.com/office/drawing/2014/main" id="{7A1CCCCE-08D5-1EE3-03B1-81A8D76E4C18}"/>
                </a:ext>
              </a:extLst>
            </p:cNvPr>
            <p:cNvSpPr/>
            <p:nvPr/>
          </p:nvSpPr>
          <p:spPr>
            <a:xfrm>
              <a:off x="4134053" y="3446156"/>
              <a:ext cx="28454" cy="49269"/>
            </a:xfrm>
            <a:custGeom>
              <a:avLst/>
              <a:gdLst/>
              <a:ahLst/>
              <a:cxnLst/>
              <a:rect l="l" t="t" r="r" b="b"/>
              <a:pathLst>
                <a:path w="894" h="1548" extrusionOk="0">
                  <a:moveTo>
                    <a:pt x="417" y="286"/>
                  </a:moveTo>
                  <a:lnTo>
                    <a:pt x="417" y="572"/>
                  </a:lnTo>
                  <a:cubicBezTo>
                    <a:pt x="298" y="524"/>
                    <a:pt x="274" y="500"/>
                    <a:pt x="274" y="417"/>
                  </a:cubicBezTo>
                  <a:cubicBezTo>
                    <a:pt x="274" y="345"/>
                    <a:pt x="346" y="298"/>
                    <a:pt x="417" y="286"/>
                  </a:cubicBezTo>
                  <a:close/>
                  <a:moveTo>
                    <a:pt x="524" y="869"/>
                  </a:moveTo>
                  <a:cubicBezTo>
                    <a:pt x="643" y="917"/>
                    <a:pt x="655" y="976"/>
                    <a:pt x="655" y="1048"/>
                  </a:cubicBezTo>
                  <a:cubicBezTo>
                    <a:pt x="655" y="1119"/>
                    <a:pt x="596" y="1179"/>
                    <a:pt x="524" y="1191"/>
                  </a:cubicBezTo>
                  <a:lnTo>
                    <a:pt x="524" y="869"/>
                  </a:lnTo>
                  <a:close/>
                  <a:moveTo>
                    <a:pt x="477" y="0"/>
                  </a:moveTo>
                  <a:cubicBezTo>
                    <a:pt x="453" y="0"/>
                    <a:pt x="417" y="24"/>
                    <a:pt x="417" y="48"/>
                  </a:cubicBezTo>
                  <a:lnTo>
                    <a:pt x="417" y="107"/>
                  </a:lnTo>
                  <a:cubicBezTo>
                    <a:pt x="191" y="131"/>
                    <a:pt x="60" y="250"/>
                    <a:pt x="60" y="476"/>
                  </a:cubicBezTo>
                  <a:cubicBezTo>
                    <a:pt x="60" y="703"/>
                    <a:pt x="227" y="774"/>
                    <a:pt x="417" y="845"/>
                  </a:cubicBezTo>
                  <a:lnTo>
                    <a:pt x="417" y="1226"/>
                  </a:lnTo>
                  <a:cubicBezTo>
                    <a:pt x="310" y="1203"/>
                    <a:pt x="274" y="1179"/>
                    <a:pt x="179" y="1107"/>
                  </a:cubicBezTo>
                  <a:cubicBezTo>
                    <a:pt x="160" y="1093"/>
                    <a:pt x="143" y="1087"/>
                    <a:pt x="127" y="1087"/>
                  </a:cubicBezTo>
                  <a:cubicBezTo>
                    <a:pt x="101" y="1087"/>
                    <a:pt x="77" y="1102"/>
                    <a:pt x="48" y="1131"/>
                  </a:cubicBezTo>
                  <a:cubicBezTo>
                    <a:pt x="0" y="1191"/>
                    <a:pt x="0" y="1250"/>
                    <a:pt x="48" y="1298"/>
                  </a:cubicBezTo>
                  <a:cubicBezTo>
                    <a:pt x="120" y="1405"/>
                    <a:pt x="274" y="1453"/>
                    <a:pt x="417" y="1453"/>
                  </a:cubicBezTo>
                  <a:lnTo>
                    <a:pt x="417" y="1512"/>
                  </a:lnTo>
                  <a:cubicBezTo>
                    <a:pt x="417" y="1536"/>
                    <a:pt x="453" y="1548"/>
                    <a:pt x="477" y="1548"/>
                  </a:cubicBezTo>
                  <a:cubicBezTo>
                    <a:pt x="512" y="1548"/>
                    <a:pt x="536" y="1536"/>
                    <a:pt x="536" y="1512"/>
                  </a:cubicBezTo>
                  <a:lnTo>
                    <a:pt x="536" y="1453"/>
                  </a:lnTo>
                  <a:cubicBezTo>
                    <a:pt x="727" y="1417"/>
                    <a:pt x="893" y="1298"/>
                    <a:pt x="893" y="1048"/>
                  </a:cubicBezTo>
                  <a:cubicBezTo>
                    <a:pt x="893" y="798"/>
                    <a:pt x="751" y="691"/>
                    <a:pt x="536" y="619"/>
                  </a:cubicBezTo>
                  <a:lnTo>
                    <a:pt x="536" y="286"/>
                  </a:lnTo>
                  <a:cubicBezTo>
                    <a:pt x="584" y="286"/>
                    <a:pt x="631" y="298"/>
                    <a:pt x="667" y="333"/>
                  </a:cubicBezTo>
                  <a:cubicBezTo>
                    <a:pt x="694" y="340"/>
                    <a:pt x="726" y="363"/>
                    <a:pt x="759" y="363"/>
                  </a:cubicBezTo>
                  <a:cubicBezTo>
                    <a:pt x="783" y="363"/>
                    <a:pt x="808" y="350"/>
                    <a:pt x="834" y="310"/>
                  </a:cubicBezTo>
                  <a:cubicBezTo>
                    <a:pt x="870" y="274"/>
                    <a:pt x="882" y="214"/>
                    <a:pt x="822" y="167"/>
                  </a:cubicBezTo>
                  <a:cubicBezTo>
                    <a:pt x="751" y="107"/>
                    <a:pt x="631" y="95"/>
                    <a:pt x="536" y="95"/>
                  </a:cubicBezTo>
                  <a:lnTo>
                    <a:pt x="536" y="48"/>
                  </a:lnTo>
                  <a:cubicBezTo>
                    <a:pt x="536" y="12"/>
                    <a:pt x="501" y="0"/>
                    <a:pt x="477"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35" name="Google Shape;3134;p42">
              <a:extLst>
                <a:ext uri="{FF2B5EF4-FFF2-40B4-BE49-F238E27FC236}">
                  <a16:creationId xmlns:a16="http://schemas.microsoft.com/office/drawing/2014/main" id="{3D0126B1-9508-4AD0-ABFB-BF1CE018163A}"/>
                </a:ext>
              </a:extLst>
            </p:cNvPr>
            <p:cNvSpPr/>
            <p:nvPr/>
          </p:nvSpPr>
          <p:spPr>
            <a:xfrm>
              <a:off x="4188988" y="3398001"/>
              <a:ext cx="81510" cy="81510"/>
            </a:xfrm>
            <a:custGeom>
              <a:avLst/>
              <a:gdLst/>
              <a:ahLst/>
              <a:cxnLst/>
              <a:rect l="l" t="t" r="r" b="b"/>
              <a:pathLst>
                <a:path w="2561" h="2561" extrusionOk="0">
                  <a:moveTo>
                    <a:pt x="1287" y="311"/>
                  </a:moveTo>
                  <a:cubicBezTo>
                    <a:pt x="1823" y="311"/>
                    <a:pt x="2251" y="739"/>
                    <a:pt x="2251" y="1275"/>
                  </a:cubicBezTo>
                  <a:cubicBezTo>
                    <a:pt x="2251" y="1811"/>
                    <a:pt x="1823" y="2251"/>
                    <a:pt x="1287" y="2251"/>
                  </a:cubicBezTo>
                  <a:cubicBezTo>
                    <a:pt x="751" y="2251"/>
                    <a:pt x="310" y="1811"/>
                    <a:pt x="310" y="1275"/>
                  </a:cubicBezTo>
                  <a:cubicBezTo>
                    <a:pt x="310" y="739"/>
                    <a:pt x="751" y="311"/>
                    <a:pt x="1287" y="311"/>
                  </a:cubicBezTo>
                  <a:close/>
                  <a:moveTo>
                    <a:pt x="1287" y="1"/>
                  </a:moveTo>
                  <a:cubicBezTo>
                    <a:pt x="572" y="1"/>
                    <a:pt x="1" y="584"/>
                    <a:pt x="1" y="1275"/>
                  </a:cubicBezTo>
                  <a:cubicBezTo>
                    <a:pt x="1" y="1989"/>
                    <a:pt x="584" y="2561"/>
                    <a:pt x="1287" y="2561"/>
                  </a:cubicBezTo>
                  <a:cubicBezTo>
                    <a:pt x="2001" y="2561"/>
                    <a:pt x="2561" y="1977"/>
                    <a:pt x="2561" y="1275"/>
                  </a:cubicBezTo>
                  <a:cubicBezTo>
                    <a:pt x="2561" y="584"/>
                    <a:pt x="2001" y="1"/>
                    <a:pt x="1287" y="1"/>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36" name="Google Shape;3135;p42">
              <a:extLst>
                <a:ext uri="{FF2B5EF4-FFF2-40B4-BE49-F238E27FC236}">
                  <a16:creationId xmlns:a16="http://schemas.microsoft.com/office/drawing/2014/main" id="{F544D527-6472-6790-C61A-1FB53AF449A6}"/>
                </a:ext>
              </a:extLst>
            </p:cNvPr>
            <p:cNvSpPr/>
            <p:nvPr/>
          </p:nvSpPr>
          <p:spPr>
            <a:xfrm>
              <a:off x="4090863" y="3380210"/>
              <a:ext cx="195930" cy="146311"/>
            </a:xfrm>
            <a:custGeom>
              <a:avLst/>
              <a:gdLst/>
              <a:ahLst/>
              <a:cxnLst/>
              <a:rect l="l" t="t" r="r" b="b"/>
              <a:pathLst>
                <a:path w="6156" h="4597" extrusionOk="0">
                  <a:moveTo>
                    <a:pt x="1810" y="1834"/>
                  </a:moveTo>
                  <a:cubicBezTo>
                    <a:pt x="2131" y="1834"/>
                    <a:pt x="2429" y="2001"/>
                    <a:pt x="2608" y="2274"/>
                  </a:cubicBezTo>
                  <a:cubicBezTo>
                    <a:pt x="2643" y="2405"/>
                    <a:pt x="2703" y="2536"/>
                    <a:pt x="2762" y="2667"/>
                  </a:cubicBezTo>
                  <a:cubicBezTo>
                    <a:pt x="2762" y="2715"/>
                    <a:pt x="2774" y="2763"/>
                    <a:pt x="2774" y="2810"/>
                  </a:cubicBezTo>
                  <a:cubicBezTo>
                    <a:pt x="2774" y="3346"/>
                    <a:pt x="2346" y="3775"/>
                    <a:pt x="1810" y="3775"/>
                  </a:cubicBezTo>
                  <a:cubicBezTo>
                    <a:pt x="1274" y="3775"/>
                    <a:pt x="834" y="3346"/>
                    <a:pt x="834" y="2810"/>
                  </a:cubicBezTo>
                  <a:cubicBezTo>
                    <a:pt x="834" y="2274"/>
                    <a:pt x="1274" y="1834"/>
                    <a:pt x="1810" y="1834"/>
                  </a:cubicBezTo>
                  <a:close/>
                  <a:moveTo>
                    <a:pt x="1810" y="1322"/>
                  </a:moveTo>
                  <a:cubicBezTo>
                    <a:pt x="2084" y="1322"/>
                    <a:pt x="2346" y="1393"/>
                    <a:pt x="2584" y="1536"/>
                  </a:cubicBezTo>
                  <a:cubicBezTo>
                    <a:pt x="2560" y="1620"/>
                    <a:pt x="2560" y="1703"/>
                    <a:pt x="2548" y="1774"/>
                  </a:cubicBezTo>
                  <a:cubicBezTo>
                    <a:pt x="2346" y="1632"/>
                    <a:pt x="2072" y="1536"/>
                    <a:pt x="1810" y="1536"/>
                  </a:cubicBezTo>
                  <a:cubicBezTo>
                    <a:pt x="1096" y="1536"/>
                    <a:pt x="524" y="2120"/>
                    <a:pt x="524" y="2822"/>
                  </a:cubicBezTo>
                  <a:cubicBezTo>
                    <a:pt x="524" y="3537"/>
                    <a:pt x="1107" y="4096"/>
                    <a:pt x="1810" y="4096"/>
                  </a:cubicBezTo>
                  <a:cubicBezTo>
                    <a:pt x="2417" y="4096"/>
                    <a:pt x="2917" y="3668"/>
                    <a:pt x="3060" y="3108"/>
                  </a:cubicBezTo>
                  <a:cubicBezTo>
                    <a:pt x="3120" y="3167"/>
                    <a:pt x="3155" y="3203"/>
                    <a:pt x="3239" y="3263"/>
                  </a:cubicBezTo>
                  <a:cubicBezTo>
                    <a:pt x="3036" y="3882"/>
                    <a:pt x="2477" y="4299"/>
                    <a:pt x="1810" y="4299"/>
                  </a:cubicBezTo>
                  <a:cubicBezTo>
                    <a:pt x="988" y="4299"/>
                    <a:pt x="322" y="3620"/>
                    <a:pt x="322" y="2810"/>
                  </a:cubicBezTo>
                  <a:cubicBezTo>
                    <a:pt x="322" y="1989"/>
                    <a:pt x="988" y="1322"/>
                    <a:pt x="1810" y="1322"/>
                  </a:cubicBezTo>
                  <a:close/>
                  <a:moveTo>
                    <a:pt x="4382" y="0"/>
                  </a:moveTo>
                  <a:cubicBezTo>
                    <a:pt x="3608" y="0"/>
                    <a:pt x="2929" y="500"/>
                    <a:pt x="2679" y="1179"/>
                  </a:cubicBezTo>
                  <a:cubicBezTo>
                    <a:pt x="2417" y="1036"/>
                    <a:pt x="2131" y="953"/>
                    <a:pt x="1822" y="953"/>
                  </a:cubicBezTo>
                  <a:cubicBezTo>
                    <a:pt x="822" y="953"/>
                    <a:pt x="0" y="1774"/>
                    <a:pt x="0" y="2775"/>
                  </a:cubicBezTo>
                  <a:cubicBezTo>
                    <a:pt x="0" y="3775"/>
                    <a:pt x="822" y="4596"/>
                    <a:pt x="1822" y="4596"/>
                  </a:cubicBezTo>
                  <a:cubicBezTo>
                    <a:pt x="2596" y="4596"/>
                    <a:pt x="3262" y="4120"/>
                    <a:pt x="3512" y="3417"/>
                  </a:cubicBezTo>
                  <a:cubicBezTo>
                    <a:pt x="3763" y="3548"/>
                    <a:pt x="4060" y="3644"/>
                    <a:pt x="4382" y="3644"/>
                  </a:cubicBezTo>
                  <a:cubicBezTo>
                    <a:pt x="4798" y="3644"/>
                    <a:pt x="5191" y="3489"/>
                    <a:pt x="5513" y="3239"/>
                  </a:cubicBezTo>
                  <a:cubicBezTo>
                    <a:pt x="5822" y="2989"/>
                    <a:pt x="6049" y="2632"/>
                    <a:pt x="6132" y="2239"/>
                  </a:cubicBezTo>
                  <a:cubicBezTo>
                    <a:pt x="6156" y="2167"/>
                    <a:pt x="6096" y="2072"/>
                    <a:pt x="6013" y="2060"/>
                  </a:cubicBezTo>
                  <a:cubicBezTo>
                    <a:pt x="6004" y="2059"/>
                    <a:pt x="5996" y="2058"/>
                    <a:pt x="5987" y="2058"/>
                  </a:cubicBezTo>
                  <a:cubicBezTo>
                    <a:pt x="5911" y="2058"/>
                    <a:pt x="5833" y="2104"/>
                    <a:pt x="5822" y="2179"/>
                  </a:cubicBezTo>
                  <a:cubicBezTo>
                    <a:pt x="5656" y="2870"/>
                    <a:pt x="5060" y="3322"/>
                    <a:pt x="4370" y="3322"/>
                  </a:cubicBezTo>
                  <a:cubicBezTo>
                    <a:pt x="3834" y="3322"/>
                    <a:pt x="3334" y="3048"/>
                    <a:pt x="3072" y="2572"/>
                  </a:cubicBezTo>
                  <a:cubicBezTo>
                    <a:pt x="3036" y="2417"/>
                    <a:pt x="2977" y="2274"/>
                    <a:pt x="2905" y="2132"/>
                  </a:cubicBezTo>
                  <a:cubicBezTo>
                    <a:pt x="2715" y="1215"/>
                    <a:pt x="3429" y="334"/>
                    <a:pt x="4370" y="334"/>
                  </a:cubicBezTo>
                  <a:cubicBezTo>
                    <a:pt x="5060" y="334"/>
                    <a:pt x="5656" y="810"/>
                    <a:pt x="5822" y="1477"/>
                  </a:cubicBezTo>
                  <a:cubicBezTo>
                    <a:pt x="5832" y="1556"/>
                    <a:pt x="5899" y="1602"/>
                    <a:pt x="5969" y="1602"/>
                  </a:cubicBezTo>
                  <a:cubicBezTo>
                    <a:pt x="5984" y="1602"/>
                    <a:pt x="5998" y="1600"/>
                    <a:pt x="6013" y="1596"/>
                  </a:cubicBezTo>
                  <a:cubicBezTo>
                    <a:pt x="6108" y="1584"/>
                    <a:pt x="6144" y="1489"/>
                    <a:pt x="6132" y="1405"/>
                  </a:cubicBezTo>
                  <a:cubicBezTo>
                    <a:pt x="6049" y="1024"/>
                    <a:pt x="5822" y="667"/>
                    <a:pt x="5513" y="405"/>
                  </a:cubicBezTo>
                  <a:cubicBezTo>
                    <a:pt x="5191" y="155"/>
                    <a:pt x="4775" y="0"/>
                    <a:pt x="4382"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37" name="Google Shape;3136;p42">
              <a:extLst>
                <a:ext uri="{FF2B5EF4-FFF2-40B4-BE49-F238E27FC236}">
                  <a16:creationId xmlns:a16="http://schemas.microsoft.com/office/drawing/2014/main" id="{387DE0F8-2567-09DA-C525-9AA9957B2935}"/>
                </a:ext>
              </a:extLst>
            </p:cNvPr>
            <p:cNvSpPr/>
            <p:nvPr/>
          </p:nvSpPr>
          <p:spPr>
            <a:xfrm>
              <a:off x="4215914" y="3415061"/>
              <a:ext cx="28072" cy="49301"/>
            </a:xfrm>
            <a:custGeom>
              <a:avLst/>
              <a:gdLst/>
              <a:ahLst/>
              <a:cxnLst/>
              <a:rect l="l" t="t" r="r" b="b"/>
              <a:pathLst>
                <a:path w="882" h="1549" extrusionOk="0">
                  <a:moveTo>
                    <a:pt x="405" y="298"/>
                  </a:moveTo>
                  <a:lnTo>
                    <a:pt x="405" y="584"/>
                  </a:lnTo>
                  <a:cubicBezTo>
                    <a:pt x="286" y="537"/>
                    <a:pt x="262" y="501"/>
                    <a:pt x="262" y="429"/>
                  </a:cubicBezTo>
                  <a:cubicBezTo>
                    <a:pt x="262" y="358"/>
                    <a:pt x="334" y="310"/>
                    <a:pt x="405" y="298"/>
                  </a:cubicBezTo>
                  <a:close/>
                  <a:moveTo>
                    <a:pt x="512" y="882"/>
                  </a:moveTo>
                  <a:cubicBezTo>
                    <a:pt x="631" y="918"/>
                    <a:pt x="643" y="977"/>
                    <a:pt x="643" y="1060"/>
                  </a:cubicBezTo>
                  <a:cubicBezTo>
                    <a:pt x="643" y="1144"/>
                    <a:pt x="584" y="1191"/>
                    <a:pt x="512" y="1203"/>
                  </a:cubicBezTo>
                  <a:lnTo>
                    <a:pt x="512" y="882"/>
                  </a:lnTo>
                  <a:close/>
                  <a:moveTo>
                    <a:pt x="465" y="1"/>
                  </a:moveTo>
                  <a:cubicBezTo>
                    <a:pt x="441" y="1"/>
                    <a:pt x="405" y="13"/>
                    <a:pt x="405" y="48"/>
                  </a:cubicBezTo>
                  <a:lnTo>
                    <a:pt x="405" y="96"/>
                  </a:lnTo>
                  <a:cubicBezTo>
                    <a:pt x="179" y="132"/>
                    <a:pt x="48" y="251"/>
                    <a:pt x="48" y="477"/>
                  </a:cubicBezTo>
                  <a:cubicBezTo>
                    <a:pt x="48" y="715"/>
                    <a:pt x="226" y="787"/>
                    <a:pt x="405" y="846"/>
                  </a:cubicBezTo>
                  <a:lnTo>
                    <a:pt x="405" y="1215"/>
                  </a:lnTo>
                  <a:cubicBezTo>
                    <a:pt x="298" y="1203"/>
                    <a:pt x="262" y="1156"/>
                    <a:pt x="167" y="1096"/>
                  </a:cubicBezTo>
                  <a:cubicBezTo>
                    <a:pt x="150" y="1084"/>
                    <a:pt x="133" y="1079"/>
                    <a:pt x="117" y="1079"/>
                  </a:cubicBezTo>
                  <a:cubicBezTo>
                    <a:pt x="53" y="1079"/>
                    <a:pt x="0" y="1158"/>
                    <a:pt x="0" y="1215"/>
                  </a:cubicBezTo>
                  <a:cubicBezTo>
                    <a:pt x="0" y="1251"/>
                    <a:pt x="24" y="1275"/>
                    <a:pt x="36" y="1299"/>
                  </a:cubicBezTo>
                  <a:cubicBezTo>
                    <a:pt x="107" y="1394"/>
                    <a:pt x="274" y="1441"/>
                    <a:pt x="405" y="1441"/>
                  </a:cubicBezTo>
                  <a:lnTo>
                    <a:pt x="405" y="1501"/>
                  </a:lnTo>
                  <a:cubicBezTo>
                    <a:pt x="405" y="1537"/>
                    <a:pt x="441" y="1549"/>
                    <a:pt x="465" y="1549"/>
                  </a:cubicBezTo>
                  <a:cubicBezTo>
                    <a:pt x="500" y="1549"/>
                    <a:pt x="524" y="1525"/>
                    <a:pt x="524" y="1501"/>
                  </a:cubicBezTo>
                  <a:lnTo>
                    <a:pt x="524" y="1441"/>
                  </a:lnTo>
                  <a:cubicBezTo>
                    <a:pt x="715" y="1406"/>
                    <a:pt x="881" y="1299"/>
                    <a:pt x="881" y="1037"/>
                  </a:cubicBezTo>
                  <a:cubicBezTo>
                    <a:pt x="881" y="787"/>
                    <a:pt x="715" y="703"/>
                    <a:pt x="524" y="620"/>
                  </a:cubicBezTo>
                  <a:lnTo>
                    <a:pt x="524" y="298"/>
                  </a:lnTo>
                  <a:cubicBezTo>
                    <a:pt x="596" y="298"/>
                    <a:pt x="631" y="310"/>
                    <a:pt x="703" y="358"/>
                  </a:cubicBezTo>
                  <a:cubicBezTo>
                    <a:pt x="717" y="362"/>
                    <a:pt x="732" y="364"/>
                    <a:pt x="746" y="364"/>
                  </a:cubicBezTo>
                  <a:cubicBezTo>
                    <a:pt x="777" y="364"/>
                    <a:pt x="805" y="351"/>
                    <a:pt x="822" y="310"/>
                  </a:cubicBezTo>
                  <a:cubicBezTo>
                    <a:pt x="857" y="263"/>
                    <a:pt x="869" y="203"/>
                    <a:pt x="810" y="156"/>
                  </a:cubicBezTo>
                  <a:cubicBezTo>
                    <a:pt x="738" y="96"/>
                    <a:pt x="619" y="84"/>
                    <a:pt x="524" y="84"/>
                  </a:cubicBezTo>
                  <a:lnTo>
                    <a:pt x="524" y="48"/>
                  </a:lnTo>
                  <a:cubicBezTo>
                    <a:pt x="524" y="13"/>
                    <a:pt x="500" y="1"/>
                    <a:pt x="465" y="1"/>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38" name="Google Shape;3137;p42">
              <a:extLst>
                <a:ext uri="{FF2B5EF4-FFF2-40B4-BE49-F238E27FC236}">
                  <a16:creationId xmlns:a16="http://schemas.microsoft.com/office/drawing/2014/main" id="{6FB437CC-6EEE-6AB1-8531-7DF210C2A3C7}"/>
                </a:ext>
              </a:extLst>
            </p:cNvPr>
            <p:cNvSpPr/>
            <p:nvPr/>
          </p:nvSpPr>
          <p:spPr>
            <a:xfrm>
              <a:off x="3988156" y="3495935"/>
              <a:ext cx="353954" cy="203155"/>
            </a:xfrm>
            <a:custGeom>
              <a:avLst/>
              <a:gdLst/>
              <a:ahLst/>
              <a:cxnLst/>
              <a:rect l="l" t="t" r="r" b="b"/>
              <a:pathLst>
                <a:path w="11121" h="6383" extrusionOk="0">
                  <a:moveTo>
                    <a:pt x="3525" y="1884"/>
                  </a:moveTo>
                  <a:cubicBezTo>
                    <a:pt x="3540" y="1884"/>
                    <a:pt x="3561" y="1898"/>
                    <a:pt x="3561" y="1925"/>
                  </a:cubicBezTo>
                  <a:cubicBezTo>
                    <a:pt x="3632" y="2103"/>
                    <a:pt x="4632" y="4770"/>
                    <a:pt x="4680" y="4854"/>
                  </a:cubicBezTo>
                  <a:cubicBezTo>
                    <a:pt x="4692" y="4865"/>
                    <a:pt x="4680" y="4901"/>
                    <a:pt x="4644" y="4901"/>
                  </a:cubicBezTo>
                  <a:lnTo>
                    <a:pt x="3930" y="5163"/>
                  </a:lnTo>
                  <a:cubicBezTo>
                    <a:pt x="3882" y="5032"/>
                    <a:pt x="2870" y="2341"/>
                    <a:pt x="2799" y="2163"/>
                  </a:cubicBezTo>
                  <a:lnTo>
                    <a:pt x="3513" y="1889"/>
                  </a:lnTo>
                  <a:cubicBezTo>
                    <a:pt x="3516" y="1886"/>
                    <a:pt x="3520" y="1884"/>
                    <a:pt x="3525" y="1884"/>
                  </a:cubicBezTo>
                  <a:close/>
                  <a:moveTo>
                    <a:pt x="2501" y="2294"/>
                  </a:moveTo>
                  <a:lnTo>
                    <a:pt x="3632" y="5306"/>
                  </a:lnTo>
                  <a:cubicBezTo>
                    <a:pt x="3096" y="5496"/>
                    <a:pt x="1763" y="5997"/>
                    <a:pt x="1536" y="6092"/>
                  </a:cubicBezTo>
                  <a:cubicBezTo>
                    <a:pt x="1528" y="6095"/>
                    <a:pt x="1520" y="6096"/>
                    <a:pt x="1511" y="6096"/>
                  </a:cubicBezTo>
                  <a:cubicBezTo>
                    <a:pt x="1485" y="6096"/>
                    <a:pt x="1459" y="6081"/>
                    <a:pt x="1441" y="6044"/>
                  </a:cubicBezTo>
                  <a:lnTo>
                    <a:pt x="358" y="3175"/>
                  </a:lnTo>
                  <a:cubicBezTo>
                    <a:pt x="346" y="3139"/>
                    <a:pt x="358" y="3103"/>
                    <a:pt x="405" y="3080"/>
                  </a:cubicBezTo>
                  <a:cubicBezTo>
                    <a:pt x="1084" y="2829"/>
                    <a:pt x="2025" y="2472"/>
                    <a:pt x="2501" y="2294"/>
                  </a:cubicBezTo>
                  <a:close/>
                  <a:moveTo>
                    <a:pt x="10195" y="0"/>
                  </a:moveTo>
                  <a:cubicBezTo>
                    <a:pt x="9949" y="0"/>
                    <a:pt x="9714" y="126"/>
                    <a:pt x="9537" y="282"/>
                  </a:cubicBezTo>
                  <a:lnTo>
                    <a:pt x="7835" y="1698"/>
                  </a:lnTo>
                  <a:cubicBezTo>
                    <a:pt x="7740" y="1496"/>
                    <a:pt x="7537" y="1282"/>
                    <a:pt x="7144" y="1282"/>
                  </a:cubicBezTo>
                  <a:cubicBezTo>
                    <a:pt x="6745" y="1282"/>
                    <a:pt x="6434" y="1280"/>
                    <a:pt x="6185" y="1280"/>
                  </a:cubicBezTo>
                  <a:cubicBezTo>
                    <a:pt x="5437" y="1280"/>
                    <a:pt x="5254" y="1294"/>
                    <a:pt x="4977" y="1401"/>
                  </a:cubicBezTo>
                  <a:lnTo>
                    <a:pt x="3882" y="1853"/>
                  </a:lnTo>
                  <a:lnTo>
                    <a:pt x="3870" y="1806"/>
                  </a:lnTo>
                  <a:cubicBezTo>
                    <a:pt x="3814" y="1665"/>
                    <a:pt x="3669" y="1569"/>
                    <a:pt x="3523" y="1569"/>
                  </a:cubicBezTo>
                  <a:cubicBezTo>
                    <a:pt x="3484" y="1569"/>
                    <a:pt x="3444" y="1576"/>
                    <a:pt x="3406" y="1591"/>
                  </a:cubicBezTo>
                  <a:lnTo>
                    <a:pt x="2596" y="1913"/>
                  </a:lnTo>
                  <a:cubicBezTo>
                    <a:pt x="2239" y="2044"/>
                    <a:pt x="1084" y="2472"/>
                    <a:pt x="298" y="2770"/>
                  </a:cubicBezTo>
                  <a:cubicBezTo>
                    <a:pt x="108" y="2841"/>
                    <a:pt x="1" y="3068"/>
                    <a:pt x="72" y="3258"/>
                  </a:cubicBezTo>
                  <a:lnTo>
                    <a:pt x="1167" y="6139"/>
                  </a:lnTo>
                  <a:cubicBezTo>
                    <a:pt x="1222" y="6285"/>
                    <a:pt x="1368" y="6382"/>
                    <a:pt x="1518" y="6382"/>
                  </a:cubicBezTo>
                  <a:cubicBezTo>
                    <a:pt x="1564" y="6382"/>
                    <a:pt x="1611" y="6373"/>
                    <a:pt x="1656" y="6354"/>
                  </a:cubicBezTo>
                  <a:cubicBezTo>
                    <a:pt x="1906" y="6270"/>
                    <a:pt x="3549" y="5639"/>
                    <a:pt x="3894" y="5508"/>
                  </a:cubicBezTo>
                  <a:lnTo>
                    <a:pt x="4763" y="5175"/>
                  </a:lnTo>
                  <a:cubicBezTo>
                    <a:pt x="4942" y="5104"/>
                    <a:pt x="5049" y="4901"/>
                    <a:pt x="4965" y="4723"/>
                  </a:cubicBezTo>
                  <a:lnTo>
                    <a:pt x="4954" y="4675"/>
                  </a:lnTo>
                  <a:cubicBezTo>
                    <a:pt x="5525" y="4437"/>
                    <a:pt x="5537" y="4413"/>
                    <a:pt x="6120" y="4413"/>
                  </a:cubicBezTo>
                  <a:cubicBezTo>
                    <a:pt x="6204" y="4413"/>
                    <a:pt x="6275" y="4330"/>
                    <a:pt x="6275" y="4246"/>
                  </a:cubicBezTo>
                  <a:cubicBezTo>
                    <a:pt x="6275" y="4151"/>
                    <a:pt x="6204" y="4080"/>
                    <a:pt x="6120" y="4080"/>
                  </a:cubicBezTo>
                  <a:cubicBezTo>
                    <a:pt x="5477" y="4080"/>
                    <a:pt x="5418" y="4127"/>
                    <a:pt x="4834" y="4377"/>
                  </a:cubicBezTo>
                  <a:lnTo>
                    <a:pt x="3989" y="2127"/>
                  </a:lnTo>
                  <a:lnTo>
                    <a:pt x="5073" y="1686"/>
                  </a:lnTo>
                  <a:cubicBezTo>
                    <a:pt x="5294" y="1601"/>
                    <a:pt x="5460" y="1589"/>
                    <a:pt x="6106" y="1589"/>
                  </a:cubicBezTo>
                  <a:cubicBezTo>
                    <a:pt x="6364" y="1589"/>
                    <a:pt x="6699" y="1591"/>
                    <a:pt x="7144" y="1591"/>
                  </a:cubicBezTo>
                  <a:cubicBezTo>
                    <a:pt x="7323" y="1591"/>
                    <a:pt x="7442" y="1651"/>
                    <a:pt x="7513" y="1770"/>
                  </a:cubicBezTo>
                  <a:cubicBezTo>
                    <a:pt x="7573" y="1865"/>
                    <a:pt x="7573" y="1948"/>
                    <a:pt x="7585" y="1984"/>
                  </a:cubicBezTo>
                  <a:cubicBezTo>
                    <a:pt x="7585" y="2044"/>
                    <a:pt x="7549" y="2341"/>
                    <a:pt x="7263" y="2389"/>
                  </a:cubicBezTo>
                  <a:cubicBezTo>
                    <a:pt x="6835" y="2460"/>
                    <a:pt x="5882" y="2591"/>
                    <a:pt x="5882" y="2591"/>
                  </a:cubicBezTo>
                  <a:cubicBezTo>
                    <a:pt x="5787" y="2603"/>
                    <a:pt x="5727" y="2687"/>
                    <a:pt x="5739" y="2770"/>
                  </a:cubicBezTo>
                  <a:cubicBezTo>
                    <a:pt x="5763" y="2841"/>
                    <a:pt x="5823" y="2901"/>
                    <a:pt x="5906" y="2901"/>
                  </a:cubicBezTo>
                  <a:lnTo>
                    <a:pt x="5942" y="2901"/>
                  </a:lnTo>
                  <a:cubicBezTo>
                    <a:pt x="5954" y="2901"/>
                    <a:pt x="6894" y="2770"/>
                    <a:pt x="7335" y="2699"/>
                  </a:cubicBezTo>
                  <a:cubicBezTo>
                    <a:pt x="7740" y="2627"/>
                    <a:pt x="7882" y="2282"/>
                    <a:pt x="7918" y="2056"/>
                  </a:cubicBezTo>
                  <a:lnTo>
                    <a:pt x="9764" y="520"/>
                  </a:lnTo>
                  <a:cubicBezTo>
                    <a:pt x="9875" y="408"/>
                    <a:pt x="10028" y="311"/>
                    <a:pt x="10188" y="311"/>
                  </a:cubicBezTo>
                  <a:cubicBezTo>
                    <a:pt x="10285" y="311"/>
                    <a:pt x="10384" y="347"/>
                    <a:pt x="10478" y="436"/>
                  </a:cubicBezTo>
                  <a:cubicBezTo>
                    <a:pt x="10776" y="734"/>
                    <a:pt x="10502" y="1091"/>
                    <a:pt x="10430" y="1151"/>
                  </a:cubicBezTo>
                  <a:cubicBezTo>
                    <a:pt x="10359" y="1222"/>
                    <a:pt x="8097" y="3651"/>
                    <a:pt x="8097" y="3651"/>
                  </a:cubicBezTo>
                  <a:cubicBezTo>
                    <a:pt x="7763" y="4020"/>
                    <a:pt x="7323" y="4080"/>
                    <a:pt x="7144" y="4092"/>
                  </a:cubicBezTo>
                  <a:lnTo>
                    <a:pt x="6847" y="4092"/>
                  </a:lnTo>
                  <a:cubicBezTo>
                    <a:pt x="6751" y="4092"/>
                    <a:pt x="6680" y="4175"/>
                    <a:pt x="6680" y="4258"/>
                  </a:cubicBezTo>
                  <a:cubicBezTo>
                    <a:pt x="6680" y="4353"/>
                    <a:pt x="6751" y="4425"/>
                    <a:pt x="6847" y="4425"/>
                  </a:cubicBezTo>
                  <a:lnTo>
                    <a:pt x="7156" y="4425"/>
                  </a:lnTo>
                  <a:cubicBezTo>
                    <a:pt x="7382" y="4413"/>
                    <a:pt x="7918" y="4330"/>
                    <a:pt x="8335" y="3877"/>
                  </a:cubicBezTo>
                  <a:cubicBezTo>
                    <a:pt x="10669" y="1377"/>
                    <a:pt x="10669" y="1377"/>
                    <a:pt x="10669" y="1353"/>
                  </a:cubicBezTo>
                  <a:cubicBezTo>
                    <a:pt x="10883" y="1151"/>
                    <a:pt x="11121" y="627"/>
                    <a:pt x="10704" y="210"/>
                  </a:cubicBezTo>
                  <a:cubicBezTo>
                    <a:pt x="10539" y="60"/>
                    <a:pt x="10365" y="0"/>
                    <a:pt x="10195"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grpSp>
      <p:grpSp>
        <p:nvGrpSpPr>
          <p:cNvPr id="41" name="Google Shape;2805;p42">
            <a:extLst>
              <a:ext uri="{FF2B5EF4-FFF2-40B4-BE49-F238E27FC236}">
                <a16:creationId xmlns:a16="http://schemas.microsoft.com/office/drawing/2014/main" id="{A118AE7B-C748-F973-1317-CC2BDB84A48C}"/>
              </a:ext>
            </a:extLst>
          </p:cNvPr>
          <p:cNvGrpSpPr/>
          <p:nvPr/>
        </p:nvGrpSpPr>
        <p:grpSpPr>
          <a:xfrm>
            <a:off x="6997090" y="2067832"/>
            <a:ext cx="948174" cy="803068"/>
            <a:chOff x="6671087" y="2009304"/>
            <a:chExt cx="332757" cy="281833"/>
          </a:xfrm>
          <a:solidFill>
            <a:srgbClr val="2F465A"/>
          </a:solidFill>
        </p:grpSpPr>
        <p:sp>
          <p:nvSpPr>
            <p:cNvPr id="42" name="Google Shape;2806;p42">
              <a:extLst>
                <a:ext uri="{FF2B5EF4-FFF2-40B4-BE49-F238E27FC236}">
                  <a16:creationId xmlns:a16="http://schemas.microsoft.com/office/drawing/2014/main" id="{1537118A-D509-87AA-61DF-788A34E35272}"/>
                </a:ext>
              </a:extLst>
            </p:cNvPr>
            <p:cNvSpPr/>
            <p:nvPr/>
          </p:nvSpPr>
          <p:spPr>
            <a:xfrm>
              <a:off x="6671087" y="2023658"/>
              <a:ext cx="331993" cy="267478"/>
            </a:xfrm>
            <a:custGeom>
              <a:avLst/>
              <a:gdLst/>
              <a:ahLst/>
              <a:cxnLst/>
              <a:rect l="l" t="t" r="r" b="b"/>
              <a:pathLst>
                <a:path w="10431" h="8404" extrusionOk="0">
                  <a:moveTo>
                    <a:pt x="6359" y="2272"/>
                  </a:moveTo>
                  <a:lnTo>
                    <a:pt x="7192" y="2546"/>
                  </a:lnTo>
                  <a:cubicBezTo>
                    <a:pt x="7203" y="2553"/>
                    <a:pt x="7215" y="2556"/>
                    <a:pt x="7228" y="2556"/>
                  </a:cubicBezTo>
                  <a:cubicBezTo>
                    <a:pt x="7261" y="2556"/>
                    <a:pt x="7298" y="2539"/>
                    <a:pt x="7323" y="2522"/>
                  </a:cubicBezTo>
                  <a:lnTo>
                    <a:pt x="7585" y="2332"/>
                  </a:lnTo>
                  <a:lnTo>
                    <a:pt x="9419" y="4725"/>
                  </a:lnTo>
                  <a:lnTo>
                    <a:pt x="9109" y="4951"/>
                  </a:lnTo>
                  <a:cubicBezTo>
                    <a:pt x="9097" y="4927"/>
                    <a:pt x="9061" y="4915"/>
                    <a:pt x="9050" y="4903"/>
                  </a:cubicBezTo>
                  <a:lnTo>
                    <a:pt x="5882" y="3177"/>
                  </a:lnTo>
                  <a:lnTo>
                    <a:pt x="6002" y="2987"/>
                  </a:lnTo>
                  <a:cubicBezTo>
                    <a:pt x="6049" y="2903"/>
                    <a:pt x="6025" y="2820"/>
                    <a:pt x="5954" y="2772"/>
                  </a:cubicBezTo>
                  <a:cubicBezTo>
                    <a:pt x="5929" y="2755"/>
                    <a:pt x="5900" y="2747"/>
                    <a:pt x="5873" y="2747"/>
                  </a:cubicBezTo>
                  <a:cubicBezTo>
                    <a:pt x="5822" y="2747"/>
                    <a:pt x="5775" y="2774"/>
                    <a:pt x="5752" y="2820"/>
                  </a:cubicBezTo>
                  <a:lnTo>
                    <a:pt x="5418" y="3356"/>
                  </a:lnTo>
                  <a:cubicBezTo>
                    <a:pt x="5406" y="3379"/>
                    <a:pt x="5382" y="3415"/>
                    <a:pt x="5382" y="3427"/>
                  </a:cubicBezTo>
                  <a:lnTo>
                    <a:pt x="5382" y="4725"/>
                  </a:lnTo>
                  <a:cubicBezTo>
                    <a:pt x="5382" y="4987"/>
                    <a:pt x="5168" y="5213"/>
                    <a:pt x="4894" y="5213"/>
                  </a:cubicBezTo>
                  <a:cubicBezTo>
                    <a:pt x="4632" y="5213"/>
                    <a:pt x="4406" y="4987"/>
                    <a:pt x="4406" y="4725"/>
                  </a:cubicBezTo>
                  <a:lnTo>
                    <a:pt x="4406" y="3439"/>
                  </a:lnTo>
                  <a:lnTo>
                    <a:pt x="4704" y="2272"/>
                  </a:lnTo>
                  <a:close/>
                  <a:moveTo>
                    <a:pt x="2692" y="1796"/>
                  </a:moveTo>
                  <a:lnTo>
                    <a:pt x="2930" y="1927"/>
                  </a:lnTo>
                  <a:lnTo>
                    <a:pt x="929" y="5392"/>
                  </a:lnTo>
                  <a:lnTo>
                    <a:pt x="691" y="5261"/>
                  </a:lnTo>
                  <a:lnTo>
                    <a:pt x="2692" y="1796"/>
                  </a:lnTo>
                  <a:close/>
                  <a:moveTo>
                    <a:pt x="3215" y="4844"/>
                  </a:moveTo>
                  <a:cubicBezTo>
                    <a:pt x="3323" y="4844"/>
                    <a:pt x="3406" y="4892"/>
                    <a:pt x="3489" y="4975"/>
                  </a:cubicBezTo>
                  <a:cubicBezTo>
                    <a:pt x="3608" y="5130"/>
                    <a:pt x="3561" y="5344"/>
                    <a:pt x="3406" y="5451"/>
                  </a:cubicBezTo>
                  <a:lnTo>
                    <a:pt x="2323" y="6213"/>
                  </a:lnTo>
                  <a:cubicBezTo>
                    <a:pt x="2266" y="6255"/>
                    <a:pt x="2199" y="6275"/>
                    <a:pt x="2131" y="6275"/>
                  </a:cubicBezTo>
                  <a:cubicBezTo>
                    <a:pt x="2027" y="6275"/>
                    <a:pt x="1923" y="6228"/>
                    <a:pt x="1858" y="6142"/>
                  </a:cubicBezTo>
                  <a:cubicBezTo>
                    <a:pt x="1763" y="5987"/>
                    <a:pt x="1787" y="5785"/>
                    <a:pt x="1942" y="5677"/>
                  </a:cubicBezTo>
                  <a:lnTo>
                    <a:pt x="3025" y="4903"/>
                  </a:lnTo>
                  <a:cubicBezTo>
                    <a:pt x="3085" y="4856"/>
                    <a:pt x="3156" y="4844"/>
                    <a:pt x="3215" y="4844"/>
                  </a:cubicBezTo>
                  <a:close/>
                  <a:moveTo>
                    <a:pt x="3811" y="5606"/>
                  </a:moveTo>
                  <a:cubicBezTo>
                    <a:pt x="3918" y="5606"/>
                    <a:pt x="4001" y="5665"/>
                    <a:pt x="4061" y="5737"/>
                  </a:cubicBezTo>
                  <a:cubicBezTo>
                    <a:pt x="4180" y="5880"/>
                    <a:pt x="4144" y="6106"/>
                    <a:pt x="3989" y="6213"/>
                  </a:cubicBezTo>
                  <a:lnTo>
                    <a:pt x="3156" y="6820"/>
                  </a:lnTo>
                  <a:cubicBezTo>
                    <a:pt x="3100" y="6863"/>
                    <a:pt x="3032" y="6883"/>
                    <a:pt x="2964" y="6883"/>
                  </a:cubicBezTo>
                  <a:cubicBezTo>
                    <a:pt x="2861" y="6883"/>
                    <a:pt x="2756" y="6835"/>
                    <a:pt x="2692" y="6749"/>
                  </a:cubicBezTo>
                  <a:cubicBezTo>
                    <a:pt x="2573" y="6594"/>
                    <a:pt x="2620" y="6380"/>
                    <a:pt x="2775" y="6273"/>
                  </a:cubicBezTo>
                  <a:lnTo>
                    <a:pt x="3573" y="5689"/>
                  </a:lnTo>
                  <a:cubicBezTo>
                    <a:pt x="3608" y="5677"/>
                    <a:pt x="3632" y="5642"/>
                    <a:pt x="3668" y="5630"/>
                  </a:cubicBezTo>
                  <a:cubicBezTo>
                    <a:pt x="3704" y="5618"/>
                    <a:pt x="3763" y="5606"/>
                    <a:pt x="3811" y="5606"/>
                  </a:cubicBezTo>
                  <a:close/>
                  <a:moveTo>
                    <a:pt x="4415" y="6386"/>
                  </a:moveTo>
                  <a:cubicBezTo>
                    <a:pt x="4516" y="6386"/>
                    <a:pt x="4617" y="6431"/>
                    <a:pt x="4680" y="6523"/>
                  </a:cubicBezTo>
                  <a:cubicBezTo>
                    <a:pt x="4799" y="6666"/>
                    <a:pt x="4751" y="6892"/>
                    <a:pt x="4597" y="6999"/>
                  </a:cubicBezTo>
                  <a:lnTo>
                    <a:pt x="4001" y="7416"/>
                  </a:lnTo>
                  <a:cubicBezTo>
                    <a:pt x="3946" y="7462"/>
                    <a:pt x="3883" y="7479"/>
                    <a:pt x="3814" y="7479"/>
                  </a:cubicBezTo>
                  <a:cubicBezTo>
                    <a:pt x="3793" y="7479"/>
                    <a:pt x="3773" y="7478"/>
                    <a:pt x="3751" y="7475"/>
                  </a:cubicBezTo>
                  <a:cubicBezTo>
                    <a:pt x="3668" y="7463"/>
                    <a:pt x="3585" y="7416"/>
                    <a:pt x="3525" y="7344"/>
                  </a:cubicBezTo>
                  <a:cubicBezTo>
                    <a:pt x="3430" y="7189"/>
                    <a:pt x="3454" y="6987"/>
                    <a:pt x="3608" y="6880"/>
                  </a:cubicBezTo>
                  <a:lnTo>
                    <a:pt x="4180" y="6463"/>
                  </a:lnTo>
                  <a:lnTo>
                    <a:pt x="4216" y="6451"/>
                  </a:lnTo>
                  <a:cubicBezTo>
                    <a:pt x="4274" y="6407"/>
                    <a:pt x="4344" y="6386"/>
                    <a:pt x="4415" y="6386"/>
                  </a:cubicBezTo>
                  <a:close/>
                  <a:moveTo>
                    <a:pt x="2894" y="2594"/>
                  </a:moveTo>
                  <a:lnTo>
                    <a:pt x="3168" y="2760"/>
                  </a:lnTo>
                  <a:cubicBezTo>
                    <a:pt x="3193" y="2769"/>
                    <a:pt x="3212" y="2777"/>
                    <a:pt x="3234" y="2777"/>
                  </a:cubicBezTo>
                  <a:cubicBezTo>
                    <a:pt x="3243" y="2777"/>
                    <a:pt x="3253" y="2776"/>
                    <a:pt x="3263" y="2772"/>
                  </a:cubicBezTo>
                  <a:lnTo>
                    <a:pt x="3977" y="2677"/>
                  </a:lnTo>
                  <a:lnTo>
                    <a:pt x="4239" y="2784"/>
                  </a:lnTo>
                  <a:lnTo>
                    <a:pt x="4097" y="3379"/>
                  </a:lnTo>
                  <a:lnTo>
                    <a:pt x="4097" y="3415"/>
                  </a:lnTo>
                  <a:lnTo>
                    <a:pt x="4097" y="4701"/>
                  </a:lnTo>
                  <a:cubicBezTo>
                    <a:pt x="4097" y="5154"/>
                    <a:pt x="4454" y="5511"/>
                    <a:pt x="4894" y="5511"/>
                  </a:cubicBezTo>
                  <a:cubicBezTo>
                    <a:pt x="5347" y="5511"/>
                    <a:pt x="5704" y="5154"/>
                    <a:pt x="5704" y="4701"/>
                  </a:cubicBezTo>
                  <a:lnTo>
                    <a:pt x="5704" y="3439"/>
                  </a:lnTo>
                  <a:lnTo>
                    <a:pt x="5728" y="3391"/>
                  </a:lnTo>
                  <a:lnTo>
                    <a:pt x="8919" y="5118"/>
                  </a:lnTo>
                  <a:cubicBezTo>
                    <a:pt x="9061" y="5261"/>
                    <a:pt x="9121" y="5463"/>
                    <a:pt x="9038" y="5630"/>
                  </a:cubicBezTo>
                  <a:cubicBezTo>
                    <a:pt x="8973" y="5742"/>
                    <a:pt x="8860" y="5806"/>
                    <a:pt x="8742" y="5806"/>
                  </a:cubicBezTo>
                  <a:cubicBezTo>
                    <a:pt x="8685" y="5806"/>
                    <a:pt x="8627" y="5792"/>
                    <a:pt x="8573" y="5761"/>
                  </a:cubicBezTo>
                  <a:lnTo>
                    <a:pt x="6799" y="4796"/>
                  </a:lnTo>
                  <a:cubicBezTo>
                    <a:pt x="6777" y="4781"/>
                    <a:pt x="6753" y="4775"/>
                    <a:pt x="6730" y="4775"/>
                  </a:cubicBezTo>
                  <a:cubicBezTo>
                    <a:pt x="6679" y="4775"/>
                    <a:pt x="6630" y="4807"/>
                    <a:pt x="6597" y="4856"/>
                  </a:cubicBezTo>
                  <a:cubicBezTo>
                    <a:pt x="6549" y="4927"/>
                    <a:pt x="6585" y="5023"/>
                    <a:pt x="6656" y="5058"/>
                  </a:cubicBezTo>
                  <a:lnTo>
                    <a:pt x="8133" y="5868"/>
                  </a:lnTo>
                  <a:cubicBezTo>
                    <a:pt x="8288" y="5951"/>
                    <a:pt x="8347" y="6166"/>
                    <a:pt x="8264" y="6332"/>
                  </a:cubicBezTo>
                  <a:cubicBezTo>
                    <a:pt x="8198" y="6439"/>
                    <a:pt x="8080" y="6501"/>
                    <a:pt x="7959" y="6501"/>
                  </a:cubicBezTo>
                  <a:cubicBezTo>
                    <a:pt x="7905" y="6501"/>
                    <a:pt x="7851" y="6489"/>
                    <a:pt x="7799" y="6463"/>
                  </a:cubicBezTo>
                  <a:lnTo>
                    <a:pt x="6299" y="5642"/>
                  </a:lnTo>
                  <a:cubicBezTo>
                    <a:pt x="6277" y="5627"/>
                    <a:pt x="6252" y="5620"/>
                    <a:pt x="6227" y="5620"/>
                  </a:cubicBezTo>
                  <a:cubicBezTo>
                    <a:pt x="6173" y="5620"/>
                    <a:pt x="6118" y="5652"/>
                    <a:pt x="6085" y="5701"/>
                  </a:cubicBezTo>
                  <a:cubicBezTo>
                    <a:pt x="6049" y="5773"/>
                    <a:pt x="6073" y="5868"/>
                    <a:pt x="6144" y="5916"/>
                  </a:cubicBezTo>
                  <a:lnTo>
                    <a:pt x="7371" y="6570"/>
                  </a:lnTo>
                  <a:cubicBezTo>
                    <a:pt x="7537" y="6654"/>
                    <a:pt x="7597" y="6868"/>
                    <a:pt x="7502" y="7023"/>
                  </a:cubicBezTo>
                  <a:cubicBezTo>
                    <a:pt x="7444" y="7139"/>
                    <a:pt x="7322" y="7203"/>
                    <a:pt x="7197" y="7203"/>
                  </a:cubicBezTo>
                  <a:cubicBezTo>
                    <a:pt x="7143" y="7203"/>
                    <a:pt x="7088" y="7191"/>
                    <a:pt x="7037" y="7166"/>
                  </a:cubicBezTo>
                  <a:lnTo>
                    <a:pt x="5775" y="6463"/>
                  </a:lnTo>
                  <a:cubicBezTo>
                    <a:pt x="5753" y="6448"/>
                    <a:pt x="5728" y="6442"/>
                    <a:pt x="5704" y="6442"/>
                  </a:cubicBezTo>
                  <a:cubicBezTo>
                    <a:pt x="5650" y="6442"/>
                    <a:pt x="5597" y="6474"/>
                    <a:pt x="5573" y="6523"/>
                  </a:cubicBezTo>
                  <a:cubicBezTo>
                    <a:pt x="5525" y="6594"/>
                    <a:pt x="5549" y="6689"/>
                    <a:pt x="5632" y="6725"/>
                  </a:cubicBezTo>
                  <a:lnTo>
                    <a:pt x="6609" y="7261"/>
                  </a:lnTo>
                  <a:cubicBezTo>
                    <a:pt x="6775" y="7356"/>
                    <a:pt x="6835" y="7559"/>
                    <a:pt x="6740" y="7725"/>
                  </a:cubicBezTo>
                  <a:cubicBezTo>
                    <a:pt x="6683" y="7838"/>
                    <a:pt x="6567" y="7902"/>
                    <a:pt x="6450" y="7902"/>
                  </a:cubicBezTo>
                  <a:cubicBezTo>
                    <a:pt x="6394" y="7902"/>
                    <a:pt x="6337" y="7887"/>
                    <a:pt x="6287" y="7856"/>
                  </a:cubicBezTo>
                  <a:lnTo>
                    <a:pt x="5597" y="7487"/>
                  </a:lnTo>
                  <a:cubicBezTo>
                    <a:pt x="5597" y="7344"/>
                    <a:pt x="5549" y="7201"/>
                    <a:pt x="5466" y="7082"/>
                  </a:cubicBezTo>
                  <a:cubicBezTo>
                    <a:pt x="5347" y="6939"/>
                    <a:pt x="5168" y="6844"/>
                    <a:pt x="4990" y="6832"/>
                  </a:cubicBezTo>
                  <a:cubicBezTo>
                    <a:pt x="4990" y="6820"/>
                    <a:pt x="4990" y="6808"/>
                    <a:pt x="5001" y="6785"/>
                  </a:cubicBezTo>
                  <a:cubicBezTo>
                    <a:pt x="5037" y="6606"/>
                    <a:pt x="4990" y="6451"/>
                    <a:pt x="4882" y="6308"/>
                  </a:cubicBezTo>
                  <a:cubicBezTo>
                    <a:pt x="4763" y="6166"/>
                    <a:pt x="4585" y="6070"/>
                    <a:pt x="4406" y="6058"/>
                  </a:cubicBezTo>
                  <a:cubicBezTo>
                    <a:pt x="4406" y="6046"/>
                    <a:pt x="4406" y="6035"/>
                    <a:pt x="4418" y="6011"/>
                  </a:cubicBezTo>
                  <a:cubicBezTo>
                    <a:pt x="4454" y="5832"/>
                    <a:pt x="4406" y="5677"/>
                    <a:pt x="4299" y="5535"/>
                  </a:cubicBezTo>
                  <a:cubicBezTo>
                    <a:pt x="4180" y="5392"/>
                    <a:pt x="4001" y="5296"/>
                    <a:pt x="3823" y="5284"/>
                  </a:cubicBezTo>
                  <a:cubicBezTo>
                    <a:pt x="3823" y="5273"/>
                    <a:pt x="3823" y="5261"/>
                    <a:pt x="3847" y="5237"/>
                  </a:cubicBezTo>
                  <a:cubicBezTo>
                    <a:pt x="3870" y="5058"/>
                    <a:pt x="3823" y="4903"/>
                    <a:pt x="3727" y="4761"/>
                  </a:cubicBezTo>
                  <a:cubicBezTo>
                    <a:pt x="3600" y="4597"/>
                    <a:pt x="3413" y="4515"/>
                    <a:pt x="3222" y="4515"/>
                  </a:cubicBezTo>
                  <a:cubicBezTo>
                    <a:pt x="3093" y="4515"/>
                    <a:pt x="2962" y="4553"/>
                    <a:pt x="2846" y="4630"/>
                  </a:cubicBezTo>
                  <a:lnTo>
                    <a:pt x="1775" y="5404"/>
                  </a:lnTo>
                  <a:lnTo>
                    <a:pt x="1382" y="5201"/>
                  </a:lnTo>
                  <a:lnTo>
                    <a:pt x="2894" y="2594"/>
                  </a:lnTo>
                  <a:close/>
                  <a:moveTo>
                    <a:pt x="5009" y="7159"/>
                  </a:moveTo>
                  <a:cubicBezTo>
                    <a:pt x="5109" y="7159"/>
                    <a:pt x="5207" y="7205"/>
                    <a:pt x="5263" y="7297"/>
                  </a:cubicBezTo>
                  <a:cubicBezTo>
                    <a:pt x="5311" y="7356"/>
                    <a:pt x="5347" y="7451"/>
                    <a:pt x="5335" y="7535"/>
                  </a:cubicBezTo>
                  <a:cubicBezTo>
                    <a:pt x="5311" y="7630"/>
                    <a:pt x="5263" y="7701"/>
                    <a:pt x="5192" y="7761"/>
                  </a:cubicBezTo>
                  <a:lnTo>
                    <a:pt x="4835" y="8011"/>
                  </a:lnTo>
                  <a:cubicBezTo>
                    <a:pt x="4778" y="8053"/>
                    <a:pt x="4711" y="8073"/>
                    <a:pt x="4643" y="8073"/>
                  </a:cubicBezTo>
                  <a:cubicBezTo>
                    <a:pt x="4539" y="8073"/>
                    <a:pt x="4435" y="8026"/>
                    <a:pt x="4370" y="7940"/>
                  </a:cubicBezTo>
                  <a:cubicBezTo>
                    <a:pt x="4275" y="7785"/>
                    <a:pt x="4299" y="7582"/>
                    <a:pt x="4454" y="7475"/>
                  </a:cubicBezTo>
                  <a:lnTo>
                    <a:pt x="4775" y="7237"/>
                  </a:lnTo>
                  <a:lnTo>
                    <a:pt x="4811" y="7225"/>
                  </a:lnTo>
                  <a:cubicBezTo>
                    <a:pt x="4869" y="7181"/>
                    <a:pt x="4940" y="7159"/>
                    <a:pt x="5009" y="7159"/>
                  </a:cubicBezTo>
                  <a:close/>
                  <a:moveTo>
                    <a:pt x="182" y="0"/>
                  </a:moveTo>
                  <a:cubicBezTo>
                    <a:pt x="131" y="0"/>
                    <a:pt x="81" y="32"/>
                    <a:pt x="48" y="81"/>
                  </a:cubicBezTo>
                  <a:cubicBezTo>
                    <a:pt x="1" y="153"/>
                    <a:pt x="25" y="248"/>
                    <a:pt x="108" y="284"/>
                  </a:cubicBezTo>
                  <a:lnTo>
                    <a:pt x="2430" y="1629"/>
                  </a:lnTo>
                  <a:lnTo>
                    <a:pt x="418" y="5094"/>
                  </a:lnTo>
                  <a:lnTo>
                    <a:pt x="251" y="5011"/>
                  </a:lnTo>
                  <a:cubicBezTo>
                    <a:pt x="226" y="4994"/>
                    <a:pt x="200" y="4986"/>
                    <a:pt x="175" y="4986"/>
                  </a:cubicBezTo>
                  <a:cubicBezTo>
                    <a:pt x="126" y="4986"/>
                    <a:pt x="80" y="5015"/>
                    <a:pt x="48" y="5070"/>
                  </a:cubicBezTo>
                  <a:cubicBezTo>
                    <a:pt x="1" y="5142"/>
                    <a:pt x="25" y="5225"/>
                    <a:pt x="108" y="5273"/>
                  </a:cubicBezTo>
                  <a:lnTo>
                    <a:pt x="906" y="5737"/>
                  </a:lnTo>
                  <a:cubicBezTo>
                    <a:pt x="932" y="5752"/>
                    <a:pt x="958" y="5759"/>
                    <a:pt x="983" y="5759"/>
                  </a:cubicBezTo>
                  <a:cubicBezTo>
                    <a:pt x="1038" y="5759"/>
                    <a:pt x="1087" y="5726"/>
                    <a:pt x="1120" y="5677"/>
                  </a:cubicBezTo>
                  <a:lnTo>
                    <a:pt x="1239" y="5463"/>
                  </a:lnTo>
                  <a:lnTo>
                    <a:pt x="1561" y="5642"/>
                  </a:lnTo>
                  <a:cubicBezTo>
                    <a:pt x="1465" y="5856"/>
                    <a:pt x="1465" y="6106"/>
                    <a:pt x="1608" y="6320"/>
                  </a:cubicBezTo>
                  <a:cubicBezTo>
                    <a:pt x="1727" y="6499"/>
                    <a:pt x="1942" y="6582"/>
                    <a:pt x="2132" y="6582"/>
                  </a:cubicBezTo>
                  <a:cubicBezTo>
                    <a:pt x="2192" y="6582"/>
                    <a:pt x="2263" y="6570"/>
                    <a:pt x="2323" y="6558"/>
                  </a:cubicBezTo>
                  <a:cubicBezTo>
                    <a:pt x="2323" y="6689"/>
                    <a:pt x="2370" y="6820"/>
                    <a:pt x="2442" y="6928"/>
                  </a:cubicBezTo>
                  <a:cubicBezTo>
                    <a:pt x="2561" y="7094"/>
                    <a:pt x="2751" y="7178"/>
                    <a:pt x="2965" y="7178"/>
                  </a:cubicBezTo>
                  <a:cubicBezTo>
                    <a:pt x="3025" y="7178"/>
                    <a:pt x="3096" y="7166"/>
                    <a:pt x="3156" y="7154"/>
                  </a:cubicBezTo>
                  <a:cubicBezTo>
                    <a:pt x="3156" y="7285"/>
                    <a:pt x="3204" y="7404"/>
                    <a:pt x="3275" y="7523"/>
                  </a:cubicBezTo>
                  <a:cubicBezTo>
                    <a:pt x="3382" y="7654"/>
                    <a:pt x="3525" y="7749"/>
                    <a:pt x="3692" y="7773"/>
                  </a:cubicBezTo>
                  <a:cubicBezTo>
                    <a:pt x="3716" y="7773"/>
                    <a:pt x="3763" y="7785"/>
                    <a:pt x="3799" y="7785"/>
                  </a:cubicBezTo>
                  <a:cubicBezTo>
                    <a:pt x="3858" y="7785"/>
                    <a:pt x="3930" y="7773"/>
                    <a:pt x="3989" y="7761"/>
                  </a:cubicBezTo>
                  <a:cubicBezTo>
                    <a:pt x="3989" y="7892"/>
                    <a:pt x="4037" y="8011"/>
                    <a:pt x="4108" y="8130"/>
                  </a:cubicBezTo>
                  <a:cubicBezTo>
                    <a:pt x="4216" y="8261"/>
                    <a:pt x="4358" y="8356"/>
                    <a:pt x="4525" y="8380"/>
                  </a:cubicBezTo>
                  <a:cubicBezTo>
                    <a:pt x="4549" y="8380"/>
                    <a:pt x="4597" y="8404"/>
                    <a:pt x="4632" y="8404"/>
                  </a:cubicBezTo>
                  <a:cubicBezTo>
                    <a:pt x="4763" y="8404"/>
                    <a:pt x="4894" y="8356"/>
                    <a:pt x="5001" y="8285"/>
                  </a:cubicBezTo>
                  <a:lnTo>
                    <a:pt x="5359" y="8023"/>
                  </a:lnTo>
                  <a:cubicBezTo>
                    <a:pt x="5430" y="7963"/>
                    <a:pt x="5490" y="7904"/>
                    <a:pt x="5537" y="7820"/>
                  </a:cubicBezTo>
                  <a:lnTo>
                    <a:pt x="6156" y="8166"/>
                  </a:lnTo>
                  <a:cubicBezTo>
                    <a:pt x="6252" y="8201"/>
                    <a:pt x="6359" y="8237"/>
                    <a:pt x="6478" y="8237"/>
                  </a:cubicBezTo>
                  <a:cubicBezTo>
                    <a:pt x="6537" y="8237"/>
                    <a:pt x="6597" y="8225"/>
                    <a:pt x="6656" y="8201"/>
                  </a:cubicBezTo>
                  <a:cubicBezTo>
                    <a:pt x="6811" y="8166"/>
                    <a:pt x="6954" y="8047"/>
                    <a:pt x="7037" y="7892"/>
                  </a:cubicBezTo>
                  <a:cubicBezTo>
                    <a:pt x="7097" y="7773"/>
                    <a:pt x="7133" y="7642"/>
                    <a:pt x="7109" y="7523"/>
                  </a:cubicBezTo>
                  <a:cubicBezTo>
                    <a:pt x="7156" y="7523"/>
                    <a:pt x="7192" y="7535"/>
                    <a:pt x="7228" y="7535"/>
                  </a:cubicBezTo>
                  <a:cubicBezTo>
                    <a:pt x="7454" y="7535"/>
                    <a:pt x="7680" y="7416"/>
                    <a:pt x="7799" y="7213"/>
                  </a:cubicBezTo>
                  <a:cubicBezTo>
                    <a:pt x="7859" y="7094"/>
                    <a:pt x="7883" y="6951"/>
                    <a:pt x="7871" y="6832"/>
                  </a:cubicBezTo>
                  <a:cubicBezTo>
                    <a:pt x="7918" y="6832"/>
                    <a:pt x="7942" y="6856"/>
                    <a:pt x="7990" y="6856"/>
                  </a:cubicBezTo>
                  <a:cubicBezTo>
                    <a:pt x="8216" y="6856"/>
                    <a:pt x="8442" y="6737"/>
                    <a:pt x="8561" y="6523"/>
                  </a:cubicBezTo>
                  <a:cubicBezTo>
                    <a:pt x="8621" y="6404"/>
                    <a:pt x="8645" y="6273"/>
                    <a:pt x="8633" y="6154"/>
                  </a:cubicBezTo>
                  <a:cubicBezTo>
                    <a:pt x="8680" y="6154"/>
                    <a:pt x="8704" y="6166"/>
                    <a:pt x="8752" y="6166"/>
                  </a:cubicBezTo>
                  <a:cubicBezTo>
                    <a:pt x="8811" y="6166"/>
                    <a:pt x="8871" y="6154"/>
                    <a:pt x="8930" y="6142"/>
                  </a:cubicBezTo>
                  <a:cubicBezTo>
                    <a:pt x="9097" y="6094"/>
                    <a:pt x="9228" y="5975"/>
                    <a:pt x="9311" y="5820"/>
                  </a:cubicBezTo>
                  <a:cubicBezTo>
                    <a:pt x="9407" y="5677"/>
                    <a:pt x="9419" y="5499"/>
                    <a:pt x="9359" y="5332"/>
                  </a:cubicBezTo>
                  <a:cubicBezTo>
                    <a:pt x="9347" y="5284"/>
                    <a:pt x="9335" y="5261"/>
                    <a:pt x="9311" y="5213"/>
                  </a:cubicBezTo>
                  <a:lnTo>
                    <a:pt x="9585" y="5023"/>
                  </a:lnTo>
                  <a:lnTo>
                    <a:pt x="9728" y="5201"/>
                  </a:lnTo>
                  <a:cubicBezTo>
                    <a:pt x="9756" y="5236"/>
                    <a:pt x="9804" y="5254"/>
                    <a:pt x="9853" y="5254"/>
                  </a:cubicBezTo>
                  <a:cubicBezTo>
                    <a:pt x="9889" y="5254"/>
                    <a:pt x="9925" y="5245"/>
                    <a:pt x="9954" y="5225"/>
                  </a:cubicBezTo>
                  <a:lnTo>
                    <a:pt x="10371" y="4903"/>
                  </a:lnTo>
                  <a:cubicBezTo>
                    <a:pt x="10431" y="4808"/>
                    <a:pt x="10431" y="4725"/>
                    <a:pt x="10395" y="4653"/>
                  </a:cubicBezTo>
                  <a:cubicBezTo>
                    <a:pt x="10350" y="4616"/>
                    <a:pt x="10300" y="4592"/>
                    <a:pt x="10254" y="4592"/>
                  </a:cubicBezTo>
                  <a:cubicBezTo>
                    <a:pt x="10228" y="4592"/>
                    <a:pt x="10202" y="4600"/>
                    <a:pt x="10181" y="4618"/>
                  </a:cubicBezTo>
                  <a:lnTo>
                    <a:pt x="9883" y="4856"/>
                  </a:lnTo>
                  <a:lnTo>
                    <a:pt x="7454" y="1689"/>
                  </a:lnTo>
                  <a:lnTo>
                    <a:pt x="8835" y="796"/>
                  </a:lnTo>
                  <a:cubicBezTo>
                    <a:pt x="8919" y="748"/>
                    <a:pt x="8930" y="665"/>
                    <a:pt x="8883" y="582"/>
                  </a:cubicBezTo>
                  <a:cubicBezTo>
                    <a:pt x="8854" y="539"/>
                    <a:pt x="8813" y="517"/>
                    <a:pt x="8769" y="517"/>
                  </a:cubicBezTo>
                  <a:cubicBezTo>
                    <a:pt x="8740" y="517"/>
                    <a:pt x="8709" y="527"/>
                    <a:pt x="8680" y="546"/>
                  </a:cubicBezTo>
                  <a:lnTo>
                    <a:pt x="7156" y="1522"/>
                  </a:lnTo>
                  <a:cubicBezTo>
                    <a:pt x="7085" y="1570"/>
                    <a:pt x="7073" y="1677"/>
                    <a:pt x="7109" y="1748"/>
                  </a:cubicBezTo>
                  <a:lnTo>
                    <a:pt x="7395" y="2106"/>
                  </a:lnTo>
                  <a:lnTo>
                    <a:pt x="7204" y="2248"/>
                  </a:lnTo>
                  <a:lnTo>
                    <a:pt x="6418" y="1998"/>
                  </a:lnTo>
                  <a:cubicBezTo>
                    <a:pt x="6406" y="1998"/>
                    <a:pt x="6383" y="1986"/>
                    <a:pt x="6371" y="1986"/>
                  </a:cubicBezTo>
                  <a:lnTo>
                    <a:pt x="4585" y="1986"/>
                  </a:lnTo>
                  <a:cubicBezTo>
                    <a:pt x="4513" y="1986"/>
                    <a:pt x="4454" y="2034"/>
                    <a:pt x="4442" y="2106"/>
                  </a:cubicBezTo>
                  <a:lnTo>
                    <a:pt x="4335" y="2510"/>
                  </a:lnTo>
                  <a:lnTo>
                    <a:pt x="4073" y="2403"/>
                  </a:lnTo>
                  <a:cubicBezTo>
                    <a:pt x="4049" y="2391"/>
                    <a:pt x="4037" y="2391"/>
                    <a:pt x="4001" y="2391"/>
                  </a:cubicBezTo>
                  <a:lnTo>
                    <a:pt x="3287" y="2475"/>
                  </a:lnTo>
                  <a:lnTo>
                    <a:pt x="3049" y="2344"/>
                  </a:lnTo>
                  <a:lnTo>
                    <a:pt x="3275" y="1939"/>
                  </a:lnTo>
                  <a:cubicBezTo>
                    <a:pt x="3323" y="1867"/>
                    <a:pt x="3287" y="1772"/>
                    <a:pt x="3215" y="1736"/>
                  </a:cubicBezTo>
                  <a:lnTo>
                    <a:pt x="251" y="22"/>
                  </a:lnTo>
                  <a:cubicBezTo>
                    <a:pt x="228" y="7"/>
                    <a:pt x="205" y="0"/>
                    <a:pt x="182"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43" name="Google Shape;2807;p42">
              <a:extLst>
                <a:ext uri="{FF2B5EF4-FFF2-40B4-BE49-F238E27FC236}">
                  <a16:creationId xmlns:a16="http://schemas.microsoft.com/office/drawing/2014/main" id="{6D860D57-2942-5154-3C58-BBF99FA2DA94}"/>
                </a:ext>
              </a:extLst>
            </p:cNvPr>
            <p:cNvSpPr/>
            <p:nvPr/>
          </p:nvSpPr>
          <p:spPr>
            <a:xfrm>
              <a:off x="6965173" y="2009304"/>
              <a:ext cx="38670" cy="27181"/>
            </a:xfrm>
            <a:custGeom>
              <a:avLst/>
              <a:gdLst/>
              <a:ahLst/>
              <a:cxnLst/>
              <a:rect l="l" t="t" r="r" b="b"/>
              <a:pathLst>
                <a:path w="1215" h="854" extrusionOk="0">
                  <a:moveTo>
                    <a:pt x="1023" y="1"/>
                  </a:moveTo>
                  <a:cubicBezTo>
                    <a:pt x="995" y="1"/>
                    <a:pt x="966" y="8"/>
                    <a:pt x="941" y="20"/>
                  </a:cubicBezTo>
                  <a:lnTo>
                    <a:pt x="95" y="580"/>
                  </a:lnTo>
                  <a:cubicBezTo>
                    <a:pt x="12" y="616"/>
                    <a:pt x="0" y="711"/>
                    <a:pt x="48" y="782"/>
                  </a:cubicBezTo>
                  <a:cubicBezTo>
                    <a:pt x="83" y="830"/>
                    <a:pt x="119" y="854"/>
                    <a:pt x="179" y="854"/>
                  </a:cubicBezTo>
                  <a:cubicBezTo>
                    <a:pt x="214" y="854"/>
                    <a:pt x="238" y="842"/>
                    <a:pt x="274" y="830"/>
                  </a:cubicBezTo>
                  <a:lnTo>
                    <a:pt x="1119" y="282"/>
                  </a:lnTo>
                  <a:cubicBezTo>
                    <a:pt x="1179" y="235"/>
                    <a:pt x="1214" y="140"/>
                    <a:pt x="1155" y="68"/>
                  </a:cubicBezTo>
                  <a:cubicBezTo>
                    <a:pt x="1124" y="22"/>
                    <a:pt x="1074" y="1"/>
                    <a:pt x="1023" y="1"/>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grpSp>
      <p:grpSp>
        <p:nvGrpSpPr>
          <p:cNvPr id="44" name="Google Shape;5553;p46">
            <a:extLst>
              <a:ext uri="{FF2B5EF4-FFF2-40B4-BE49-F238E27FC236}">
                <a16:creationId xmlns:a16="http://schemas.microsoft.com/office/drawing/2014/main" id="{D90AF6C1-683B-10F9-4E91-D3968FC7774C}"/>
              </a:ext>
            </a:extLst>
          </p:cNvPr>
          <p:cNvGrpSpPr/>
          <p:nvPr/>
        </p:nvGrpSpPr>
        <p:grpSpPr>
          <a:xfrm>
            <a:off x="9852673" y="1957377"/>
            <a:ext cx="797795" cy="943534"/>
            <a:chOff x="8065100" y="2000174"/>
            <a:chExt cx="255086" cy="301684"/>
          </a:xfrm>
          <a:solidFill>
            <a:srgbClr val="666666"/>
          </a:solidFill>
        </p:grpSpPr>
        <p:sp>
          <p:nvSpPr>
            <p:cNvPr id="45" name="Google Shape;5554;p46">
              <a:extLst>
                <a:ext uri="{FF2B5EF4-FFF2-40B4-BE49-F238E27FC236}">
                  <a16:creationId xmlns:a16="http://schemas.microsoft.com/office/drawing/2014/main" id="{F1851DEC-7864-E474-9D81-023B7EA9331F}"/>
                </a:ext>
              </a:extLst>
            </p:cNvPr>
            <p:cNvSpPr/>
            <p:nvPr/>
          </p:nvSpPr>
          <p:spPr>
            <a:xfrm>
              <a:off x="8085185" y="2151016"/>
              <a:ext cx="65220" cy="150842"/>
            </a:xfrm>
            <a:custGeom>
              <a:avLst/>
              <a:gdLst/>
              <a:ahLst/>
              <a:cxnLst/>
              <a:rect l="l" t="t" r="r" b="b"/>
              <a:pathLst>
                <a:path w="2049" h="4739" extrusionOk="0">
                  <a:moveTo>
                    <a:pt x="1144" y="274"/>
                  </a:moveTo>
                  <a:cubicBezTo>
                    <a:pt x="1299" y="274"/>
                    <a:pt x="1453" y="405"/>
                    <a:pt x="1453" y="583"/>
                  </a:cubicBezTo>
                  <a:lnTo>
                    <a:pt x="1453" y="881"/>
                  </a:lnTo>
                  <a:cubicBezTo>
                    <a:pt x="1453" y="1155"/>
                    <a:pt x="1251" y="1345"/>
                    <a:pt x="989" y="1345"/>
                  </a:cubicBezTo>
                  <a:cubicBezTo>
                    <a:pt x="739" y="1345"/>
                    <a:pt x="537" y="1131"/>
                    <a:pt x="537" y="881"/>
                  </a:cubicBezTo>
                  <a:lnTo>
                    <a:pt x="537" y="583"/>
                  </a:lnTo>
                  <a:cubicBezTo>
                    <a:pt x="537" y="417"/>
                    <a:pt x="668" y="274"/>
                    <a:pt x="846" y="274"/>
                  </a:cubicBezTo>
                  <a:close/>
                  <a:moveTo>
                    <a:pt x="1144" y="1631"/>
                  </a:moveTo>
                  <a:lnTo>
                    <a:pt x="1144" y="1691"/>
                  </a:lnTo>
                  <a:cubicBezTo>
                    <a:pt x="1144" y="1726"/>
                    <a:pt x="1156" y="1786"/>
                    <a:pt x="1180" y="1834"/>
                  </a:cubicBezTo>
                  <a:lnTo>
                    <a:pt x="989" y="2024"/>
                  </a:lnTo>
                  <a:lnTo>
                    <a:pt x="787" y="1834"/>
                  </a:lnTo>
                  <a:cubicBezTo>
                    <a:pt x="810" y="1786"/>
                    <a:pt x="822" y="1738"/>
                    <a:pt x="822" y="1691"/>
                  </a:cubicBezTo>
                  <a:lnTo>
                    <a:pt x="822" y="1631"/>
                  </a:lnTo>
                  <a:close/>
                  <a:moveTo>
                    <a:pt x="858" y="0"/>
                  </a:moveTo>
                  <a:cubicBezTo>
                    <a:pt x="537" y="0"/>
                    <a:pt x="275" y="274"/>
                    <a:pt x="275" y="583"/>
                  </a:cubicBezTo>
                  <a:lnTo>
                    <a:pt x="275" y="881"/>
                  </a:lnTo>
                  <a:cubicBezTo>
                    <a:pt x="275" y="1119"/>
                    <a:pt x="394" y="1345"/>
                    <a:pt x="572" y="1476"/>
                  </a:cubicBezTo>
                  <a:lnTo>
                    <a:pt x="572" y="1691"/>
                  </a:lnTo>
                  <a:lnTo>
                    <a:pt x="572" y="1703"/>
                  </a:lnTo>
                  <a:lnTo>
                    <a:pt x="239" y="1881"/>
                  </a:lnTo>
                  <a:cubicBezTo>
                    <a:pt x="84" y="1953"/>
                    <a:pt x="1" y="2107"/>
                    <a:pt x="1" y="2262"/>
                  </a:cubicBezTo>
                  <a:lnTo>
                    <a:pt x="1" y="3572"/>
                  </a:lnTo>
                  <a:cubicBezTo>
                    <a:pt x="1" y="3691"/>
                    <a:pt x="25" y="3798"/>
                    <a:pt x="96" y="3905"/>
                  </a:cubicBezTo>
                  <a:lnTo>
                    <a:pt x="251" y="4132"/>
                  </a:lnTo>
                  <a:cubicBezTo>
                    <a:pt x="275" y="4167"/>
                    <a:pt x="298" y="4227"/>
                    <a:pt x="298" y="4286"/>
                  </a:cubicBezTo>
                  <a:lnTo>
                    <a:pt x="298" y="4608"/>
                  </a:lnTo>
                  <a:cubicBezTo>
                    <a:pt x="298" y="4679"/>
                    <a:pt x="358" y="4739"/>
                    <a:pt x="429" y="4739"/>
                  </a:cubicBezTo>
                  <a:cubicBezTo>
                    <a:pt x="501" y="4739"/>
                    <a:pt x="560" y="4679"/>
                    <a:pt x="560" y="4608"/>
                  </a:cubicBezTo>
                  <a:lnTo>
                    <a:pt x="560" y="4286"/>
                  </a:lnTo>
                  <a:cubicBezTo>
                    <a:pt x="560" y="4167"/>
                    <a:pt x="537" y="4072"/>
                    <a:pt x="453" y="3965"/>
                  </a:cubicBezTo>
                  <a:lnTo>
                    <a:pt x="310" y="3739"/>
                  </a:lnTo>
                  <a:cubicBezTo>
                    <a:pt x="275" y="3691"/>
                    <a:pt x="263" y="3631"/>
                    <a:pt x="263" y="3572"/>
                  </a:cubicBezTo>
                  <a:lnTo>
                    <a:pt x="263" y="2262"/>
                  </a:lnTo>
                  <a:cubicBezTo>
                    <a:pt x="263" y="2203"/>
                    <a:pt x="298" y="2143"/>
                    <a:pt x="358" y="2119"/>
                  </a:cubicBezTo>
                  <a:lnTo>
                    <a:pt x="596" y="2000"/>
                  </a:lnTo>
                  <a:lnTo>
                    <a:pt x="810" y="2227"/>
                  </a:lnTo>
                  <a:cubicBezTo>
                    <a:pt x="870" y="2286"/>
                    <a:pt x="953" y="2310"/>
                    <a:pt x="1025" y="2310"/>
                  </a:cubicBezTo>
                  <a:cubicBezTo>
                    <a:pt x="1096" y="2310"/>
                    <a:pt x="1168" y="2286"/>
                    <a:pt x="1227" y="2227"/>
                  </a:cubicBezTo>
                  <a:lnTo>
                    <a:pt x="1453" y="2000"/>
                  </a:lnTo>
                  <a:lnTo>
                    <a:pt x="1692" y="2119"/>
                  </a:lnTo>
                  <a:cubicBezTo>
                    <a:pt x="1751" y="2143"/>
                    <a:pt x="1787" y="2191"/>
                    <a:pt x="1787" y="2262"/>
                  </a:cubicBezTo>
                  <a:lnTo>
                    <a:pt x="1787" y="3572"/>
                  </a:lnTo>
                  <a:cubicBezTo>
                    <a:pt x="1787" y="3631"/>
                    <a:pt x="1763" y="3691"/>
                    <a:pt x="1739" y="3739"/>
                  </a:cubicBezTo>
                  <a:lnTo>
                    <a:pt x="1584" y="3965"/>
                  </a:lnTo>
                  <a:cubicBezTo>
                    <a:pt x="1525" y="4048"/>
                    <a:pt x="1489" y="4167"/>
                    <a:pt x="1489" y="4286"/>
                  </a:cubicBezTo>
                  <a:lnTo>
                    <a:pt x="1489" y="4608"/>
                  </a:lnTo>
                  <a:cubicBezTo>
                    <a:pt x="1489" y="4679"/>
                    <a:pt x="1549" y="4739"/>
                    <a:pt x="1620" y="4739"/>
                  </a:cubicBezTo>
                  <a:cubicBezTo>
                    <a:pt x="1692" y="4739"/>
                    <a:pt x="1751" y="4679"/>
                    <a:pt x="1751" y="4608"/>
                  </a:cubicBezTo>
                  <a:lnTo>
                    <a:pt x="1751" y="4286"/>
                  </a:lnTo>
                  <a:cubicBezTo>
                    <a:pt x="1751" y="4227"/>
                    <a:pt x="1763" y="4167"/>
                    <a:pt x="1799" y="4132"/>
                  </a:cubicBezTo>
                  <a:lnTo>
                    <a:pt x="1942" y="3905"/>
                  </a:lnTo>
                  <a:cubicBezTo>
                    <a:pt x="2001" y="3810"/>
                    <a:pt x="2049" y="3691"/>
                    <a:pt x="2049" y="3572"/>
                  </a:cubicBezTo>
                  <a:lnTo>
                    <a:pt x="2049" y="2262"/>
                  </a:lnTo>
                  <a:cubicBezTo>
                    <a:pt x="2025" y="2107"/>
                    <a:pt x="1930" y="1953"/>
                    <a:pt x="1787" y="1881"/>
                  </a:cubicBezTo>
                  <a:lnTo>
                    <a:pt x="1441" y="1703"/>
                  </a:lnTo>
                  <a:lnTo>
                    <a:pt x="1441" y="1691"/>
                  </a:lnTo>
                  <a:lnTo>
                    <a:pt x="1441" y="1476"/>
                  </a:lnTo>
                  <a:cubicBezTo>
                    <a:pt x="1620" y="1345"/>
                    <a:pt x="1739" y="1131"/>
                    <a:pt x="1739" y="881"/>
                  </a:cubicBezTo>
                  <a:lnTo>
                    <a:pt x="1739" y="583"/>
                  </a:lnTo>
                  <a:cubicBezTo>
                    <a:pt x="1739" y="262"/>
                    <a:pt x="1465" y="0"/>
                    <a:pt x="1156"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46" name="Google Shape;5555;p46">
              <a:extLst>
                <a:ext uri="{FF2B5EF4-FFF2-40B4-BE49-F238E27FC236}">
                  <a16:creationId xmlns:a16="http://schemas.microsoft.com/office/drawing/2014/main" id="{882B4B70-C286-B9D7-F371-6DF201F9FFAA}"/>
                </a:ext>
              </a:extLst>
            </p:cNvPr>
            <p:cNvSpPr/>
            <p:nvPr/>
          </p:nvSpPr>
          <p:spPr>
            <a:xfrm>
              <a:off x="8161004" y="2151016"/>
              <a:ext cx="65188" cy="150842"/>
            </a:xfrm>
            <a:custGeom>
              <a:avLst/>
              <a:gdLst/>
              <a:ahLst/>
              <a:cxnLst/>
              <a:rect l="l" t="t" r="r" b="b"/>
              <a:pathLst>
                <a:path w="2048" h="4739" extrusionOk="0">
                  <a:moveTo>
                    <a:pt x="1143" y="274"/>
                  </a:moveTo>
                  <a:cubicBezTo>
                    <a:pt x="1298" y="274"/>
                    <a:pt x="1453" y="405"/>
                    <a:pt x="1453" y="583"/>
                  </a:cubicBezTo>
                  <a:lnTo>
                    <a:pt x="1453" y="881"/>
                  </a:lnTo>
                  <a:cubicBezTo>
                    <a:pt x="1441" y="1155"/>
                    <a:pt x="1250" y="1345"/>
                    <a:pt x="988" y="1345"/>
                  </a:cubicBezTo>
                  <a:cubicBezTo>
                    <a:pt x="738" y="1345"/>
                    <a:pt x="536" y="1131"/>
                    <a:pt x="536" y="881"/>
                  </a:cubicBezTo>
                  <a:lnTo>
                    <a:pt x="536" y="583"/>
                  </a:lnTo>
                  <a:cubicBezTo>
                    <a:pt x="536" y="417"/>
                    <a:pt x="667" y="274"/>
                    <a:pt x="845" y="274"/>
                  </a:cubicBezTo>
                  <a:close/>
                  <a:moveTo>
                    <a:pt x="1143" y="1631"/>
                  </a:moveTo>
                  <a:lnTo>
                    <a:pt x="1143" y="1691"/>
                  </a:lnTo>
                  <a:cubicBezTo>
                    <a:pt x="1143" y="1726"/>
                    <a:pt x="1155" y="1786"/>
                    <a:pt x="1179" y="1834"/>
                  </a:cubicBezTo>
                  <a:lnTo>
                    <a:pt x="988" y="2024"/>
                  </a:lnTo>
                  <a:lnTo>
                    <a:pt x="786" y="1834"/>
                  </a:lnTo>
                  <a:cubicBezTo>
                    <a:pt x="810" y="1786"/>
                    <a:pt x="822" y="1738"/>
                    <a:pt x="822" y="1691"/>
                  </a:cubicBezTo>
                  <a:lnTo>
                    <a:pt x="822" y="1631"/>
                  </a:lnTo>
                  <a:close/>
                  <a:moveTo>
                    <a:pt x="857" y="0"/>
                  </a:moveTo>
                  <a:cubicBezTo>
                    <a:pt x="536" y="0"/>
                    <a:pt x="274" y="274"/>
                    <a:pt x="274" y="583"/>
                  </a:cubicBezTo>
                  <a:lnTo>
                    <a:pt x="274" y="881"/>
                  </a:lnTo>
                  <a:cubicBezTo>
                    <a:pt x="274" y="1119"/>
                    <a:pt x="393" y="1345"/>
                    <a:pt x="572" y="1476"/>
                  </a:cubicBezTo>
                  <a:lnTo>
                    <a:pt x="572" y="1691"/>
                  </a:lnTo>
                  <a:lnTo>
                    <a:pt x="572" y="1703"/>
                  </a:lnTo>
                  <a:lnTo>
                    <a:pt x="238" y="1881"/>
                  </a:lnTo>
                  <a:cubicBezTo>
                    <a:pt x="83" y="1953"/>
                    <a:pt x="0" y="2107"/>
                    <a:pt x="0" y="2262"/>
                  </a:cubicBezTo>
                  <a:lnTo>
                    <a:pt x="0" y="3572"/>
                  </a:lnTo>
                  <a:cubicBezTo>
                    <a:pt x="0" y="3691"/>
                    <a:pt x="24" y="3798"/>
                    <a:pt x="95" y="3905"/>
                  </a:cubicBezTo>
                  <a:lnTo>
                    <a:pt x="250" y="4132"/>
                  </a:lnTo>
                  <a:cubicBezTo>
                    <a:pt x="274" y="4167"/>
                    <a:pt x="298" y="4227"/>
                    <a:pt x="298" y="4286"/>
                  </a:cubicBezTo>
                  <a:lnTo>
                    <a:pt x="298" y="4608"/>
                  </a:lnTo>
                  <a:cubicBezTo>
                    <a:pt x="298" y="4679"/>
                    <a:pt x="357" y="4739"/>
                    <a:pt x="429" y="4739"/>
                  </a:cubicBezTo>
                  <a:cubicBezTo>
                    <a:pt x="500" y="4739"/>
                    <a:pt x="560" y="4679"/>
                    <a:pt x="560" y="4608"/>
                  </a:cubicBezTo>
                  <a:lnTo>
                    <a:pt x="560" y="4286"/>
                  </a:lnTo>
                  <a:cubicBezTo>
                    <a:pt x="560" y="4167"/>
                    <a:pt x="536" y="4072"/>
                    <a:pt x="453" y="3965"/>
                  </a:cubicBezTo>
                  <a:lnTo>
                    <a:pt x="310" y="3739"/>
                  </a:lnTo>
                  <a:cubicBezTo>
                    <a:pt x="274" y="3691"/>
                    <a:pt x="262" y="3631"/>
                    <a:pt x="262" y="3572"/>
                  </a:cubicBezTo>
                  <a:lnTo>
                    <a:pt x="262" y="2262"/>
                  </a:lnTo>
                  <a:cubicBezTo>
                    <a:pt x="262" y="2203"/>
                    <a:pt x="298" y="2143"/>
                    <a:pt x="357" y="2119"/>
                  </a:cubicBezTo>
                  <a:lnTo>
                    <a:pt x="595" y="2000"/>
                  </a:lnTo>
                  <a:lnTo>
                    <a:pt x="810" y="2227"/>
                  </a:lnTo>
                  <a:cubicBezTo>
                    <a:pt x="869" y="2286"/>
                    <a:pt x="953" y="2310"/>
                    <a:pt x="1024" y="2310"/>
                  </a:cubicBezTo>
                  <a:cubicBezTo>
                    <a:pt x="1095" y="2310"/>
                    <a:pt x="1167" y="2286"/>
                    <a:pt x="1226" y="2227"/>
                  </a:cubicBezTo>
                  <a:lnTo>
                    <a:pt x="1453" y="2000"/>
                  </a:lnTo>
                  <a:lnTo>
                    <a:pt x="1691" y="2119"/>
                  </a:lnTo>
                  <a:cubicBezTo>
                    <a:pt x="1750" y="2143"/>
                    <a:pt x="1786" y="2191"/>
                    <a:pt x="1786" y="2262"/>
                  </a:cubicBezTo>
                  <a:lnTo>
                    <a:pt x="1786" y="3572"/>
                  </a:lnTo>
                  <a:cubicBezTo>
                    <a:pt x="1786" y="3631"/>
                    <a:pt x="1762" y="3691"/>
                    <a:pt x="1738" y="3739"/>
                  </a:cubicBezTo>
                  <a:lnTo>
                    <a:pt x="1584" y="3965"/>
                  </a:lnTo>
                  <a:cubicBezTo>
                    <a:pt x="1524" y="4048"/>
                    <a:pt x="1488" y="4167"/>
                    <a:pt x="1488" y="4286"/>
                  </a:cubicBezTo>
                  <a:lnTo>
                    <a:pt x="1488" y="4608"/>
                  </a:lnTo>
                  <a:cubicBezTo>
                    <a:pt x="1488" y="4679"/>
                    <a:pt x="1548" y="4739"/>
                    <a:pt x="1619" y="4739"/>
                  </a:cubicBezTo>
                  <a:cubicBezTo>
                    <a:pt x="1691" y="4739"/>
                    <a:pt x="1750" y="4679"/>
                    <a:pt x="1750" y="4608"/>
                  </a:cubicBezTo>
                  <a:lnTo>
                    <a:pt x="1750" y="4286"/>
                  </a:lnTo>
                  <a:cubicBezTo>
                    <a:pt x="1750" y="4227"/>
                    <a:pt x="1762" y="4167"/>
                    <a:pt x="1798" y="4132"/>
                  </a:cubicBezTo>
                  <a:lnTo>
                    <a:pt x="1941" y="3905"/>
                  </a:lnTo>
                  <a:cubicBezTo>
                    <a:pt x="2000" y="3810"/>
                    <a:pt x="2048" y="3691"/>
                    <a:pt x="2048" y="3572"/>
                  </a:cubicBezTo>
                  <a:lnTo>
                    <a:pt x="2048" y="2262"/>
                  </a:lnTo>
                  <a:cubicBezTo>
                    <a:pt x="2024" y="2107"/>
                    <a:pt x="1929" y="1953"/>
                    <a:pt x="1786" y="1881"/>
                  </a:cubicBezTo>
                  <a:lnTo>
                    <a:pt x="1441" y="1703"/>
                  </a:lnTo>
                  <a:lnTo>
                    <a:pt x="1441" y="1691"/>
                  </a:lnTo>
                  <a:lnTo>
                    <a:pt x="1441" y="1476"/>
                  </a:lnTo>
                  <a:cubicBezTo>
                    <a:pt x="1619" y="1345"/>
                    <a:pt x="1738" y="1131"/>
                    <a:pt x="1738" y="881"/>
                  </a:cubicBezTo>
                  <a:lnTo>
                    <a:pt x="1738" y="583"/>
                  </a:lnTo>
                  <a:cubicBezTo>
                    <a:pt x="1738" y="262"/>
                    <a:pt x="1465" y="0"/>
                    <a:pt x="1155"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47" name="Google Shape;5556;p46">
              <a:extLst>
                <a:ext uri="{FF2B5EF4-FFF2-40B4-BE49-F238E27FC236}">
                  <a16:creationId xmlns:a16="http://schemas.microsoft.com/office/drawing/2014/main" id="{0DBC9CA7-6D50-6ECB-43AB-F904DA9B198B}"/>
                </a:ext>
              </a:extLst>
            </p:cNvPr>
            <p:cNvSpPr/>
            <p:nvPr/>
          </p:nvSpPr>
          <p:spPr>
            <a:xfrm>
              <a:off x="8236787" y="2151016"/>
              <a:ext cx="65220" cy="150842"/>
            </a:xfrm>
            <a:custGeom>
              <a:avLst/>
              <a:gdLst/>
              <a:ahLst/>
              <a:cxnLst/>
              <a:rect l="l" t="t" r="r" b="b"/>
              <a:pathLst>
                <a:path w="2049" h="4739" extrusionOk="0">
                  <a:moveTo>
                    <a:pt x="1143" y="274"/>
                  </a:moveTo>
                  <a:cubicBezTo>
                    <a:pt x="1298" y="274"/>
                    <a:pt x="1453" y="405"/>
                    <a:pt x="1453" y="583"/>
                  </a:cubicBezTo>
                  <a:lnTo>
                    <a:pt x="1453" y="881"/>
                  </a:lnTo>
                  <a:cubicBezTo>
                    <a:pt x="1441" y="1155"/>
                    <a:pt x="1250" y="1345"/>
                    <a:pt x="989" y="1345"/>
                  </a:cubicBezTo>
                  <a:cubicBezTo>
                    <a:pt x="739" y="1345"/>
                    <a:pt x="536" y="1131"/>
                    <a:pt x="536" y="881"/>
                  </a:cubicBezTo>
                  <a:lnTo>
                    <a:pt x="536" y="583"/>
                  </a:lnTo>
                  <a:cubicBezTo>
                    <a:pt x="536" y="417"/>
                    <a:pt x="667" y="274"/>
                    <a:pt x="846" y="274"/>
                  </a:cubicBezTo>
                  <a:close/>
                  <a:moveTo>
                    <a:pt x="1143" y="1631"/>
                  </a:moveTo>
                  <a:lnTo>
                    <a:pt x="1143" y="1691"/>
                  </a:lnTo>
                  <a:cubicBezTo>
                    <a:pt x="1143" y="1726"/>
                    <a:pt x="1155" y="1786"/>
                    <a:pt x="1179" y="1834"/>
                  </a:cubicBezTo>
                  <a:lnTo>
                    <a:pt x="989" y="2024"/>
                  </a:lnTo>
                  <a:lnTo>
                    <a:pt x="786" y="1834"/>
                  </a:lnTo>
                  <a:cubicBezTo>
                    <a:pt x="810" y="1786"/>
                    <a:pt x="822" y="1738"/>
                    <a:pt x="822" y="1691"/>
                  </a:cubicBezTo>
                  <a:lnTo>
                    <a:pt x="822" y="1631"/>
                  </a:lnTo>
                  <a:close/>
                  <a:moveTo>
                    <a:pt x="858" y="0"/>
                  </a:moveTo>
                  <a:cubicBezTo>
                    <a:pt x="536" y="0"/>
                    <a:pt x="274" y="274"/>
                    <a:pt x="274" y="583"/>
                  </a:cubicBezTo>
                  <a:lnTo>
                    <a:pt x="274" y="881"/>
                  </a:lnTo>
                  <a:cubicBezTo>
                    <a:pt x="274" y="1119"/>
                    <a:pt x="393" y="1345"/>
                    <a:pt x="572" y="1476"/>
                  </a:cubicBezTo>
                  <a:lnTo>
                    <a:pt x="572" y="1691"/>
                  </a:lnTo>
                  <a:lnTo>
                    <a:pt x="572" y="1703"/>
                  </a:lnTo>
                  <a:lnTo>
                    <a:pt x="238" y="1881"/>
                  </a:lnTo>
                  <a:cubicBezTo>
                    <a:pt x="84" y="1953"/>
                    <a:pt x="0" y="2107"/>
                    <a:pt x="0" y="2262"/>
                  </a:cubicBezTo>
                  <a:lnTo>
                    <a:pt x="0" y="3572"/>
                  </a:lnTo>
                  <a:cubicBezTo>
                    <a:pt x="0" y="3691"/>
                    <a:pt x="24" y="3798"/>
                    <a:pt x="96" y="3905"/>
                  </a:cubicBezTo>
                  <a:lnTo>
                    <a:pt x="250" y="4132"/>
                  </a:lnTo>
                  <a:cubicBezTo>
                    <a:pt x="274" y="4167"/>
                    <a:pt x="298" y="4227"/>
                    <a:pt x="298" y="4286"/>
                  </a:cubicBezTo>
                  <a:lnTo>
                    <a:pt x="298" y="4608"/>
                  </a:lnTo>
                  <a:cubicBezTo>
                    <a:pt x="298" y="4679"/>
                    <a:pt x="358" y="4739"/>
                    <a:pt x="429" y="4739"/>
                  </a:cubicBezTo>
                  <a:cubicBezTo>
                    <a:pt x="500" y="4739"/>
                    <a:pt x="560" y="4679"/>
                    <a:pt x="560" y="4608"/>
                  </a:cubicBezTo>
                  <a:lnTo>
                    <a:pt x="560" y="4286"/>
                  </a:lnTo>
                  <a:cubicBezTo>
                    <a:pt x="560" y="4167"/>
                    <a:pt x="536" y="4072"/>
                    <a:pt x="453" y="3965"/>
                  </a:cubicBezTo>
                  <a:lnTo>
                    <a:pt x="310" y="3739"/>
                  </a:lnTo>
                  <a:cubicBezTo>
                    <a:pt x="274" y="3691"/>
                    <a:pt x="262" y="3631"/>
                    <a:pt x="262" y="3572"/>
                  </a:cubicBezTo>
                  <a:lnTo>
                    <a:pt x="262" y="2262"/>
                  </a:lnTo>
                  <a:cubicBezTo>
                    <a:pt x="262" y="2203"/>
                    <a:pt x="298" y="2143"/>
                    <a:pt x="358" y="2119"/>
                  </a:cubicBezTo>
                  <a:lnTo>
                    <a:pt x="596" y="2000"/>
                  </a:lnTo>
                  <a:lnTo>
                    <a:pt x="810" y="2227"/>
                  </a:lnTo>
                  <a:cubicBezTo>
                    <a:pt x="869" y="2286"/>
                    <a:pt x="953" y="2310"/>
                    <a:pt x="1024" y="2310"/>
                  </a:cubicBezTo>
                  <a:cubicBezTo>
                    <a:pt x="1096" y="2310"/>
                    <a:pt x="1167" y="2286"/>
                    <a:pt x="1227" y="2227"/>
                  </a:cubicBezTo>
                  <a:lnTo>
                    <a:pt x="1453" y="2000"/>
                  </a:lnTo>
                  <a:lnTo>
                    <a:pt x="1691" y="2119"/>
                  </a:lnTo>
                  <a:cubicBezTo>
                    <a:pt x="1751" y="2143"/>
                    <a:pt x="1786" y="2191"/>
                    <a:pt x="1786" y="2262"/>
                  </a:cubicBezTo>
                  <a:lnTo>
                    <a:pt x="1786" y="3572"/>
                  </a:lnTo>
                  <a:cubicBezTo>
                    <a:pt x="1786" y="3631"/>
                    <a:pt x="1762" y="3691"/>
                    <a:pt x="1739" y="3739"/>
                  </a:cubicBezTo>
                  <a:lnTo>
                    <a:pt x="1584" y="3965"/>
                  </a:lnTo>
                  <a:cubicBezTo>
                    <a:pt x="1524" y="4048"/>
                    <a:pt x="1489" y="4167"/>
                    <a:pt x="1489" y="4286"/>
                  </a:cubicBezTo>
                  <a:lnTo>
                    <a:pt x="1489" y="4608"/>
                  </a:lnTo>
                  <a:cubicBezTo>
                    <a:pt x="1489" y="4679"/>
                    <a:pt x="1548" y="4739"/>
                    <a:pt x="1620" y="4739"/>
                  </a:cubicBezTo>
                  <a:cubicBezTo>
                    <a:pt x="1691" y="4739"/>
                    <a:pt x="1751" y="4679"/>
                    <a:pt x="1751" y="4608"/>
                  </a:cubicBezTo>
                  <a:lnTo>
                    <a:pt x="1751" y="4286"/>
                  </a:lnTo>
                  <a:cubicBezTo>
                    <a:pt x="1751" y="4227"/>
                    <a:pt x="1762" y="4167"/>
                    <a:pt x="1798" y="4132"/>
                  </a:cubicBezTo>
                  <a:lnTo>
                    <a:pt x="1941" y="3905"/>
                  </a:lnTo>
                  <a:cubicBezTo>
                    <a:pt x="2001" y="3810"/>
                    <a:pt x="2048" y="3691"/>
                    <a:pt x="2048" y="3572"/>
                  </a:cubicBezTo>
                  <a:lnTo>
                    <a:pt x="2048" y="2262"/>
                  </a:lnTo>
                  <a:cubicBezTo>
                    <a:pt x="2024" y="2107"/>
                    <a:pt x="1929" y="1953"/>
                    <a:pt x="1786" y="1881"/>
                  </a:cubicBezTo>
                  <a:lnTo>
                    <a:pt x="1441" y="1703"/>
                  </a:lnTo>
                  <a:lnTo>
                    <a:pt x="1441" y="1691"/>
                  </a:lnTo>
                  <a:lnTo>
                    <a:pt x="1441" y="1476"/>
                  </a:lnTo>
                  <a:cubicBezTo>
                    <a:pt x="1620" y="1345"/>
                    <a:pt x="1739" y="1131"/>
                    <a:pt x="1739" y="881"/>
                  </a:cubicBezTo>
                  <a:lnTo>
                    <a:pt x="1739" y="583"/>
                  </a:lnTo>
                  <a:cubicBezTo>
                    <a:pt x="1739" y="262"/>
                    <a:pt x="1465" y="0"/>
                    <a:pt x="1155"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48" name="Google Shape;5557;p46">
              <a:extLst>
                <a:ext uri="{FF2B5EF4-FFF2-40B4-BE49-F238E27FC236}">
                  <a16:creationId xmlns:a16="http://schemas.microsoft.com/office/drawing/2014/main" id="{88715C74-DF6D-13C2-7F4C-56DC88BAD162}"/>
                </a:ext>
              </a:extLst>
            </p:cNvPr>
            <p:cNvSpPr/>
            <p:nvPr/>
          </p:nvSpPr>
          <p:spPr>
            <a:xfrm>
              <a:off x="8065100" y="2000174"/>
              <a:ext cx="255086" cy="178916"/>
            </a:xfrm>
            <a:custGeom>
              <a:avLst/>
              <a:gdLst/>
              <a:ahLst/>
              <a:cxnLst/>
              <a:rect l="l" t="t" r="r" b="b"/>
              <a:pathLst>
                <a:path w="8014" h="5621" extrusionOk="0">
                  <a:moveTo>
                    <a:pt x="2680" y="512"/>
                  </a:moveTo>
                  <a:lnTo>
                    <a:pt x="2680" y="512"/>
                  </a:lnTo>
                  <a:cubicBezTo>
                    <a:pt x="2477" y="691"/>
                    <a:pt x="2275" y="917"/>
                    <a:pt x="2096" y="1191"/>
                  </a:cubicBezTo>
                  <a:cubicBezTo>
                    <a:pt x="1977" y="1370"/>
                    <a:pt x="1882" y="1572"/>
                    <a:pt x="1787" y="1786"/>
                  </a:cubicBezTo>
                  <a:lnTo>
                    <a:pt x="1013" y="1786"/>
                  </a:lnTo>
                  <a:cubicBezTo>
                    <a:pt x="1430" y="1215"/>
                    <a:pt x="2013" y="774"/>
                    <a:pt x="2680" y="512"/>
                  </a:cubicBezTo>
                  <a:close/>
                  <a:moveTo>
                    <a:pt x="3870" y="274"/>
                  </a:moveTo>
                  <a:lnTo>
                    <a:pt x="3870" y="1786"/>
                  </a:lnTo>
                  <a:lnTo>
                    <a:pt x="2096" y="1786"/>
                  </a:lnTo>
                  <a:cubicBezTo>
                    <a:pt x="2513" y="917"/>
                    <a:pt x="3156" y="346"/>
                    <a:pt x="3870" y="274"/>
                  </a:cubicBezTo>
                  <a:close/>
                  <a:moveTo>
                    <a:pt x="4144" y="274"/>
                  </a:moveTo>
                  <a:cubicBezTo>
                    <a:pt x="4870" y="334"/>
                    <a:pt x="5513" y="917"/>
                    <a:pt x="5906" y="1786"/>
                  </a:cubicBezTo>
                  <a:lnTo>
                    <a:pt x="4144" y="1786"/>
                  </a:lnTo>
                  <a:lnTo>
                    <a:pt x="4144" y="274"/>
                  </a:lnTo>
                  <a:close/>
                  <a:moveTo>
                    <a:pt x="5335" y="512"/>
                  </a:moveTo>
                  <a:lnTo>
                    <a:pt x="5335" y="512"/>
                  </a:lnTo>
                  <a:cubicBezTo>
                    <a:pt x="6002" y="774"/>
                    <a:pt x="6561" y="1215"/>
                    <a:pt x="7002" y="1786"/>
                  </a:cubicBezTo>
                  <a:lnTo>
                    <a:pt x="6228" y="1786"/>
                  </a:lnTo>
                  <a:cubicBezTo>
                    <a:pt x="6133" y="1572"/>
                    <a:pt x="6025" y="1382"/>
                    <a:pt x="5906" y="1191"/>
                  </a:cubicBezTo>
                  <a:cubicBezTo>
                    <a:pt x="5728" y="917"/>
                    <a:pt x="5537" y="691"/>
                    <a:pt x="5335" y="512"/>
                  </a:cubicBezTo>
                  <a:close/>
                  <a:moveTo>
                    <a:pt x="1680" y="2048"/>
                  </a:moveTo>
                  <a:cubicBezTo>
                    <a:pt x="1465" y="2596"/>
                    <a:pt x="1358" y="3215"/>
                    <a:pt x="1346" y="3846"/>
                  </a:cubicBezTo>
                  <a:lnTo>
                    <a:pt x="287" y="3846"/>
                  </a:lnTo>
                  <a:cubicBezTo>
                    <a:pt x="310" y="3191"/>
                    <a:pt x="513" y="2572"/>
                    <a:pt x="834" y="2048"/>
                  </a:cubicBezTo>
                  <a:close/>
                  <a:moveTo>
                    <a:pt x="3870" y="2048"/>
                  </a:moveTo>
                  <a:lnTo>
                    <a:pt x="3870" y="3846"/>
                  </a:lnTo>
                  <a:lnTo>
                    <a:pt x="1620" y="3846"/>
                  </a:lnTo>
                  <a:cubicBezTo>
                    <a:pt x="1644" y="3191"/>
                    <a:pt x="1763" y="2572"/>
                    <a:pt x="1965" y="2048"/>
                  </a:cubicBezTo>
                  <a:close/>
                  <a:moveTo>
                    <a:pt x="6049" y="2048"/>
                  </a:moveTo>
                  <a:cubicBezTo>
                    <a:pt x="6252" y="2584"/>
                    <a:pt x="6371" y="3191"/>
                    <a:pt x="6383" y="3846"/>
                  </a:cubicBezTo>
                  <a:lnTo>
                    <a:pt x="4144" y="3846"/>
                  </a:lnTo>
                  <a:lnTo>
                    <a:pt x="4144" y="2048"/>
                  </a:lnTo>
                  <a:close/>
                  <a:moveTo>
                    <a:pt x="7192" y="2048"/>
                  </a:moveTo>
                  <a:cubicBezTo>
                    <a:pt x="7514" y="2584"/>
                    <a:pt x="7716" y="3191"/>
                    <a:pt x="7740" y="3846"/>
                  </a:cubicBezTo>
                  <a:lnTo>
                    <a:pt x="6668" y="3846"/>
                  </a:lnTo>
                  <a:cubicBezTo>
                    <a:pt x="6656" y="3215"/>
                    <a:pt x="6537" y="2596"/>
                    <a:pt x="6347" y="2048"/>
                  </a:cubicBezTo>
                  <a:close/>
                  <a:moveTo>
                    <a:pt x="4001" y="0"/>
                  </a:moveTo>
                  <a:cubicBezTo>
                    <a:pt x="2930" y="0"/>
                    <a:pt x="1930" y="417"/>
                    <a:pt x="1180" y="1167"/>
                  </a:cubicBezTo>
                  <a:cubicBezTo>
                    <a:pt x="418" y="1929"/>
                    <a:pt x="1" y="2929"/>
                    <a:pt x="1" y="4001"/>
                  </a:cubicBezTo>
                  <a:cubicBezTo>
                    <a:pt x="1" y="4537"/>
                    <a:pt x="108" y="5061"/>
                    <a:pt x="310" y="5537"/>
                  </a:cubicBezTo>
                  <a:cubicBezTo>
                    <a:pt x="337" y="5590"/>
                    <a:pt x="384" y="5617"/>
                    <a:pt x="436" y="5617"/>
                  </a:cubicBezTo>
                  <a:cubicBezTo>
                    <a:pt x="453" y="5617"/>
                    <a:pt x="471" y="5614"/>
                    <a:pt x="489" y="5608"/>
                  </a:cubicBezTo>
                  <a:cubicBezTo>
                    <a:pt x="560" y="5573"/>
                    <a:pt x="596" y="5501"/>
                    <a:pt x="560" y="5430"/>
                  </a:cubicBezTo>
                  <a:cubicBezTo>
                    <a:pt x="382" y="5013"/>
                    <a:pt x="298" y="4584"/>
                    <a:pt x="287" y="4132"/>
                  </a:cubicBezTo>
                  <a:lnTo>
                    <a:pt x="1334" y="4132"/>
                  </a:lnTo>
                  <a:lnTo>
                    <a:pt x="1334" y="4299"/>
                  </a:lnTo>
                  <a:cubicBezTo>
                    <a:pt x="1334" y="4370"/>
                    <a:pt x="1418" y="4430"/>
                    <a:pt x="1489" y="4430"/>
                  </a:cubicBezTo>
                  <a:cubicBezTo>
                    <a:pt x="1561" y="4430"/>
                    <a:pt x="1620" y="4358"/>
                    <a:pt x="1620" y="4287"/>
                  </a:cubicBezTo>
                  <a:lnTo>
                    <a:pt x="1620" y="4132"/>
                  </a:lnTo>
                  <a:lnTo>
                    <a:pt x="3870" y="4132"/>
                  </a:lnTo>
                  <a:lnTo>
                    <a:pt x="3870" y="4299"/>
                  </a:lnTo>
                  <a:cubicBezTo>
                    <a:pt x="3870" y="4370"/>
                    <a:pt x="3930" y="4430"/>
                    <a:pt x="4001" y="4430"/>
                  </a:cubicBezTo>
                  <a:cubicBezTo>
                    <a:pt x="4073" y="4430"/>
                    <a:pt x="4132" y="4370"/>
                    <a:pt x="4132" y="4299"/>
                  </a:cubicBezTo>
                  <a:lnTo>
                    <a:pt x="4132" y="4132"/>
                  </a:lnTo>
                  <a:lnTo>
                    <a:pt x="6383" y="4132"/>
                  </a:lnTo>
                  <a:lnTo>
                    <a:pt x="6383" y="4287"/>
                  </a:lnTo>
                  <a:cubicBezTo>
                    <a:pt x="6383" y="4358"/>
                    <a:pt x="6442" y="4430"/>
                    <a:pt x="6514" y="4430"/>
                  </a:cubicBezTo>
                  <a:cubicBezTo>
                    <a:pt x="6597" y="4430"/>
                    <a:pt x="6656" y="4370"/>
                    <a:pt x="6656" y="4299"/>
                  </a:cubicBezTo>
                  <a:lnTo>
                    <a:pt x="6656" y="4132"/>
                  </a:lnTo>
                  <a:lnTo>
                    <a:pt x="7704" y="4132"/>
                  </a:lnTo>
                  <a:cubicBezTo>
                    <a:pt x="7692" y="4584"/>
                    <a:pt x="7609" y="5013"/>
                    <a:pt x="7430" y="5430"/>
                  </a:cubicBezTo>
                  <a:cubicBezTo>
                    <a:pt x="7395" y="5501"/>
                    <a:pt x="7430" y="5573"/>
                    <a:pt x="7502" y="5608"/>
                  </a:cubicBezTo>
                  <a:cubicBezTo>
                    <a:pt x="7514" y="5608"/>
                    <a:pt x="7526" y="5620"/>
                    <a:pt x="7561" y="5620"/>
                  </a:cubicBezTo>
                  <a:cubicBezTo>
                    <a:pt x="7621" y="5620"/>
                    <a:pt x="7668" y="5596"/>
                    <a:pt x="7692" y="5537"/>
                  </a:cubicBezTo>
                  <a:cubicBezTo>
                    <a:pt x="7907" y="5037"/>
                    <a:pt x="8002" y="4525"/>
                    <a:pt x="8002" y="4001"/>
                  </a:cubicBezTo>
                  <a:cubicBezTo>
                    <a:pt x="8014" y="2929"/>
                    <a:pt x="7597" y="1917"/>
                    <a:pt x="6835" y="1167"/>
                  </a:cubicBezTo>
                  <a:cubicBezTo>
                    <a:pt x="6073" y="417"/>
                    <a:pt x="5073" y="0"/>
                    <a:pt x="4001"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grpSp>
      <p:grpSp>
        <p:nvGrpSpPr>
          <p:cNvPr id="49" name="Google Shape;2913;p42">
            <a:extLst>
              <a:ext uri="{FF2B5EF4-FFF2-40B4-BE49-F238E27FC236}">
                <a16:creationId xmlns:a16="http://schemas.microsoft.com/office/drawing/2014/main" id="{9D145B23-23A1-C499-8C21-284A4F8ED686}"/>
              </a:ext>
            </a:extLst>
          </p:cNvPr>
          <p:cNvGrpSpPr/>
          <p:nvPr/>
        </p:nvGrpSpPr>
        <p:grpSpPr>
          <a:xfrm>
            <a:off x="1416691" y="4373107"/>
            <a:ext cx="914075" cy="915041"/>
            <a:chOff x="7538896" y="1970156"/>
            <a:chExt cx="361147" cy="361529"/>
          </a:xfrm>
          <a:solidFill>
            <a:srgbClr val="666666"/>
          </a:solidFill>
        </p:grpSpPr>
        <p:sp>
          <p:nvSpPr>
            <p:cNvPr id="50" name="Google Shape;2914;p42">
              <a:extLst>
                <a:ext uri="{FF2B5EF4-FFF2-40B4-BE49-F238E27FC236}">
                  <a16:creationId xmlns:a16="http://schemas.microsoft.com/office/drawing/2014/main" id="{957AC9A5-EEE2-D452-5989-B9C53DB7CB01}"/>
                </a:ext>
              </a:extLst>
            </p:cNvPr>
            <p:cNvSpPr/>
            <p:nvPr/>
          </p:nvSpPr>
          <p:spPr>
            <a:xfrm>
              <a:off x="7538896" y="1970156"/>
              <a:ext cx="361147" cy="361529"/>
            </a:xfrm>
            <a:custGeom>
              <a:avLst/>
              <a:gdLst/>
              <a:ahLst/>
              <a:cxnLst/>
              <a:rect l="l" t="t" r="r" b="b"/>
              <a:pathLst>
                <a:path w="11347" h="11359" extrusionOk="0">
                  <a:moveTo>
                    <a:pt x="8918" y="584"/>
                  </a:moveTo>
                  <a:lnTo>
                    <a:pt x="9477" y="1155"/>
                  </a:lnTo>
                  <a:lnTo>
                    <a:pt x="9632" y="1298"/>
                  </a:lnTo>
                  <a:lnTo>
                    <a:pt x="10239" y="1905"/>
                  </a:lnTo>
                  <a:lnTo>
                    <a:pt x="10704" y="2370"/>
                  </a:lnTo>
                  <a:lnTo>
                    <a:pt x="8918" y="2370"/>
                  </a:lnTo>
                  <a:lnTo>
                    <a:pt x="8918" y="584"/>
                  </a:lnTo>
                  <a:close/>
                  <a:moveTo>
                    <a:pt x="2631" y="4644"/>
                  </a:moveTo>
                  <a:cubicBezTo>
                    <a:pt x="3322" y="4644"/>
                    <a:pt x="3882" y="5215"/>
                    <a:pt x="3882" y="5894"/>
                  </a:cubicBezTo>
                  <a:lnTo>
                    <a:pt x="3882" y="6192"/>
                  </a:lnTo>
                  <a:lnTo>
                    <a:pt x="3810" y="6192"/>
                  </a:lnTo>
                  <a:cubicBezTo>
                    <a:pt x="3429" y="6108"/>
                    <a:pt x="3310" y="5596"/>
                    <a:pt x="3286" y="5596"/>
                  </a:cubicBezTo>
                  <a:cubicBezTo>
                    <a:pt x="3274" y="5525"/>
                    <a:pt x="3215" y="5477"/>
                    <a:pt x="3155" y="5465"/>
                  </a:cubicBezTo>
                  <a:cubicBezTo>
                    <a:pt x="3143" y="5463"/>
                    <a:pt x="3132" y="5462"/>
                    <a:pt x="3121" y="5462"/>
                  </a:cubicBezTo>
                  <a:cubicBezTo>
                    <a:pt x="3064" y="5462"/>
                    <a:pt x="3016" y="5487"/>
                    <a:pt x="2977" y="5537"/>
                  </a:cubicBezTo>
                  <a:cubicBezTo>
                    <a:pt x="2477" y="6156"/>
                    <a:pt x="1429" y="6156"/>
                    <a:pt x="1417" y="6156"/>
                  </a:cubicBezTo>
                  <a:lnTo>
                    <a:pt x="1298" y="6156"/>
                  </a:lnTo>
                  <a:lnTo>
                    <a:pt x="1286" y="6168"/>
                  </a:lnTo>
                  <a:lnTo>
                    <a:pt x="1262" y="6180"/>
                  </a:lnTo>
                  <a:lnTo>
                    <a:pt x="1262" y="5894"/>
                  </a:lnTo>
                  <a:cubicBezTo>
                    <a:pt x="1262" y="5215"/>
                    <a:pt x="1834" y="4644"/>
                    <a:pt x="2512" y="4644"/>
                  </a:cubicBezTo>
                  <a:close/>
                  <a:moveTo>
                    <a:pt x="1238" y="6644"/>
                  </a:moveTo>
                  <a:lnTo>
                    <a:pt x="1238" y="7192"/>
                  </a:lnTo>
                  <a:cubicBezTo>
                    <a:pt x="1107" y="7180"/>
                    <a:pt x="1000" y="7061"/>
                    <a:pt x="1000" y="6930"/>
                  </a:cubicBezTo>
                  <a:cubicBezTo>
                    <a:pt x="1000" y="6846"/>
                    <a:pt x="1024" y="6775"/>
                    <a:pt x="1084" y="6715"/>
                  </a:cubicBezTo>
                  <a:cubicBezTo>
                    <a:pt x="1143" y="6715"/>
                    <a:pt x="1191" y="6692"/>
                    <a:pt x="1226" y="6644"/>
                  </a:cubicBezTo>
                  <a:close/>
                  <a:moveTo>
                    <a:pt x="3929" y="6656"/>
                  </a:moveTo>
                  <a:cubicBezTo>
                    <a:pt x="3965" y="6680"/>
                    <a:pt x="4001" y="6715"/>
                    <a:pt x="4048" y="6715"/>
                  </a:cubicBezTo>
                  <a:cubicBezTo>
                    <a:pt x="4108" y="6763"/>
                    <a:pt x="4132" y="6835"/>
                    <a:pt x="4132" y="6918"/>
                  </a:cubicBezTo>
                  <a:cubicBezTo>
                    <a:pt x="4155" y="7061"/>
                    <a:pt x="4048" y="7180"/>
                    <a:pt x="3917" y="7192"/>
                  </a:cubicBezTo>
                  <a:lnTo>
                    <a:pt x="3917" y="6656"/>
                  </a:lnTo>
                  <a:close/>
                  <a:moveTo>
                    <a:pt x="3036" y="5942"/>
                  </a:moveTo>
                  <a:cubicBezTo>
                    <a:pt x="3120" y="6132"/>
                    <a:pt x="3286" y="6358"/>
                    <a:pt x="3572" y="6465"/>
                  </a:cubicBezTo>
                  <a:lnTo>
                    <a:pt x="3572" y="7227"/>
                  </a:lnTo>
                  <a:cubicBezTo>
                    <a:pt x="3560" y="7704"/>
                    <a:pt x="3167" y="8085"/>
                    <a:pt x="2691" y="8085"/>
                  </a:cubicBezTo>
                  <a:lnTo>
                    <a:pt x="2477" y="8085"/>
                  </a:lnTo>
                  <a:cubicBezTo>
                    <a:pt x="2000" y="8085"/>
                    <a:pt x="1607" y="7692"/>
                    <a:pt x="1607" y="7227"/>
                  </a:cubicBezTo>
                  <a:lnTo>
                    <a:pt x="1607" y="6501"/>
                  </a:lnTo>
                  <a:cubicBezTo>
                    <a:pt x="1917" y="6477"/>
                    <a:pt x="2572" y="6370"/>
                    <a:pt x="3036" y="5942"/>
                  </a:cubicBezTo>
                  <a:close/>
                  <a:moveTo>
                    <a:pt x="2917" y="8418"/>
                  </a:moveTo>
                  <a:lnTo>
                    <a:pt x="2917" y="8656"/>
                  </a:lnTo>
                  <a:lnTo>
                    <a:pt x="2917" y="8668"/>
                  </a:lnTo>
                  <a:lnTo>
                    <a:pt x="2572" y="9025"/>
                  </a:lnTo>
                  <a:lnTo>
                    <a:pt x="2250" y="8692"/>
                  </a:lnTo>
                  <a:lnTo>
                    <a:pt x="2250" y="8418"/>
                  </a:lnTo>
                  <a:cubicBezTo>
                    <a:pt x="2322" y="8430"/>
                    <a:pt x="2393" y="8430"/>
                    <a:pt x="2477" y="8430"/>
                  </a:cubicBezTo>
                  <a:lnTo>
                    <a:pt x="2691" y="8430"/>
                  </a:lnTo>
                  <a:cubicBezTo>
                    <a:pt x="2774" y="8430"/>
                    <a:pt x="2846" y="8418"/>
                    <a:pt x="2917" y="8418"/>
                  </a:cubicBezTo>
                  <a:close/>
                  <a:moveTo>
                    <a:pt x="8561" y="346"/>
                  </a:moveTo>
                  <a:lnTo>
                    <a:pt x="8561" y="2560"/>
                  </a:lnTo>
                  <a:cubicBezTo>
                    <a:pt x="8561" y="2667"/>
                    <a:pt x="8632" y="2739"/>
                    <a:pt x="8739" y="2739"/>
                  </a:cubicBezTo>
                  <a:lnTo>
                    <a:pt x="10954" y="2739"/>
                  </a:lnTo>
                  <a:lnTo>
                    <a:pt x="10954" y="10954"/>
                  </a:lnTo>
                  <a:lnTo>
                    <a:pt x="5167" y="10954"/>
                  </a:lnTo>
                  <a:lnTo>
                    <a:pt x="5167" y="10263"/>
                  </a:lnTo>
                  <a:cubicBezTo>
                    <a:pt x="5167" y="9454"/>
                    <a:pt x="4608" y="9049"/>
                    <a:pt x="4310" y="8954"/>
                  </a:cubicBezTo>
                  <a:lnTo>
                    <a:pt x="3274" y="8537"/>
                  </a:lnTo>
                  <a:lnTo>
                    <a:pt x="3274" y="8311"/>
                  </a:lnTo>
                  <a:cubicBezTo>
                    <a:pt x="3560" y="8156"/>
                    <a:pt x="3786" y="7894"/>
                    <a:pt x="3870" y="7561"/>
                  </a:cubicBezTo>
                  <a:cubicBezTo>
                    <a:pt x="4215" y="7561"/>
                    <a:pt x="4489" y="7287"/>
                    <a:pt x="4489" y="6930"/>
                  </a:cubicBezTo>
                  <a:cubicBezTo>
                    <a:pt x="4489" y="6715"/>
                    <a:pt x="4394" y="6525"/>
                    <a:pt x="4239" y="6418"/>
                  </a:cubicBezTo>
                  <a:lnTo>
                    <a:pt x="4239" y="5942"/>
                  </a:lnTo>
                  <a:cubicBezTo>
                    <a:pt x="4239" y="5108"/>
                    <a:pt x="3620" y="4429"/>
                    <a:pt x="2810" y="4346"/>
                  </a:cubicBezTo>
                  <a:lnTo>
                    <a:pt x="2810" y="346"/>
                  </a:lnTo>
                  <a:close/>
                  <a:moveTo>
                    <a:pt x="2679" y="0"/>
                  </a:moveTo>
                  <a:cubicBezTo>
                    <a:pt x="2572" y="0"/>
                    <a:pt x="2500" y="72"/>
                    <a:pt x="2500" y="179"/>
                  </a:cubicBezTo>
                  <a:lnTo>
                    <a:pt x="2500" y="4358"/>
                  </a:lnTo>
                  <a:cubicBezTo>
                    <a:pt x="1643" y="4394"/>
                    <a:pt x="953" y="5108"/>
                    <a:pt x="953" y="5965"/>
                  </a:cubicBezTo>
                  <a:lnTo>
                    <a:pt x="953" y="6442"/>
                  </a:lnTo>
                  <a:cubicBezTo>
                    <a:pt x="786" y="6561"/>
                    <a:pt x="691" y="6739"/>
                    <a:pt x="691" y="6954"/>
                  </a:cubicBezTo>
                  <a:cubicBezTo>
                    <a:pt x="691" y="7299"/>
                    <a:pt x="965" y="7597"/>
                    <a:pt x="1322" y="7597"/>
                  </a:cubicBezTo>
                  <a:cubicBezTo>
                    <a:pt x="1417" y="7918"/>
                    <a:pt x="1643" y="8192"/>
                    <a:pt x="1917" y="8335"/>
                  </a:cubicBezTo>
                  <a:lnTo>
                    <a:pt x="1917" y="8561"/>
                  </a:lnTo>
                  <a:lnTo>
                    <a:pt x="845" y="8978"/>
                  </a:lnTo>
                  <a:cubicBezTo>
                    <a:pt x="548" y="9085"/>
                    <a:pt x="0" y="9478"/>
                    <a:pt x="0" y="10287"/>
                  </a:cubicBezTo>
                  <a:lnTo>
                    <a:pt x="0" y="11180"/>
                  </a:lnTo>
                  <a:cubicBezTo>
                    <a:pt x="0" y="11287"/>
                    <a:pt x="72" y="11359"/>
                    <a:pt x="179" y="11359"/>
                  </a:cubicBezTo>
                  <a:lnTo>
                    <a:pt x="965" y="11359"/>
                  </a:lnTo>
                  <a:cubicBezTo>
                    <a:pt x="1072" y="11359"/>
                    <a:pt x="1143" y="11287"/>
                    <a:pt x="1143" y="11180"/>
                  </a:cubicBezTo>
                  <a:cubicBezTo>
                    <a:pt x="1143" y="11073"/>
                    <a:pt x="1072" y="11002"/>
                    <a:pt x="965" y="11002"/>
                  </a:cubicBezTo>
                  <a:lnTo>
                    <a:pt x="357" y="11002"/>
                  </a:lnTo>
                  <a:lnTo>
                    <a:pt x="357" y="10263"/>
                  </a:lnTo>
                  <a:cubicBezTo>
                    <a:pt x="357" y="9513"/>
                    <a:pt x="941" y="9287"/>
                    <a:pt x="965" y="9287"/>
                  </a:cubicBezTo>
                  <a:lnTo>
                    <a:pt x="988" y="9287"/>
                  </a:lnTo>
                  <a:lnTo>
                    <a:pt x="1965" y="8906"/>
                  </a:lnTo>
                  <a:lnTo>
                    <a:pt x="1977" y="8918"/>
                  </a:lnTo>
                  <a:lnTo>
                    <a:pt x="2500" y="9430"/>
                  </a:lnTo>
                  <a:cubicBezTo>
                    <a:pt x="2536" y="9454"/>
                    <a:pt x="2572" y="9466"/>
                    <a:pt x="2619" y="9466"/>
                  </a:cubicBezTo>
                  <a:cubicBezTo>
                    <a:pt x="2667" y="9466"/>
                    <a:pt x="2715" y="9454"/>
                    <a:pt x="2739" y="9406"/>
                  </a:cubicBezTo>
                  <a:lnTo>
                    <a:pt x="3251" y="8894"/>
                  </a:lnTo>
                  <a:lnTo>
                    <a:pt x="4227" y="9275"/>
                  </a:lnTo>
                  <a:lnTo>
                    <a:pt x="4239" y="9275"/>
                  </a:lnTo>
                  <a:cubicBezTo>
                    <a:pt x="4239" y="9275"/>
                    <a:pt x="4858" y="9490"/>
                    <a:pt x="4858" y="10240"/>
                  </a:cubicBezTo>
                  <a:lnTo>
                    <a:pt x="4858" y="10954"/>
                  </a:lnTo>
                  <a:lnTo>
                    <a:pt x="1607" y="10954"/>
                  </a:lnTo>
                  <a:cubicBezTo>
                    <a:pt x="1500" y="10954"/>
                    <a:pt x="1429" y="11037"/>
                    <a:pt x="1429" y="11133"/>
                  </a:cubicBezTo>
                  <a:cubicBezTo>
                    <a:pt x="1429" y="11240"/>
                    <a:pt x="1500" y="11311"/>
                    <a:pt x="1607" y="11311"/>
                  </a:cubicBezTo>
                  <a:lnTo>
                    <a:pt x="11168" y="11311"/>
                  </a:lnTo>
                  <a:cubicBezTo>
                    <a:pt x="11263" y="11311"/>
                    <a:pt x="11347" y="11240"/>
                    <a:pt x="11347" y="11133"/>
                  </a:cubicBezTo>
                  <a:lnTo>
                    <a:pt x="11311" y="2536"/>
                  </a:lnTo>
                  <a:lnTo>
                    <a:pt x="11311" y="2501"/>
                  </a:lnTo>
                  <a:lnTo>
                    <a:pt x="11311" y="2489"/>
                  </a:lnTo>
                  <a:cubicBezTo>
                    <a:pt x="11311" y="2489"/>
                    <a:pt x="11311" y="2477"/>
                    <a:pt x="11299" y="2477"/>
                  </a:cubicBezTo>
                  <a:lnTo>
                    <a:pt x="11287" y="2465"/>
                  </a:lnTo>
                  <a:lnTo>
                    <a:pt x="11263" y="2441"/>
                  </a:lnTo>
                  <a:lnTo>
                    <a:pt x="9882" y="1060"/>
                  </a:lnTo>
                  <a:lnTo>
                    <a:pt x="8870" y="48"/>
                  </a:lnTo>
                  <a:lnTo>
                    <a:pt x="8858" y="36"/>
                  </a:lnTo>
                  <a:lnTo>
                    <a:pt x="8846" y="12"/>
                  </a:lnTo>
                  <a:cubicBezTo>
                    <a:pt x="8846" y="12"/>
                    <a:pt x="8823" y="12"/>
                    <a:pt x="8823"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51" name="Google Shape;2915;p42">
              <a:extLst>
                <a:ext uri="{FF2B5EF4-FFF2-40B4-BE49-F238E27FC236}">
                  <a16:creationId xmlns:a16="http://schemas.microsoft.com/office/drawing/2014/main" id="{5F8A12CC-38C5-AB9C-DC6E-AC8BE33ABE42}"/>
                </a:ext>
              </a:extLst>
            </p:cNvPr>
            <p:cNvSpPr/>
            <p:nvPr/>
          </p:nvSpPr>
          <p:spPr>
            <a:xfrm>
              <a:off x="7685907" y="2066784"/>
              <a:ext cx="101211" cy="11394"/>
            </a:xfrm>
            <a:custGeom>
              <a:avLst/>
              <a:gdLst/>
              <a:ahLst/>
              <a:cxnLst/>
              <a:rect l="l" t="t" r="r" b="b"/>
              <a:pathLst>
                <a:path w="3180" h="358" extrusionOk="0">
                  <a:moveTo>
                    <a:pt x="179" y="0"/>
                  </a:moveTo>
                  <a:cubicBezTo>
                    <a:pt x="72" y="0"/>
                    <a:pt x="1" y="84"/>
                    <a:pt x="1" y="179"/>
                  </a:cubicBezTo>
                  <a:cubicBezTo>
                    <a:pt x="1" y="286"/>
                    <a:pt x="72" y="358"/>
                    <a:pt x="179" y="358"/>
                  </a:cubicBezTo>
                  <a:lnTo>
                    <a:pt x="3001" y="358"/>
                  </a:lnTo>
                  <a:cubicBezTo>
                    <a:pt x="3108" y="358"/>
                    <a:pt x="3180" y="286"/>
                    <a:pt x="3180" y="179"/>
                  </a:cubicBezTo>
                  <a:cubicBezTo>
                    <a:pt x="3180" y="84"/>
                    <a:pt x="3108" y="0"/>
                    <a:pt x="3001"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52" name="Google Shape;2916;p42">
              <a:extLst>
                <a:ext uri="{FF2B5EF4-FFF2-40B4-BE49-F238E27FC236}">
                  <a16:creationId xmlns:a16="http://schemas.microsoft.com/office/drawing/2014/main" id="{0BFE7A05-4C2F-378C-A871-781E5144B417}"/>
                </a:ext>
              </a:extLst>
            </p:cNvPr>
            <p:cNvSpPr/>
            <p:nvPr/>
          </p:nvSpPr>
          <p:spPr>
            <a:xfrm>
              <a:off x="7685907" y="2106187"/>
              <a:ext cx="147075" cy="11394"/>
            </a:xfrm>
            <a:custGeom>
              <a:avLst/>
              <a:gdLst/>
              <a:ahLst/>
              <a:cxnLst/>
              <a:rect l="l" t="t" r="r" b="b"/>
              <a:pathLst>
                <a:path w="4621" h="358" extrusionOk="0">
                  <a:moveTo>
                    <a:pt x="179" y="1"/>
                  </a:moveTo>
                  <a:cubicBezTo>
                    <a:pt x="72" y="1"/>
                    <a:pt x="1" y="72"/>
                    <a:pt x="1" y="179"/>
                  </a:cubicBezTo>
                  <a:cubicBezTo>
                    <a:pt x="1" y="286"/>
                    <a:pt x="72" y="358"/>
                    <a:pt x="179" y="358"/>
                  </a:cubicBezTo>
                  <a:lnTo>
                    <a:pt x="4442" y="358"/>
                  </a:lnTo>
                  <a:cubicBezTo>
                    <a:pt x="4549" y="358"/>
                    <a:pt x="4620" y="286"/>
                    <a:pt x="4620" y="179"/>
                  </a:cubicBezTo>
                  <a:cubicBezTo>
                    <a:pt x="4620" y="72"/>
                    <a:pt x="4549" y="1"/>
                    <a:pt x="4442" y="1"/>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53" name="Google Shape;2917;p42">
              <a:extLst>
                <a:ext uri="{FF2B5EF4-FFF2-40B4-BE49-F238E27FC236}">
                  <a16:creationId xmlns:a16="http://schemas.microsoft.com/office/drawing/2014/main" id="{276F6D90-9AFE-A8BD-A92D-F246C1BA6EBE}"/>
                </a:ext>
              </a:extLst>
            </p:cNvPr>
            <p:cNvSpPr/>
            <p:nvPr/>
          </p:nvSpPr>
          <p:spPr>
            <a:xfrm>
              <a:off x="7685907" y="2145239"/>
              <a:ext cx="147075" cy="11394"/>
            </a:xfrm>
            <a:custGeom>
              <a:avLst/>
              <a:gdLst/>
              <a:ahLst/>
              <a:cxnLst/>
              <a:rect l="l" t="t" r="r" b="b"/>
              <a:pathLst>
                <a:path w="4621" h="358" extrusionOk="0">
                  <a:moveTo>
                    <a:pt x="179" y="0"/>
                  </a:moveTo>
                  <a:cubicBezTo>
                    <a:pt x="72" y="0"/>
                    <a:pt x="1" y="71"/>
                    <a:pt x="1" y="179"/>
                  </a:cubicBezTo>
                  <a:cubicBezTo>
                    <a:pt x="1" y="274"/>
                    <a:pt x="72" y="357"/>
                    <a:pt x="179" y="357"/>
                  </a:cubicBezTo>
                  <a:lnTo>
                    <a:pt x="4442" y="357"/>
                  </a:lnTo>
                  <a:cubicBezTo>
                    <a:pt x="4549" y="357"/>
                    <a:pt x="4620" y="274"/>
                    <a:pt x="4620" y="179"/>
                  </a:cubicBezTo>
                  <a:cubicBezTo>
                    <a:pt x="4620" y="83"/>
                    <a:pt x="4537" y="0"/>
                    <a:pt x="4442"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54" name="Google Shape;2918;p42">
              <a:extLst>
                <a:ext uri="{FF2B5EF4-FFF2-40B4-BE49-F238E27FC236}">
                  <a16:creationId xmlns:a16="http://schemas.microsoft.com/office/drawing/2014/main" id="{2F5DB159-C129-1B48-0498-A54120355598}"/>
                </a:ext>
              </a:extLst>
            </p:cNvPr>
            <p:cNvSpPr/>
            <p:nvPr/>
          </p:nvSpPr>
          <p:spPr>
            <a:xfrm>
              <a:off x="7685907" y="2184260"/>
              <a:ext cx="147075" cy="11394"/>
            </a:xfrm>
            <a:custGeom>
              <a:avLst/>
              <a:gdLst/>
              <a:ahLst/>
              <a:cxnLst/>
              <a:rect l="l" t="t" r="r" b="b"/>
              <a:pathLst>
                <a:path w="4621" h="358" extrusionOk="0">
                  <a:moveTo>
                    <a:pt x="179" y="0"/>
                  </a:moveTo>
                  <a:cubicBezTo>
                    <a:pt x="72" y="0"/>
                    <a:pt x="1" y="84"/>
                    <a:pt x="1" y="179"/>
                  </a:cubicBezTo>
                  <a:cubicBezTo>
                    <a:pt x="1" y="286"/>
                    <a:pt x="72" y="358"/>
                    <a:pt x="179" y="358"/>
                  </a:cubicBezTo>
                  <a:lnTo>
                    <a:pt x="4442" y="358"/>
                  </a:lnTo>
                  <a:cubicBezTo>
                    <a:pt x="4549" y="358"/>
                    <a:pt x="4620" y="286"/>
                    <a:pt x="4620" y="179"/>
                  </a:cubicBezTo>
                  <a:cubicBezTo>
                    <a:pt x="4620" y="84"/>
                    <a:pt x="4537" y="0"/>
                    <a:pt x="4442"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55" name="Google Shape;2919;p42">
              <a:extLst>
                <a:ext uri="{FF2B5EF4-FFF2-40B4-BE49-F238E27FC236}">
                  <a16:creationId xmlns:a16="http://schemas.microsoft.com/office/drawing/2014/main" id="{590E0E32-00AC-EE18-3E1C-8A121A7147D9}"/>
                </a:ext>
              </a:extLst>
            </p:cNvPr>
            <p:cNvSpPr/>
            <p:nvPr/>
          </p:nvSpPr>
          <p:spPr>
            <a:xfrm>
              <a:off x="7685907" y="2223280"/>
              <a:ext cx="147075" cy="11394"/>
            </a:xfrm>
            <a:custGeom>
              <a:avLst/>
              <a:gdLst/>
              <a:ahLst/>
              <a:cxnLst/>
              <a:rect l="l" t="t" r="r" b="b"/>
              <a:pathLst>
                <a:path w="4621" h="358" extrusionOk="0">
                  <a:moveTo>
                    <a:pt x="179" y="1"/>
                  </a:moveTo>
                  <a:cubicBezTo>
                    <a:pt x="72" y="1"/>
                    <a:pt x="1" y="72"/>
                    <a:pt x="1" y="179"/>
                  </a:cubicBezTo>
                  <a:cubicBezTo>
                    <a:pt x="1" y="286"/>
                    <a:pt x="72" y="358"/>
                    <a:pt x="179" y="358"/>
                  </a:cubicBezTo>
                  <a:lnTo>
                    <a:pt x="4442" y="358"/>
                  </a:lnTo>
                  <a:cubicBezTo>
                    <a:pt x="4549" y="358"/>
                    <a:pt x="4620" y="286"/>
                    <a:pt x="4620" y="179"/>
                  </a:cubicBezTo>
                  <a:cubicBezTo>
                    <a:pt x="4620" y="84"/>
                    <a:pt x="4537" y="1"/>
                    <a:pt x="4442" y="1"/>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grpSp>
      <p:grpSp>
        <p:nvGrpSpPr>
          <p:cNvPr id="56" name="Google Shape;2909;p42">
            <a:extLst>
              <a:ext uri="{FF2B5EF4-FFF2-40B4-BE49-F238E27FC236}">
                <a16:creationId xmlns:a16="http://schemas.microsoft.com/office/drawing/2014/main" id="{629D401B-ECAD-38BA-26D8-90C6705F76DB}"/>
              </a:ext>
            </a:extLst>
          </p:cNvPr>
          <p:cNvGrpSpPr/>
          <p:nvPr/>
        </p:nvGrpSpPr>
        <p:grpSpPr>
          <a:xfrm>
            <a:off x="4193692" y="4386881"/>
            <a:ext cx="914075" cy="901267"/>
            <a:chOff x="5352728" y="1990239"/>
            <a:chExt cx="327091" cy="322508"/>
          </a:xfrm>
          <a:solidFill>
            <a:srgbClr val="2F465A"/>
          </a:solidFill>
        </p:grpSpPr>
        <p:sp>
          <p:nvSpPr>
            <p:cNvPr id="57" name="Google Shape;2910;p42">
              <a:extLst>
                <a:ext uri="{FF2B5EF4-FFF2-40B4-BE49-F238E27FC236}">
                  <a16:creationId xmlns:a16="http://schemas.microsoft.com/office/drawing/2014/main" id="{2FCEC815-D787-CDEB-15CF-8058295CF688}"/>
                </a:ext>
              </a:extLst>
            </p:cNvPr>
            <p:cNvSpPr/>
            <p:nvPr/>
          </p:nvSpPr>
          <p:spPr>
            <a:xfrm>
              <a:off x="5575935" y="2093297"/>
              <a:ext cx="103885" cy="217923"/>
            </a:xfrm>
            <a:custGeom>
              <a:avLst/>
              <a:gdLst/>
              <a:ahLst/>
              <a:cxnLst/>
              <a:rect l="l" t="t" r="r" b="b"/>
              <a:pathLst>
                <a:path w="3264" h="6847" extrusionOk="0">
                  <a:moveTo>
                    <a:pt x="1084" y="322"/>
                  </a:moveTo>
                  <a:cubicBezTo>
                    <a:pt x="1144" y="322"/>
                    <a:pt x="1203" y="358"/>
                    <a:pt x="1203" y="441"/>
                  </a:cubicBezTo>
                  <a:lnTo>
                    <a:pt x="1203" y="513"/>
                  </a:lnTo>
                  <a:lnTo>
                    <a:pt x="1203" y="1061"/>
                  </a:lnTo>
                  <a:cubicBezTo>
                    <a:pt x="1203" y="1156"/>
                    <a:pt x="1275" y="1227"/>
                    <a:pt x="1370" y="1227"/>
                  </a:cubicBezTo>
                  <a:cubicBezTo>
                    <a:pt x="1453" y="1227"/>
                    <a:pt x="1537" y="1156"/>
                    <a:pt x="1537" y="1061"/>
                  </a:cubicBezTo>
                  <a:lnTo>
                    <a:pt x="1537" y="537"/>
                  </a:lnTo>
                  <a:cubicBezTo>
                    <a:pt x="1549" y="513"/>
                    <a:pt x="1596" y="477"/>
                    <a:pt x="1632" y="477"/>
                  </a:cubicBezTo>
                  <a:lnTo>
                    <a:pt x="1656" y="477"/>
                  </a:lnTo>
                  <a:cubicBezTo>
                    <a:pt x="1715" y="477"/>
                    <a:pt x="1775" y="525"/>
                    <a:pt x="1775" y="596"/>
                  </a:cubicBezTo>
                  <a:lnTo>
                    <a:pt x="1775" y="632"/>
                  </a:lnTo>
                  <a:lnTo>
                    <a:pt x="1775" y="1061"/>
                  </a:lnTo>
                  <a:cubicBezTo>
                    <a:pt x="1775" y="1156"/>
                    <a:pt x="1846" y="1227"/>
                    <a:pt x="1930" y="1227"/>
                  </a:cubicBezTo>
                  <a:cubicBezTo>
                    <a:pt x="2025" y="1227"/>
                    <a:pt x="2096" y="1156"/>
                    <a:pt x="2096" y="1061"/>
                  </a:cubicBezTo>
                  <a:lnTo>
                    <a:pt x="2096" y="656"/>
                  </a:lnTo>
                  <a:cubicBezTo>
                    <a:pt x="2108" y="620"/>
                    <a:pt x="2156" y="596"/>
                    <a:pt x="2203" y="596"/>
                  </a:cubicBezTo>
                  <a:lnTo>
                    <a:pt x="2215" y="596"/>
                  </a:lnTo>
                  <a:cubicBezTo>
                    <a:pt x="2275" y="596"/>
                    <a:pt x="2334" y="644"/>
                    <a:pt x="2334" y="715"/>
                  </a:cubicBezTo>
                  <a:lnTo>
                    <a:pt x="2334" y="822"/>
                  </a:lnTo>
                  <a:lnTo>
                    <a:pt x="2334" y="1156"/>
                  </a:lnTo>
                  <a:cubicBezTo>
                    <a:pt x="2334" y="1239"/>
                    <a:pt x="2406" y="1311"/>
                    <a:pt x="2501" y="1311"/>
                  </a:cubicBezTo>
                  <a:cubicBezTo>
                    <a:pt x="2584" y="1311"/>
                    <a:pt x="2668" y="1239"/>
                    <a:pt x="2668" y="1156"/>
                  </a:cubicBezTo>
                  <a:lnTo>
                    <a:pt x="2668" y="822"/>
                  </a:lnTo>
                  <a:cubicBezTo>
                    <a:pt x="2668" y="763"/>
                    <a:pt x="2703" y="703"/>
                    <a:pt x="2787" y="703"/>
                  </a:cubicBezTo>
                  <a:lnTo>
                    <a:pt x="2799" y="703"/>
                  </a:lnTo>
                  <a:cubicBezTo>
                    <a:pt x="2858" y="703"/>
                    <a:pt x="2918" y="751"/>
                    <a:pt x="2918" y="822"/>
                  </a:cubicBezTo>
                  <a:lnTo>
                    <a:pt x="2918" y="1584"/>
                  </a:lnTo>
                  <a:lnTo>
                    <a:pt x="2918" y="1596"/>
                  </a:lnTo>
                  <a:cubicBezTo>
                    <a:pt x="2930" y="1787"/>
                    <a:pt x="2918" y="2346"/>
                    <a:pt x="2632" y="2596"/>
                  </a:cubicBezTo>
                  <a:cubicBezTo>
                    <a:pt x="2608" y="2620"/>
                    <a:pt x="2572" y="2668"/>
                    <a:pt x="2572" y="2715"/>
                  </a:cubicBezTo>
                  <a:lnTo>
                    <a:pt x="2572" y="3216"/>
                  </a:lnTo>
                  <a:lnTo>
                    <a:pt x="1025" y="3216"/>
                  </a:lnTo>
                  <a:lnTo>
                    <a:pt x="1025" y="2858"/>
                  </a:lnTo>
                  <a:cubicBezTo>
                    <a:pt x="1025" y="2823"/>
                    <a:pt x="1001" y="2763"/>
                    <a:pt x="965" y="2727"/>
                  </a:cubicBezTo>
                  <a:cubicBezTo>
                    <a:pt x="929" y="2727"/>
                    <a:pt x="394" y="2311"/>
                    <a:pt x="358" y="1870"/>
                  </a:cubicBezTo>
                  <a:cubicBezTo>
                    <a:pt x="346" y="1608"/>
                    <a:pt x="334" y="1287"/>
                    <a:pt x="417" y="1215"/>
                  </a:cubicBezTo>
                  <a:cubicBezTo>
                    <a:pt x="453" y="1189"/>
                    <a:pt x="496" y="1175"/>
                    <a:pt x="560" y="1175"/>
                  </a:cubicBezTo>
                  <a:cubicBezTo>
                    <a:pt x="581" y="1175"/>
                    <a:pt x="605" y="1177"/>
                    <a:pt x="632" y="1180"/>
                  </a:cubicBezTo>
                  <a:lnTo>
                    <a:pt x="632" y="1406"/>
                  </a:lnTo>
                  <a:cubicBezTo>
                    <a:pt x="632" y="1489"/>
                    <a:pt x="703" y="1572"/>
                    <a:pt x="787" y="1572"/>
                  </a:cubicBezTo>
                  <a:cubicBezTo>
                    <a:pt x="882" y="1572"/>
                    <a:pt x="953" y="1489"/>
                    <a:pt x="953" y="1406"/>
                  </a:cubicBezTo>
                  <a:lnTo>
                    <a:pt x="953" y="441"/>
                  </a:lnTo>
                  <a:cubicBezTo>
                    <a:pt x="953" y="382"/>
                    <a:pt x="1001" y="322"/>
                    <a:pt x="1072" y="322"/>
                  </a:cubicBezTo>
                  <a:close/>
                  <a:moveTo>
                    <a:pt x="2799" y="3537"/>
                  </a:moveTo>
                  <a:lnTo>
                    <a:pt x="2799" y="4037"/>
                  </a:lnTo>
                  <a:lnTo>
                    <a:pt x="751" y="4037"/>
                  </a:lnTo>
                  <a:lnTo>
                    <a:pt x="751" y="3537"/>
                  </a:lnTo>
                  <a:close/>
                  <a:moveTo>
                    <a:pt x="2799" y="4370"/>
                  </a:moveTo>
                  <a:lnTo>
                    <a:pt x="2799" y="6525"/>
                  </a:lnTo>
                  <a:lnTo>
                    <a:pt x="751" y="6525"/>
                  </a:lnTo>
                  <a:lnTo>
                    <a:pt x="751" y="4370"/>
                  </a:lnTo>
                  <a:close/>
                  <a:moveTo>
                    <a:pt x="1072" y="1"/>
                  </a:moveTo>
                  <a:cubicBezTo>
                    <a:pt x="834" y="1"/>
                    <a:pt x="644" y="203"/>
                    <a:pt x="644" y="429"/>
                  </a:cubicBezTo>
                  <a:lnTo>
                    <a:pt x="644" y="846"/>
                  </a:lnTo>
                  <a:cubicBezTo>
                    <a:pt x="621" y="845"/>
                    <a:pt x="600" y="844"/>
                    <a:pt x="579" y="844"/>
                  </a:cubicBezTo>
                  <a:cubicBezTo>
                    <a:pt x="433" y="844"/>
                    <a:pt x="321" y="880"/>
                    <a:pt x="227" y="953"/>
                  </a:cubicBezTo>
                  <a:cubicBezTo>
                    <a:pt x="1" y="1144"/>
                    <a:pt x="13" y="1525"/>
                    <a:pt x="48" y="1882"/>
                  </a:cubicBezTo>
                  <a:cubicBezTo>
                    <a:pt x="72" y="2370"/>
                    <a:pt x="525" y="2787"/>
                    <a:pt x="679" y="2930"/>
                  </a:cubicBezTo>
                  <a:lnTo>
                    <a:pt x="679" y="3216"/>
                  </a:lnTo>
                  <a:lnTo>
                    <a:pt x="596" y="3216"/>
                  </a:lnTo>
                  <a:cubicBezTo>
                    <a:pt x="513" y="3216"/>
                    <a:pt x="429" y="3287"/>
                    <a:pt x="429" y="3382"/>
                  </a:cubicBezTo>
                  <a:lnTo>
                    <a:pt x="429" y="4216"/>
                  </a:lnTo>
                  <a:lnTo>
                    <a:pt x="429" y="6692"/>
                  </a:lnTo>
                  <a:cubicBezTo>
                    <a:pt x="429" y="6775"/>
                    <a:pt x="513" y="6847"/>
                    <a:pt x="596" y="6847"/>
                  </a:cubicBezTo>
                  <a:lnTo>
                    <a:pt x="2977" y="6847"/>
                  </a:lnTo>
                  <a:cubicBezTo>
                    <a:pt x="3061" y="6847"/>
                    <a:pt x="3144" y="6775"/>
                    <a:pt x="3144" y="6692"/>
                  </a:cubicBezTo>
                  <a:lnTo>
                    <a:pt x="3144" y="4204"/>
                  </a:lnTo>
                  <a:lnTo>
                    <a:pt x="3144" y="3370"/>
                  </a:lnTo>
                  <a:cubicBezTo>
                    <a:pt x="3120" y="3275"/>
                    <a:pt x="3049" y="3204"/>
                    <a:pt x="2965" y="3204"/>
                  </a:cubicBezTo>
                  <a:lnTo>
                    <a:pt x="2858" y="3204"/>
                  </a:lnTo>
                  <a:lnTo>
                    <a:pt x="2858" y="2763"/>
                  </a:lnTo>
                  <a:cubicBezTo>
                    <a:pt x="3263" y="2358"/>
                    <a:pt x="3215" y="1644"/>
                    <a:pt x="3204" y="1549"/>
                  </a:cubicBezTo>
                  <a:lnTo>
                    <a:pt x="3204" y="810"/>
                  </a:lnTo>
                  <a:cubicBezTo>
                    <a:pt x="3204" y="572"/>
                    <a:pt x="3013" y="382"/>
                    <a:pt x="2763" y="382"/>
                  </a:cubicBezTo>
                  <a:lnTo>
                    <a:pt x="2751" y="382"/>
                  </a:lnTo>
                  <a:cubicBezTo>
                    <a:pt x="2680" y="382"/>
                    <a:pt x="2608" y="394"/>
                    <a:pt x="2549" y="441"/>
                  </a:cubicBezTo>
                  <a:cubicBezTo>
                    <a:pt x="2465" y="334"/>
                    <a:pt x="2334" y="275"/>
                    <a:pt x="2203" y="275"/>
                  </a:cubicBezTo>
                  <a:lnTo>
                    <a:pt x="2191" y="275"/>
                  </a:lnTo>
                  <a:cubicBezTo>
                    <a:pt x="2120" y="275"/>
                    <a:pt x="2037" y="287"/>
                    <a:pt x="1977" y="322"/>
                  </a:cubicBezTo>
                  <a:cubicBezTo>
                    <a:pt x="1906" y="227"/>
                    <a:pt x="1787" y="168"/>
                    <a:pt x="1656" y="168"/>
                  </a:cubicBezTo>
                  <a:lnTo>
                    <a:pt x="1632" y="168"/>
                  </a:lnTo>
                  <a:cubicBezTo>
                    <a:pt x="1572" y="168"/>
                    <a:pt x="1525" y="179"/>
                    <a:pt x="1453" y="203"/>
                  </a:cubicBezTo>
                  <a:cubicBezTo>
                    <a:pt x="1382" y="84"/>
                    <a:pt x="1251" y="1"/>
                    <a:pt x="1084" y="1"/>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58" name="Google Shape;2911;p42">
              <a:extLst>
                <a:ext uri="{FF2B5EF4-FFF2-40B4-BE49-F238E27FC236}">
                  <a16:creationId xmlns:a16="http://schemas.microsoft.com/office/drawing/2014/main" id="{7D8BF979-A1A2-9036-1316-7AB47E5A7947}"/>
                </a:ext>
              </a:extLst>
            </p:cNvPr>
            <p:cNvSpPr/>
            <p:nvPr/>
          </p:nvSpPr>
          <p:spPr>
            <a:xfrm>
              <a:off x="5426250" y="1990239"/>
              <a:ext cx="191029" cy="322508"/>
            </a:xfrm>
            <a:custGeom>
              <a:avLst/>
              <a:gdLst/>
              <a:ahLst/>
              <a:cxnLst/>
              <a:rect l="l" t="t" r="r" b="b"/>
              <a:pathLst>
                <a:path w="6002" h="10133" extrusionOk="0">
                  <a:moveTo>
                    <a:pt x="584" y="298"/>
                  </a:moveTo>
                  <a:lnTo>
                    <a:pt x="977" y="322"/>
                  </a:lnTo>
                  <a:lnTo>
                    <a:pt x="870" y="584"/>
                  </a:lnTo>
                  <a:lnTo>
                    <a:pt x="584" y="298"/>
                  </a:lnTo>
                  <a:close/>
                  <a:moveTo>
                    <a:pt x="1299" y="381"/>
                  </a:moveTo>
                  <a:lnTo>
                    <a:pt x="2322" y="810"/>
                  </a:lnTo>
                  <a:lnTo>
                    <a:pt x="2203" y="1239"/>
                  </a:lnTo>
                  <a:lnTo>
                    <a:pt x="1120" y="774"/>
                  </a:lnTo>
                  <a:lnTo>
                    <a:pt x="1299" y="381"/>
                  </a:lnTo>
                  <a:close/>
                  <a:moveTo>
                    <a:pt x="4739" y="1834"/>
                  </a:moveTo>
                  <a:lnTo>
                    <a:pt x="5097" y="1977"/>
                  </a:lnTo>
                  <a:lnTo>
                    <a:pt x="4918" y="2382"/>
                  </a:lnTo>
                  <a:lnTo>
                    <a:pt x="4620" y="2263"/>
                  </a:lnTo>
                  <a:cubicBezTo>
                    <a:pt x="4632" y="2251"/>
                    <a:pt x="4632" y="2227"/>
                    <a:pt x="4632" y="2227"/>
                  </a:cubicBezTo>
                  <a:lnTo>
                    <a:pt x="4739" y="1834"/>
                  </a:lnTo>
                  <a:close/>
                  <a:moveTo>
                    <a:pt x="5406" y="2108"/>
                  </a:moveTo>
                  <a:lnTo>
                    <a:pt x="5585" y="2191"/>
                  </a:lnTo>
                  <a:cubicBezTo>
                    <a:pt x="5609" y="2203"/>
                    <a:pt x="5632" y="2215"/>
                    <a:pt x="5644" y="2251"/>
                  </a:cubicBezTo>
                  <a:cubicBezTo>
                    <a:pt x="5656" y="2274"/>
                    <a:pt x="5656" y="2298"/>
                    <a:pt x="5644" y="2322"/>
                  </a:cubicBezTo>
                  <a:lnTo>
                    <a:pt x="5549" y="2524"/>
                  </a:lnTo>
                  <a:cubicBezTo>
                    <a:pt x="5537" y="2560"/>
                    <a:pt x="5525" y="2572"/>
                    <a:pt x="5490" y="2584"/>
                  </a:cubicBezTo>
                  <a:cubicBezTo>
                    <a:pt x="5478" y="2590"/>
                    <a:pt x="5463" y="2593"/>
                    <a:pt x="5449" y="2593"/>
                  </a:cubicBezTo>
                  <a:cubicBezTo>
                    <a:pt x="5436" y="2593"/>
                    <a:pt x="5424" y="2590"/>
                    <a:pt x="5418" y="2584"/>
                  </a:cubicBezTo>
                  <a:lnTo>
                    <a:pt x="5228" y="2513"/>
                  </a:lnTo>
                  <a:lnTo>
                    <a:pt x="5406" y="2108"/>
                  </a:lnTo>
                  <a:close/>
                  <a:moveTo>
                    <a:pt x="2906" y="405"/>
                  </a:moveTo>
                  <a:cubicBezTo>
                    <a:pt x="2930" y="405"/>
                    <a:pt x="2965" y="429"/>
                    <a:pt x="2977" y="441"/>
                  </a:cubicBezTo>
                  <a:cubicBezTo>
                    <a:pt x="2989" y="477"/>
                    <a:pt x="2989" y="500"/>
                    <a:pt x="2989" y="536"/>
                  </a:cubicBezTo>
                  <a:lnTo>
                    <a:pt x="2977" y="608"/>
                  </a:lnTo>
                  <a:lnTo>
                    <a:pt x="2787" y="1262"/>
                  </a:lnTo>
                  <a:cubicBezTo>
                    <a:pt x="2751" y="1358"/>
                    <a:pt x="2811" y="1441"/>
                    <a:pt x="2882" y="1453"/>
                  </a:cubicBezTo>
                  <a:lnTo>
                    <a:pt x="2930" y="1453"/>
                  </a:lnTo>
                  <a:cubicBezTo>
                    <a:pt x="3001" y="1453"/>
                    <a:pt x="3061" y="1417"/>
                    <a:pt x="3084" y="1334"/>
                  </a:cubicBezTo>
                  <a:lnTo>
                    <a:pt x="3263" y="703"/>
                  </a:lnTo>
                  <a:cubicBezTo>
                    <a:pt x="3287" y="667"/>
                    <a:pt x="3335" y="655"/>
                    <a:pt x="3382" y="655"/>
                  </a:cubicBezTo>
                  <a:lnTo>
                    <a:pt x="3394" y="655"/>
                  </a:lnTo>
                  <a:cubicBezTo>
                    <a:pt x="3418" y="655"/>
                    <a:pt x="3454" y="679"/>
                    <a:pt x="3465" y="703"/>
                  </a:cubicBezTo>
                  <a:cubicBezTo>
                    <a:pt x="3477" y="727"/>
                    <a:pt x="3477" y="762"/>
                    <a:pt x="3477" y="786"/>
                  </a:cubicBezTo>
                  <a:lnTo>
                    <a:pt x="3323" y="1358"/>
                  </a:lnTo>
                  <a:cubicBezTo>
                    <a:pt x="3287" y="1441"/>
                    <a:pt x="3346" y="1536"/>
                    <a:pt x="3418" y="1548"/>
                  </a:cubicBezTo>
                  <a:lnTo>
                    <a:pt x="3465" y="1548"/>
                  </a:lnTo>
                  <a:cubicBezTo>
                    <a:pt x="3537" y="1548"/>
                    <a:pt x="3596" y="1501"/>
                    <a:pt x="3620" y="1429"/>
                  </a:cubicBezTo>
                  <a:lnTo>
                    <a:pt x="3763" y="905"/>
                  </a:lnTo>
                  <a:cubicBezTo>
                    <a:pt x="3794" y="885"/>
                    <a:pt x="3825" y="855"/>
                    <a:pt x="3863" y="855"/>
                  </a:cubicBezTo>
                  <a:cubicBezTo>
                    <a:pt x="3869" y="855"/>
                    <a:pt x="3876" y="856"/>
                    <a:pt x="3882" y="858"/>
                  </a:cubicBezTo>
                  <a:lnTo>
                    <a:pt x="3894" y="858"/>
                  </a:lnTo>
                  <a:cubicBezTo>
                    <a:pt x="3954" y="881"/>
                    <a:pt x="4001" y="941"/>
                    <a:pt x="3989" y="1000"/>
                  </a:cubicBezTo>
                  <a:lnTo>
                    <a:pt x="3954" y="1096"/>
                  </a:lnTo>
                  <a:lnTo>
                    <a:pt x="3823" y="1536"/>
                  </a:lnTo>
                  <a:cubicBezTo>
                    <a:pt x="3799" y="1620"/>
                    <a:pt x="3835" y="1703"/>
                    <a:pt x="3930" y="1739"/>
                  </a:cubicBezTo>
                  <a:lnTo>
                    <a:pt x="3977" y="1739"/>
                  </a:lnTo>
                  <a:cubicBezTo>
                    <a:pt x="4049" y="1739"/>
                    <a:pt x="4108" y="1691"/>
                    <a:pt x="4120" y="1620"/>
                  </a:cubicBezTo>
                  <a:lnTo>
                    <a:pt x="4251" y="1167"/>
                  </a:lnTo>
                  <a:cubicBezTo>
                    <a:pt x="4272" y="1115"/>
                    <a:pt x="4320" y="1082"/>
                    <a:pt x="4371" y="1082"/>
                  </a:cubicBezTo>
                  <a:cubicBezTo>
                    <a:pt x="4379" y="1082"/>
                    <a:pt x="4386" y="1082"/>
                    <a:pt x="4394" y="1084"/>
                  </a:cubicBezTo>
                  <a:lnTo>
                    <a:pt x="4406" y="1084"/>
                  </a:lnTo>
                  <a:cubicBezTo>
                    <a:pt x="4466" y="1096"/>
                    <a:pt x="4513" y="1155"/>
                    <a:pt x="4489" y="1215"/>
                  </a:cubicBezTo>
                  <a:lnTo>
                    <a:pt x="4251" y="2084"/>
                  </a:lnTo>
                  <a:lnTo>
                    <a:pt x="4251" y="2096"/>
                  </a:lnTo>
                  <a:cubicBezTo>
                    <a:pt x="4323" y="2191"/>
                    <a:pt x="4216" y="2870"/>
                    <a:pt x="3811" y="3084"/>
                  </a:cubicBezTo>
                  <a:cubicBezTo>
                    <a:pt x="3751" y="3108"/>
                    <a:pt x="3727" y="3167"/>
                    <a:pt x="3727" y="3227"/>
                  </a:cubicBezTo>
                  <a:lnTo>
                    <a:pt x="3727" y="3715"/>
                  </a:lnTo>
                  <a:lnTo>
                    <a:pt x="2192" y="3715"/>
                  </a:lnTo>
                  <a:lnTo>
                    <a:pt x="2192" y="2941"/>
                  </a:lnTo>
                  <a:cubicBezTo>
                    <a:pt x="2192" y="2905"/>
                    <a:pt x="2180" y="2870"/>
                    <a:pt x="2144" y="2846"/>
                  </a:cubicBezTo>
                  <a:cubicBezTo>
                    <a:pt x="2144" y="2846"/>
                    <a:pt x="1715" y="2310"/>
                    <a:pt x="1787" y="1870"/>
                  </a:cubicBezTo>
                  <a:cubicBezTo>
                    <a:pt x="1822" y="1739"/>
                    <a:pt x="1834" y="1572"/>
                    <a:pt x="1870" y="1453"/>
                  </a:cubicBezTo>
                  <a:lnTo>
                    <a:pt x="2168" y="1572"/>
                  </a:lnTo>
                  <a:cubicBezTo>
                    <a:pt x="2192" y="1620"/>
                    <a:pt x="2239" y="1667"/>
                    <a:pt x="2275" y="1679"/>
                  </a:cubicBezTo>
                  <a:cubicBezTo>
                    <a:pt x="2294" y="1686"/>
                    <a:pt x="2312" y="1690"/>
                    <a:pt x="2330" y="1690"/>
                  </a:cubicBezTo>
                  <a:cubicBezTo>
                    <a:pt x="2401" y="1690"/>
                    <a:pt x="2456" y="1636"/>
                    <a:pt x="2465" y="1560"/>
                  </a:cubicBezTo>
                  <a:lnTo>
                    <a:pt x="2751" y="489"/>
                  </a:lnTo>
                  <a:cubicBezTo>
                    <a:pt x="2751" y="465"/>
                    <a:pt x="2787" y="429"/>
                    <a:pt x="2799" y="417"/>
                  </a:cubicBezTo>
                  <a:cubicBezTo>
                    <a:pt x="2834" y="405"/>
                    <a:pt x="2858" y="405"/>
                    <a:pt x="2882" y="405"/>
                  </a:cubicBezTo>
                  <a:close/>
                  <a:moveTo>
                    <a:pt x="3942" y="4048"/>
                  </a:moveTo>
                  <a:lnTo>
                    <a:pt x="3942" y="4549"/>
                  </a:lnTo>
                  <a:lnTo>
                    <a:pt x="1894" y="4549"/>
                  </a:lnTo>
                  <a:lnTo>
                    <a:pt x="1894" y="4048"/>
                  </a:lnTo>
                  <a:close/>
                  <a:moveTo>
                    <a:pt x="191" y="0"/>
                  </a:moveTo>
                  <a:cubicBezTo>
                    <a:pt x="120" y="0"/>
                    <a:pt x="60" y="24"/>
                    <a:pt x="36" y="84"/>
                  </a:cubicBezTo>
                  <a:cubicBezTo>
                    <a:pt x="1" y="143"/>
                    <a:pt x="13" y="227"/>
                    <a:pt x="60" y="262"/>
                  </a:cubicBezTo>
                  <a:lnTo>
                    <a:pt x="822" y="1012"/>
                  </a:lnTo>
                  <a:lnTo>
                    <a:pt x="834" y="1024"/>
                  </a:lnTo>
                  <a:lnTo>
                    <a:pt x="846" y="1024"/>
                  </a:lnTo>
                  <a:cubicBezTo>
                    <a:pt x="870" y="1036"/>
                    <a:pt x="894" y="1060"/>
                    <a:pt x="906" y="1060"/>
                  </a:cubicBezTo>
                  <a:lnTo>
                    <a:pt x="1596" y="1358"/>
                  </a:lnTo>
                  <a:cubicBezTo>
                    <a:pt x="1549" y="1501"/>
                    <a:pt x="1501" y="1679"/>
                    <a:pt x="1489" y="1846"/>
                  </a:cubicBezTo>
                  <a:cubicBezTo>
                    <a:pt x="1406" y="2346"/>
                    <a:pt x="1763" y="2870"/>
                    <a:pt x="1870" y="3036"/>
                  </a:cubicBezTo>
                  <a:lnTo>
                    <a:pt x="1870" y="3763"/>
                  </a:lnTo>
                  <a:lnTo>
                    <a:pt x="1739" y="3763"/>
                  </a:lnTo>
                  <a:cubicBezTo>
                    <a:pt x="1656" y="3763"/>
                    <a:pt x="1572" y="3834"/>
                    <a:pt x="1572" y="3929"/>
                  </a:cubicBezTo>
                  <a:lnTo>
                    <a:pt x="1572" y="4763"/>
                  </a:lnTo>
                  <a:lnTo>
                    <a:pt x="1572" y="9966"/>
                  </a:lnTo>
                  <a:cubicBezTo>
                    <a:pt x="1572" y="10061"/>
                    <a:pt x="1656" y="10133"/>
                    <a:pt x="1739" y="10133"/>
                  </a:cubicBezTo>
                  <a:lnTo>
                    <a:pt x="4120" y="10133"/>
                  </a:lnTo>
                  <a:cubicBezTo>
                    <a:pt x="4216" y="10133"/>
                    <a:pt x="4287" y="10061"/>
                    <a:pt x="4287" y="9966"/>
                  </a:cubicBezTo>
                  <a:lnTo>
                    <a:pt x="4287" y="5942"/>
                  </a:lnTo>
                  <a:cubicBezTo>
                    <a:pt x="4287" y="5846"/>
                    <a:pt x="4216" y="5775"/>
                    <a:pt x="4120" y="5775"/>
                  </a:cubicBezTo>
                  <a:cubicBezTo>
                    <a:pt x="4037" y="5775"/>
                    <a:pt x="3954" y="5846"/>
                    <a:pt x="3954" y="5942"/>
                  </a:cubicBezTo>
                  <a:lnTo>
                    <a:pt x="3954" y="9811"/>
                  </a:lnTo>
                  <a:lnTo>
                    <a:pt x="1906" y="9811"/>
                  </a:lnTo>
                  <a:lnTo>
                    <a:pt x="1906" y="4930"/>
                  </a:lnTo>
                  <a:lnTo>
                    <a:pt x="3954" y="4930"/>
                  </a:lnTo>
                  <a:lnTo>
                    <a:pt x="3954" y="5191"/>
                  </a:lnTo>
                  <a:lnTo>
                    <a:pt x="3954" y="5370"/>
                  </a:lnTo>
                  <a:cubicBezTo>
                    <a:pt x="3954" y="5465"/>
                    <a:pt x="4037" y="5537"/>
                    <a:pt x="4120" y="5537"/>
                  </a:cubicBezTo>
                  <a:cubicBezTo>
                    <a:pt x="4216" y="5537"/>
                    <a:pt x="4287" y="5465"/>
                    <a:pt x="4287" y="5370"/>
                  </a:cubicBezTo>
                  <a:lnTo>
                    <a:pt x="4287" y="5191"/>
                  </a:lnTo>
                  <a:lnTo>
                    <a:pt x="4287" y="4715"/>
                  </a:lnTo>
                  <a:lnTo>
                    <a:pt x="4287" y="3882"/>
                  </a:lnTo>
                  <a:cubicBezTo>
                    <a:pt x="4287" y="3787"/>
                    <a:pt x="4216" y="3715"/>
                    <a:pt x="4120" y="3715"/>
                  </a:cubicBezTo>
                  <a:lnTo>
                    <a:pt x="4049" y="3715"/>
                  </a:lnTo>
                  <a:lnTo>
                    <a:pt x="4049" y="3298"/>
                  </a:lnTo>
                  <a:cubicBezTo>
                    <a:pt x="4323" y="3120"/>
                    <a:pt x="4466" y="2810"/>
                    <a:pt x="4549" y="2572"/>
                  </a:cubicBezTo>
                  <a:lnTo>
                    <a:pt x="5299" y="2882"/>
                  </a:lnTo>
                  <a:cubicBezTo>
                    <a:pt x="5359" y="2917"/>
                    <a:pt x="5406" y="2917"/>
                    <a:pt x="5466" y="2917"/>
                  </a:cubicBezTo>
                  <a:cubicBezTo>
                    <a:pt x="5525" y="2917"/>
                    <a:pt x="5561" y="2905"/>
                    <a:pt x="5621" y="2882"/>
                  </a:cubicBezTo>
                  <a:cubicBezTo>
                    <a:pt x="5728" y="2846"/>
                    <a:pt x="5823" y="2763"/>
                    <a:pt x="5859" y="2667"/>
                  </a:cubicBezTo>
                  <a:lnTo>
                    <a:pt x="5954" y="2453"/>
                  </a:lnTo>
                  <a:cubicBezTo>
                    <a:pt x="6002" y="2346"/>
                    <a:pt x="6002" y="2227"/>
                    <a:pt x="5954" y="2132"/>
                  </a:cubicBezTo>
                  <a:cubicBezTo>
                    <a:pt x="5906" y="2024"/>
                    <a:pt x="5835" y="1929"/>
                    <a:pt x="5728" y="1893"/>
                  </a:cubicBezTo>
                  <a:lnTo>
                    <a:pt x="4847" y="1512"/>
                  </a:lnTo>
                  <a:lnTo>
                    <a:pt x="4894" y="1370"/>
                  </a:lnTo>
                  <a:cubicBezTo>
                    <a:pt x="4930" y="1251"/>
                    <a:pt x="4906" y="1131"/>
                    <a:pt x="4835" y="1036"/>
                  </a:cubicBezTo>
                  <a:cubicBezTo>
                    <a:pt x="4775" y="941"/>
                    <a:pt x="4668" y="881"/>
                    <a:pt x="4573" y="846"/>
                  </a:cubicBezTo>
                  <a:lnTo>
                    <a:pt x="4549" y="846"/>
                  </a:lnTo>
                  <a:cubicBezTo>
                    <a:pt x="4513" y="840"/>
                    <a:pt x="4478" y="837"/>
                    <a:pt x="4442" y="837"/>
                  </a:cubicBezTo>
                  <a:cubicBezTo>
                    <a:pt x="4406" y="837"/>
                    <a:pt x="4370" y="840"/>
                    <a:pt x="4335" y="846"/>
                  </a:cubicBezTo>
                  <a:cubicBezTo>
                    <a:pt x="4275" y="727"/>
                    <a:pt x="4168" y="643"/>
                    <a:pt x="4037" y="608"/>
                  </a:cubicBezTo>
                  <a:lnTo>
                    <a:pt x="4013" y="608"/>
                  </a:lnTo>
                  <a:cubicBezTo>
                    <a:pt x="3977" y="602"/>
                    <a:pt x="3942" y="599"/>
                    <a:pt x="3907" y="599"/>
                  </a:cubicBezTo>
                  <a:cubicBezTo>
                    <a:pt x="3873" y="599"/>
                    <a:pt x="3841" y="602"/>
                    <a:pt x="3811" y="608"/>
                  </a:cubicBezTo>
                  <a:cubicBezTo>
                    <a:pt x="3811" y="596"/>
                    <a:pt x="3799" y="596"/>
                    <a:pt x="3799" y="584"/>
                  </a:cubicBezTo>
                  <a:cubicBezTo>
                    <a:pt x="3739" y="477"/>
                    <a:pt x="3632" y="417"/>
                    <a:pt x="3525" y="381"/>
                  </a:cubicBezTo>
                  <a:lnTo>
                    <a:pt x="3513" y="381"/>
                  </a:lnTo>
                  <a:cubicBezTo>
                    <a:pt x="3483" y="375"/>
                    <a:pt x="3454" y="372"/>
                    <a:pt x="3424" y="372"/>
                  </a:cubicBezTo>
                  <a:cubicBezTo>
                    <a:pt x="3394" y="372"/>
                    <a:pt x="3364" y="375"/>
                    <a:pt x="3335" y="381"/>
                  </a:cubicBezTo>
                  <a:cubicBezTo>
                    <a:pt x="3323" y="358"/>
                    <a:pt x="3299" y="322"/>
                    <a:pt x="3287" y="310"/>
                  </a:cubicBezTo>
                  <a:cubicBezTo>
                    <a:pt x="3227" y="203"/>
                    <a:pt x="3120" y="143"/>
                    <a:pt x="3025" y="119"/>
                  </a:cubicBezTo>
                  <a:lnTo>
                    <a:pt x="3001" y="119"/>
                  </a:lnTo>
                  <a:cubicBezTo>
                    <a:pt x="2964" y="108"/>
                    <a:pt x="2927" y="103"/>
                    <a:pt x="2892" y="103"/>
                  </a:cubicBezTo>
                  <a:cubicBezTo>
                    <a:pt x="2812" y="103"/>
                    <a:pt x="2737" y="130"/>
                    <a:pt x="2680" y="179"/>
                  </a:cubicBezTo>
                  <a:cubicBezTo>
                    <a:pt x="2573" y="238"/>
                    <a:pt x="2513" y="346"/>
                    <a:pt x="2489" y="441"/>
                  </a:cubicBezTo>
                  <a:lnTo>
                    <a:pt x="2453" y="548"/>
                  </a:lnTo>
                  <a:lnTo>
                    <a:pt x="1322" y="72"/>
                  </a:lnTo>
                  <a:lnTo>
                    <a:pt x="1263" y="72"/>
                  </a:lnTo>
                  <a:lnTo>
                    <a:pt x="191" y="0"/>
                  </a:ln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59" name="Google Shape;2912;p42">
              <a:extLst>
                <a:ext uri="{FF2B5EF4-FFF2-40B4-BE49-F238E27FC236}">
                  <a16:creationId xmlns:a16="http://schemas.microsoft.com/office/drawing/2014/main" id="{AA0F4F1B-5BC7-DA44-5505-2CD523884D5D}"/>
                </a:ext>
              </a:extLst>
            </p:cNvPr>
            <p:cNvSpPr/>
            <p:nvPr/>
          </p:nvSpPr>
          <p:spPr>
            <a:xfrm>
              <a:off x="5352728" y="2121719"/>
              <a:ext cx="103503" cy="189501"/>
            </a:xfrm>
            <a:custGeom>
              <a:avLst/>
              <a:gdLst/>
              <a:ahLst/>
              <a:cxnLst/>
              <a:rect l="l" t="t" r="r" b="b"/>
              <a:pathLst>
                <a:path w="3252" h="5954" extrusionOk="0">
                  <a:moveTo>
                    <a:pt x="1073" y="322"/>
                  </a:moveTo>
                  <a:cubicBezTo>
                    <a:pt x="1132" y="322"/>
                    <a:pt x="1192" y="358"/>
                    <a:pt x="1192" y="441"/>
                  </a:cubicBezTo>
                  <a:lnTo>
                    <a:pt x="1192" y="513"/>
                  </a:lnTo>
                  <a:lnTo>
                    <a:pt x="1192" y="1060"/>
                  </a:lnTo>
                  <a:cubicBezTo>
                    <a:pt x="1192" y="1156"/>
                    <a:pt x="1263" y="1227"/>
                    <a:pt x="1358" y="1227"/>
                  </a:cubicBezTo>
                  <a:cubicBezTo>
                    <a:pt x="1442" y="1227"/>
                    <a:pt x="1525" y="1156"/>
                    <a:pt x="1525" y="1060"/>
                  </a:cubicBezTo>
                  <a:lnTo>
                    <a:pt x="1525" y="537"/>
                  </a:lnTo>
                  <a:cubicBezTo>
                    <a:pt x="1537" y="513"/>
                    <a:pt x="1584" y="477"/>
                    <a:pt x="1620" y="477"/>
                  </a:cubicBezTo>
                  <a:lnTo>
                    <a:pt x="1644" y="477"/>
                  </a:lnTo>
                  <a:cubicBezTo>
                    <a:pt x="1704" y="477"/>
                    <a:pt x="1763" y="525"/>
                    <a:pt x="1763" y="596"/>
                  </a:cubicBezTo>
                  <a:lnTo>
                    <a:pt x="1763" y="632"/>
                  </a:lnTo>
                  <a:lnTo>
                    <a:pt x="1763" y="1060"/>
                  </a:lnTo>
                  <a:cubicBezTo>
                    <a:pt x="1763" y="1156"/>
                    <a:pt x="1835" y="1227"/>
                    <a:pt x="1918" y="1227"/>
                  </a:cubicBezTo>
                  <a:cubicBezTo>
                    <a:pt x="2013" y="1227"/>
                    <a:pt x="2085" y="1156"/>
                    <a:pt x="2085" y="1060"/>
                  </a:cubicBezTo>
                  <a:lnTo>
                    <a:pt x="2085" y="656"/>
                  </a:lnTo>
                  <a:cubicBezTo>
                    <a:pt x="2096" y="620"/>
                    <a:pt x="2144" y="596"/>
                    <a:pt x="2192" y="596"/>
                  </a:cubicBezTo>
                  <a:lnTo>
                    <a:pt x="2204" y="596"/>
                  </a:lnTo>
                  <a:cubicBezTo>
                    <a:pt x="2263" y="596"/>
                    <a:pt x="2323" y="644"/>
                    <a:pt x="2323" y="715"/>
                  </a:cubicBezTo>
                  <a:lnTo>
                    <a:pt x="2323" y="822"/>
                  </a:lnTo>
                  <a:lnTo>
                    <a:pt x="2323" y="1156"/>
                  </a:lnTo>
                  <a:cubicBezTo>
                    <a:pt x="2323" y="1239"/>
                    <a:pt x="2394" y="1311"/>
                    <a:pt x="2489" y="1311"/>
                  </a:cubicBezTo>
                  <a:cubicBezTo>
                    <a:pt x="2573" y="1311"/>
                    <a:pt x="2656" y="1239"/>
                    <a:pt x="2656" y="1156"/>
                  </a:cubicBezTo>
                  <a:lnTo>
                    <a:pt x="2656" y="822"/>
                  </a:lnTo>
                  <a:cubicBezTo>
                    <a:pt x="2656" y="763"/>
                    <a:pt x="2692" y="703"/>
                    <a:pt x="2775" y="703"/>
                  </a:cubicBezTo>
                  <a:lnTo>
                    <a:pt x="2787" y="703"/>
                  </a:lnTo>
                  <a:cubicBezTo>
                    <a:pt x="2847" y="703"/>
                    <a:pt x="2906" y="751"/>
                    <a:pt x="2906" y="822"/>
                  </a:cubicBezTo>
                  <a:lnTo>
                    <a:pt x="2906" y="1584"/>
                  </a:lnTo>
                  <a:lnTo>
                    <a:pt x="2906" y="1596"/>
                  </a:lnTo>
                  <a:cubicBezTo>
                    <a:pt x="2894" y="1775"/>
                    <a:pt x="2882" y="2323"/>
                    <a:pt x="2597" y="2584"/>
                  </a:cubicBezTo>
                  <a:cubicBezTo>
                    <a:pt x="2561" y="2608"/>
                    <a:pt x="2537" y="2656"/>
                    <a:pt x="2537" y="2704"/>
                  </a:cubicBezTo>
                  <a:lnTo>
                    <a:pt x="2537" y="3204"/>
                  </a:lnTo>
                  <a:lnTo>
                    <a:pt x="989" y="3204"/>
                  </a:lnTo>
                  <a:lnTo>
                    <a:pt x="989" y="2846"/>
                  </a:lnTo>
                  <a:cubicBezTo>
                    <a:pt x="989" y="2799"/>
                    <a:pt x="953" y="2739"/>
                    <a:pt x="930" y="2715"/>
                  </a:cubicBezTo>
                  <a:cubicBezTo>
                    <a:pt x="775" y="2596"/>
                    <a:pt x="370" y="2227"/>
                    <a:pt x="346" y="1846"/>
                  </a:cubicBezTo>
                  <a:cubicBezTo>
                    <a:pt x="334" y="1596"/>
                    <a:pt x="311" y="1275"/>
                    <a:pt x="406" y="1191"/>
                  </a:cubicBezTo>
                  <a:cubicBezTo>
                    <a:pt x="441" y="1174"/>
                    <a:pt x="482" y="1163"/>
                    <a:pt x="539" y="1163"/>
                  </a:cubicBezTo>
                  <a:cubicBezTo>
                    <a:pt x="560" y="1163"/>
                    <a:pt x="583" y="1164"/>
                    <a:pt x="608" y="1168"/>
                  </a:cubicBezTo>
                  <a:lnTo>
                    <a:pt x="608" y="1394"/>
                  </a:lnTo>
                  <a:cubicBezTo>
                    <a:pt x="608" y="1477"/>
                    <a:pt x="692" y="1549"/>
                    <a:pt x="775" y="1549"/>
                  </a:cubicBezTo>
                  <a:cubicBezTo>
                    <a:pt x="870" y="1549"/>
                    <a:pt x="942" y="1477"/>
                    <a:pt x="942" y="1394"/>
                  </a:cubicBezTo>
                  <a:lnTo>
                    <a:pt x="942" y="441"/>
                  </a:lnTo>
                  <a:cubicBezTo>
                    <a:pt x="942" y="382"/>
                    <a:pt x="989" y="322"/>
                    <a:pt x="1061" y="322"/>
                  </a:cubicBezTo>
                  <a:close/>
                  <a:moveTo>
                    <a:pt x="2799" y="3537"/>
                  </a:moveTo>
                  <a:lnTo>
                    <a:pt x="2799" y="4037"/>
                  </a:lnTo>
                  <a:lnTo>
                    <a:pt x="751" y="4037"/>
                  </a:lnTo>
                  <a:lnTo>
                    <a:pt x="751" y="3537"/>
                  </a:lnTo>
                  <a:close/>
                  <a:moveTo>
                    <a:pt x="2799" y="4347"/>
                  </a:moveTo>
                  <a:lnTo>
                    <a:pt x="2799" y="5632"/>
                  </a:lnTo>
                  <a:lnTo>
                    <a:pt x="751" y="5632"/>
                  </a:lnTo>
                  <a:lnTo>
                    <a:pt x="751" y="4347"/>
                  </a:lnTo>
                  <a:close/>
                  <a:moveTo>
                    <a:pt x="1073" y="1"/>
                  </a:moveTo>
                  <a:cubicBezTo>
                    <a:pt x="834" y="1"/>
                    <a:pt x="644" y="203"/>
                    <a:pt x="644" y="429"/>
                  </a:cubicBezTo>
                  <a:lnTo>
                    <a:pt x="644" y="846"/>
                  </a:lnTo>
                  <a:cubicBezTo>
                    <a:pt x="622" y="845"/>
                    <a:pt x="600" y="844"/>
                    <a:pt x="579" y="844"/>
                  </a:cubicBezTo>
                  <a:cubicBezTo>
                    <a:pt x="433" y="844"/>
                    <a:pt x="321" y="880"/>
                    <a:pt x="227" y="953"/>
                  </a:cubicBezTo>
                  <a:cubicBezTo>
                    <a:pt x="1" y="1144"/>
                    <a:pt x="13" y="1525"/>
                    <a:pt x="49" y="1882"/>
                  </a:cubicBezTo>
                  <a:cubicBezTo>
                    <a:pt x="84" y="2370"/>
                    <a:pt x="525" y="2787"/>
                    <a:pt x="692" y="2930"/>
                  </a:cubicBezTo>
                  <a:lnTo>
                    <a:pt x="692" y="3216"/>
                  </a:lnTo>
                  <a:lnTo>
                    <a:pt x="596" y="3216"/>
                  </a:lnTo>
                  <a:cubicBezTo>
                    <a:pt x="513" y="3216"/>
                    <a:pt x="441" y="3287"/>
                    <a:pt x="441" y="3382"/>
                  </a:cubicBezTo>
                  <a:lnTo>
                    <a:pt x="441" y="4216"/>
                  </a:lnTo>
                  <a:lnTo>
                    <a:pt x="441" y="5799"/>
                  </a:lnTo>
                  <a:cubicBezTo>
                    <a:pt x="441" y="5882"/>
                    <a:pt x="513" y="5954"/>
                    <a:pt x="596" y="5954"/>
                  </a:cubicBezTo>
                  <a:lnTo>
                    <a:pt x="2978" y="5954"/>
                  </a:lnTo>
                  <a:cubicBezTo>
                    <a:pt x="3073" y="5954"/>
                    <a:pt x="3144" y="5882"/>
                    <a:pt x="3144" y="5799"/>
                  </a:cubicBezTo>
                  <a:lnTo>
                    <a:pt x="3144" y="4204"/>
                  </a:lnTo>
                  <a:lnTo>
                    <a:pt x="3144" y="3370"/>
                  </a:lnTo>
                  <a:cubicBezTo>
                    <a:pt x="3144" y="3275"/>
                    <a:pt x="3073" y="3204"/>
                    <a:pt x="2978" y="3204"/>
                  </a:cubicBezTo>
                  <a:lnTo>
                    <a:pt x="2882" y="3204"/>
                  </a:lnTo>
                  <a:lnTo>
                    <a:pt x="2882" y="2763"/>
                  </a:lnTo>
                  <a:cubicBezTo>
                    <a:pt x="3251" y="2370"/>
                    <a:pt x="3204" y="1644"/>
                    <a:pt x="3204" y="1549"/>
                  </a:cubicBezTo>
                  <a:lnTo>
                    <a:pt x="3204" y="810"/>
                  </a:lnTo>
                  <a:cubicBezTo>
                    <a:pt x="3204" y="572"/>
                    <a:pt x="3013" y="382"/>
                    <a:pt x="2775" y="382"/>
                  </a:cubicBezTo>
                  <a:lnTo>
                    <a:pt x="2763" y="382"/>
                  </a:lnTo>
                  <a:cubicBezTo>
                    <a:pt x="2680" y="382"/>
                    <a:pt x="2608" y="394"/>
                    <a:pt x="2549" y="441"/>
                  </a:cubicBezTo>
                  <a:cubicBezTo>
                    <a:pt x="2477" y="334"/>
                    <a:pt x="2335" y="275"/>
                    <a:pt x="2204" y="275"/>
                  </a:cubicBezTo>
                  <a:lnTo>
                    <a:pt x="2192" y="275"/>
                  </a:lnTo>
                  <a:cubicBezTo>
                    <a:pt x="2120" y="275"/>
                    <a:pt x="2049" y="287"/>
                    <a:pt x="1989" y="322"/>
                  </a:cubicBezTo>
                  <a:cubicBezTo>
                    <a:pt x="1906" y="227"/>
                    <a:pt x="1787" y="168"/>
                    <a:pt x="1656" y="168"/>
                  </a:cubicBezTo>
                  <a:lnTo>
                    <a:pt x="1644" y="168"/>
                  </a:lnTo>
                  <a:cubicBezTo>
                    <a:pt x="1584" y="168"/>
                    <a:pt x="1525" y="179"/>
                    <a:pt x="1465" y="203"/>
                  </a:cubicBezTo>
                  <a:cubicBezTo>
                    <a:pt x="1394" y="84"/>
                    <a:pt x="1251" y="1"/>
                    <a:pt x="1096" y="1"/>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grpSp>
      <p:grpSp>
        <p:nvGrpSpPr>
          <p:cNvPr id="60" name="Google Shape;5313;p46">
            <a:extLst>
              <a:ext uri="{FF2B5EF4-FFF2-40B4-BE49-F238E27FC236}">
                <a16:creationId xmlns:a16="http://schemas.microsoft.com/office/drawing/2014/main" id="{AB2AC0B8-661D-C66A-98C8-D611A59D686A}"/>
              </a:ext>
            </a:extLst>
          </p:cNvPr>
          <p:cNvGrpSpPr/>
          <p:nvPr/>
        </p:nvGrpSpPr>
        <p:grpSpPr>
          <a:xfrm>
            <a:off x="6951743" y="4522467"/>
            <a:ext cx="1036690" cy="761413"/>
            <a:chOff x="2278533" y="2937377"/>
            <a:chExt cx="346788" cy="254704"/>
          </a:xfrm>
          <a:solidFill>
            <a:srgbClr val="666666"/>
          </a:solidFill>
          <a:effectLst/>
        </p:grpSpPr>
        <p:sp>
          <p:nvSpPr>
            <p:cNvPr id="61" name="Google Shape;5314;p46">
              <a:extLst>
                <a:ext uri="{FF2B5EF4-FFF2-40B4-BE49-F238E27FC236}">
                  <a16:creationId xmlns:a16="http://schemas.microsoft.com/office/drawing/2014/main" id="{09FB84DC-512C-513E-305F-FEF1B210D6EB}"/>
                </a:ext>
              </a:extLst>
            </p:cNvPr>
            <p:cNvSpPr/>
            <p:nvPr/>
          </p:nvSpPr>
          <p:spPr>
            <a:xfrm>
              <a:off x="2317557" y="2958607"/>
              <a:ext cx="270619" cy="184200"/>
            </a:xfrm>
            <a:custGeom>
              <a:avLst/>
              <a:gdLst/>
              <a:ahLst/>
              <a:cxnLst/>
              <a:rect l="l" t="t" r="r" b="b"/>
              <a:pathLst>
                <a:path w="8502" h="5787" extrusionOk="0">
                  <a:moveTo>
                    <a:pt x="2691" y="1179"/>
                  </a:moveTo>
                  <a:cubicBezTo>
                    <a:pt x="2882" y="1179"/>
                    <a:pt x="3049" y="1346"/>
                    <a:pt x="3049" y="1536"/>
                  </a:cubicBezTo>
                  <a:lnTo>
                    <a:pt x="3049" y="1881"/>
                  </a:lnTo>
                  <a:cubicBezTo>
                    <a:pt x="3049" y="2167"/>
                    <a:pt x="2810" y="2405"/>
                    <a:pt x="2525" y="2405"/>
                  </a:cubicBezTo>
                  <a:cubicBezTo>
                    <a:pt x="2227" y="2405"/>
                    <a:pt x="1989" y="2167"/>
                    <a:pt x="1989" y="1881"/>
                  </a:cubicBezTo>
                  <a:lnTo>
                    <a:pt x="1989" y="1536"/>
                  </a:lnTo>
                  <a:cubicBezTo>
                    <a:pt x="1989" y="1346"/>
                    <a:pt x="2156" y="1179"/>
                    <a:pt x="2346" y="1179"/>
                  </a:cubicBezTo>
                  <a:close/>
                  <a:moveTo>
                    <a:pt x="6787" y="1036"/>
                  </a:moveTo>
                  <a:cubicBezTo>
                    <a:pt x="6894" y="1036"/>
                    <a:pt x="6966" y="1108"/>
                    <a:pt x="6966" y="1215"/>
                  </a:cubicBezTo>
                  <a:lnTo>
                    <a:pt x="6966" y="1715"/>
                  </a:lnTo>
                  <a:cubicBezTo>
                    <a:pt x="6966" y="1774"/>
                    <a:pt x="6930" y="1834"/>
                    <a:pt x="6871" y="1870"/>
                  </a:cubicBezTo>
                  <a:cubicBezTo>
                    <a:pt x="6835" y="1893"/>
                    <a:pt x="6799" y="1941"/>
                    <a:pt x="6799" y="2000"/>
                  </a:cubicBezTo>
                  <a:lnTo>
                    <a:pt x="6799" y="2251"/>
                  </a:lnTo>
                  <a:cubicBezTo>
                    <a:pt x="6799" y="2334"/>
                    <a:pt x="6847" y="2381"/>
                    <a:pt x="6918" y="2405"/>
                  </a:cubicBezTo>
                  <a:lnTo>
                    <a:pt x="7335" y="2512"/>
                  </a:lnTo>
                  <a:cubicBezTo>
                    <a:pt x="7406" y="2524"/>
                    <a:pt x="7466" y="2596"/>
                    <a:pt x="7466" y="2691"/>
                  </a:cubicBezTo>
                  <a:lnTo>
                    <a:pt x="7466" y="2727"/>
                  </a:lnTo>
                  <a:lnTo>
                    <a:pt x="5739" y="2727"/>
                  </a:lnTo>
                  <a:lnTo>
                    <a:pt x="5739" y="2691"/>
                  </a:lnTo>
                  <a:cubicBezTo>
                    <a:pt x="5739" y="2596"/>
                    <a:pt x="5799" y="2536"/>
                    <a:pt x="5870" y="2512"/>
                  </a:cubicBezTo>
                  <a:lnTo>
                    <a:pt x="6287" y="2405"/>
                  </a:lnTo>
                  <a:cubicBezTo>
                    <a:pt x="6370" y="2381"/>
                    <a:pt x="6406" y="2334"/>
                    <a:pt x="6406" y="2251"/>
                  </a:cubicBezTo>
                  <a:lnTo>
                    <a:pt x="6406" y="2000"/>
                  </a:lnTo>
                  <a:cubicBezTo>
                    <a:pt x="6430" y="1941"/>
                    <a:pt x="6394" y="1893"/>
                    <a:pt x="6359" y="1870"/>
                  </a:cubicBezTo>
                  <a:cubicBezTo>
                    <a:pt x="6299" y="1834"/>
                    <a:pt x="6263" y="1774"/>
                    <a:pt x="6263" y="1715"/>
                  </a:cubicBezTo>
                  <a:lnTo>
                    <a:pt x="6263" y="1215"/>
                  </a:lnTo>
                  <a:cubicBezTo>
                    <a:pt x="6263" y="1108"/>
                    <a:pt x="6335" y="1036"/>
                    <a:pt x="6442" y="1036"/>
                  </a:cubicBezTo>
                  <a:close/>
                  <a:moveTo>
                    <a:pt x="8144" y="334"/>
                  </a:moveTo>
                  <a:lnTo>
                    <a:pt x="8144" y="2751"/>
                  </a:lnTo>
                  <a:lnTo>
                    <a:pt x="7787" y="2751"/>
                  </a:lnTo>
                  <a:lnTo>
                    <a:pt x="7787" y="2703"/>
                  </a:lnTo>
                  <a:cubicBezTo>
                    <a:pt x="7787" y="2477"/>
                    <a:pt x="7633" y="2274"/>
                    <a:pt x="7406" y="2215"/>
                  </a:cubicBezTo>
                  <a:lnTo>
                    <a:pt x="7109" y="2131"/>
                  </a:lnTo>
                  <a:lnTo>
                    <a:pt x="7109" y="2096"/>
                  </a:lnTo>
                  <a:cubicBezTo>
                    <a:pt x="7216" y="2000"/>
                    <a:pt x="7275" y="1870"/>
                    <a:pt x="7275" y="1715"/>
                  </a:cubicBezTo>
                  <a:lnTo>
                    <a:pt x="7275" y="1215"/>
                  </a:lnTo>
                  <a:cubicBezTo>
                    <a:pt x="7275" y="929"/>
                    <a:pt x="7049" y="703"/>
                    <a:pt x="6775" y="703"/>
                  </a:cubicBezTo>
                  <a:lnTo>
                    <a:pt x="6430" y="703"/>
                  </a:lnTo>
                  <a:cubicBezTo>
                    <a:pt x="6144" y="703"/>
                    <a:pt x="5918" y="929"/>
                    <a:pt x="5918" y="1215"/>
                  </a:cubicBezTo>
                  <a:lnTo>
                    <a:pt x="5918" y="1715"/>
                  </a:lnTo>
                  <a:cubicBezTo>
                    <a:pt x="5918" y="1870"/>
                    <a:pt x="5978" y="2000"/>
                    <a:pt x="6085" y="2096"/>
                  </a:cubicBezTo>
                  <a:lnTo>
                    <a:pt x="6085" y="2131"/>
                  </a:lnTo>
                  <a:lnTo>
                    <a:pt x="5787" y="2215"/>
                  </a:lnTo>
                  <a:cubicBezTo>
                    <a:pt x="5561" y="2274"/>
                    <a:pt x="5418" y="2465"/>
                    <a:pt x="5418" y="2703"/>
                  </a:cubicBezTo>
                  <a:lnTo>
                    <a:pt x="5418" y="2751"/>
                  </a:lnTo>
                  <a:lnTo>
                    <a:pt x="5061" y="2751"/>
                  </a:lnTo>
                  <a:lnTo>
                    <a:pt x="5061" y="334"/>
                  </a:lnTo>
                  <a:close/>
                  <a:moveTo>
                    <a:pt x="2691" y="2715"/>
                  </a:moveTo>
                  <a:lnTo>
                    <a:pt x="2691" y="2786"/>
                  </a:lnTo>
                  <a:cubicBezTo>
                    <a:pt x="2703" y="2846"/>
                    <a:pt x="2727" y="2905"/>
                    <a:pt x="2751" y="2965"/>
                  </a:cubicBezTo>
                  <a:lnTo>
                    <a:pt x="2525" y="3191"/>
                  </a:lnTo>
                  <a:lnTo>
                    <a:pt x="2513" y="3191"/>
                  </a:lnTo>
                  <a:lnTo>
                    <a:pt x="2287" y="2965"/>
                  </a:lnTo>
                  <a:cubicBezTo>
                    <a:pt x="2322" y="2929"/>
                    <a:pt x="2334" y="2870"/>
                    <a:pt x="2334" y="2810"/>
                  </a:cubicBezTo>
                  <a:lnTo>
                    <a:pt x="2334" y="2715"/>
                  </a:lnTo>
                  <a:close/>
                  <a:moveTo>
                    <a:pt x="3037" y="3143"/>
                  </a:moveTo>
                  <a:lnTo>
                    <a:pt x="3346" y="3263"/>
                  </a:lnTo>
                  <a:cubicBezTo>
                    <a:pt x="3477" y="3310"/>
                    <a:pt x="3572" y="3441"/>
                    <a:pt x="3572" y="3596"/>
                  </a:cubicBezTo>
                  <a:lnTo>
                    <a:pt x="3572" y="4608"/>
                  </a:lnTo>
                  <a:cubicBezTo>
                    <a:pt x="3572" y="4715"/>
                    <a:pt x="3501" y="4787"/>
                    <a:pt x="3394" y="4787"/>
                  </a:cubicBezTo>
                  <a:lnTo>
                    <a:pt x="2691" y="4787"/>
                  </a:lnTo>
                  <a:lnTo>
                    <a:pt x="2691" y="4596"/>
                  </a:lnTo>
                  <a:lnTo>
                    <a:pt x="3049" y="4596"/>
                  </a:lnTo>
                  <a:cubicBezTo>
                    <a:pt x="3144" y="4596"/>
                    <a:pt x="3215" y="4513"/>
                    <a:pt x="3215" y="4429"/>
                  </a:cubicBezTo>
                  <a:lnTo>
                    <a:pt x="3215" y="3917"/>
                  </a:lnTo>
                  <a:cubicBezTo>
                    <a:pt x="3215" y="3834"/>
                    <a:pt x="3144" y="3763"/>
                    <a:pt x="3049" y="3763"/>
                  </a:cubicBezTo>
                  <a:cubicBezTo>
                    <a:pt x="2965" y="3763"/>
                    <a:pt x="2882" y="3834"/>
                    <a:pt x="2882" y="3917"/>
                  </a:cubicBezTo>
                  <a:lnTo>
                    <a:pt x="2882" y="4275"/>
                  </a:lnTo>
                  <a:lnTo>
                    <a:pt x="2191" y="4275"/>
                  </a:lnTo>
                  <a:lnTo>
                    <a:pt x="2191" y="3917"/>
                  </a:lnTo>
                  <a:cubicBezTo>
                    <a:pt x="2191" y="3834"/>
                    <a:pt x="2108" y="3763"/>
                    <a:pt x="2025" y="3763"/>
                  </a:cubicBezTo>
                  <a:cubicBezTo>
                    <a:pt x="1929" y="3763"/>
                    <a:pt x="1858" y="3834"/>
                    <a:pt x="1858" y="3917"/>
                  </a:cubicBezTo>
                  <a:lnTo>
                    <a:pt x="1858" y="4429"/>
                  </a:lnTo>
                  <a:cubicBezTo>
                    <a:pt x="1858" y="4513"/>
                    <a:pt x="1929" y="4596"/>
                    <a:pt x="2025" y="4596"/>
                  </a:cubicBezTo>
                  <a:lnTo>
                    <a:pt x="2382" y="4596"/>
                  </a:lnTo>
                  <a:lnTo>
                    <a:pt x="2382" y="4787"/>
                  </a:lnTo>
                  <a:lnTo>
                    <a:pt x="1679" y="4787"/>
                  </a:lnTo>
                  <a:cubicBezTo>
                    <a:pt x="1572" y="4787"/>
                    <a:pt x="1501" y="4715"/>
                    <a:pt x="1501" y="4608"/>
                  </a:cubicBezTo>
                  <a:lnTo>
                    <a:pt x="1501" y="3596"/>
                  </a:lnTo>
                  <a:lnTo>
                    <a:pt x="1489" y="3596"/>
                  </a:lnTo>
                  <a:cubicBezTo>
                    <a:pt x="1489" y="3441"/>
                    <a:pt x="1572" y="3310"/>
                    <a:pt x="1715" y="3263"/>
                  </a:cubicBezTo>
                  <a:lnTo>
                    <a:pt x="2025" y="3143"/>
                  </a:lnTo>
                  <a:lnTo>
                    <a:pt x="2287" y="3417"/>
                  </a:lnTo>
                  <a:cubicBezTo>
                    <a:pt x="2346" y="3477"/>
                    <a:pt x="2441" y="3501"/>
                    <a:pt x="2525" y="3501"/>
                  </a:cubicBezTo>
                  <a:cubicBezTo>
                    <a:pt x="2620" y="3501"/>
                    <a:pt x="2691" y="3477"/>
                    <a:pt x="2763" y="3417"/>
                  </a:cubicBezTo>
                  <a:lnTo>
                    <a:pt x="3037" y="3143"/>
                  </a:lnTo>
                  <a:close/>
                  <a:moveTo>
                    <a:pt x="4727" y="4763"/>
                  </a:moveTo>
                  <a:lnTo>
                    <a:pt x="4727" y="5465"/>
                  </a:lnTo>
                  <a:lnTo>
                    <a:pt x="298" y="5465"/>
                  </a:lnTo>
                  <a:lnTo>
                    <a:pt x="298" y="4763"/>
                  </a:lnTo>
                  <a:lnTo>
                    <a:pt x="1191" y="4763"/>
                  </a:lnTo>
                  <a:cubicBezTo>
                    <a:pt x="1251" y="4965"/>
                    <a:pt x="1441" y="5108"/>
                    <a:pt x="1667" y="5108"/>
                  </a:cubicBezTo>
                  <a:lnTo>
                    <a:pt x="3358" y="5108"/>
                  </a:lnTo>
                  <a:cubicBezTo>
                    <a:pt x="3584" y="5108"/>
                    <a:pt x="3763" y="4965"/>
                    <a:pt x="3834" y="4763"/>
                  </a:cubicBezTo>
                  <a:close/>
                  <a:moveTo>
                    <a:pt x="6763" y="3775"/>
                  </a:moveTo>
                  <a:cubicBezTo>
                    <a:pt x="6871" y="3775"/>
                    <a:pt x="6942" y="3846"/>
                    <a:pt x="6942" y="3953"/>
                  </a:cubicBezTo>
                  <a:lnTo>
                    <a:pt x="6942" y="4453"/>
                  </a:lnTo>
                  <a:cubicBezTo>
                    <a:pt x="6942" y="4513"/>
                    <a:pt x="6918" y="4572"/>
                    <a:pt x="6859" y="4608"/>
                  </a:cubicBezTo>
                  <a:cubicBezTo>
                    <a:pt x="6811" y="4632"/>
                    <a:pt x="6787" y="4679"/>
                    <a:pt x="6787" y="4739"/>
                  </a:cubicBezTo>
                  <a:lnTo>
                    <a:pt x="6787" y="4989"/>
                  </a:lnTo>
                  <a:cubicBezTo>
                    <a:pt x="6787" y="5060"/>
                    <a:pt x="6823" y="5120"/>
                    <a:pt x="6906" y="5144"/>
                  </a:cubicBezTo>
                  <a:lnTo>
                    <a:pt x="7323" y="5251"/>
                  </a:lnTo>
                  <a:cubicBezTo>
                    <a:pt x="7394" y="5263"/>
                    <a:pt x="7454" y="5334"/>
                    <a:pt x="7454" y="5429"/>
                  </a:cubicBezTo>
                  <a:lnTo>
                    <a:pt x="7454" y="5465"/>
                  </a:lnTo>
                  <a:lnTo>
                    <a:pt x="5739" y="5465"/>
                  </a:lnTo>
                  <a:lnTo>
                    <a:pt x="5739" y="5429"/>
                  </a:lnTo>
                  <a:cubicBezTo>
                    <a:pt x="5739" y="5334"/>
                    <a:pt x="5799" y="5275"/>
                    <a:pt x="5882" y="5251"/>
                  </a:cubicBezTo>
                  <a:lnTo>
                    <a:pt x="6287" y="5144"/>
                  </a:lnTo>
                  <a:cubicBezTo>
                    <a:pt x="6370" y="5120"/>
                    <a:pt x="6406" y="5060"/>
                    <a:pt x="6406" y="4989"/>
                  </a:cubicBezTo>
                  <a:lnTo>
                    <a:pt x="6406" y="4739"/>
                  </a:lnTo>
                  <a:cubicBezTo>
                    <a:pt x="6406" y="4679"/>
                    <a:pt x="6382" y="4632"/>
                    <a:pt x="6335" y="4608"/>
                  </a:cubicBezTo>
                  <a:cubicBezTo>
                    <a:pt x="6275" y="4572"/>
                    <a:pt x="6251" y="4513"/>
                    <a:pt x="6251" y="4453"/>
                  </a:cubicBezTo>
                  <a:lnTo>
                    <a:pt x="6251" y="3953"/>
                  </a:lnTo>
                  <a:cubicBezTo>
                    <a:pt x="6251" y="3846"/>
                    <a:pt x="6323" y="3775"/>
                    <a:pt x="6430" y="3775"/>
                  </a:cubicBezTo>
                  <a:close/>
                  <a:moveTo>
                    <a:pt x="8156" y="3060"/>
                  </a:moveTo>
                  <a:lnTo>
                    <a:pt x="8156" y="5465"/>
                  </a:lnTo>
                  <a:lnTo>
                    <a:pt x="7799" y="5465"/>
                  </a:lnTo>
                  <a:lnTo>
                    <a:pt x="7799" y="5429"/>
                  </a:lnTo>
                  <a:cubicBezTo>
                    <a:pt x="7799" y="5203"/>
                    <a:pt x="7644" y="4989"/>
                    <a:pt x="7430" y="4929"/>
                  </a:cubicBezTo>
                  <a:lnTo>
                    <a:pt x="7132" y="4858"/>
                  </a:lnTo>
                  <a:lnTo>
                    <a:pt x="7132" y="4810"/>
                  </a:lnTo>
                  <a:cubicBezTo>
                    <a:pt x="7228" y="4727"/>
                    <a:pt x="7287" y="4596"/>
                    <a:pt x="7287" y="4441"/>
                  </a:cubicBezTo>
                  <a:lnTo>
                    <a:pt x="7287" y="3941"/>
                  </a:lnTo>
                  <a:cubicBezTo>
                    <a:pt x="7287" y="3655"/>
                    <a:pt x="7073" y="3429"/>
                    <a:pt x="6787" y="3429"/>
                  </a:cubicBezTo>
                  <a:lnTo>
                    <a:pt x="6442" y="3429"/>
                  </a:lnTo>
                  <a:cubicBezTo>
                    <a:pt x="6156" y="3429"/>
                    <a:pt x="5942" y="3655"/>
                    <a:pt x="5942" y="3941"/>
                  </a:cubicBezTo>
                  <a:lnTo>
                    <a:pt x="5942" y="4441"/>
                  </a:lnTo>
                  <a:cubicBezTo>
                    <a:pt x="5942" y="4596"/>
                    <a:pt x="6001" y="4727"/>
                    <a:pt x="6097" y="4810"/>
                  </a:cubicBezTo>
                  <a:lnTo>
                    <a:pt x="6097" y="4858"/>
                  </a:lnTo>
                  <a:lnTo>
                    <a:pt x="5799" y="4929"/>
                  </a:lnTo>
                  <a:cubicBezTo>
                    <a:pt x="5585" y="4989"/>
                    <a:pt x="5430" y="5191"/>
                    <a:pt x="5430" y="5429"/>
                  </a:cubicBezTo>
                  <a:lnTo>
                    <a:pt x="5430" y="5465"/>
                  </a:lnTo>
                  <a:lnTo>
                    <a:pt x="5073" y="5465"/>
                  </a:lnTo>
                  <a:lnTo>
                    <a:pt x="5073" y="3060"/>
                  </a:lnTo>
                  <a:close/>
                  <a:moveTo>
                    <a:pt x="167" y="0"/>
                  </a:moveTo>
                  <a:cubicBezTo>
                    <a:pt x="72" y="0"/>
                    <a:pt x="1" y="84"/>
                    <a:pt x="1" y="167"/>
                  </a:cubicBezTo>
                  <a:lnTo>
                    <a:pt x="1" y="5620"/>
                  </a:lnTo>
                  <a:cubicBezTo>
                    <a:pt x="1" y="5703"/>
                    <a:pt x="72" y="5787"/>
                    <a:pt x="167" y="5787"/>
                  </a:cubicBezTo>
                  <a:lnTo>
                    <a:pt x="8335" y="5787"/>
                  </a:lnTo>
                  <a:cubicBezTo>
                    <a:pt x="8418" y="5787"/>
                    <a:pt x="8502" y="5703"/>
                    <a:pt x="8502" y="5620"/>
                  </a:cubicBezTo>
                  <a:lnTo>
                    <a:pt x="8502" y="167"/>
                  </a:lnTo>
                  <a:cubicBezTo>
                    <a:pt x="8466" y="84"/>
                    <a:pt x="8395" y="24"/>
                    <a:pt x="8311" y="24"/>
                  </a:cubicBezTo>
                  <a:lnTo>
                    <a:pt x="1334" y="24"/>
                  </a:lnTo>
                  <a:cubicBezTo>
                    <a:pt x="1251" y="24"/>
                    <a:pt x="1167" y="95"/>
                    <a:pt x="1167" y="191"/>
                  </a:cubicBezTo>
                  <a:cubicBezTo>
                    <a:pt x="1167" y="274"/>
                    <a:pt x="1251" y="346"/>
                    <a:pt x="1334" y="346"/>
                  </a:cubicBezTo>
                  <a:lnTo>
                    <a:pt x="4763" y="346"/>
                  </a:lnTo>
                  <a:lnTo>
                    <a:pt x="4763" y="4453"/>
                  </a:lnTo>
                  <a:lnTo>
                    <a:pt x="3882" y="4453"/>
                  </a:lnTo>
                  <a:lnTo>
                    <a:pt x="3882" y="3608"/>
                  </a:lnTo>
                  <a:cubicBezTo>
                    <a:pt x="3882" y="3346"/>
                    <a:pt x="3703" y="3084"/>
                    <a:pt x="3453" y="2977"/>
                  </a:cubicBezTo>
                  <a:lnTo>
                    <a:pt x="3037" y="2822"/>
                  </a:lnTo>
                  <a:lnTo>
                    <a:pt x="3037" y="2798"/>
                  </a:lnTo>
                  <a:lnTo>
                    <a:pt x="3037" y="2572"/>
                  </a:lnTo>
                  <a:cubicBezTo>
                    <a:pt x="3239" y="2417"/>
                    <a:pt x="3382" y="2167"/>
                    <a:pt x="3382" y="1893"/>
                  </a:cubicBezTo>
                  <a:lnTo>
                    <a:pt x="3382" y="1560"/>
                  </a:lnTo>
                  <a:cubicBezTo>
                    <a:pt x="3382" y="1179"/>
                    <a:pt x="3084" y="881"/>
                    <a:pt x="2703" y="881"/>
                  </a:cubicBezTo>
                  <a:lnTo>
                    <a:pt x="2370" y="881"/>
                  </a:lnTo>
                  <a:cubicBezTo>
                    <a:pt x="1989" y="881"/>
                    <a:pt x="1691" y="1179"/>
                    <a:pt x="1691" y="1560"/>
                  </a:cubicBezTo>
                  <a:lnTo>
                    <a:pt x="1691" y="1893"/>
                  </a:lnTo>
                  <a:cubicBezTo>
                    <a:pt x="1691" y="2179"/>
                    <a:pt x="1834" y="2417"/>
                    <a:pt x="2037" y="2572"/>
                  </a:cubicBezTo>
                  <a:lnTo>
                    <a:pt x="2037" y="2810"/>
                  </a:lnTo>
                  <a:lnTo>
                    <a:pt x="2037" y="2822"/>
                  </a:lnTo>
                  <a:lnTo>
                    <a:pt x="1620" y="2989"/>
                  </a:lnTo>
                  <a:cubicBezTo>
                    <a:pt x="1370" y="3084"/>
                    <a:pt x="1191" y="3346"/>
                    <a:pt x="1191" y="3608"/>
                  </a:cubicBezTo>
                  <a:lnTo>
                    <a:pt x="1191" y="4453"/>
                  </a:lnTo>
                  <a:lnTo>
                    <a:pt x="310" y="4453"/>
                  </a:lnTo>
                  <a:lnTo>
                    <a:pt x="310" y="334"/>
                  </a:lnTo>
                  <a:lnTo>
                    <a:pt x="667" y="334"/>
                  </a:lnTo>
                  <a:cubicBezTo>
                    <a:pt x="763" y="334"/>
                    <a:pt x="834" y="262"/>
                    <a:pt x="834" y="167"/>
                  </a:cubicBezTo>
                  <a:cubicBezTo>
                    <a:pt x="834" y="84"/>
                    <a:pt x="763" y="0"/>
                    <a:pt x="667" y="0"/>
                  </a:cubicBezTo>
                  <a:close/>
                </a:path>
              </a:pathLst>
            </a:custGeom>
            <a:grpFill/>
            <a:ln>
              <a:noFill/>
            </a:ln>
            <a:effectLst/>
            <a:sp3d/>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62" name="Google Shape;5315;p46">
              <a:extLst>
                <a:ext uri="{FF2B5EF4-FFF2-40B4-BE49-F238E27FC236}">
                  <a16:creationId xmlns:a16="http://schemas.microsoft.com/office/drawing/2014/main" id="{FF40E639-44CB-C3C3-4257-1FF10316117F}"/>
                </a:ext>
              </a:extLst>
            </p:cNvPr>
            <p:cNvSpPr/>
            <p:nvPr/>
          </p:nvSpPr>
          <p:spPr>
            <a:xfrm>
              <a:off x="2278533" y="2937377"/>
              <a:ext cx="346788" cy="254704"/>
            </a:xfrm>
            <a:custGeom>
              <a:avLst/>
              <a:gdLst/>
              <a:ahLst/>
              <a:cxnLst/>
              <a:rect l="l" t="t" r="r" b="b"/>
              <a:pathLst>
                <a:path w="10895" h="8002" extrusionOk="0">
                  <a:moveTo>
                    <a:pt x="9871" y="310"/>
                  </a:moveTo>
                  <a:cubicBezTo>
                    <a:pt x="9978" y="310"/>
                    <a:pt x="10049" y="393"/>
                    <a:pt x="10049" y="489"/>
                  </a:cubicBezTo>
                  <a:lnTo>
                    <a:pt x="10049" y="6799"/>
                  </a:lnTo>
                  <a:lnTo>
                    <a:pt x="9692" y="6799"/>
                  </a:lnTo>
                  <a:cubicBezTo>
                    <a:pt x="9609" y="6799"/>
                    <a:pt x="9525" y="6882"/>
                    <a:pt x="9525" y="6966"/>
                  </a:cubicBezTo>
                  <a:cubicBezTo>
                    <a:pt x="9525" y="7061"/>
                    <a:pt x="9609" y="7132"/>
                    <a:pt x="9692" y="7132"/>
                  </a:cubicBezTo>
                  <a:lnTo>
                    <a:pt x="10537" y="7132"/>
                  </a:lnTo>
                  <a:cubicBezTo>
                    <a:pt x="10537" y="7132"/>
                    <a:pt x="10561" y="7132"/>
                    <a:pt x="10561" y="7144"/>
                  </a:cubicBezTo>
                  <a:lnTo>
                    <a:pt x="10561" y="7490"/>
                  </a:lnTo>
                  <a:cubicBezTo>
                    <a:pt x="10573" y="7585"/>
                    <a:pt x="10478" y="7668"/>
                    <a:pt x="10394" y="7668"/>
                  </a:cubicBezTo>
                  <a:lnTo>
                    <a:pt x="512" y="7668"/>
                  </a:lnTo>
                  <a:cubicBezTo>
                    <a:pt x="405" y="7668"/>
                    <a:pt x="334" y="7597"/>
                    <a:pt x="334" y="7490"/>
                  </a:cubicBezTo>
                  <a:lnTo>
                    <a:pt x="334" y="7144"/>
                  </a:lnTo>
                  <a:cubicBezTo>
                    <a:pt x="334" y="7144"/>
                    <a:pt x="334" y="7132"/>
                    <a:pt x="346" y="7132"/>
                  </a:cubicBezTo>
                  <a:lnTo>
                    <a:pt x="9037" y="7132"/>
                  </a:lnTo>
                  <a:cubicBezTo>
                    <a:pt x="9132" y="7132"/>
                    <a:pt x="9204" y="7061"/>
                    <a:pt x="9204" y="6966"/>
                  </a:cubicBezTo>
                  <a:cubicBezTo>
                    <a:pt x="9204" y="6882"/>
                    <a:pt x="9132" y="6799"/>
                    <a:pt x="9037" y="6799"/>
                  </a:cubicBezTo>
                  <a:lnTo>
                    <a:pt x="858" y="6799"/>
                  </a:lnTo>
                  <a:lnTo>
                    <a:pt x="858" y="489"/>
                  </a:lnTo>
                  <a:cubicBezTo>
                    <a:pt x="858" y="393"/>
                    <a:pt x="929" y="310"/>
                    <a:pt x="1036" y="310"/>
                  </a:cubicBezTo>
                  <a:close/>
                  <a:moveTo>
                    <a:pt x="1012" y="0"/>
                  </a:moveTo>
                  <a:cubicBezTo>
                    <a:pt x="738" y="0"/>
                    <a:pt x="512" y="227"/>
                    <a:pt x="512" y="512"/>
                  </a:cubicBezTo>
                  <a:lnTo>
                    <a:pt x="512" y="6823"/>
                  </a:lnTo>
                  <a:lnTo>
                    <a:pt x="334" y="6823"/>
                  </a:lnTo>
                  <a:cubicBezTo>
                    <a:pt x="155" y="6823"/>
                    <a:pt x="0" y="6966"/>
                    <a:pt x="0" y="7144"/>
                  </a:cubicBezTo>
                  <a:lnTo>
                    <a:pt x="0" y="7490"/>
                  </a:lnTo>
                  <a:cubicBezTo>
                    <a:pt x="0" y="7775"/>
                    <a:pt x="226" y="8001"/>
                    <a:pt x="512" y="8001"/>
                  </a:cubicBezTo>
                  <a:lnTo>
                    <a:pt x="10394" y="8001"/>
                  </a:lnTo>
                  <a:cubicBezTo>
                    <a:pt x="10680" y="8001"/>
                    <a:pt x="10894" y="7775"/>
                    <a:pt x="10894" y="7490"/>
                  </a:cubicBezTo>
                  <a:lnTo>
                    <a:pt x="10894" y="7144"/>
                  </a:lnTo>
                  <a:cubicBezTo>
                    <a:pt x="10883" y="6966"/>
                    <a:pt x="10728" y="6823"/>
                    <a:pt x="10561" y="6823"/>
                  </a:cubicBezTo>
                  <a:lnTo>
                    <a:pt x="10383" y="6823"/>
                  </a:lnTo>
                  <a:lnTo>
                    <a:pt x="10383" y="512"/>
                  </a:lnTo>
                  <a:cubicBezTo>
                    <a:pt x="10383" y="227"/>
                    <a:pt x="10156" y="0"/>
                    <a:pt x="9871" y="0"/>
                  </a:cubicBezTo>
                  <a:close/>
                </a:path>
              </a:pathLst>
            </a:custGeom>
            <a:grpFill/>
            <a:ln>
              <a:noFill/>
            </a:ln>
            <a:effectLst/>
            <a:sp3d/>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grpSp>
      <p:grpSp>
        <p:nvGrpSpPr>
          <p:cNvPr id="63" name="Google Shape;1940;p40">
            <a:extLst>
              <a:ext uri="{FF2B5EF4-FFF2-40B4-BE49-F238E27FC236}">
                <a16:creationId xmlns:a16="http://schemas.microsoft.com/office/drawing/2014/main" id="{E3C4683C-63CC-617F-7CA0-9B3D97EAD43F}"/>
              </a:ext>
            </a:extLst>
          </p:cNvPr>
          <p:cNvGrpSpPr/>
          <p:nvPr/>
        </p:nvGrpSpPr>
        <p:grpSpPr>
          <a:xfrm>
            <a:off x="9852673" y="4445652"/>
            <a:ext cx="946569" cy="915041"/>
            <a:chOff x="4675986" y="2745684"/>
            <a:chExt cx="381346" cy="368644"/>
          </a:xfrm>
          <a:solidFill>
            <a:srgbClr val="2F465A"/>
          </a:solidFill>
        </p:grpSpPr>
        <p:sp>
          <p:nvSpPr>
            <p:cNvPr id="64" name="Google Shape;1941;p40">
              <a:extLst>
                <a:ext uri="{FF2B5EF4-FFF2-40B4-BE49-F238E27FC236}">
                  <a16:creationId xmlns:a16="http://schemas.microsoft.com/office/drawing/2014/main" id="{E03A3E87-568D-91BD-9D50-08D2B2E820E1}"/>
                </a:ext>
              </a:extLst>
            </p:cNvPr>
            <p:cNvSpPr/>
            <p:nvPr/>
          </p:nvSpPr>
          <p:spPr>
            <a:xfrm>
              <a:off x="4828918" y="2895345"/>
              <a:ext cx="69226" cy="69258"/>
            </a:xfrm>
            <a:custGeom>
              <a:avLst/>
              <a:gdLst/>
              <a:ahLst/>
              <a:cxnLst/>
              <a:rect l="l" t="t" r="r" b="b"/>
              <a:pathLst>
                <a:path w="2180" h="2181" extrusionOk="0">
                  <a:moveTo>
                    <a:pt x="1100" y="1"/>
                  </a:moveTo>
                  <a:cubicBezTo>
                    <a:pt x="535" y="1"/>
                    <a:pt x="1" y="443"/>
                    <a:pt x="1" y="1098"/>
                  </a:cubicBezTo>
                  <a:cubicBezTo>
                    <a:pt x="1" y="1705"/>
                    <a:pt x="501" y="2181"/>
                    <a:pt x="1096" y="2181"/>
                  </a:cubicBezTo>
                  <a:cubicBezTo>
                    <a:pt x="1703" y="2181"/>
                    <a:pt x="2180" y="1693"/>
                    <a:pt x="2180" y="1098"/>
                  </a:cubicBezTo>
                  <a:cubicBezTo>
                    <a:pt x="2180" y="1014"/>
                    <a:pt x="2180" y="955"/>
                    <a:pt x="2168" y="895"/>
                  </a:cubicBezTo>
                  <a:cubicBezTo>
                    <a:pt x="2146" y="819"/>
                    <a:pt x="2074" y="763"/>
                    <a:pt x="1989" y="763"/>
                  </a:cubicBezTo>
                  <a:cubicBezTo>
                    <a:pt x="1981" y="763"/>
                    <a:pt x="1973" y="763"/>
                    <a:pt x="1965" y="764"/>
                  </a:cubicBezTo>
                  <a:cubicBezTo>
                    <a:pt x="1882" y="776"/>
                    <a:pt x="1822" y="871"/>
                    <a:pt x="1834" y="955"/>
                  </a:cubicBezTo>
                  <a:cubicBezTo>
                    <a:pt x="1915" y="1442"/>
                    <a:pt x="1524" y="1834"/>
                    <a:pt x="1092" y="1834"/>
                  </a:cubicBezTo>
                  <a:cubicBezTo>
                    <a:pt x="954" y="1834"/>
                    <a:pt x="812" y="1794"/>
                    <a:pt x="679" y="1705"/>
                  </a:cubicBezTo>
                  <a:cubicBezTo>
                    <a:pt x="60" y="1288"/>
                    <a:pt x="358" y="336"/>
                    <a:pt x="1096" y="336"/>
                  </a:cubicBezTo>
                  <a:cubicBezTo>
                    <a:pt x="1251" y="336"/>
                    <a:pt x="1418" y="395"/>
                    <a:pt x="1548" y="502"/>
                  </a:cubicBezTo>
                  <a:cubicBezTo>
                    <a:pt x="1581" y="525"/>
                    <a:pt x="1615" y="536"/>
                    <a:pt x="1649" y="536"/>
                  </a:cubicBezTo>
                  <a:cubicBezTo>
                    <a:pt x="1701" y="536"/>
                    <a:pt x="1750" y="510"/>
                    <a:pt x="1787" y="466"/>
                  </a:cubicBezTo>
                  <a:cubicBezTo>
                    <a:pt x="1846" y="395"/>
                    <a:pt x="1834" y="288"/>
                    <a:pt x="1763" y="228"/>
                  </a:cubicBezTo>
                  <a:cubicBezTo>
                    <a:pt x="1558" y="72"/>
                    <a:pt x="1327" y="1"/>
                    <a:pt x="1100" y="1"/>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65" name="Google Shape;1942;p40">
              <a:extLst>
                <a:ext uri="{FF2B5EF4-FFF2-40B4-BE49-F238E27FC236}">
                  <a16:creationId xmlns:a16="http://schemas.microsoft.com/office/drawing/2014/main" id="{2ECCB8C5-6A23-CD78-B7F9-756291980CA5}"/>
                </a:ext>
              </a:extLst>
            </p:cNvPr>
            <p:cNvSpPr/>
            <p:nvPr/>
          </p:nvSpPr>
          <p:spPr>
            <a:xfrm>
              <a:off x="4675986" y="2745684"/>
              <a:ext cx="381346" cy="368644"/>
            </a:xfrm>
            <a:custGeom>
              <a:avLst/>
              <a:gdLst/>
              <a:ahLst/>
              <a:cxnLst/>
              <a:rect l="l" t="t" r="r" b="b"/>
              <a:pathLst>
                <a:path w="12009" h="11609" extrusionOk="0">
                  <a:moveTo>
                    <a:pt x="1049" y="2188"/>
                  </a:moveTo>
                  <a:cubicBezTo>
                    <a:pt x="1173" y="2188"/>
                    <a:pt x="1299" y="2229"/>
                    <a:pt x="1411" y="2322"/>
                  </a:cubicBezTo>
                  <a:cubicBezTo>
                    <a:pt x="1650" y="2512"/>
                    <a:pt x="1697" y="2846"/>
                    <a:pt x="1531" y="3096"/>
                  </a:cubicBezTo>
                  <a:cubicBezTo>
                    <a:pt x="1413" y="3272"/>
                    <a:pt x="1231" y="3354"/>
                    <a:pt x="1049" y="3354"/>
                  </a:cubicBezTo>
                  <a:cubicBezTo>
                    <a:pt x="791" y="3354"/>
                    <a:pt x="534" y="3188"/>
                    <a:pt x="471" y="2893"/>
                  </a:cubicBezTo>
                  <a:cubicBezTo>
                    <a:pt x="401" y="2493"/>
                    <a:pt x="714" y="2188"/>
                    <a:pt x="1049" y="2188"/>
                  </a:cubicBezTo>
                  <a:close/>
                  <a:moveTo>
                    <a:pt x="4317" y="3036"/>
                  </a:moveTo>
                  <a:cubicBezTo>
                    <a:pt x="4400" y="3084"/>
                    <a:pt x="5472" y="3703"/>
                    <a:pt x="5567" y="3751"/>
                  </a:cubicBezTo>
                  <a:lnTo>
                    <a:pt x="4317" y="4465"/>
                  </a:lnTo>
                  <a:lnTo>
                    <a:pt x="4317" y="3036"/>
                  </a:lnTo>
                  <a:close/>
                  <a:moveTo>
                    <a:pt x="7496" y="3036"/>
                  </a:moveTo>
                  <a:lnTo>
                    <a:pt x="7496" y="4465"/>
                  </a:lnTo>
                  <a:lnTo>
                    <a:pt x="6245" y="3751"/>
                  </a:lnTo>
                  <a:lnTo>
                    <a:pt x="7496" y="3036"/>
                  </a:lnTo>
                  <a:close/>
                  <a:moveTo>
                    <a:pt x="9246" y="2262"/>
                  </a:moveTo>
                  <a:cubicBezTo>
                    <a:pt x="10115" y="2262"/>
                    <a:pt x="10829" y="2965"/>
                    <a:pt x="10829" y="3858"/>
                  </a:cubicBezTo>
                  <a:cubicBezTo>
                    <a:pt x="10829" y="4429"/>
                    <a:pt x="10520" y="4953"/>
                    <a:pt x="10032" y="5239"/>
                  </a:cubicBezTo>
                  <a:lnTo>
                    <a:pt x="9448" y="5572"/>
                  </a:lnTo>
                  <a:cubicBezTo>
                    <a:pt x="9270" y="5477"/>
                    <a:pt x="8055" y="4775"/>
                    <a:pt x="7841" y="4656"/>
                  </a:cubicBezTo>
                  <a:lnTo>
                    <a:pt x="7841" y="2834"/>
                  </a:lnTo>
                  <a:cubicBezTo>
                    <a:pt x="8305" y="2596"/>
                    <a:pt x="8627" y="2262"/>
                    <a:pt x="9246" y="2262"/>
                  </a:cubicBezTo>
                  <a:close/>
                  <a:moveTo>
                    <a:pt x="2565" y="2283"/>
                  </a:moveTo>
                  <a:cubicBezTo>
                    <a:pt x="2837" y="2283"/>
                    <a:pt x="3111" y="2352"/>
                    <a:pt x="3364" y="2489"/>
                  </a:cubicBezTo>
                  <a:cubicBezTo>
                    <a:pt x="3745" y="2715"/>
                    <a:pt x="3602" y="2620"/>
                    <a:pt x="3971" y="2846"/>
                  </a:cubicBezTo>
                  <a:lnTo>
                    <a:pt x="3971" y="4656"/>
                  </a:lnTo>
                  <a:lnTo>
                    <a:pt x="2352" y="5584"/>
                  </a:lnTo>
                  <a:lnTo>
                    <a:pt x="1769" y="5251"/>
                  </a:lnTo>
                  <a:cubicBezTo>
                    <a:pt x="1400" y="5049"/>
                    <a:pt x="1126" y="4703"/>
                    <a:pt x="1030" y="4287"/>
                  </a:cubicBezTo>
                  <a:cubicBezTo>
                    <a:pt x="971" y="4096"/>
                    <a:pt x="947" y="3882"/>
                    <a:pt x="983" y="3691"/>
                  </a:cubicBezTo>
                  <a:lnTo>
                    <a:pt x="983" y="3691"/>
                  </a:lnTo>
                  <a:cubicBezTo>
                    <a:pt x="1005" y="3693"/>
                    <a:pt x="1027" y="3694"/>
                    <a:pt x="1049" y="3694"/>
                  </a:cubicBezTo>
                  <a:cubicBezTo>
                    <a:pt x="1694" y="3694"/>
                    <a:pt x="2153" y="3028"/>
                    <a:pt x="1900" y="2429"/>
                  </a:cubicBezTo>
                  <a:cubicBezTo>
                    <a:pt x="2111" y="2332"/>
                    <a:pt x="2337" y="2283"/>
                    <a:pt x="2565" y="2283"/>
                  </a:cubicBezTo>
                  <a:close/>
                  <a:moveTo>
                    <a:pt x="7841" y="5060"/>
                  </a:moveTo>
                  <a:cubicBezTo>
                    <a:pt x="8008" y="5156"/>
                    <a:pt x="8960" y="5703"/>
                    <a:pt x="9127" y="5787"/>
                  </a:cubicBezTo>
                  <a:lnTo>
                    <a:pt x="7841" y="6513"/>
                  </a:lnTo>
                  <a:lnTo>
                    <a:pt x="7841" y="5060"/>
                  </a:lnTo>
                  <a:close/>
                  <a:moveTo>
                    <a:pt x="3971" y="5060"/>
                  </a:moveTo>
                  <a:lnTo>
                    <a:pt x="3971" y="6525"/>
                  </a:lnTo>
                  <a:lnTo>
                    <a:pt x="2697" y="5787"/>
                  </a:lnTo>
                  <a:lnTo>
                    <a:pt x="3971" y="5060"/>
                  </a:lnTo>
                  <a:close/>
                  <a:moveTo>
                    <a:pt x="5900" y="3965"/>
                  </a:moveTo>
                  <a:lnTo>
                    <a:pt x="7496" y="4870"/>
                  </a:lnTo>
                  <a:lnTo>
                    <a:pt x="7496" y="6715"/>
                  </a:lnTo>
                  <a:lnTo>
                    <a:pt x="5900" y="7620"/>
                  </a:lnTo>
                  <a:lnTo>
                    <a:pt x="4317" y="6715"/>
                  </a:lnTo>
                  <a:lnTo>
                    <a:pt x="4317" y="4870"/>
                  </a:lnTo>
                  <a:lnTo>
                    <a:pt x="5900" y="3965"/>
                  </a:lnTo>
                  <a:close/>
                  <a:moveTo>
                    <a:pt x="4317" y="7120"/>
                  </a:moveTo>
                  <a:lnTo>
                    <a:pt x="5567" y="7835"/>
                  </a:lnTo>
                  <a:lnTo>
                    <a:pt x="4317" y="8549"/>
                  </a:lnTo>
                  <a:lnTo>
                    <a:pt x="4317" y="7120"/>
                  </a:lnTo>
                  <a:close/>
                  <a:moveTo>
                    <a:pt x="7496" y="7108"/>
                  </a:moveTo>
                  <a:lnTo>
                    <a:pt x="7496" y="8549"/>
                  </a:lnTo>
                  <a:cubicBezTo>
                    <a:pt x="7412" y="8501"/>
                    <a:pt x="6341" y="7870"/>
                    <a:pt x="6245" y="7835"/>
                  </a:cubicBezTo>
                  <a:lnTo>
                    <a:pt x="7496" y="7108"/>
                  </a:lnTo>
                  <a:close/>
                  <a:moveTo>
                    <a:pt x="9484" y="5965"/>
                  </a:moveTo>
                  <a:lnTo>
                    <a:pt x="10055" y="6299"/>
                  </a:lnTo>
                  <a:cubicBezTo>
                    <a:pt x="10436" y="6501"/>
                    <a:pt x="10698" y="6846"/>
                    <a:pt x="10806" y="7263"/>
                  </a:cubicBezTo>
                  <a:cubicBezTo>
                    <a:pt x="10853" y="7442"/>
                    <a:pt x="10865" y="7620"/>
                    <a:pt x="10865" y="7799"/>
                  </a:cubicBezTo>
                  <a:cubicBezTo>
                    <a:pt x="10859" y="7799"/>
                    <a:pt x="10853" y="7799"/>
                    <a:pt x="10847" y="7799"/>
                  </a:cubicBezTo>
                  <a:cubicBezTo>
                    <a:pt x="10143" y="7799"/>
                    <a:pt x="9677" y="8506"/>
                    <a:pt x="9972" y="9120"/>
                  </a:cubicBezTo>
                  <a:cubicBezTo>
                    <a:pt x="9748" y="9235"/>
                    <a:pt x="9502" y="9295"/>
                    <a:pt x="9253" y="9295"/>
                  </a:cubicBezTo>
                  <a:cubicBezTo>
                    <a:pt x="8987" y="9295"/>
                    <a:pt x="8718" y="9226"/>
                    <a:pt x="8472" y="9085"/>
                  </a:cubicBezTo>
                  <a:cubicBezTo>
                    <a:pt x="8079" y="8859"/>
                    <a:pt x="8234" y="8942"/>
                    <a:pt x="7853" y="8728"/>
                  </a:cubicBezTo>
                  <a:lnTo>
                    <a:pt x="7853" y="6894"/>
                  </a:lnTo>
                  <a:lnTo>
                    <a:pt x="9484" y="5965"/>
                  </a:lnTo>
                  <a:close/>
                  <a:moveTo>
                    <a:pt x="10799" y="8158"/>
                  </a:moveTo>
                  <a:cubicBezTo>
                    <a:pt x="10910" y="8158"/>
                    <a:pt x="11021" y="8189"/>
                    <a:pt x="11115" y="8251"/>
                  </a:cubicBezTo>
                  <a:cubicBezTo>
                    <a:pt x="11568" y="8549"/>
                    <a:pt x="11413" y="9216"/>
                    <a:pt x="10913" y="9299"/>
                  </a:cubicBezTo>
                  <a:cubicBezTo>
                    <a:pt x="10869" y="9308"/>
                    <a:pt x="10827" y="9312"/>
                    <a:pt x="10786" y="9312"/>
                  </a:cubicBezTo>
                  <a:cubicBezTo>
                    <a:pt x="10343" y="9312"/>
                    <a:pt x="10056" y="8809"/>
                    <a:pt x="10317" y="8406"/>
                  </a:cubicBezTo>
                  <a:cubicBezTo>
                    <a:pt x="10429" y="8243"/>
                    <a:pt x="10614" y="8158"/>
                    <a:pt x="10799" y="8158"/>
                  </a:cubicBezTo>
                  <a:close/>
                  <a:moveTo>
                    <a:pt x="5900" y="8025"/>
                  </a:moveTo>
                  <a:cubicBezTo>
                    <a:pt x="6103" y="8144"/>
                    <a:pt x="7305" y="8823"/>
                    <a:pt x="7496" y="8930"/>
                  </a:cubicBezTo>
                  <a:lnTo>
                    <a:pt x="7496" y="9644"/>
                  </a:lnTo>
                  <a:cubicBezTo>
                    <a:pt x="7496" y="10525"/>
                    <a:pt x="6781" y="11240"/>
                    <a:pt x="5900" y="11240"/>
                  </a:cubicBezTo>
                  <a:cubicBezTo>
                    <a:pt x="5031" y="11240"/>
                    <a:pt x="4317" y="10525"/>
                    <a:pt x="4317" y="9644"/>
                  </a:cubicBezTo>
                  <a:lnTo>
                    <a:pt x="4317" y="8930"/>
                  </a:lnTo>
                  <a:lnTo>
                    <a:pt x="5900" y="8025"/>
                  </a:lnTo>
                  <a:close/>
                  <a:moveTo>
                    <a:pt x="5900" y="0"/>
                  </a:moveTo>
                  <a:cubicBezTo>
                    <a:pt x="4829" y="0"/>
                    <a:pt x="3971" y="869"/>
                    <a:pt x="3971" y="1941"/>
                  </a:cubicBezTo>
                  <a:lnTo>
                    <a:pt x="3971" y="2441"/>
                  </a:lnTo>
                  <a:cubicBezTo>
                    <a:pt x="3686" y="2274"/>
                    <a:pt x="3793" y="2334"/>
                    <a:pt x="3519" y="2191"/>
                  </a:cubicBezTo>
                  <a:cubicBezTo>
                    <a:pt x="3219" y="2016"/>
                    <a:pt x="2890" y="1933"/>
                    <a:pt x="2564" y="1933"/>
                  </a:cubicBezTo>
                  <a:cubicBezTo>
                    <a:pt x="2268" y="1933"/>
                    <a:pt x="1975" y="2001"/>
                    <a:pt x="1709" y="2131"/>
                  </a:cubicBezTo>
                  <a:cubicBezTo>
                    <a:pt x="1515" y="1930"/>
                    <a:pt x="1277" y="1842"/>
                    <a:pt x="1045" y="1842"/>
                  </a:cubicBezTo>
                  <a:cubicBezTo>
                    <a:pt x="508" y="1842"/>
                    <a:pt x="1" y="2313"/>
                    <a:pt x="126" y="2953"/>
                  </a:cubicBezTo>
                  <a:cubicBezTo>
                    <a:pt x="185" y="3251"/>
                    <a:pt x="388" y="3489"/>
                    <a:pt x="638" y="3608"/>
                  </a:cubicBezTo>
                  <a:cubicBezTo>
                    <a:pt x="530" y="4358"/>
                    <a:pt x="888" y="5156"/>
                    <a:pt x="1590" y="5549"/>
                  </a:cubicBezTo>
                  <a:cubicBezTo>
                    <a:pt x="1828" y="5691"/>
                    <a:pt x="1757" y="5644"/>
                    <a:pt x="1995" y="5787"/>
                  </a:cubicBezTo>
                  <a:lnTo>
                    <a:pt x="1590" y="6025"/>
                  </a:lnTo>
                  <a:cubicBezTo>
                    <a:pt x="995" y="6370"/>
                    <a:pt x="626" y="7025"/>
                    <a:pt x="626" y="7716"/>
                  </a:cubicBezTo>
                  <a:cubicBezTo>
                    <a:pt x="626" y="8704"/>
                    <a:pt x="1400" y="9537"/>
                    <a:pt x="2388" y="9632"/>
                  </a:cubicBezTo>
                  <a:lnTo>
                    <a:pt x="2412" y="9632"/>
                  </a:lnTo>
                  <a:cubicBezTo>
                    <a:pt x="2495" y="9632"/>
                    <a:pt x="2566" y="9573"/>
                    <a:pt x="2566" y="9478"/>
                  </a:cubicBezTo>
                  <a:cubicBezTo>
                    <a:pt x="2590" y="9394"/>
                    <a:pt x="2507" y="9299"/>
                    <a:pt x="2424" y="9299"/>
                  </a:cubicBezTo>
                  <a:cubicBezTo>
                    <a:pt x="1602" y="9228"/>
                    <a:pt x="959" y="8549"/>
                    <a:pt x="959" y="7727"/>
                  </a:cubicBezTo>
                  <a:cubicBezTo>
                    <a:pt x="959" y="7144"/>
                    <a:pt x="1281" y="6620"/>
                    <a:pt x="1769" y="6346"/>
                  </a:cubicBezTo>
                  <a:lnTo>
                    <a:pt x="2352" y="6013"/>
                  </a:lnTo>
                  <a:lnTo>
                    <a:pt x="3971" y="6942"/>
                  </a:lnTo>
                  <a:lnTo>
                    <a:pt x="3971" y="8763"/>
                  </a:lnTo>
                  <a:cubicBezTo>
                    <a:pt x="3436" y="9061"/>
                    <a:pt x="3305" y="9168"/>
                    <a:pt x="3031" y="9263"/>
                  </a:cubicBezTo>
                  <a:cubicBezTo>
                    <a:pt x="2947" y="9287"/>
                    <a:pt x="2900" y="9382"/>
                    <a:pt x="2912" y="9466"/>
                  </a:cubicBezTo>
                  <a:cubicBezTo>
                    <a:pt x="2943" y="9549"/>
                    <a:pt x="3011" y="9587"/>
                    <a:pt x="3091" y="9587"/>
                  </a:cubicBezTo>
                  <a:cubicBezTo>
                    <a:pt x="3103" y="9587"/>
                    <a:pt x="3114" y="9586"/>
                    <a:pt x="3126" y="9585"/>
                  </a:cubicBezTo>
                  <a:cubicBezTo>
                    <a:pt x="3436" y="9501"/>
                    <a:pt x="3578" y="9359"/>
                    <a:pt x="3959" y="9168"/>
                  </a:cubicBezTo>
                  <a:lnTo>
                    <a:pt x="3959" y="9680"/>
                  </a:lnTo>
                  <a:cubicBezTo>
                    <a:pt x="3959" y="10752"/>
                    <a:pt x="4817" y="11609"/>
                    <a:pt x="5888" y="11609"/>
                  </a:cubicBezTo>
                  <a:cubicBezTo>
                    <a:pt x="6960" y="11609"/>
                    <a:pt x="7829" y="10752"/>
                    <a:pt x="7829" y="9680"/>
                  </a:cubicBezTo>
                  <a:lnTo>
                    <a:pt x="7829" y="9168"/>
                  </a:lnTo>
                  <a:cubicBezTo>
                    <a:pt x="8317" y="9454"/>
                    <a:pt x="8627" y="9680"/>
                    <a:pt x="9222" y="9680"/>
                  </a:cubicBezTo>
                  <a:cubicBezTo>
                    <a:pt x="9555" y="9680"/>
                    <a:pt x="9865" y="9597"/>
                    <a:pt x="10151" y="9442"/>
                  </a:cubicBezTo>
                  <a:cubicBezTo>
                    <a:pt x="10315" y="9597"/>
                    <a:pt x="10543" y="9696"/>
                    <a:pt x="10788" y="9696"/>
                  </a:cubicBezTo>
                  <a:cubicBezTo>
                    <a:pt x="10845" y="9696"/>
                    <a:pt x="10902" y="9691"/>
                    <a:pt x="10960" y="9680"/>
                  </a:cubicBezTo>
                  <a:cubicBezTo>
                    <a:pt x="11865" y="9466"/>
                    <a:pt x="12008" y="8263"/>
                    <a:pt x="11175" y="7894"/>
                  </a:cubicBezTo>
                  <a:cubicBezTo>
                    <a:pt x="11246" y="7156"/>
                    <a:pt x="10889" y="6406"/>
                    <a:pt x="10210" y="6013"/>
                  </a:cubicBezTo>
                  <a:cubicBezTo>
                    <a:pt x="9972" y="5882"/>
                    <a:pt x="10044" y="5918"/>
                    <a:pt x="9805" y="5775"/>
                  </a:cubicBezTo>
                  <a:lnTo>
                    <a:pt x="10210" y="5537"/>
                  </a:lnTo>
                  <a:cubicBezTo>
                    <a:pt x="11127" y="5001"/>
                    <a:pt x="11460" y="3810"/>
                    <a:pt x="10925" y="2882"/>
                  </a:cubicBezTo>
                  <a:cubicBezTo>
                    <a:pt x="10579" y="2286"/>
                    <a:pt x="9924" y="1917"/>
                    <a:pt x="9246" y="1917"/>
                  </a:cubicBezTo>
                  <a:cubicBezTo>
                    <a:pt x="8531" y="1917"/>
                    <a:pt x="8139" y="2286"/>
                    <a:pt x="7841" y="2429"/>
                  </a:cubicBezTo>
                  <a:cubicBezTo>
                    <a:pt x="7829" y="2012"/>
                    <a:pt x="7865" y="1810"/>
                    <a:pt x="7793" y="1489"/>
                  </a:cubicBezTo>
                  <a:cubicBezTo>
                    <a:pt x="7783" y="1408"/>
                    <a:pt x="7704" y="1352"/>
                    <a:pt x="7629" y="1352"/>
                  </a:cubicBezTo>
                  <a:cubicBezTo>
                    <a:pt x="7616" y="1352"/>
                    <a:pt x="7603" y="1354"/>
                    <a:pt x="7591" y="1358"/>
                  </a:cubicBezTo>
                  <a:cubicBezTo>
                    <a:pt x="7496" y="1369"/>
                    <a:pt x="7436" y="1477"/>
                    <a:pt x="7448" y="1560"/>
                  </a:cubicBezTo>
                  <a:cubicBezTo>
                    <a:pt x="7507" y="1834"/>
                    <a:pt x="7484" y="1989"/>
                    <a:pt x="7496" y="2620"/>
                  </a:cubicBezTo>
                  <a:lnTo>
                    <a:pt x="5900" y="3525"/>
                  </a:lnTo>
                  <a:lnTo>
                    <a:pt x="4317" y="2620"/>
                  </a:lnTo>
                  <a:lnTo>
                    <a:pt x="4317" y="1941"/>
                  </a:lnTo>
                  <a:cubicBezTo>
                    <a:pt x="4317" y="1060"/>
                    <a:pt x="5031" y="346"/>
                    <a:pt x="5900" y="346"/>
                  </a:cubicBezTo>
                  <a:cubicBezTo>
                    <a:pt x="6424" y="346"/>
                    <a:pt x="6912" y="596"/>
                    <a:pt x="7210" y="1024"/>
                  </a:cubicBezTo>
                  <a:cubicBezTo>
                    <a:pt x="7246" y="1075"/>
                    <a:pt x="7301" y="1100"/>
                    <a:pt x="7354" y="1100"/>
                  </a:cubicBezTo>
                  <a:cubicBezTo>
                    <a:pt x="7388" y="1100"/>
                    <a:pt x="7420" y="1090"/>
                    <a:pt x="7448" y="1072"/>
                  </a:cubicBezTo>
                  <a:cubicBezTo>
                    <a:pt x="7531" y="1012"/>
                    <a:pt x="7543" y="905"/>
                    <a:pt x="7496" y="834"/>
                  </a:cubicBezTo>
                  <a:cubicBezTo>
                    <a:pt x="7138" y="310"/>
                    <a:pt x="6543" y="0"/>
                    <a:pt x="5900" y="0"/>
                  </a:cubicBezTo>
                  <a:close/>
                </a:path>
              </a:pathLst>
            </a:custGeom>
            <a:grp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271558063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Modern office-interior">
            <a:extLst>
              <a:ext uri="{FF2B5EF4-FFF2-40B4-BE49-F238E27FC236}">
                <a16:creationId xmlns:a16="http://schemas.microsoft.com/office/drawing/2014/main" id="{6B7FCEFD-0829-418A-BC78-768D357A587A}"/>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6093" y="-368670"/>
            <a:ext cx="12188952" cy="6858000"/>
          </a:xfrm>
          <a:prstGeom prst="rect">
            <a:avLst/>
          </a:prstGeom>
        </p:spPr>
      </p:pic>
      <p:sp>
        <p:nvSpPr>
          <p:cNvPr id="13" name="Rectangle 12">
            <a:extLst>
              <a:ext uri="{FF2B5EF4-FFF2-40B4-BE49-F238E27FC236}">
                <a16:creationId xmlns:a16="http://schemas.microsoft.com/office/drawing/2014/main" id="{B5E38D21-EFD2-6CB4-D817-38A06AFDFB58}"/>
              </a:ext>
            </a:extLst>
          </p:cNvPr>
          <p:cNvSpPr/>
          <p:nvPr/>
        </p:nvSpPr>
        <p:spPr>
          <a:xfrm>
            <a:off x="-15766" y="-369040"/>
            <a:ext cx="12207766" cy="6857999"/>
          </a:xfrm>
          <a:prstGeom prst="rect">
            <a:avLst/>
          </a:prstGeom>
          <a:solidFill>
            <a:schemeClr val="bg1">
              <a:lumMod val="85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8" name="Rectangle 17">
            <a:extLst>
              <a:ext uri="{FF2B5EF4-FFF2-40B4-BE49-F238E27FC236}">
                <a16:creationId xmlns:a16="http://schemas.microsoft.com/office/drawing/2014/main" id="{1CF16C1C-E475-9ED2-C231-3FCCFE1B7E86}"/>
              </a:ext>
            </a:extLst>
          </p:cNvPr>
          <p:cNvSpPr/>
          <p:nvPr/>
        </p:nvSpPr>
        <p:spPr>
          <a:xfrm>
            <a:off x="702542" y="1164771"/>
            <a:ext cx="2911515" cy="4659086"/>
          </a:xfrm>
          <a:prstGeom prst="rect">
            <a:avLst/>
          </a:prstGeom>
          <a:solidFill>
            <a:schemeClr val="bg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aphicFrame>
        <p:nvGraphicFramePr>
          <p:cNvPr id="15" name="Diagram 14">
            <a:extLst>
              <a:ext uri="{FF2B5EF4-FFF2-40B4-BE49-F238E27FC236}">
                <a16:creationId xmlns:a16="http://schemas.microsoft.com/office/drawing/2014/main" id="{8AD5EAB0-5015-4866-8364-3741B734DE58}"/>
              </a:ext>
            </a:extLst>
          </p:cNvPr>
          <p:cNvGraphicFramePr/>
          <p:nvPr/>
        </p:nvGraphicFramePr>
        <p:xfrm>
          <a:off x="3980467" y="56275"/>
          <a:ext cx="7508990"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Google Shape;190;p2">
            <a:extLst>
              <a:ext uri="{FF2B5EF4-FFF2-40B4-BE49-F238E27FC236}">
                <a16:creationId xmlns:a16="http://schemas.microsoft.com/office/drawing/2014/main" id="{BC2A6422-FDB7-2F1A-4CF9-5BB0E9D1B701}"/>
              </a:ext>
            </a:extLst>
          </p:cNvPr>
          <p:cNvSpPr txBox="1"/>
          <p:nvPr/>
        </p:nvSpPr>
        <p:spPr>
          <a:xfrm>
            <a:off x="889512" y="1429541"/>
            <a:ext cx="2584059" cy="1197982"/>
          </a:xfrm>
          <a:prstGeom prst="rect">
            <a:avLst/>
          </a:prstGeom>
          <a:noFill/>
          <a:ln>
            <a:noFill/>
          </a:ln>
        </p:spPr>
        <p:txBody>
          <a:bodyPr spcFirstLastPara="1" wrap="square" lIns="89139" tIns="44558" rIns="89139" bIns="44558" anchor="t" anchorCtr="0">
            <a:spAutoFit/>
          </a:bodyPr>
          <a:lstStyle/>
          <a:p>
            <a:pPr defTabSz="891540">
              <a:buClr>
                <a:srgbClr val="000000"/>
              </a:buClr>
              <a:defRPr/>
            </a:pPr>
            <a:r>
              <a:rPr lang="en-SG" sz="3600" b="1" kern="0" dirty="0">
                <a:solidFill>
                  <a:srgbClr val="CC0000"/>
                </a:solidFill>
                <a:latin typeface="Roboto" panose="02000000000000000000" pitchFamily="2" charset="0"/>
                <a:ea typeface="Roboto" panose="02000000000000000000" pitchFamily="2" charset="0"/>
                <a:cs typeface="Roboto"/>
                <a:sym typeface="Roboto"/>
              </a:rPr>
              <a:t>Our</a:t>
            </a:r>
          </a:p>
          <a:p>
            <a:pPr defTabSz="891540">
              <a:buClr>
                <a:srgbClr val="000000"/>
              </a:buClr>
              <a:defRPr/>
            </a:pPr>
            <a:r>
              <a:rPr lang="en-SG" sz="3600" b="1" kern="0" dirty="0">
                <a:solidFill>
                  <a:srgbClr val="CC0000"/>
                </a:solidFill>
                <a:latin typeface="Roboto" panose="02000000000000000000" pitchFamily="2" charset="0"/>
                <a:ea typeface="Roboto" panose="02000000000000000000" pitchFamily="2" charset="0"/>
                <a:cs typeface="Roboto"/>
                <a:sym typeface="Roboto"/>
              </a:rPr>
              <a:t>Clientele</a:t>
            </a:r>
            <a:endParaRPr lang="en-SG" sz="3600" b="1" kern="0" dirty="0">
              <a:solidFill>
                <a:srgbClr val="CC0000"/>
              </a:solidFill>
              <a:latin typeface="Roboto" panose="02000000000000000000" pitchFamily="2" charset="0"/>
              <a:ea typeface="Roboto" panose="02000000000000000000" pitchFamily="2" charset="0"/>
              <a:cs typeface="Arial"/>
              <a:sym typeface="Arial"/>
            </a:endParaRPr>
          </a:p>
        </p:txBody>
      </p:sp>
      <p:cxnSp>
        <p:nvCxnSpPr>
          <p:cNvPr id="16" name="Straight Connector 15">
            <a:extLst>
              <a:ext uri="{FF2B5EF4-FFF2-40B4-BE49-F238E27FC236}">
                <a16:creationId xmlns:a16="http://schemas.microsoft.com/office/drawing/2014/main" id="{AEB70A50-E5E5-60EA-9679-5D6D2367A79E}"/>
              </a:ext>
            </a:extLst>
          </p:cNvPr>
          <p:cNvCxnSpPr>
            <a:cxnSpLocks/>
          </p:cNvCxnSpPr>
          <p:nvPr/>
        </p:nvCxnSpPr>
        <p:spPr>
          <a:xfrm>
            <a:off x="457200" y="327128"/>
            <a:ext cx="0" cy="725074"/>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4646CA42-C0F8-820C-C0D8-5CE749EC4E5E}"/>
              </a:ext>
            </a:extLst>
          </p:cNvPr>
          <p:cNvSpPr/>
          <p:nvPr/>
        </p:nvSpPr>
        <p:spPr>
          <a:xfrm>
            <a:off x="-15766" y="327128"/>
            <a:ext cx="335806" cy="725074"/>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Tree>
    <p:extLst>
      <p:ext uri="{BB962C8B-B14F-4D97-AF65-F5344CB8AC3E}">
        <p14:creationId xmlns:p14="http://schemas.microsoft.com/office/powerpoint/2010/main" val="188093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8" name="Picture 27">
            <a:extLst>
              <a:ext uri="{FF2B5EF4-FFF2-40B4-BE49-F238E27FC236}">
                <a16:creationId xmlns:a16="http://schemas.microsoft.com/office/drawing/2014/main" id="{57D81BC2-FB63-3E99-9ADA-63A70F6D2BB3}"/>
              </a:ext>
            </a:extLst>
          </p:cNvPr>
          <p:cNvPicPr>
            <a:picLocks noChangeAspect="1"/>
          </p:cNvPicPr>
          <p:nvPr/>
        </p:nvPicPr>
        <p:blipFill rotWithShape="1">
          <a:blip r:embed="rId3">
            <a:extLst>
              <a:ext uri="{28A0092B-C50C-407E-A947-70E740481C1C}">
                <a14:useLocalDpi xmlns:a14="http://schemas.microsoft.com/office/drawing/2010/main" val="0"/>
              </a:ext>
            </a:extLst>
          </a:blip>
          <a:srcRect t="39837" b="14883"/>
          <a:stretch/>
        </p:blipFill>
        <p:spPr>
          <a:xfrm>
            <a:off x="-10497" y="-10848"/>
            <a:ext cx="12212994" cy="1553209"/>
          </a:xfrm>
          <a:prstGeom prst="rect">
            <a:avLst/>
          </a:prstGeom>
        </p:spPr>
      </p:pic>
      <p:sp>
        <p:nvSpPr>
          <p:cNvPr id="14" name="Rectangle 13">
            <a:extLst>
              <a:ext uri="{FF2B5EF4-FFF2-40B4-BE49-F238E27FC236}">
                <a16:creationId xmlns:a16="http://schemas.microsoft.com/office/drawing/2014/main" id="{2AC0629D-A312-0E03-4459-630AA2015B9E}"/>
              </a:ext>
            </a:extLst>
          </p:cNvPr>
          <p:cNvSpPr/>
          <p:nvPr/>
        </p:nvSpPr>
        <p:spPr>
          <a:xfrm>
            <a:off x="0" y="0"/>
            <a:ext cx="12192000" cy="1542361"/>
          </a:xfrm>
          <a:prstGeom prst="rect">
            <a:avLst/>
          </a:prstGeom>
          <a:gradFill>
            <a:gsLst>
              <a:gs pos="46000">
                <a:srgbClr val="2F465A">
                  <a:alpha val="68000"/>
                </a:srgbClr>
              </a:gs>
              <a:gs pos="0">
                <a:schemeClr val="tx2">
                  <a:lumMod val="50000"/>
                  <a:alpha val="93000"/>
                </a:schemeClr>
              </a:gs>
              <a:gs pos="100000">
                <a:schemeClr val="tx2">
                  <a:lumMod val="60000"/>
                  <a:lumOff val="40000"/>
                  <a:alpha val="8200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endParaRPr>
          </a:p>
        </p:txBody>
      </p:sp>
      <p:sp>
        <p:nvSpPr>
          <p:cNvPr id="20" name="Rectangle: Rounded Corners 19">
            <a:extLst>
              <a:ext uri="{FF2B5EF4-FFF2-40B4-BE49-F238E27FC236}">
                <a16:creationId xmlns:a16="http://schemas.microsoft.com/office/drawing/2014/main" id="{D6340A20-3BD1-046A-0834-8C54B6ED7BD8}"/>
              </a:ext>
            </a:extLst>
          </p:cNvPr>
          <p:cNvSpPr/>
          <p:nvPr/>
        </p:nvSpPr>
        <p:spPr>
          <a:xfrm>
            <a:off x="5071607" y="3236027"/>
            <a:ext cx="1996070" cy="2634634"/>
          </a:xfrm>
          <a:prstGeom prst="roundRect">
            <a:avLst>
              <a:gd name="adj" fmla="val 7244"/>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7" name="Rectangle: Rounded Corners 16">
            <a:extLst>
              <a:ext uri="{FF2B5EF4-FFF2-40B4-BE49-F238E27FC236}">
                <a16:creationId xmlns:a16="http://schemas.microsoft.com/office/drawing/2014/main" id="{69641984-708B-19E5-D504-641DA7989975}"/>
              </a:ext>
            </a:extLst>
          </p:cNvPr>
          <p:cNvSpPr/>
          <p:nvPr/>
        </p:nvSpPr>
        <p:spPr>
          <a:xfrm>
            <a:off x="668313" y="3226824"/>
            <a:ext cx="1996070" cy="2634634"/>
          </a:xfrm>
          <a:prstGeom prst="roundRect">
            <a:avLst>
              <a:gd name="adj" fmla="val 7244"/>
            </a:avLst>
          </a:prstGeom>
          <a:solidFill>
            <a:srgbClr val="841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8" name="Rectangle: Rounded Corners 17">
            <a:extLst>
              <a:ext uri="{FF2B5EF4-FFF2-40B4-BE49-F238E27FC236}">
                <a16:creationId xmlns:a16="http://schemas.microsoft.com/office/drawing/2014/main" id="{6C32C82F-F0DF-4364-9BDE-DBBD01963D00}"/>
              </a:ext>
            </a:extLst>
          </p:cNvPr>
          <p:cNvSpPr/>
          <p:nvPr/>
        </p:nvSpPr>
        <p:spPr>
          <a:xfrm>
            <a:off x="2858507" y="3226824"/>
            <a:ext cx="1996070" cy="2634634"/>
          </a:xfrm>
          <a:prstGeom prst="roundRect">
            <a:avLst>
              <a:gd name="adj" fmla="val 7244"/>
            </a:avLst>
          </a:prstGeom>
          <a:solidFill>
            <a:srgbClr val="BB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aphicFrame>
        <p:nvGraphicFramePr>
          <p:cNvPr id="11" name="Table 7">
            <a:extLst>
              <a:ext uri="{FF2B5EF4-FFF2-40B4-BE49-F238E27FC236}">
                <a16:creationId xmlns:a16="http://schemas.microsoft.com/office/drawing/2014/main" id="{820DB97D-ED51-5FF7-FBDB-637F141248BF}"/>
              </a:ext>
            </a:extLst>
          </p:cNvPr>
          <p:cNvGraphicFramePr>
            <a:graphicFrameLocks noGrp="1"/>
          </p:cNvGraphicFramePr>
          <p:nvPr>
            <p:extLst>
              <p:ext uri="{D42A27DB-BD31-4B8C-83A1-F6EECF244321}">
                <p14:modId xmlns:p14="http://schemas.microsoft.com/office/powerpoint/2010/main" val="872173615"/>
              </p:ext>
            </p:extLst>
          </p:nvPr>
        </p:nvGraphicFramePr>
        <p:xfrm>
          <a:off x="5079997" y="3990662"/>
          <a:ext cx="1996070" cy="2095317"/>
        </p:xfrm>
        <a:graphic>
          <a:graphicData uri="http://schemas.openxmlformats.org/drawingml/2006/table">
            <a:tbl>
              <a:tblPr bandRow="1">
                <a:tableStyleId>{5C22544A-7EE6-4342-B048-85BDC9FD1C3A}</a:tableStyleId>
              </a:tblPr>
              <a:tblGrid>
                <a:gridCol w="1101947">
                  <a:extLst>
                    <a:ext uri="{9D8B030D-6E8A-4147-A177-3AD203B41FA5}">
                      <a16:colId xmlns:a16="http://schemas.microsoft.com/office/drawing/2014/main" val="576588069"/>
                    </a:ext>
                  </a:extLst>
                </a:gridCol>
                <a:gridCol w="107554">
                  <a:extLst>
                    <a:ext uri="{9D8B030D-6E8A-4147-A177-3AD203B41FA5}">
                      <a16:colId xmlns:a16="http://schemas.microsoft.com/office/drawing/2014/main" val="2780444642"/>
                    </a:ext>
                  </a:extLst>
                </a:gridCol>
                <a:gridCol w="199935">
                  <a:extLst>
                    <a:ext uri="{9D8B030D-6E8A-4147-A177-3AD203B41FA5}">
                      <a16:colId xmlns:a16="http://schemas.microsoft.com/office/drawing/2014/main" val="3718974914"/>
                    </a:ext>
                  </a:extLst>
                </a:gridCol>
                <a:gridCol w="586634">
                  <a:extLst>
                    <a:ext uri="{9D8B030D-6E8A-4147-A177-3AD203B41FA5}">
                      <a16:colId xmlns:a16="http://schemas.microsoft.com/office/drawing/2014/main" val="598949023"/>
                    </a:ext>
                  </a:extLst>
                </a:gridCol>
              </a:tblGrid>
              <a:tr h="528063">
                <a:tc gridSpan="3">
                  <a:txBody>
                    <a:bodyPr/>
                    <a:lstStyle/>
                    <a:p>
                      <a:pPr algn="r"/>
                      <a:r>
                        <a:rPr lang="en-IN" sz="3000" b="1" dirty="0">
                          <a:solidFill>
                            <a:schemeClr val="bg1"/>
                          </a:solidFill>
                        </a:rPr>
                        <a:t>100+</a:t>
                      </a: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l"/>
                      <a:endParaRPr lang="en-IN" sz="1200"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r"/>
                      <a:endParaRPr lang="en-IN" sz="4400" b="1"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endParaRPr lang="en-IN" sz="30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71447597"/>
                  </a:ext>
                </a:extLst>
              </a:tr>
              <a:tr h="148041">
                <a:tc gridSpan="4">
                  <a:txBody>
                    <a:bodyPr/>
                    <a:lstStyle/>
                    <a:p>
                      <a:pPr algn="ctr"/>
                      <a:r>
                        <a:rPr lang="en-US" sz="1000" dirty="0">
                          <a:solidFill>
                            <a:schemeClr val="bg1"/>
                          </a:solidFill>
                          <a:latin typeface="Roboto" panose="02000000000000000000" pitchFamily="2" charset="0"/>
                          <a:ea typeface="Roboto" panose="02000000000000000000" pitchFamily="2" charset="0"/>
                        </a:rPr>
                        <a:t>Clients</a:t>
                      </a:r>
                    </a:p>
                  </a:txBody>
                  <a:tcPr marL="63368" marR="63368"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en-IN" sz="1200" b="1">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SG"/>
                    </a:p>
                  </a:txBody>
                  <a:tcPr>
                    <a:lnT>
                      <a:noFill/>
                    </a:lnT>
                  </a:tcPr>
                </a:tc>
                <a:tc hMerge="1">
                  <a:txBody>
                    <a:bodyPr/>
                    <a:lstStyle/>
                    <a:p>
                      <a:endParaRPr lang="en-SG"/>
                    </a:p>
                  </a:txBody>
                  <a:tcPr>
                    <a:lnT w="12700" cmpd="sng">
                      <a:noFill/>
                    </a:lnT>
                  </a:tcPr>
                </a:tc>
                <a:extLst>
                  <a:ext uri="{0D108BD9-81ED-4DB2-BD59-A6C34878D82A}">
                    <a16:rowId xmlns:a16="http://schemas.microsoft.com/office/drawing/2014/main" val="1300313512"/>
                  </a:ext>
                </a:extLst>
              </a:tr>
              <a:tr h="0">
                <a:tc gridSpan="2">
                  <a:txBody>
                    <a:bodyPr/>
                    <a:lstStyle/>
                    <a:p>
                      <a:pPr algn="ctr"/>
                      <a:endParaRPr lang="en-IN" sz="1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en-IN" sz="1200" b="1">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2">
                  <a:txBody>
                    <a:bodyPr/>
                    <a:lstStyle/>
                    <a:p>
                      <a:pPr algn="ctr"/>
                      <a:endParaRPr lang="en-IN" sz="1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en-IN" sz="1200" b="1" dirty="0">
                        <a:solidFill>
                          <a:schemeClr val="bg1"/>
                        </a:solidFill>
                      </a:endParaRPr>
                    </a:p>
                  </a:txBody>
                  <a:tcPr marL="45720" marR="45720" anchor="ctr">
                    <a:lnL w="12700" cmpd="sng">
                      <a:noFill/>
                    </a:lnL>
                    <a:lnR w="12700" cmpd="sng">
                      <a:noFill/>
                    </a:lnR>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8940172"/>
                  </a:ext>
                </a:extLst>
              </a:tr>
              <a:tr h="528063">
                <a:tc gridSpan="4">
                  <a:txBody>
                    <a:bodyPr/>
                    <a:lstStyle/>
                    <a:p>
                      <a:pPr algn="ctr"/>
                      <a:r>
                        <a:rPr lang="en-IN" sz="3000" b="1" dirty="0">
                          <a:solidFill>
                            <a:schemeClr val="bg1"/>
                          </a:solidFill>
                        </a:rPr>
                        <a:t>200+</a:t>
                      </a: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l"/>
                      <a:endParaRPr lang="en-IN" sz="1200"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r"/>
                      <a:endParaRPr lang="en-IN" sz="30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r"/>
                      <a:endParaRPr lang="en-IN" sz="4400" b="1"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02513879"/>
                  </a:ext>
                </a:extLst>
              </a:tr>
              <a:tr h="160422">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1000" dirty="0">
                          <a:solidFill>
                            <a:schemeClr val="bg1"/>
                          </a:solidFill>
                          <a:latin typeface="Roboto" panose="02000000000000000000" pitchFamily="2" charset="0"/>
                          <a:ea typeface="Roboto" panose="02000000000000000000" pitchFamily="2" charset="0"/>
                        </a:rPr>
                        <a:t>Annual Projects</a:t>
                      </a:r>
                    </a:p>
                    <a:p>
                      <a:pPr marL="0" marR="0" lvl="0" indent="0" algn="ctr" defTabSz="914377" rtl="0" eaLnBrk="1" fontAlgn="auto" latinLnBrk="0" hangingPunct="1">
                        <a:lnSpc>
                          <a:spcPct val="100000"/>
                        </a:lnSpc>
                        <a:spcBef>
                          <a:spcPts val="0"/>
                        </a:spcBef>
                        <a:spcAft>
                          <a:spcPts val="0"/>
                        </a:spcAft>
                        <a:buClrTx/>
                        <a:buSzTx/>
                        <a:buFontTx/>
                        <a:buNone/>
                        <a:tabLst/>
                        <a:defRPr/>
                      </a:pPr>
                      <a:endParaRPr lang="en-IN" sz="900" b="1" dirty="0">
                        <a:solidFill>
                          <a:schemeClr val="bg1"/>
                        </a:solidFill>
                      </a:endParaRPr>
                    </a:p>
                  </a:txBody>
                  <a:tcPr marL="63368" marR="63368"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r"/>
                      <a:endParaRPr lang="en-IN" sz="1200" b="1">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SG"/>
                    </a:p>
                  </a:txBody>
                  <a:tcPr>
                    <a:lnT>
                      <a:noFill/>
                    </a:lnT>
                  </a:tcPr>
                </a:tc>
                <a:tc hMerge="1">
                  <a:txBody>
                    <a:bodyPr/>
                    <a:lstStyle/>
                    <a:p>
                      <a:endParaRPr lang="en-SG"/>
                    </a:p>
                  </a:txBody>
                  <a:tcPr>
                    <a:lnT w="12700" cmpd="sng">
                      <a:noFill/>
                    </a:lnT>
                  </a:tcPr>
                </a:tc>
                <a:extLst>
                  <a:ext uri="{0D108BD9-81ED-4DB2-BD59-A6C34878D82A}">
                    <a16:rowId xmlns:a16="http://schemas.microsoft.com/office/drawing/2014/main" val="3196852811"/>
                  </a:ext>
                </a:extLst>
              </a:tr>
              <a:tr h="165016">
                <a:tc>
                  <a:txBody>
                    <a:bodyPr/>
                    <a:lstStyle/>
                    <a:p>
                      <a:pPr algn="r"/>
                      <a:endParaRPr lang="en-IN" sz="8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3">
                  <a:txBody>
                    <a:bodyPr/>
                    <a:lstStyle/>
                    <a:p>
                      <a:pPr algn="r"/>
                      <a:endParaRPr lang="en-IN" sz="800" b="1" dirty="0">
                        <a:solidFill>
                          <a:schemeClr val="bg1"/>
                        </a:solidFill>
                      </a:endParaRPr>
                    </a:p>
                  </a:txBody>
                  <a:tcPr marL="63368" marR="63368"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SG"/>
                    </a:p>
                  </a:txBody>
                  <a:tcPr/>
                </a:tc>
                <a:tc hMerge="1">
                  <a:txBody>
                    <a:bodyPr/>
                    <a:lstStyle/>
                    <a:p>
                      <a:endParaRPr lang="en-SG"/>
                    </a:p>
                  </a:txBody>
                  <a:tcPr/>
                </a:tc>
                <a:extLst>
                  <a:ext uri="{0D108BD9-81ED-4DB2-BD59-A6C34878D82A}">
                    <a16:rowId xmlns:a16="http://schemas.microsoft.com/office/drawing/2014/main" val="298500167"/>
                  </a:ext>
                </a:extLst>
              </a:tr>
              <a:tr h="196439">
                <a:tc gridSpan="4">
                  <a:txBody>
                    <a:bodyPr/>
                    <a:lstStyle/>
                    <a:p>
                      <a:pPr algn="ctr"/>
                      <a:endParaRPr lang="en-IN" sz="800" b="1" dirty="0">
                        <a:solidFill>
                          <a:schemeClr val="bg1"/>
                        </a:solidFill>
                      </a:endParaRPr>
                    </a:p>
                  </a:txBody>
                  <a:tcPr marL="63368" marR="63368"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l"/>
                      <a:endParaRPr lang="en-IN" sz="120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SG"/>
                    </a:p>
                  </a:txBody>
                  <a:tcPr/>
                </a:tc>
                <a:tc hMerge="1">
                  <a:txBody>
                    <a:bodyPr/>
                    <a:lstStyle/>
                    <a:p>
                      <a:endParaRPr lang="en-SG"/>
                    </a:p>
                  </a:txBody>
                  <a:tcPr/>
                </a:tc>
                <a:extLst>
                  <a:ext uri="{0D108BD9-81ED-4DB2-BD59-A6C34878D82A}">
                    <a16:rowId xmlns:a16="http://schemas.microsoft.com/office/drawing/2014/main" val="2807791952"/>
                  </a:ext>
                </a:extLst>
              </a:tr>
            </a:tbl>
          </a:graphicData>
        </a:graphic>
      </p:graphicFrame>
      <p:graphicFrame>
        <p:nvGraphicFramePr>
          <p:cNvPr id="10" name="Table 7">
            <a:extLst>
              <a:ext uri="{FF2B5EF4-FFF2-40B4-BE49-F238E27FC236}">
                <a16:creationId xmlns:a16="http://schemas.microsoft.com/office/drawing/2014/main" id="{ABCA97EC-B665-334A-6195-5867A72018AA}"/>
              </a:ext>
            </a:extLst>
          </p:cNvPr>
          <p:cNvGraphicFramePr>
            <a:graphicFrameLocks noGrp="1"/>
          </p:cNvGraphicFramePr>
          <p:nvPr/>
        </p:nvGraphicFramePr>
        <p:xfrm>
          <a:off x="698665" y="3997337"/>
          <a:ext cx="1972707" cy="2116157"/>
        </p:xfrm>
        <a:graphic>
          <a:graphicData uri="http://schemas.openxmlformats.org/drawingml/2006/table">
            <a:tbl>
              <a:tblPr bandRow="1">
                <a:tableStyleId>{5C22544A-7EE6-4342-B048-85BDC9FD1C3A}</a:tableStyleId>
              </a:tblPr>
              <a:tblGrid>
                <a:gridCol w="1139295">
                  <a:extLst>
                    <a:ext uri="{9D8B030D-6E8A-4147-A177-3AD203B41FA5}">
                      <a16:colId xmlns:a16="http://schemas.microsoft.com/office/drawing/2014/main" val="576588069"/>
                    </a:ext>
                  </a:extLst>
                </a:gridCol>
                <a:gridCol w="193354">
                  <a:extLst>
                    <a:ext uri="{9D8B030D-6E8A-4147-A177-3AD203B41FA5}">
                      <a16:colId xmlns:a16="http://schemas.microsoft.com/office/drawing/2014/main" val="2780444642"/>
                    </a:ext>
                  </a:extLst>
                </a:gridCol>
                <a:gridCol w="138704">
                  <a:extLst>
                    <a:ext uri="{9D8B030D-6E8A-4147-A177-3AD203B41FA5}">
                      <a16:colId xmlns:a16="http://schemas.microsoft.com/office/drawing/2014/main" val="1469473193"/>
                    </a:ext>
                  </a:extLst>
                </a:gridCol>
                <a:gridCol w="501354">
                  <a:extLst>
                    <a:ext uri="{9D8B030D-6E8A-4147-A177-3AD203B41FA5}">
                      <a16:colId xmlns:a16="http://schemas.microsoft.com/office/drawing/2014/main" val="2801523853"/>
                    </a:ext>
                  </a:extLst>
                </a:gridCol>
              </a:tblGrid>
              <a:tr h="528063">
                <a:tc gridSpan="2">
                  <a:txBody>
                    <a:bodyPr/>
                    <a:lstStyle/>
                    <a:p>
                      <a:pPr algn="r"/>
                      <a:r>
                        <a:rPr lang="en-IN" sz="3000" b="1" dirty="0">
                          <a:solidFill>
                            <a:schemeClr val="bg1"/>
                          </a:solidFill>
                        </a:rPr>
                        <a:t>8K+</a:t>
                      </a: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l"/>
                      <a:endParaRPr lang="en-IN" sz="1200"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2">
                  <a:txBody>
                    <a:bodyPr/>
                    <a:lstStyle/>
                    <a:p>
                      <a:pPr algn="r"/>
                      <a:endParaRPr lang="en-IN" sz="30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l"/>
                      <a:endParaRPr lang="en-IN" sz="1200"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71447597"/>
                  </a:ext>
                </a:extLst>
              </a:tr>
              <a:tr h="224048">
                <a:tc gridSpan="4">
                  <a:txBody>
                    <a:bodyPr/>
                    <a:lstStyle/>
                    <a:p>
                      <a:pPr algn="ctr"/>
                      <a:r>
                        <a:rPr lang="en-US" sz="1000" dirty="0">
                          <a:solidFill>
                            <a:schemeClr val="bg1"/>
                          </a:solidFill>
                          <a:latin typeface="Roboto" panose="02000000000000000000" pitchFamily="2" charset="0"/>
                          <a:ea typeface="Roboto" panose="02000000000000000000" pitchFamily="2" charset="0"/>
                        </a:rPr>
                        <a:t>Clients</a:t>
                      </a: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en-IN" sz="1200" b="1">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SG"/>
                    </a:p>
                  </a:txBody>
                  <a:tcPr/>
                </a:tc>
                <a:tc hMerge="1">
                  <a:txBody>
                    <a:bodyPr/>
                    <a:lstStyle/>
                    <a:p>
                      <a:pPr algn="ctr"/>
                      <a:endParaRPr lang="en-IN" sz="1200"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00313512"/>
                  </a:ext>
                </a:extLst>
              </a:tr>
              <a:tr h="0">
                <a:tc gridSpan="3">
                  <a:txBody>
                    <a:bodyPr/>
                    <a:lstStyle/>
                    <a:p>
                      <a:pPr algn="ctr"/>
                      <a:endParaRPr lang="en-IN" sz="1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en-IN" sz="1200" b="1">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en-IN" sz="1200" b="1"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IN" sz="1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8940172"/>
                  </a:ext>
                </a:extLst>
              </a:tr>
              <a:tr h="325963">
                <a:tc gridSpan="3">
                  <a:txBody>
                    <a:bodyPr/>
                    <a:lstStyle/>
                    <a:p>
                      <a:pPr algn="r"/>
                      <a:r>
                        <a:rPr lang="en-IN" sz="3000" b="1" dirty="0">
                          <a:solidFill>
                            <a:schemeClr val="bg1"/>
                          </a:solidFill>
                        </a:rPr>
                        <a:t>500+</a:t>
                      </a: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l"/>
                      <a:endParaRPr lang="en-IN" sz="1200"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r"/>
                      <a:endParaRPr lang="en-IN" sz="4400" b="1"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endParaRPr lang="en-IN" sz="800"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02513879"/>
                  </a:ext>
                </a:extLst>
              </a:tr>
              <a:tr h="327399">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1000" dirty="0">
                          <a:solidFill>
                            <a:schemeClr val="bg1"/>
                          </a:solidFill>
                          <a:latin typeface="Roboto" panose="02000000000000000000" pitchFamily="2" charset="0"/>
                          <a:ea typeface="Roboto" panose="02000000000000000000" pitchFamily="2" charset="0"/>
                        </a:rPr>
                        <a:t>New Company </a:t>
                      </a:r>
                    </a:p>
                    <a:p>
                      <a:pPr marL="0" marR="0" lvl="0" indent="0" algn="ctr" defTabSz="914377" rtl="0" eaLnBrk="1" fontAlgn="auto" latinLnBrk="0" hangingPunct="1">
                        <a:lnSpc>
                          <a:spcPct val="100000"/>
                        </a:lnSpc>
                        <a:spcBef>
                          <a:spcPts val="0"/>
                        </a:spcBef>
                        <a:spcAft>
                          <a:spcPts val="0"/>
                        </a:spcAft>
                        <a:buClrTx/>
                        <a:buSzTx/>
                        <a:buFontTx/>
                        <a:buNone/>
                        <a:tabLst/>
                        <a:defRPr/>
                      </a:pPr>
                      <a:r>
                        <a:rPr lang="en-IN" sz="1000" dirty="0">
                          <a:solidFill>
                            <a:schemeClr val="bg1"/>
                          </a:solidFill>
                          <a:latin typeface="Roboto" panose="02000000000000000000" pitchFamily="2" charset="0"/>
                          <a:ea typeface="Roboto" panose="02000000000000000000" pitchFamily="2" charset="0"/>
                        </a:rPr>
                        <a:t>Incorporations Annually</a:t>
                      </a: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r"/>
                      <a:endParaRPr lang="en-IN" sz="1200" b="1">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SG"/>
                    </a:p>
                  </a:txBody>
                  <a:tcPr/>
                </a:tc>
                <a:tc hMerge="1">
                  <a:txBody>
                    <a:bodyPr/>
                    <a:lstStyle/>
                    <a:p>
                      <a:pPr algn="ctr"/>
                      <a:endParaRPr lang="en-IN" sz="1200" b="1"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96852811"/>
                  </a:ext>
                </a:extLst>
              </a:tr>
              <a:tr h="190103">
                <a:tc>
                  <a:txBody>
                    <a:bodyPr/>
                    <a:lstStyle/>
                    <a:p>
                      <a:pPr algn="r"/>
                      <a:endParaRPr lang="en-IN" sz="8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3">
                  <a:txBody>
                    <a:bodyPr/>
                    <a:lstStyle/>
                    <a:p>
                      <a:pPr algn="r"/>
                      <a:endParaRPr lang="en-IN" sz="8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SG"/>
                    </a:p>
                  </a:txBody>
                  <a:tcPr/>
                </a:tc>
                <a:tc hMerge="1">
                  <a:txBody>
                    <a:bodyPr/>
                    <a:lstStyle/>
                    <a:p>
                      <a:pPr algn="r"/>
                      <a:endParaRPr lang="en-IN" sz="1200" b="1">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8500167"/>
                  </a:ext>
                </a:extLst>
              </a:tr>
              <a:tr h="196439">
                <a:tc gridSpan="4">
                  <a:txBody>
                    <a:bodyPr/>
                    <a:lstStyle/>
                    <a:p>
                      <a:pPr algn="ctr"/>
                      <a:endParaRPr lang="en-IN" sz="8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l"/>
                      <a:endParaRPr lang="en-IN" sz="120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SG"/>
                    </a:p>
                  </a:txBody>
                  <a:tcPr/>
                </a:tc>
                <a:tc hMerge="1">
                  <a:txBody>
                    <a:bodyPr/>
                    <a:lstStyle/>
                    <a:p>
                      <a:pPr algn="ctr"/>
                      <a:endParaRPr lang="en-IN" sz="1200" b="1"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07791952"/>
                  </a:ext>
                </a:extLst>
              </a:tr>
            </a:tbl>
          </a:graphicData>
        </a:graphic>
      </p:graphicFrame>
      <p:graphicFrame>
        <p:nvGraphicFramePr>
          <p:cNvPr id="12" name="Table 7">
            <a:extLst>
              <a:ext uri="{FF2B5EF4-FFF2-40B4-BE49-F238E27FC236}">
                <a16:creationId xmlns:a16="http://schemas.microsoft.com/office/drawing/2014/main" id="{4A6F4C6B-9D51-338B-1A8D-7BA0ECE19D96}"/>
              </a:ext>
            </a:extLst>
          </p:cNvPr>
          <p:cNvGraphicFramePr>
            <a:graphicFrameLocks noGrp="1"/>
          </p:cNvGraphicFramePr>
          <p:nvPr/>
        </p:nvGraphicFramePr>
        <p:xfrm>
          <a:off x="2851328" y="3990662"/>
          <a:ext cx="2011638" cy="1962972"/>
        </p:xfrm>
        <a:graphic>
          <a:graphicData uri="http://schemas.openxmlformats.org/drawingml/2006/table">
            <a:tbl>
              <a:tblPr bandRow="1">
                <a:tableStyleId>{5C22544A-7EE6-4342-B048-85BDC9FD1C3A}</a:tableStyleId>
              </a:tblPr>
              <a:tblGrid>
                <a:gridCol w="1161779">
                  <a:extLst>
                    <a:ext uri="{9D8B030D-6E8A-4147-A177-3AD203B41FA5}">
                      <a16:colId xmlns:a16="http://schemas.microsoft.com/office/drawing/2014/main" val="576588069"/>
                    </a:ext>
                  </a:extLst>
                </a:gridCol>
                <a:gridCol w="128638">
                  <a:extLst>
                    <a:ext uri="{9D8B030D-6E8A-4147-A177-3AD203B41FA5}">
                      <a16:colId xmlns:a16="http://schemas.microsoft.com/office/drawing/2014/main" val="2780444642"/>
                    </a:ext>
                  </a:extLst>
                </a:gridCol>
                <a:gridCol w="234160">
                  <a:extLst>
                    <a:ext uri="{9D8B030D-6E8A-4147-A177-3AD203B41FA5}">
                      <a16:colId xmlns:a16="http://schemas.microsoft.com/office/drawing/2014/main" val="1337129132"/>
                    </a:ext>
                  </a:extLst>
                </a:gridCol>
                <a:gridCol w="487061">
                  <a:extLst>
                    <a:ext uri="{9D8B030D-6E8A-4147-A177-3AD203B41FA5}">
                      <a16:colId xmlns:a16="http://schemas.microsoft.com/office/drawing/2014/main" val="627484570"/>
                    </a:ext>
                  </a:extLst>
                </a:gridCol>
              </a:tblGrid>
              <a:tr h="528063">
                <a:tc gridSpan="2">
                  <a:txBody>
                    <a:bodyPr/>
                    <a:lstStyle/>
                    <a:p>
                      <a:pPr algn="r"/>
                      <a:r>
                        <a:rPr lang="en-IN" sz="3000" b="1" dirty="0">
                          <a:solidFill>
                            <a:schemeClr val="bg1"/>
                          </a:solidFill>
                        </a:rPr>
                        <a:t>7K+</a:t>
                      </a: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l"/>
                      <a:endParaRPr lang="en-IN" sz="1200"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2">
                  <a:txBody>
                    <a:bodyPr/>
                    <a:lstStyle/>
                    <a:p>
                      <a:pPr algn="r"/>
                      <a:endParaRPr lang="en-IN" sz="30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r"/>
                      <a:endParaRPr lang="en-IN" sz="4400" b="1"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71447597"/>
                  </a:ext>
                </a:extLst>
              </a:tr>
              <a:tr h="137156">
                <a:tc gridSpan="4">
                  <a:txBody>
                    <a:bodyPr/>
                    <a:lstStyle/>
                    <a:p>
                      <a:pPr algn="ctr"/>
                      <a:r>
                        <a:rPr lang="en-US" sz="1000" dirty="0">
                          <a:solidFill>
                            <a:schemeClr val="bg1"/>
                          </a:solidFill>
                          <a:latin typeface="Roboto" panose="02000000000000000000" pitchFamily="2" charset="0"/>
                          <a:ea typeface="Roboto" panose="02000000000000000000" pitchFamily="2" charset="0"/>
                        </a:rPr>
                        <a:t>Accounting &amp; Tax Clients</a:t>
                      </a:r>
                    </a:p>
                  </a:txBody>
                  <a:tcPr marL="63368" marR="63368"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en-IN" sz="1200" b="1">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SG"/>
                    </a:p>
                  </a:txBody>
                  <a:tcPr/>
                </a:tc>
                <a:tc hMerge="1">
                  <a:txBody>
                    <a:bodyPr/>
                    <a:lstStyle/>
                    <a:p>
                      <a:endParaRPr lang="en-SG"/>
                    </a:p>
                  </a:txBody>
                  <a:tcPr/>
                </a:tc>
                <a:extLst>
                  <a:ext uri="{0D108BD9-81ED-4DB2-BD59-A6C34878D82A}">
                    <a16:rowId xmlns:a16="http://schemas.microsoft.com/office/drawing/2014/main" val="1300313512"/>
                  </a:ext>
                </a:extLst>
              </a:tr>
              <a:tr h="0">
                <a:tc gridSpan="3">
                  <a:txBody>
                    <a:bodyPr/>
                    <a:lstStyle/>
                    <a:p>
                      <a:pPr algn="ctr"/>
                      <a:endParaRPr lang="en-IN" sz="1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en-IN" sz="1200" b="1">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ctr"/>
                      <a:endParaRPr lang="en-IN" sz="1200" b="1"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IN" sz="1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8940172"/>
                  </a:ext>
                </a:extLst>
              </a:tr>
              <a:tr h="528063">
                <a:tc gridSpan="3">
                  <a:txBody>
                    <a:bodyPr/>
                    <a:lstStyle/>
                    <a:p>
                      <a:pPr algn="r"/>
                      <a:r>
                        <a:rPr lang="en-IN" sz="3000" b="1" dirty="0">
                          <a:solidFill>
                            <a:schemeClr val="bg1"/>
                          </a:solidFill>
                        </a:rPr>
                        <a:t>480K+</a:t>
                      </a: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l"/>
                      <a:endParaRPr lang="en-IN" sz="1200"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r"/>
                      <a:endParaRPr lang="en-IN" sz="4400" b="1" dirty="0">
                        <a:solidFill>
                          <a:schemeClr val="bg1"/>
                        </a:solidFill>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endParaRPr lang="en-IN" sz="30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02513879"/>
                  </a:ext>
                </a:extLst>
              </a:tr>
              <a:tr h="184816">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1000" dirty="0">
                          <a:solidFill>
                            <a:schemeClr val="bg1"/>
                          </a:solidFill>
                          <a:latin typeface="Roboto" panose="02000000000000000000" pitchFamily="2" charset="0"/>
                          <a:ea typeface="Roboto" panose="02000000000000000000" pitchFamily="2" charset="0"/>
                        </a:rPr>
                        <a:t>Annual Transactions</a:t>
                      </a:r>
                    </a:p>
                  </a:txBody>
                  <a:tcPr marL="63368" marR="63368"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r"/>
                      <a:endParaRPr lang="en-IN" sz="1200" b="1">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SG"/>
                    </a:p>
                  </a:txBody>
                  <a:tcPr/>
                </a:tc>
                <a:tc hMerge="1">
                  <a:txBody>
                    <a:bodyPr/>
                    <a:lstStyle/>
                    <a:p>
                      <a:endParaRPr lang="en-SG"/>
                    </a:p>
                  </a:txBody>
                  <a:tcPr/>
                </a:tc>
                <a:extLst>
                  <a:ext uri="{0D108BD9-81ED-4DB2-BD59-A6C34878D82A}">
                    <a16:rowId xmlns:a16="http://schemas.microsoft.com/office/drawing/2014/main" val="3196852811"/>
                  </a:ext>
                </a:extLst>
              </a:tr>
              <a:tr h="190103">
                <a:tc>
                  <a:txBody>
                    <a:bodyPr/>
                    <a:lstStyle/>
                    <a:p>
                      <a:pPr algn="r"/>
                      <a:endParaRPr lang="en-IN" sz="800" b="1" dirty="0">
                        <a:solidFill>
                          <a:schemeClr val="bg1"/>
                        </a:solidFill>
                      </a:endParaRPr>
                    </a:p>
                  </a:txBody>
                  <a:tcPr marL="31684" marR="31684"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3">
                  <a:txBody>
                    <a:bodyPr/>
                    <a:lstStyle/>
                    <a:p>
                      <a:pPr algn="r"/>
                      <a:endParaRPr lang="en-IN" sz="800" b="1" dirty="0">
                        <a:solidFill>
                          <a:schemeClr val="bg1"/>
                        </a:solidFill>
                      </a:endParaRPr>
                    </a:p>
                  </a:txBody>
                  <a:tcPr marL="63368" marR="63368"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SG"/>
                    </a:p>
                  </a:txBody>
                  <a:tcPr/>
                </a:tc>
                <a:tc hMerge="1">
                  <a:txBody>
                    <a:bodyPr/>
                    <a:lstStyle/>
                    <a:p>
                      <a:endParaRPr lang="en-SG"/>
                    </a:p>
                  </a:txBody>
                  <a:tcPr/>
                </a:tc>
                <a:extLst>
                  <a:ext uri="{0D108BD9-81ED-4DB2-BD59-A6C34878D82A}">
                    <a16:rowId xmlns:a16="http://schemas.microsoft.com/office/drawing/2014/main" val="298500167"/>
                  </a:ext>
                </a:extLst>
              </a:tr>
              <a:tr h="196439">
                <a:tc gridSpan="4">
                  <a:txBody>
                    <a:bodyPr/>
                    <a:lstStyle/>
                    <a:p>
                      <a:pPr algn="ctr"/>
                      <a:endParaRPr lang="en-IN" sz="800" b="1" dirty="0">
                        <a:solidFill>
                          <a:schemeClr val="bg1"/>
                        </a:solidFill>
                      </a:endParaRPr>
                    </a:p>
                  </a:txBody>
                  <a:tcPr marL="63368" marR="63368" marT="31684" marB="31684"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algn="l"/>
                      <a:endParaRPr lang="en-IN" sz="120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SG"/>
                    </a:p>
                  </a:txBody>
                  <a:tcPr/>
                </a:tc>
                <a:tc hMerge="1">
                  <a:txBody>
                    <a:bodyPr/>
                    <a:lstStyle/>
                    <a:p>
                      <a:endParaRPr lang="en-SG"/>
                    </a:p>
                  </a:txBody>
                  <a:tcPr/>
                </a:tc>
                <a:extLst>
                  <a:ext uri="{0D108BD9-81ED-4DB2-BD59-A6C34878D82A}">
                    <a16:rowId xmlns:a16="http://schemas.microsoft.com/office/drawing/2014/main" val="2807791952"/>
                  </a:ext>
                </a:extLst>
              </a:tr>
            </a:tbl>
          </a:graphicData>
        </a:graphic>
      </p:graphicFrame>
      <p:sp>
        <p:nvSpPr>
          <p:cNvPr id="2" name="Google Shape;190;p2">
            <a:extLst>
              <a:ext uri="{FF2B5EF4-FFF2-40B4-BE49-F238E27FC236}">
                <a16:creationId xmlns:a16="http://schemas.microsoft.com/office/drawing/2014/main" id="{6B38454B-B4B4-293C-A6B3-FCC04D68FE86}"/>
              </a:ext>
            </a:extLst>
          </p:cNvPr>
          <p:cNvSpPr txBox="1"/>
          <p:nvPr/>
        </p:nvSpPr>
        <p:spPr>
          <a:xfrm>
            <a:off x="656097" y="413037"/>
            <a:ext cx="11202527" cy="628595"/>
          </a:xfrm>
          <a:prstGeom prst="rect">
            <a:avLst/>
          </a:prstGeom>
          <a:noFill/>
          <a:ln>
            <a:noFill/>
          </a:ln>
        </p:spPr>
        <p:txBody>
          <a:bodyPr spcFirstLastPara="1" wrap="square" lIns="89139" tIns="44558" rIns="89139" bIns="44558" anchor="t" anchorCtr="0">
            <a:spAutoFit/>
          </a:bodyPr>
          <a:lstStyle/>
          <a:p>
            <a:pPr defTabSz="891540">
              <a:buClr>
                <a:srgbClr val="000000"/>
              </a:buClr>
              <a:defRPr/>
            </a:pPr>
            <a:r>
              <a:rPr lang="en-US" sz="3500" b="1" kern="0" dirty="0">
                <a:solidFill>
                  <a:schemeClr val="bg1"/>
                </a:solidFill>
                <a:latin typeface="Roboto" panose="02000000000000000000" pitchFamily="2" charset="0"/>
                <a:ea typeface="Roboto" panose="02000000000000000000" pitchFamily="2" charset="0"/>
                <a:cs typeface="Roboto"/>
                <a:sym typeface="Roboto"/>
              </a:rPr>
              <a:t>Overview Of InCorp Singapore</a:t>
            </a:r>
            <a:endParaRPr lang="en-SG" sz="3500" b="1" kern="0" dirty="0">
              <a:solidFill>
                <a:schemeClr val="bg1"/>
              </a:solidFill>
              <a:latin typeface="Roboto" panose="02000000000000000000" pitchFamily="2" charset="0"/>
              <a:ea typeface="Roboto" panose="02000000000000000000" pitchFamily="2" charset="0"/>
              <a:cs typeface="Arial"/>
              <a:sym typeface="Arial"/>
            </a:endParaRPr>
          </a:p>
        </p:txBody>
      </p:sp>
      <p:cxnSp>
        <p:nvCxnSpPr>
          <p:cNvPr id="3" name="Straight Connector 2">
            <a:extLst>
              <a:ext uri="{FF2B5EF4-FFF2-40B4-BE49-F238E27FC236}">
                <a16:creationId xmlns:a16="http://schemas.microsoft.com/office/drawing/2014/main" id="{19B3EAB6-D864-A990-03C5-FE4E4E3CE505}"/>
              </a:ext>
            </a:extLst>
          </p:cNvPr>
          <p:cNvCxnSpPr>
            <a:cxnSpLocks/>
          </p:cNvCxnSpPr>
          <p:nvPr/>
        </p:nvCxnSpPr>
        <p:spPr>
          <a:xfrm>
            <a:off x="457200" y="327128"/>
            <a:ext cx="0" cy="725074"/>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898C936-F6A2-D904-4DD6-7198EFD2C9B8}"/>
              </a:ext>
            </a:extLst>
          </p:cNvPr>
          <p:cNvSpPr/>
          <p:nvPr/>
        </p:nvSpPr>
        <p:spPr>
          <a:xfrm>
            <a:off x="-41442" y="327128"/>
            <a:ext cx="361482" cy="725074"/>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 name="Rectangle: Rounded Corners 6">
            <a:extLst>
              <a:ext uri="{FF2B5EF4-FFF2-40B4-BE49-F238E27FC236}">
                <a16:creationId xmlns:a16="http://schemas.microsoft.com/office/drawing/2014/main" id="{1CE6D8C3-A51D-45A1-7416-7F631933EFC5}"/>
              </a:ext>
            </a:extLst>
          </p:cNvPr>
          <p:cNvSpPr/>
          <p:nvPr/>
        </p:nvSpPr>
        <p:spPr>
          <a:xfrm>
            <a:off x="656097" y="3252809"/>
            <a:ext cx="2015275" cy="78412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lnSpc>
                <a:spcPct val="90000"/>
              </a:lnSpc>
            </a:pPr>
            <a:r>
              <a:rPr lang="en-IN" sz="1400" b="1" dirty="0">
                <a:solidFill>
                  <a:schemeClr val="bg1"/>
                </a:solidFill>
                <a:latin typeface="Roboto" panose="02000000000000000000" pitchFamily="2" charset="0"/>
                <a:ea typeface="Roboto" panose="02000000000000000000" pitchFamily="2" charset="0"/>
              </a:rPr>
              <a:t>Corporate Secretarial </a:t>
            </a:r>
          </a:p>
          <a:p>
            <a:pPr algn="ctr">
              <a:lnSpc>
                <a:spcPct val="90000"/>
              </a:lnSpc>
            </a:pPr>
            <a:r>
              <a:rPr lang="en-IN" sz="1400" b="1" dirty="0">
                <a:solidFill>
                  <a:schemeClr val="bg1"/>
                </a:solidFill>
                <a:latin typeface="Roboto" panose="02000000000000000000" pitchFamily="2" charset="0"/>
                <a:ea typeface="Roboto" panose="02000000000000000000" pitchFamily="2" charset="0"/>
              </a:rPr>
              <a:t>&amp; Legal Compliance</a:t>
            </a:r>
          </a:p>
        </p:txBody>
      </p:sp>
      <p:sp>
        <p:nvSpPr>
          <p:cNvPr id="8" name="Rectangle: Rounded Corners 7">
            <a:extLst>
              <a:ext uri="{FF2B5EF4-FFF2-40B4-BE49-F238E27FC236}">
                <a16:creationId xmlns:a16="http://schemas.microsoft.com/office/drawing/2014/main" id="{BD55FE5A-6C07-D6CF-3326-E67A99959418}"/>
              </a:ext>
            </a:extLst>
          </p:cNvPr>
          <p:cNvSpPr/>
          <p:nvPr/>
        </p:nvSpPr>
        <p:spPr>
          <a:xfrm>
            <a:off x="2851327" y="3252810"/>
            <a:ext cx="2011638" cy="78412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b="1" dirty="0">
                <a:solidFill>
                  <a:schemeClr val="bg1"/>
                </a:solidFill>
                <a:latin typeface="Roboto" panose="02000000000000000000" pitchFamily="2" charset="0"/>
                <a:ea typeface="Roboto" panose="02000000000000000000" pitchFamily="2" charset="0"/>
              </a:rPr>
              <a:t>Accounting </a:t>
            </a:r>
          </a:p>
          <a:p>
            <a:pPr algn="ctr"/>
            <a:r>
              <a:rPr lang="en-IN" sz="1400" b="1" dirty="0">
                <a:solidFill>
                  <a:schemeClr val="bg1"/>
                </a:solidFill>
                <a:latin typeface="Roboto" panose="02000000000000000000" pitchFamily="2" charset="0"/>
                <a:ea typeface="Roboto" panose="02000000000000000000" pitchFamily="2" charset="0"/>
              </a:rPr>
              <a:t>&amp; Tax</a:t>
            </a:r>
          </a:p>
        </p:txBody>
      </p:sp>
      <p:sp>
        <p:nvSpPr>
          <p:cNvPr id="9" name="Rectangle: Rounded Corners 8">
            <a:extLst>
              <a:ext uri="{FF2B5EF4-FFF2-40B4-BE49-F238E27FC236}">
                <a16:creationId xmlns:a16="http://schemas.microsoft.com/office/drawing/2014/main" id="{3AD2A076-0D0A-34A2-21DE-81F781755B50}"/>
              </a:ext>
            </a:extLst>
          </p:cNvPr>
          <p:cNvSpPr/>
          <p:nvPr/>
        </p:nvSpPr>
        <p:spPr>
          <a:xfrm>
            <a:off x="5059673" y="3252810"/>
            <a:ext cx="2011638" cy="78412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b="1" dirty="0">
                <a:solidFill>
                  <a:schemeClr val="bg1"/>
                </a:solidFill>
                <a:latin typeface="Roboto" panose="02000000000000000000" pitchFamily="2" charset="0"/>
                <a:ea typeface="Roboto" panose="02000000000000000000" pitchFamily="2" charset="0"/>
              </a:rPr>
              <a:t>Internal Audit </a:t>
            </a:r>
          </a:p>
          <a:p>
            <a:pPr algn="ctr"/>
            <a:r>
              <a:rPr lang="en-IN" sz="1400" b="1" dirty="0">
                <a:solidFill>
                  <a:schemeClr val="bg1"/>
                </a:solidFill>
                <a:latin typeface="Roboto" panose="02000000000000000000" pitchFamily="2" charset="0"/>
                <a:ea typeface="Roboto" panose="02000000000000000000" pitchFamily="2" charset="0"/>
              </a:rPr>
              <a:t>&amp; ESG</a:t>
            </a:r>
          </a:p>
        </p:txBody>
      </p:sp>
      <p:sp>
        <p:nvSpPr>
          <p:cNvPr id="21" name="Rectangle: Rounded Corners 20">
            <a:extLst>
              <a:ext uri="{FF2B5EF4-FFF2-40B4-BE49-F238E27FC236}">
                <a16:creationId xmlns:a16="http://schemas.microsoft.com/office/drawing/2014/main" id="{F3B13753-741E-4F5C-E4F3-D2C95DD9C143}"/>
              </a:ext>
            </a:extLst>
          </p:cNvPr>
          <p:cNvSpPr/>
          <p:nvPr/>
        </p:nvSpPr>
        <p:spPr>
          <a:xfrm>
            <a:off x="668313" y="2275984"/>
            <a:ext cx="6379114" cy="453742"/>
          </a:xfrm>
          <a:prstGeom prst="roundRect">
            <a:avLst>
              <a:gd name="adj" fmla="val 8727"/>
            </a:avLst>
          </a:prstGeom>
          <a:solidFill>
            <a:schemeClr val="bg1">
              <a:lumMod val="6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2200" b="1" dirty="0">
                <a:solidFill>
                  <a:srgbClr val="BB2121"/>
                </a:solidFill>
                <a:latin typeface="Roboto" panose="02000000000000000000" pitchFamily="2" charset="0"/>
                <a:ea typeface="Roboto" panose="02000000000000000000" pitchFamily="2" charset="0"/>
              </a:rPr>
              <a:t>Singapore Key Stats</a:t>
            </a:r>
          </a:p>
        </p:txBody>
      </p:sp>
      <p:cxnSp>
        <p:nvCxnSpPr>
          <p:cNvPr id="23" name="Straight Connector 22">
            <a:extLst>
              <a:ext uri="{FF2B5EF4-FFF2-40B4-BE49-F238E27FC236}">
                <a16:creationId xmlns:a16="http://schemas.microsoft.com/office/drawing/2014/main" id="{07F53A08-2AB0-DE31-F30E-74937D373A8C}"/>
              </a:ext>
            </a:extLst>
          </p:cNvPr>
          <p:cNvCxnSpPr/>
          <p:nvPr/>
        </p:nvCxnSpPr>
        <p:spPr>
          <a:xfrm>
            <a:off x="748146" y="3944479"/>
            <a:ext cx="17733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31D85D8-CF0A-21EB-518A-F7F79C8FF70B}"/>
              </a:ext>
            </a:extLst>
          </p:cNvPr>
          <p:cNvCxnSpPr/>
          <p:nvPr/>
        </p:nvCxnSpPr>
        <p:spPr>
          <a:xfrm>
            <a:off x="2948867" y="3944479"/>
            <a:ext cx="17733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70F8A-A8C5-4DB5-0547-5BF4A6A783E4}"/>
              </a:ext>
            </a:extLst>
          </p:cNvPr>
          <p:cNvCxnSpPr/>
          <p:nvPr/>
        </p:nvCxnSpPr>
        <p:spPr>
          <a:xfrm>
            <a:off x="5177826" y="3944479"/>
            <a:ext cx="17733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Rounded Corners 4">
            <a:extLst>
              <a:ext uri="{FF2B5EF4-FFF2-40B4-BE49-F238E27FC236}">
                <a16:creationId xmlns:a16="http://schemas.microsoft.com/office/drawing/2014/main" id="{0C14536A-C441-6ABA-BE9F-93CBF06439BE}"/>
              </a:ext>
            </a:extLst>
          </p:cNvPr>
          <p:cNvSpPr/>
          <p:nvPr/>
        </p:nvSpPr>
        <p:spPr>
          <a:xfrm>
            <a:off x="665847" y="2726987"/>
            <a:ext cx="6379114" cy="327177"/>
          </a:xfrm>
          <a:prstGeom prst="roundRect">
            <a:avLst/>
          </a:prstGeom>
          <a:solidFill>
            <a:schemeClr val="bg1">
              <a:lumMod val="85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1400" b="1" dirty="0">
                <a:solidFill>
                  <a:srgbClr val="2F465A"/>
                </a:solidFill>
                <a:latin typeface="Roboto" panose="02000000000000000000" pitchFamily="2" charset="0"/>
                <a:ea typeface="Roboto" panose="02000000000000000000" pitchFamily="2" charset="0"/>
              </a:rPr>
              <a:t>200+ Employees</a:t>
            </a:r>
          </a:p>
        </p:txBody>
      </p:sp>
      <p:grpSp>
        <p:nvGrpSpPr>
          <p:cNvPr id="6" name="Group 5">
            <a:extLst>
              <a:ext uri="{FF2B5EF4-FFF2-40B4-BE49-F238E27FC236}">
                <a16:creationId xmlns:a16="http://schemas.microsoft.com/office/drawing/2014/main" id="{DB2E9BCE-A5E6-8BAC-5363-9C0B804F3D85}"/>
              </a:ext>
            </a:extLst>
          </p:cNvPr>
          <p:cNvGrpSpPr/>
          <p:nvPr/>
        </p:nvGrpSpPr>
        <p:grpSpPr>
          <a:xfrm>
            <a:off x="7207636" y="1542362"/>
            <a:ext cx="4650987" cy="4957953"/>
            <a:chOff x="7207636" y="1542362"/>
            <a:chExt cx="4650987" cy="4957953"/>
          </a:xfrm>
        </p:grpSpPr>
        <p:pic>
          <p:nvPicPr>
            <p:cNvPr id="19" name="Picture 18">
              <a:extLst>
                <a:ext uri="{FF2B5EF4-FFF2-40B4-BE49-F238E27FC236}">
                  <a16:creationId xmlns:a16="http://schemas.microsoft.com/office/drawing/2014/main" id="{FF9DC0E0-11F6-0D58-F29E-180B63818DD3}"/>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p:blipFill>
          <p:spPr>
            <a:xfrm>
              <a:off x="7207636" y="1542362"/>
              <a:ext cx="4650987" cy="4957953"/>
            </a:xfrm>
            <a:prstGeom prst="rect">
              <a:avLst/>
            </a:prstGeom>
          </p:spPr>
        </p:pic>
        <p:pic>
          <p:nvPicPr>
            <p:cNvPr id="33" name="Picture 32">
              <a:extLst>
                <a:ext uri="{FF2B5EF4-FFF2-40B4-BE49-F238E27FC236}">
                  <a16:creationId xmlns:a16="http://schemas.microsoft.com/office/drawing/2014/main" id="{68295DE2-E6E7-54FF-3252-67CD1EE42706}"/>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8586098" y="3069305"/>
              <a:ext cx="1899814" cy="1899814"/>
            </a:xfrm>
            <a:prstGeom prst="rect">
              <a:avLst/>
            </a:prstGeom>
          </p:spPr>
        </p:pic>
      </p:grpSp>
    </p:spTree>
    <p:extLst>
      <p:ext uri="{BB962C8B-B14F-4D97-AF65-F5344CB8AC3E}">
        <p14:creationId xmlns:p14="http://schemas.microsoft.com/office/powerpoint/2010/main" val="196180910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7157BD-6843-E674-9696-E8674CC5FBDD}"/>
              </a:ext>
            </a:extLst>
          </p:cNvPr>
          <p:cNvGrpSpPr/>
          <p:nvPr/>
        </p:nvGrpSpPr>
        <p:grpSpPr>
          <a:xfrm>
            <a:off x="650415" y="1372015"/>
            <a:ext cx="4858288" cy="4858288"/>
            <a:chOff x="3415423" y="748423"/>
            <a:chExt cx="5361153" cy="5361153"/>
          </a:xfrm>
        </p:grpSpPr>
        <p:sp>
          <p:nvSpPr>
            <p:cNvPr id="5" name="Oval 4">
              <a:extLst>
                <a:ext uri="{FF2B5EF4-FFF2-40B4-BE49-F238E27FC236}">
                  <a16:creationId xmlns:a16="http://schemas.microsoft.com/office/drawing/2014/main" id="{3F0D58C7-F113-0B5F-AB34-8ACAA72E3C3F}"/>
                </a:ext>
              </a:extLst>
            </p:cNvPr>
            <p:cNvSpPr/>
            <p:nvPr/>
          </p:nvSpPr>
          <p:spPr>
            <a:xfrm>
              <a:off x="3415423" y="748423"/>
              <a:ext cx="5361153" cy="5361153"/>
            </a:xfrm>
            <a:prstGeom prst="ellipse">
              <a:avLst/>
            </a:prstGeom>
            <a:blipFill>
              <a:blip r:embed="rId2"/>
              <a:stretch>
                <a:fillRect l="1042" r="-104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6" name="Group 5">
              <a:extLst>
                <a:ext uri="{FF2B5EF4-FFF2-40B4-BE49-F238E27FC236}">
                  <a16:creationId xmlns:a16="http://schemas.microsoft.com/office/drawing/2014/main" id="{B8A568BB-B5DE-B9F3-B0A7-2EA033F8255A}"/>
                </a:ext>
              </a:extLst>
            </p:cNvPr>
            <p:cNvGrpSpPr/>
            <p:nvPr/>
          </p:nvGrpSpPr>
          <p:grpSpPr>
            <a:xfrm>
              <a:off x="3595551" y="890338"/>
              <a:ext cx="5091249" cy="5078723"/>
              <a:chOff x="3595551" y="890338"/>
              <a:chExt cx="5091249" cy="5078723"/>
            </a:xfrm>
          </p:grpSpPr>
          <p:sp>
            <p:nvSpPr>
              <p:cNvPr id="7" name="Oval 6">
                <a:extLst>
                  <a:ext uri="{FF2B5EF4-FFF2-40B4-BE49-F238E27FC236}">
                    <a16:creationId xmlns:a16="http://schemas.microsoft.com/office/drawing/2014/main" id="{97018C85-1181-28FF-CB27-EE1680996151}"/>
                  </a:ext>
                </a:extLst>
              </p:cNvPr>
              <p:cNvSpPr/>
              <p:nvPr/>
            </p:nvSpPr>
            <p:spPr>
              <a:xfrm>
                <a:off x="3608076" y="890338"/>
                <a:ext cx="5078724" cy="5078723"/>
              </a:xfrm>
              <a:prstGeom prst="ellipse">
                <a:avLst/>
              </a:prstGeom>
              <a:solidFill>
                <a:srgbClr val="CC0000">
                  <a:alpha val="58000"/>
                </a:srgb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Title 4">
                <a:extLst>
                  <a:ext uri="{FF2B5EF4-FFF2-40B4-BE49-F238E27FC236}">
                    <a16:creationId xmlns:a16="http://schemas.microsoft.com/office/drawing/2014/main" id="{97C6FD05-3DCD-0FFF-CED8-677EEF19662A}"/>
                  </a:ext>
                </a:extLst>
              </p:cNvPr>
              <p:cNvSpPr txBox="1">
                <a:spLocks/>
              </p:cNvSpPr>
              <p:nvPr/>
            </p:nvSpPr>
            <p:spPr>
              <a:xfrm>
                <a:off x="3595551" y="2821302"/>
                <a:ext cx="5078723" cy="1325563"/>
              </a:xfrm>
              <a:prstGeom prst="rect">
                <a:avLst/>
              </a:prstGeom>
            </p:spPr>
            <p:txBody>
              <a:bodyPr anchor="ctr" anchorCtr="1">
                <a:noAutofit/>
              </a:bodyPr>
              <a:lstStyle>
                <a:lvl1pPr algn="l" defTabSz="914377" rtl="0" eaLnBrk="1" latinLnBrk="0" hangingPunct="1">
                  <a:lnSpc>
                    <a:spcPct val="90000"/>
                  </a:lnSpc>
                  <a:spcBef>
                    <a:spcPct val="0"/>
                  </a:spcBef>
                  <a:buNone/>
                  <a:defRPr sz="4000" b="1" kern="1200">
                    <a:solidFill>
                      <a:schemeClr val="tx1"/>
                    </a:solidFill>
                    <a:latin typeface="Roboto" panose="02000000000000000000" pitchFamily="2" charset="0"/>
                    <a:ea typeface="Roboto" panose="02000000000000000000" pitchFamily="2" charset="0"/>
                    <a:cs typeface="+mj-cs"/>
                  </a:defRPr>
                </a:lvl1pPr>
              </a:lstStyle>
              <a:p>
                <a:pPr algn="ctr"/>
                <a:r>
                  <a:rPr lang="en-US" sz="4400" dirty="0">
                    <a:solidFill>
                      <a:schemeClr val="bg1"/>
                    </a:solidFill>
                  </a:rPr>
                  <a:t>Risk Assurance Practice</a:t>
                </a:r>
              </a:p>
            </p:txBody>
          </p:sp>
        </p:grpSp>
      </p:grpSp>
    </p:spTree>
    <p:extLst>
      <p:ext uri="{BB962C8B-B14F-4D97-AF65-F5344CB8AC3E}">
        <p14:creationId xmlns:p14="http://schemas.microsoft.com/office/powerpoint/2010/main" val="401447256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F9ACF930-6165-D8A9-75E0-E45B7E490676}"/>
              </a:ext>
            </a:extLst>
          </p:cNvPr>
          <p:cNvSpPr txBox="1"/>
          <p:nvPr/>
        </p:nvSpPr>
        <p:spPr>
          <a:xfrm>
            <a:off x="605955" y="181120"/>
            <a:ext cx="7826913" cy="505462"/>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Risk Assurance Practice</a:t>
            </a:r>
          </a:p>
        </p:txBody>
      </p:sp>
      <p:pic>
        <p:nvPicPr>
          <p:cNvPr id="2" name="Picture 1">
            <a:extLst>
              <a:ext uri="{FF2B5EF4-FFF2-40B4-BE49-F238E27FC236}">
                <a16:creationId xmlns:a16="http://schemas.microsoft.com/office/drawing/2014/main" id="{2C5706A0-4460-88E9-54FB-F2260C0DAFCA}"/>
              </a:ext>
            </a:extLst>
          </p:cNvPr>
          <p:cNvPicPr>
            <a:picLocks noChangeAspect="1"/>
          </p:cNvPicPr>
          <p:nvPr/>
        </p:nvPicPr>
        <p:blipFill rotWithShape="1">
          <a:blip r:embed="rId2">
            <a:extLst>
              <a:ext uri="{28A0092B-C50C-407E-A947-70E740481C1C}">
                <a14:useLocalDpi xmlns:a14="http://schemas.microsoft.com/office/drawing/2010/main" val="0"/>
              </a:ext>
            </a:extLst>
          </a:blip>
          <a:srcRect l="34240" t="18203" r="17459" b="2534"/>
          <a:stretch/>
        </p:blipFill>
        <p:spPr>
          <a:xfrm>
            <a:off x="1254119" y="1382574"/>
            <a:ext cx="4047628" cy="4430174"/>
          </a:xfrm>
          <a:prstGeom prst="rect">
            <a:avLst/>
          </a:prstGeom>
        </p:spPr>
      </p:pic>
      <p:grpSp>
        <p:nvGrpSpPr>
          <p:cNvPr id="6" name="Group 5">
            <a:extLst>
              <a:ext uri="{FF2B5EF4-FFF2-40B4-BE49-F238E27FC236}">
                <a16:creationId xmlns:a16="http://schemas.microsoft.com/office/drawing/2014/main" id="{AD0AF0F4-8507-1D19-F988-FCCAF106E4E0}"/>
              </a:ext>
            </a:extLst>
          </p:cNvPr>
          <p:cNvGrpSpPr/>
          <p:nvPr/>
        </p:nvGrpSpPr>
        <p:grpSpPr>
          <a:xfrm>
            <a:off x="6174798" y="1478795"/>
            <a:ext cx="4851004" cy="4237731"/>
            <a:chOff x="6760957" y="1242373"/>
            <a:chExt cx="4851004" cy="4237731"/>
          </a:xfrm>
        </p:grpSpPr>
        <p:sp>
          <p:nvSpPr>
            <p:cNvPr id="7" name="Freeform 186">
              <a:extLst>
                <a:ext uri="{FF2B5EF4-FFF2-40B4-BE49-F238E27FC236}">
                  <a16:creationId xmlns:a16="http://schemas.microsoft.com/office/drawing/2014/main" id="{F51B73A0-55CB-60AA-70C4-C8C2D8056C26}"/>
                </a:ext>
              </a:extLst>
            </p:cNvPr>
            <p:cNvSpPr>
              <a:spLocks noChangeArrowheads="1"/>
            </p:cNvSpPr>
            <p:nvPr/>
          </p:nvSpPr>
          <p:spPr bwMode="auto">
            <a:xfrm>
              <a:off x="6867113" y="1665619"/>
              <a:ext cx="438901" cy="614855"/>
            </a:xfrm>
            <a:custGeom>
              <a:avLst/>
              <a:gdLst>
                <a:gd name="connsiteX0" fmla="*/ 128127 w 344981"/>
                <a:gd name="connsiteY0" fmla="*/ 483891 h 529324"/>
                <a:gd name="connsiteX1" fmla="*/ 214630 w 344981"/>
                <a:gd name="connsiteY1" fmla="*/ 483891 h 529324"/>
                <a:gd name="connsiteX2" fmla="*/ 221134 w 344981"/>
                <a:gd name="connsiteY2" fmla="*/ 490437 h 529324"/>
                <a:gd name="connsiteX3" fmla="*/ 214630 w 344981"/>
                <a:gd name="connsiteY3" fmla="*/ 497638 h 529324"/>
                <a:gd name="connsiteX4" fmla="*/ 128127 w 344981"/>
                <a:gd name="connsiteY4" fmla="*/ 497638 h 529324"/>
                <a:gd name="connsiteX5" fmla="*/ 120973 w 344981"/>
                <a:gd name="connsiteY5" fmla="*/ 490437 h 529324"/>
                <a:gd name="connsiteX6" fmla="*/ 128127 w 344981"/>
                <a:gd name="connsiteY6" fmla="*/ 483891 h 529324"/>
                <a:gd name="connsiteX7" fmla="*/ 128127 w 344981"/>
                <a:gd name="connsiteY7" fmla="*/ 449327 h 529324"/>
                <a:gd name="connsiteX8" fmla="*/ 214630 w 344981"/>
                <a:gd name="connsiteY8" fmla="*/ 449327 h 529324"/>
                <a:gd name="connsiteX9" fmla="*/ 221134 w 344981"/>
                <a:gd name="connsiteY9" fmla="*/ 456215 h 529324"/>
                <a:gd name="connsiteX10" fmla="*/ 214630 w 344981"/>
                <a:gd name="connsiteY10" fmla="*/ 463103 h 529324"/>
                <a:gd name="connsiteX11" fmla="*/ 128127 w 344981"/>
                <a:gd name="connsiteY11" fmla="*/ 463103 h 529324"/>
                <a:gd name="connsiteX12" fmla="*/ 120973 w 344981"/>
                <a:gd name="connsiteY12" fmla="*/ 456215 h 529324"/>
                <a:gd name="connsiteX13" fmla="*/ 128127 w 344981"/>
                <a:gd name="connsiteY13" fmla="*/ 449327 h 529324"/>
                <a:gd name="connsiteX14" fmla="*/ 101465 w 344981"/>
                <a:gd name="connsiteY14" fmla="*/ 426328 h 529324"/>
                <a:gd name="connsiteX15" fmla="*/ 101465 w 344981"/>
                <a:gd name="connsiteY15" fmla="*/ 473263 h 529324"/>
                <a:gd name="connsiteX16" fmla="*/ 144015 w 344981"/>
                <a:gd name="connsiteY16" fmla="*/ 516287 h 529324"/>
                <a:gd name="connsiteX17" fmla="*/ 200312 w 344981"/>
                <a:gd name="connsiteY17" fmla="*/ 516287 h 529324"/>
                <a:gd name="connsiteX18" fmla="*/ 243516 w 344981"/>
                <a:gd name="connsiteY18" fmla="*/ 473263 h 529324"/>
                <a:gd name="connsiteX19" fmla="*/ 243516 w 344981"/>
                <a:gd name="connsiteY19" fmla="*/ 426328 h 529324"/>
                <a:gd name="connsiteX20" fmla="*/ 115867 w 344981"/>
                <a:gd name="connsiteY20" fmla="*/ 299863 h 529324"/>
                <a:gd name="connsiteX21" fmla="*/ 136160 w 344981"/>
                <a:gd name="connsiteY21" fmla="*/ 412638 h 529324"/>
                <a:gd name="connsiteX22" fmla="*/ 165617 w 344981"/>
                <a:gd name="connsiteY22" fmla="*/ 412638 h 529324"/>
                <a:gd name="connsiteX23" fmla="*/ 165617 w 344981"/>
                <a:gd name="connsiteY23" fmla="*/ 305078 h 529324"/>
                <a:gd name="connsiteX24" fmla="*/ 115867 w 344981"/>
                <a:gd name="connsiteY24" fmla="*/ 299863 h 529324"/>
                <a:gd name="connsiteX25" fmla="*/ 229115 w 344981"/>
                <a:gd name="connsiteY25" fmla="*/ 299212 h 529324"/>
                <a:gd name="connsiteX26" fmla="*/ 179364 w 344981"/>
                <a:gd name="connsiteY26" fmla="*/ 305078 h 529324"/>
                <a:gd name="connsiteX27" fmla="*/ 179364 w 344981"/>
                <a:gd name="connsiteY27" fmla="*/ 412638 h 529324"/>
                <a:gd name="connsiteX28" fmla="*/ 208822 w 344981"/>
                <a:gd name="connsiteY28" fmla="*/ 412638 h 529324"/>
                <a:gd name="connsiteX29" fmla="*/ 229115 w 344981"/>
                <a:gd name="connsiteY29" fmla="*/ 299212 h 529324"/>
                <a:gd name="connsiteX30" fmla="*/ 65461 w 344981"/>
                <a:gd name="connsiteY30" fmla="*/ 286174 h 529324"/>
                <a:gd name="connsiteX31" fmla="*/ 86409 w 344981"/>
                <a:gd name="connsiteY31" fmla="*/ 322027 h 529324"/>
                <a:gd name="connsiteX32" fmla="*/ 101465 w 344981"/>
                <a:gd name="connsiteY32" fmla="*/ 380696 h 529324"/>
                <a:gd name="connsiteX33" fmla="*/ 101465 w 344981"/>
                <a:gd name="connsiteY33" fmla="*/ 412638 h 529324"/>
                <a:gd name="connsiteX34" fmla="*/ 121758 w 344981"/>
                <a:gd name="connsiteY34" fmla="*/ 412638 h 529324"/>
                <a:gd name="connsiteX35" fmla="*/ 98192 w 344981"/>
                <a:gd name="connsiteY35" fmla="*/ 295952 h 529324"/>
                <a:gd name="connsiteX36" fmla="*/ 65461 w 344981"/>
                <a:gd name="connsiteY36" fmla="*/ 286174 h 529324"/>
                <a:gd name="connsiteX37" fmla="*/ 279520 w 344981"/>
                <a:gd name="connsiteY37" fmla="*/ 285522 h 529324"/>
                <a:gd name="connsiteX38" fmla="*/ 246789 w 344981"/>
                <a:gd name="connsiteY38" fmla="*/ 295300 h 529324"/>
                <a:gd name="connsiteX39" fmla="*/ 223223 w 344981"/>
                <a:gd name="connsiteY39" fmla="*/ 412638 h 529324"/>
                <a:gd name="connsiteX40" fmla="*/ 243516 w 344981"/>
                <a:gd name="connsiteY40" fmla="*/ 412638 h 529324"/>
                <a:gd name="connsiteX41" fmla="*/ 243516 w 344981"/>
                <a:gd name="connsiteY41" fmla="*/ 380696 h 529324"/>
                <a:gd name="connsiteX42" fmla="*/ 258572 w 344981"/>
                <a:gd name="connsiteY42" fmla="*/ 322027 h 529324"/>
                <a:gd name="connsiteX43" fmla="*/ 279520 w 344981"/>
                <a:gd name="connsiteY43" fmla="*/ 285522 h 529324"/>
                <a:gd name="connsiteX44" fmla="*/ 172163 w 344981"/>
                <a:gd name="connsiteY44" fmla="*/ 14341 h 529324"/>
                <a:gd name="connsiteX45" fmla="*/ 14401 w 344981"/>
                <a:gd name="connsiteY45" fmla="*/ 164925 h 529324"/>
                <a:gd name="connsiteX46" fmla="*/ 15056 w 344981"/>
                <a:gd name="connsiteY46" fmla="*/ 179918 h 529324"/>
                <a:gd name="connsiteX47" fmla="*/ 15056 w 344981"/>
                <a:gd name="connsiteY47" fmla="*/ 181874 h 529324"/>
                <a:gd name="connsiteX48" fmla="*/ 53678 w 344981"/>
                <a:gd name="connsiteY48" fmla="*/ 266618 h 529324"/>
                <a:gd name="connsiteX49" fmla="*/ 290648 w 344981"/>
                <a:gd name="connsiteY49" fmla="*/ 265966 h 529324"/>
                <a:gd name="connsiteX50" fmla="*/ 329271 w 344981"/>
                <a:gd name="connsiteY50" fmla="*/ 181874 h 529324"/>
                <a:gd name="connsiteX51" fmla="*/ 329925 w 344981"/>
                <a:gd name="connsiteY51" fmla="*/ 179918 h 529324"/>
                <a:gd name="connsiteX52" fmla="*/ 330580 w 344981"/>
                <a:gd name="connsiteY52" fmla="*/ 164925 h 529324"/>
                <a:gd name="connsiteX53" fmla="*/ 172163 w 344981"/>
                <a:gd name="connsiteY53" fmla="*/ 14341 h 529324"/>
                <a:gd name="connsiteX54" fmla="*/ 172163 w 344981"/>
                <a:gd name="connsiteY54" fmla="*/ 0 h 529324"/>
                <a:gd name="connsiteX55" fmla="*/ 344981 w 344981"/>
                <a:gd name="connsiteY55" fmla="*/ 164925 h 529324"/>
                <a:gd name="connsiteX56" fmla="*/ 343672 w 344981"/>
                <a:gd name="connsiteY56" fmla="*/ 181222 h 529324"/>
                <a:gd name="connsiteX57" fmla="*/ 291958 w 344981"/>
                <a:gd name="connsiteY57" fmla="*/ 292041 h 529324"/>
                <a:gd name="connsiteX58" fmla="*/ 270355 w 344981"/>
                <a:gd name="connsiteY58" fmla="*/ 327894 h 529324"/>
                <a:gd name="connsiteX59" fmla="*/ 257263 w 344981"/>
                <a:gd name="connsiteY59" fmla="*/ 380696 h 529324"/>
                <a:gd name="connsiteX60" fmla="*/ 257263 w 344981"/>
                <a:gd name="connsiteY60" fmla="*/ 419157 h 529324"/>
                <a:gd name="connsiteX61" fmla="*/ 257263 w 344981"/>
                <a:gd name="connsiteY61" fmla="*/ 473263 h 529324"/>
                <a:gd name="connsiteX62" fmla="*/ 200312 w 344981"/>
                <a:gd name="connsiteY62" fmla="*/ 529324 h 529324"/>
                <a:gd name="connsiteX63" fmla="*/ 144015 w 344981"/>
                <a:gd name="connsiteY63" fmla="*/ 529324 h 529324"/>
                <a:gd name="connsiteX64" fmla="*/ 87064 w 344981"/>
                <a:gd name="connsiteY64" fmla="*/ 473263 h 529324"/>
                <a:gd name="connsiteX65" fmla="*/ 87064 w 344981"/>
                <a:gd name="connsiteY65" fmla="*/ 419157 h 529324"/>
                <a:gd name="connsiteX66" fmla="*/ 87064 w 344981"/>
                <a:gd name="connsiteY66" fmla="*/ 380696 h 529324"/>
                <a:gd name="connsiteX67" fmla="*/ 73971 w 344981"/>
                <a:gd name="connsiteY67" fmla="*/ 327894 h 529324"/>
                <a:gd name="connsiteX68" fmla="*/ 53024 w 344981"/>
                <a:gd name="connsiteY68" fmla="*/ 292041 h 529324"/>
                <a:gd name="connsiteX69" fmla="*/ 1309 w 344981"/>
                <a:gd name="connsiteY69" fmla="*/ 181222 h 529324"/>
                <a:gd name="connsiteX70" fmla="*/ 0 w 344981"/>
                <a:gd name="connsiteY70" fmla="*/ 164925 h 529324"/>
                <a:gd name="connsiteX71" fmla="*/ 172163 w 344981"/>
                <a:gd name="connsiteY71" fmla="*/ 0 h 529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44981" h="529324">
                  <a:moveTo>
                    <a:pt x="128127" y="483891"/>
                  </a:moveTo>
                  <a:lnTo>
                    <a:pt x="214630" y="483891"/>
                  </a:lnTo>
                  <a:cubicBezTo>
                    <a:pt x="217882" y="483891"/>
                    <a:pt x="221134" y="486510"/>
                    <a:pt x="221134" y="490437"/>
                  </a:cubicBezTo>
                  <a:cubicBezTo>
                    <a:pt x="221134" y="494365"/>
                    <a:pt x="217882" y="497638"/>
                    <a:pt x="214630" y="497638"/>
                  </a:cubicBezTo>
                  <a:lnTo>
                    <a:pt x="128127" y="497638"/>
                  </a:lnTo>
                  <a:cubicBezTo>
                    <a:pt x="124225" y="497638"/>
                    <a:pt x="120973" y="494365"/>
                    <a:pt x="120973" y="490437"/>
                  </a:cubicBezTo>
                  <a:cubicBezTo>
                    <a:pt x="120973" y="486510"/>
                    <a:pt x="124225" y="483891"/>
                    <a:pt x="128127" y="483891"/>
                  </a:cubicBezTo>
                  <a:close/>
                  <a:moveTo>
                    <a:pt x="128127" y="449327"/>
                  </a:moveTo>
                  <a:lnTo>
                    <a:pt x="214630" y="449327"/>
                  </a:lnTo>
                  <a:cubicBezTo>
                    <a:pt x="217882" y="449327"/>
                    <a:pt x="221134" y="452458"/>
                    <a:pt x="221134" y="456215"/>
                  </a:cubicBezTo>
                  <a:cubicBezTo>
                    <a:pt x="221134" y="459972"/>
                    <a:pt x="217882" y="463103"/>
                    <a:pt x="214630" y="463103"/>
                  </a:cubicBezTo>
                  <a:lnTo>
                    <a:pt x="128127" y="463103"/>
                  </a:lnTo>
                  <a:cubicBezTo>
                    <a:pt x="124225" y="463103"/>
                    <a:pt x="120973" y="459972"/>
                    <a:pt x="120973" y="456215"/>
                  </a:cubicBezTo>
                  <a:cubicBezTo>
                    <a:pt x="120973" y="452458"/>
                    <a:pt x="124225" y="449327"/>
                    <a:pt x="128127" y="449327"/>
                  </a:cubicBezTo>
                  <a:close/>
                  <a:moveTo>
                    <a:pt x="101465" y="426328"/>
                  </a:moveTo>
                  <a:lnTo>
                    <a:pt x="101465" y="473263"/>
                  </a:lnTo>
                  <a:cubicBezTo>
                    <a:pt x="101465" y="496730"/>
                    <a:pt x="120449" y="516287"/>
                    <a:pt x="144015" y="516287"/>
                  </a:cubicBezTo>
                  <a:lnTo>
                    <a:pt x="200312" y="516287"/>
                  </a:lnTo>
                  <a:cubicBezTo>
                    <a:pt x="224532" y="516287"/>
                    <a:pt x="243516" y="496730"/>
                    <a:pt x="243516" y="473263"/>
                  </a:cubicBezTo>
                  <a:lnTo>
                    <a:pt x="243516" y="426328"/>
                  </a:lnTo>
                  <a:close/>
                  <a:moveTo>
                    <a:pt x="115867" y="299863"/>
                  </a:moveTo>
                  <a:cubicBezTo>
                    <a:pt x="130923" y="333109"/>
                    <a:pt x="137469" y="367007"/>
                    <a:pt x="136160" y="412638"/>
                  </a:cubicBezTo>
                  <a:lnTo>
                    <a:pt x="165617" y="412638"/>
                  </a:lnTo>
                  <a:lnTo>
                    <a:pt x="165617" y="305078"/>
                  </a:lnTo>
                  <a:cubicBezTo>
                    <a:pt x="149252" y="305078"/>
                    <a:pt x="132232" y="303123"/>
                    <a:pt x="115867" y="299863"/>
                  </a:cubicBezTo>
                  <a:close/>
                  <a:moveTo>
                    <a:pt x="229115" y="299212"/>
                  </a:moveTo>
                  <a:cubicBezTo>
                    <a:pt x="212749" y="302471"/>
                    <a:pt x="195729" y="304427"/>
                    <a:pt x="179364" y="305078"/>
                  </a:cubicBezTo>
                  <a:lnTo>
                    <a:pt x="179364" y="412638"/>
                  </a:lnTo>
                  <a:lnTo>
                    <a:pt x="208822" y="412638"/>
                  </a:lnTo>
                  <a:cubicBezTo>
                    <a:pt x="207513" y="366355"/>
                    <a:pt x="214059" y="331805"/>
                    <a:pt x="229115" y="299212"/>
                  </a:cubicBezTo>
                  <a:close/>
                  <a:moveTo>
                    <a:pt x="65461" y="286174"/>
                  </a:moveTo>
                  <a:cubicBezTo>
                    <a:pt x="73971" y="299212"/>
                    <a:pt x="81172" y="311597"/>
                    <a:pt x="86409" y="322027"/>
                  </a:cubicBezTo>
                  <a:cubicBezTo>
                    <a:pt x="96228" y="339628"/>
                    <a:pt x="101465" y="359836"/>
                    <a:pt x="101465" y="380696"/>
                  </a:cubicBezTo>
                  <a:lnTo>
                    <a:pt x="101465" y="412638"/>
                  </a:lnTo>
                  <a:lnTo>
                    <a:pt x="121758" y="412638"/>
                  </a:lnTo>
                  <a:cubicBezTo>
                    <a:pt x="123067" y="364399"/>
                    <a:pt x="116521" y="330502"/>
                    <a:pt x="98192" y="295952"/>
                  </a:cubicBezTo>
                  <a:cubicBezTo>
                    <a:pt x="87718" y="293345"/>
                    <a:pt x="76590" y="290085"/>
                    <a:pt x="65461" y="286174"/>
                  </a:cubicBezTo>
                  <a:close/>
                  <a:moveTo>
                    <a:pt x="279520" y="285522"/>
                  </a:moveTo>
                  <a:cubicBezTo>
                    <a:pt x="268392" y="289433"/>
                    <a:pt x="257263" y="292693"/>
                    <a:pt x="246789" y="295300"/>
                  </a:cubicBezTo>
                  <a:cubicBezTo>
                    <a:pt x="228460" y="329198"/>
                    <a:pt x="221259" y="363747"/>
                    <a:pt x="223223" y="412638"/>
                  </a:cubicBezTo>
                  <a:lnTo>
                    <a:pt x="243516" y="412638"/>
                  </a:lnTo>
                  <a:lnTo>
                    <a:pt x="243516" y="380696"/>
                  </a:lnTo>
                  <a:cubicBezTo>
                    <a:pt x="243516" y="359836"/>
                    <a:pt x="248753" y="339628"/>
                    <a:pt x="258572" y="322027"/>
                  </a:cubicBezTo>
                  <a:cubicBezTo>
                    <a:pt x="263155" y="311597"/>
                    <a:pt x="271010" y="299212"/>
                    <a:pt x="279520" y="285522"/>
                  </a:cubicBezTo>
                  <a:close/>
                  <a:moveTo>
                    <a:pt x="172163" y="14341"/>
                  </a:moveTo>
                  <a:cubicBezTo>
                    <a:pt x="85100" y="14341"/>
                    <a:pt x="14401" y="81485"/>
                    <a:pt x="14401" y="164925"/>
                  </a:cubicBezTo>
                  <a:cubicBezTo>
                    <a:pt x="14401" y="169488"/>
                    <a:pt x="14401" y="174703"/>
                    <a:pt x="15056" y="179918"/>
                  </a:cubicBezTo>
                  <a:cubicBezTo>
                    <a:pt x="15056" y="180570"/>
                    <a:pt x="15056" y="181222"/>
                    <a:pt x="15056" y="181874"/>
                  </a:cubicBezTo>
                  <a:cubicBezTo>
                    <a:pt x="15711" y="199474"/>
                    <a:pt x="35349" y="235328"/>
                    <a:pt x="53678" y="266618"/>
                  </a:cubicBezTo>
                  <a:cubicBezTo>
                    <a:pt x="129613" y="299212"/>
                    <a:pt x="209476" y="299212"/>
                    <a:pt x="290648" y="265966"/>
                  </a:cubicBezTo>
                  <a:cubicBezTo>
                    <a:pt x="309632" y="234676"/>
                    <a:pt x="329271" y="199474"/>
                    <a:pt x="329271" y="181874"/>
                  </a:cubicBezTo>
                  <a:cubicBezTo>
                    <a:pt x="329271" y="181222"/>
                    <a:pt x="329271" y="180570"/>
                    <a:pt x="329925" y="179918"/>
                  </a:cubicBezTo>
                  <a:cubicBezTo>
                    <a:pt x="330580" y="174703"/>
                    <a:pt x="330580" y="169488"/>
                    <a:pt x="330580" y="164925"/>
                  </a:cubicBezTo>
                  <a:cubicBezTo>
                    <a:pt x="330580" y="81485"/>
                    <a:pt x="259882" y="14341"/>
                    <a:pt x="172163" y="14341"/>
                  </a:cubicBezTo>
                  <a:close/>
                  <a:moveTo>
                    <a:pt x="172163" y="0"/>
                  </a:moveTo>
                  <a:cubicBezTo>
                    <a:pt x="267082" y="0"/>
                    <a:pt x="344981" y="74314"/>
                    <a:pt x="344981" y="164925"/>
                  </a:cubicBezTo>
                  <a:cubicBezTo>
                    <a:pt x="344981" y="170140"/>
                    <a:pt x="344327" y="176007"/>
                    <a:pt x="343672" y="181222"/>
                  </a:cubicBezTo>
                  <a:cubicBezTo>
                    <a:pt x="343672" y="205993"/>
                    <a:pt x="316178" y="251625"/>
                    <a:pt x="291958" y="292041"/>
                  </a:cubicBezTo>
                  <a:cubicBezTo>
                    <a:pt x="283448" y="305078"/>
                    <a:pt x="275592" y="318116"/>
                    <a:pt x="270355" y="327894"/>
                  </a:cubicBezTo>
                  <a:cubicBezTo>
                    <a:pt x="261845" y="344191"/>
                    <a:pt x="257263" y="362444"/>
                    <a:pt x="257263" y="380696"/>
                  </a:cubicBezTo>
                  <a:lnTo>
                    <a:pt x="257263" y="419157"/>
                  </a:lnTo>
                  <a:lnTo>
                    <a:pt x="257263" y="473263"/>
                  </a:lnTo>
                  <a:cubicBezTo>
                    <a:pt x="257263" y="504553"/>
                    <a:pt x="231733" y="529324"/>
                    <a:pt x="200312" y="529324"/>
                  </a:cubicBezTo>
                  <a:lnTo>
                    <a:pt x="144015" y="529324"/>
                  </a:lnTo>
                  <a:cubicBezTo>
                    <a:pt x="112594" y="529324"/>
                    <a:pt x="87064" y="504553"/>
                    <a:pt x="87064" y="473263"/>
                  </a:cubicBezTo>
                  <a:lnTo>
                    <a:pt x="87064" y="419157"/>
                  </a:lnTo>
                  <a:lnTo>
                    <a:pt x="87064" y="380696"/>
                  </a:lnTo>
                  <a:cubicBezTo>
                    <a:pt x="87064" y="362444"/>
                    <a:pt x="83136" y="344191"/>
                    <a:pt x="73971" y="327894"/>
                  </a:cubicBezTo>
                  <a:cubicBezTo>
                    <a:pt x="68734" y="318116"/>
                    <a:pt x="60879" y="305078"/>
                    <a:pt x="53024" y="292041"/>
                  </a:cubicBezTo>
                  <a:cubicBezTo>
                    <a:pt x="28803" y="251625"/>
                    <a:pt x="1309" y="205993"/>
                    <a:pt x="1309" y="181222"/>
                  </a:cubicBezTo>
                  <a:cubicBezTo>
                    <a:pt x="655" y="176007"/>
                    <a:pt x="0" y="170140"/>
                    <a:pt x="0" y="164925"/>
                  </a:cubicBezTo>
                  <a:cubicBezTo>
                    <a:pt x="0" y="74314"/>
                    <a:pt x="77244" y="0"/>
                    <a:pt x="172163" y="0"/>
                  </a:cubicBezTo>
                  <a:close/>
                </a:path>
              </a:pathLst>
            </a:custGeom>
            <a:solidFill>
              <a:srgbClr val="C00000"/>
            </a:solidFill>
            <a:ln>
              <a:noFill/>
            </a:ln>
            <a:effectLst/>
          </p:spPr>
          <p:txBody>
            <a:bodyPr wrap="square" anchor="ctr">
              <a:noAutofit/>
            </a:bodyPr>
            <a:lstStyle/>
            <a:p>
              <a:endParaRPr lang="en-US" sz="3265" dirty="0">
                <a:latin typeface="Poppins" pitchFamily="2" charset="77"/>
              </a:endParaRPr>
            </a:p>
          </p:txBody>
        </p:sp>
        <p:sp>
          <p:nvSpPr>
            <p:cNvPr id="8" name="Freeform 145">
              <a:extLst>
                <a:ext uri="{FF2B5EF4-FFF2-40B4-BE49-F238E27FC236}">
                  <a16:creationId xmlns:a16="http://schemas.microsoft.com/office/drawing/2014/main" id="{DFA63820-91AB-0F87-E163-810E837F16F1}"/>
                </a:ext>
              </a:extLst>
            </p:cNvPr>
            <p:cNvSpPr>
              <a:spLocks noChangeArrowheads="1"/>
            </p:cNvSpPr>
            <p:nvPr/>
          </p:nvSpPr>
          <p:spPr bwMode="auto">
            <a:xfrm>
              <a:off x="6760957" y="4358271"/>
              <a:ext cx="659688" cy="622548"/>
            </a:xfrm>
            <a:custGeom>
              <a:avLst/>
              <a:gdLst>
                <a:gd name="connsiteX0" fmla="*/ 295029 w 422723"/>
                <a:gd name="connsiteY0" fmla="*/ 344886 h 402536"/>
                <a:gd name="connsiteX1" fmla="*/ 332659 w 422723"/>
                <a:gd name="connsiteY1" fmla="*/ 353951 h 402536"/>
                <a:gd name="connsiteX2" fmla="*/ 335915 w 422723"/>
                <a:gd name="connsiteY2" fmla="*/ 356489 h 402536"/>
                <a:gd name="connsiteX3" fmla="*/ 336639 w 422723"/>
                <a:gd name="connsiteY3" fmla="*/ 360477 h 402536"/>
                <a:gd name="connsiteX4" fmla="*/ 327955 w 422723"/>
                <a:gd name="connsiteY4" fmla="*/ 398185 h 402536"/>
                <a:gd name="connsiteX5" fmla="*/ 322166 w 422723"/>
                <a:gd name="connsiteY5" fmla="*/ 402536 h 402536"/>
                <a:gd name="connsiteX6" fmla="*/ 321080 w 422723"/>
                <a:gd name="connsiteY6" fmla="*/ 402173 h 402536"/>
                <a:gd name="connsiteX7" fmla="*/ 317100 w 422723"/>
                <a:gd name="connsiteY7" fmla="*/ 395647 h 402536"/>
                <a:gd name="connsiteX8" fmla="*/ 322889 w 422723"/>
                <a:gd name="connsiteY8" fmla="*/ 371354 h 402536"/>
                <a:gd name="connsiteX9" fmla="*/ 221941 w 422723"/>
                <a:gd name="connsiteY9" fmla="*/ 398547 h 402536"/>
                <a:gd name="connsiteX10" fmla="*/ 215790 w 422723"/>
                <a:gd name="connsiteY10" fmla="*/ 398547 h 402536"/>
                <a:gd name="connsiteX11" fmla="*/ 210724 w 422723"/>
                <a:gd name="connsiteY11" fmla="*/ 392746 h 402536"/>
                <a:gd name="connsiteX12" fmla="*/ 216151 w 422723"/>
                <a:gd name="connsiteY12" fmla="*/ 387308 h 402536"/>
                <a:gd name="connsiteX13" fmla="*/ 221941 w 422723"/>
                <a:gd name="connsiteY13" fmla="*/ 387308 h 402536"/>
                <a:gd name="connsiteX14" fmla="*/ 317462 w 422723"/>
                <a:gd name="connsiteY14" fmla="*/ 361565 h 402536"/>
                <a:gd name="connsiteX15" fmla="*/ 292496 w 422723"/>
                <a:gd name="connsiteY15" fmla="*/ 355764 h 402536"/>
                <a:gd name="connsiteX16" fmla="*/ 288516 w 422723"/>
                <a:gd name="connsiteY16" fmla="*/ 348875 h 402536"/>
                <a:gd name="connsiteX17" fmla="*/ 295029 w 422723"/>
                <a:gd name="connsiteY17" fmla="*/ 344886 h 402536"/>
                <a:gd name="connsiteX18" fmla="*/ 82336 w 422723"/>
                <a:gd name="connsiteY18" fmla="*/ 333626 h 402536"/>
                <a:gd name="connsiteX19" fmla="*/ 90215 w 422723"/>
                <a:gd name="connsiteY19" fmla="*/ 333626 h 402536"/>
                <a:gd name="connsiteX20" fmla="*/ 181536 w 422723"/>
                <a:gd name="connsiteY20" fmla="*/ 383416 h 402536"/>
                <a:gd name="connsiteX21" fmla="*/ 185833 w 422723"/>
                <a:gd name="connsiteY21" fmla="*/ 389910 h 402536"/>
                <a:gd name="connsiteX22" fmla="*/ 180461 w 422723"/>
                <a:gd name="connsiteY22" fmla="*/ 394600 h 402536"/>
                <a:gd name="connsiteX23" fmla="*/ 179029 w 422723"/>
                <a:gd name="connsiteY23" fmla="*/ 394240 h 402536"/>
                <a:gd name="connsiteX24" fmla="*/ 82336 w 422723"/>
                <a:gd name="connsiteY24" fmla="*/ 341564 h 402536"/>
                <a:gd name="connsiteX25" fmla="*/ 82336 w 422723"/>
                <a:gd name="connsiteY25" fmla="*/ 333626 h 402536"/>
                <a:gd name="connsiteX26" fmla="*/ 393725 w 422723"/>
                <a:gd name="connsiteY26" fmla="*/ 290392 h 402536"/>
                <a:gd name="connsiteX27" fmla="*/ 395526 w 422723"/>
                <a:gd name="connsiteY27" fmla="*/ 297928 h 402536"/>
                <a:gd name="connsiteX28" fmla="*/ 364549 w 422723"/>
                <a:gd name="connsiteY28" fmla="*/ 338833 h 402536"/>
                <a:gd name="connsiteX29" fmla="*/ 360587 w 422723"/>
                <a:gd name="connsiteY29" fmla="*/ 340627 h 402536"/>
                <a:gd name="connsiteX30" fmla="*/ 356985 w 422723"/>
                <a:gd name="connsiteY30" fmla="*/ 338833 h 402536"/>
                <a:gd name="connsiteX31" fmla="*/ 356625 w 422723"/>
                <a:gd name="connsiteY31" fmla="*/ 330939 h 402536"/>
                <a:gd name="connsiteX32" fmla="*/ 386161 w 422723"/>
                <a:gd name="connsiteY32" fmla="*/ 292186 h 402536"/>
                <a:gd name="connsiteX33" fmla="*/ 393725 w 422723"/>
                <a:gd name="connsiteY33" fmla="*/ 290392 h 402536"/>
                <a:gd name="connsiteX34" fmla="*/ 166416 w 422723"/>
                <a:gd name="connsiteY34" fmla="*/ 288204 h 402536"/>
                <a:gd name="connsiteX35" fmla="*/ 185118 w 422723"/>
                <a:gd name="connsiteY35" fmla="*/ 329204 h 402536"/>
                <a:gd name="connsiteX36" fmla="*/ 217127 w 422723"/>
                <a:gd name="connsiteY36" fmla="*/ 334239 h 402536"/>
                <a:gd name="connsiteX37" fmla="*/ 217127 w 422723"/>
                <a:gd name="connsiteY37" fmla="*/ 291081 h 402536"/>
                <a:gd name="connsiteX38" fmla="*/ 166416 w 422723"/>
                <a:gd name="connsiteY38" fmla="*/ 288204 h 402536"/>
                <a:gd name="connsiteX39" fmla="*/ 282225 w 422723"/>
                <a:gd name="connsiteY39" fmla="*/ 287484 h 402536"/>
                <a:gd name="connsiteX40" fmla="*/ 228277 w 422723"/>
                <a:gd name="connsiteY40" fmla="*/ 291081 h 402536"/>
                <a:gd name="connsiteX41" fmla="*/ 228277 w 422723"/>
                <a:gd name="connsiteY41" fmla="*/ 334239 h 402536"/>
                <a:gd name="connsiteX42" fmla="*/ 263523 w 422723"/>
                <a:gd name="connsiteY42" fmla="*/ 328125 h 402536"/>
                <a:gd name="connsiteX43" fmla="*/ 282225 w 422723"/>
                <a:gd name="connsiteY43" fmla="*/ 287484 h 402536"/>
                <a:gd name="connsiteX44" fmla="*/ 113907 w 422723"/>
                <a:gd name="connsiteY44" fmla="*/ 280291 h 402536"/>
                <a:gd name="connsiteX45" fmla="*/ 170013 w 422723"/>
                <a:gd name="connsiteY45" fmla="*/ 323809 h 402536"/>
                <a:gd name="connsiteX46" fmla="*/ 153829 w 422723"/>
                <a:gd name="connsiteY46" fmla="*/ 286765 h 402536"/>
                <a:gd name="connsiteX47" fmla="*/ 113907 w 422723"/>
                <a:gd name="connsiteY47" fmla="*/ 280291 h 402536"/>
                <a:gd name="connsiteX48" fmla="*/ 332216 w 422723"/>
                <a:gd name="connsiteY48" fmla="*/ 279572 h 402536"/>
                <a:gd name="connsiteX49" fmla="*/ 294453 w 422723"/>
                <a:gd name="connsiteY49" fmla="*/ 286046 h 402536"/>
                <a:gd name="connsiteX50" fmla="*/ 279347 w 422723"/>
                <a:gd name="connsiteY50" fmla="*/ 322011 h 402536"/>
                <a:gd name="connsiteX51" fmla="*/ 332216 w 422723"/>
                <a:gd name="connsiteY51" fmla="*/ 279572 h 402536"/>
                <a:gd name="connsiteX52" fmla="*/ 39661 w 422723"/>
                <a:gd name="connsiteY52" fmla="*/ 266208 h 402536"/>
                <a:gd name="connsiteX53" fmla="*/ 47153 w 422723"/>
                <a:gd name="connsiteY53" fmla="*/ 269051 h 402536"/>
                <a:gd name="connsiteX54" fmla="*/ 65347 w 422723"/>
                <a:gd name="connsiteY54" fmla="*/ 303526 h 402536"/>
                <a:gd name="connsiteX55" fmla="*/ 63920 w 422723"/>
                <a:gd name="connsiteY55" fmla="*/ 310990 h 402536"/>
                <a:gd name="connsiteX56" fmla="*/ 60709 w 422723"/>
                <a:gd name="connsiteY56" fmla="*/ 312056 h 402536"/>
                <a:gd name="connsiteX57" fmla="*/ 56428 w 422723"/>
                <a:gd name="connsiteY57" fmla="*/ 309568 h 402536"/>
                <a:gd name="connsiteX58" fmla="*/ 36807 w 422723"/>
                <a:gd name="connsiteY58" fmla="*/ 273316 h 402536"/>
                <a:gd name="connsiteX59" fmla="*/ 39661 w 422723"/>
                <a:gd name="connsiteY59" fmla="*/ 266208 h 402536"/>
                <a:gd name="connsiteX60" fmla="*/ 309199 w 422723"/>
                <a:gd name="connsiteY60" fmla="*/ 203326 h 402536"/>
                <a:gd name="connsiteX61" fmla="*/ 298409 w 422723"/>
                <a:gd name="connsiteY61" fmla="*/ 274177 h 402536"/>
                <a:gd name="connsiteX62" fmla="*/ 340848 w 422723"/>
                <a:gd name="connsiteY62" fmla="*/ 266265 h 402536"/>
                <a:gd name="connsiteX63" fmla="*/ 358831 w 422723"/>
                <a:gd name="connsiteY63" fmla="*/ 203326 h 402536"/>
                <a:gd name="connsiteX64" fmla="*/ 228277 w 422723"/>
                <a:gd name="connsiteY64" fmla="*/ 203326 h 402536"/>
                <a:gd name="connsiteX65" fmla="*/ 228277 w 422723"/>
                <a:gd name="connsiteY65" fmla="*/ 279932 h 402536"/>
                <a:gd name="connsiteX66" fmla="*/ 286181 w 422723"/>
                <a:gd name="connsiteY66" fmla="*/ 275976 h 402536"/>
                <a:gd name="connsiteX67" fmla="*/ 298049 w 422723"/>
                <a:gd name="connsiteY67" fmla="*/ 203326 h 402536"/>
                <a:gd name="connsiteX68" fmla="*/ 149872 w 422723"/>
                <a:gd name="connsiteY68" fmla="*/ 203326 h 402536"/>
                <a:gd name="connsiteX69" fmla="*/ 162460 w 422723"/>
                <a:gd name="connsiteY69" fmla="*/ 277055 h 402536"/>
                <a:gd name="connsiteX70" fmla="*/ 217127 w 422723"/>
                <a:gd name="connsiteY70" fmla="*/ 280291 h 402536"/>
                <a:gd name="connsiteX71" fmla="*/ 217127 w 422723"/>
                <a:gd name="connsiteY71" fmla="*/ 203326 h 402536"/>
                <a:gd name="connsiteX72" fmla="*/ 86573 w 422723"/>
                <a:gd name="connsiteY72" fmla="*/ 203326 h 402536"/>
                <a:gd name="connsiteX73" fmla="*/ 104916 w 422723"/>
                <a:gd name="connsiteY73" fmla="*/ 266984 h 402536"/>
                <a:gd name="connsiteX74" fmla="*/ 150232 w 422723"/>
                <a:gd name="connsiteY74" fmla="*/ 275256 h 402536"/>
                <a:gd name="connsiteX75" fmla="*/ 139083 w 422723"/>
                <a:gd name="connsiteY75" fmla="*/ 203326 h 402536"/>
                <a:gd name="connsiteX76" fmla="*/ 416165 w 422723"/>
                <a:gd name="connsiteY76" fmla="*/ 182595 h 402536"/>
                <a:gd name="connsiteX77" fmla="*/ 421994 w 422723"/>
                <a:gd name="connsiteY77" fmla="*/ 187979 h 402536"/>
                <a:gd name="connsiteX78" fmla="*/ 422723 w 422723"/>
                <a:gd name="connsiteY78" fmla="*/ 198387 h 402536"/>
                <a:gd name="connsiteX79" fmla="*/ 412157 w 422723"/>
                <a:gd name="connsiteY79" fmla="*/ 260838 h 402536"/>
                <a:gd name="connsiteX80" fmla="*/ 407420 w 422723"/>
                <a:gd name="connsiteY80" fmla="*/ 264427 h 402536"/>
                <a:gd name="connsiteX81" fmla="*/ 405599 w 422723"/>
                <a:gd name="connsiteY81" fmla="*/ 264068 h 402536"/>
                <a:gd name="connsiteX82" fmla="*/ 401955 w 422723"/>
                <a:gd name="connsiteY82" fmla="*/ 257249 h 402536"/>
                <a:gd name="connsiteX83" fmla="*/ 411428 w 422723"/>
                <a:gd name="connsiteY83" fmla="*/ 198387 h 402536"/>
                <a:gd name="connsiteX84" fmla="*/ 411428 w 422723"/>
                <a:gd name="connsiteY84" fmla="*/ 188338 h 402536"/>
                <a:gd name="connsiteX85" fmla="*/ 416165 w 422723"/>
                <a:gd name="connsiteY85" fmla="*/ 182595 h 402536"/>
                <a:gd name="connsiteX86" fmla="*/ 151311 w 422723"/>
                <a:gd name="connsiteY86" fmla="*/ 120965 h 402536"/>
                <a:gd name="connsiteX87" fmla="*/ 104556 w 422723"/>
                <a:gd name="connsiteY87" fmla="*/ 129597 h 402536"/>
                <a:gd name="connsiteX88" fmla="*/ 86573 w 422723"/>
                <a:gd name="connsiteY88" fmla="*/ 192536 h 402536"/>
                <a:gd name="connsiteX89" fmla="*/ 139083 w 422723"/>
                <a:gd name="connsiteY89" fmla="*/ 192536 h 402536"/>
                <a:gd name="connsiteX90" fmla="*/ 151311 w 422723"/>
                <a:gd name="connsiteY90" fmla="*/ 120965 h 402536"/>
                <a:gd name="connsiteX91" fmla="*/ 296970 w 422723"/>
                <a:gd name="connsiteY91" fmla="*/ 120606 h 402536"/>
                <a:gd name="connsiteX92" fmla="*/ 309199 w 422723"/>
                <a:gd name="connsiteY92" fmla="*/ 192536 h 402536"/>
                <a:gd name="connsiteX93" fmla="*/ 358831 w 422723"/>
                <a:gd name="connsiteY93" fmla="*/ 192536 h 402536"/>
                <a:gd name="connsiteX94" fmla="*/ 340129 w 422723"/>
                <a:gd name="connsiteY94" fmla="*/ 128878 h 402536"/>
                <a:gd name="connsiteX95" fmla="*/ 296970 w 422723"/>
                <a:gd name="connsiteY95" fmla="*/ 120606 h 402536"/>
                <a:gd name="connsiteX96" fmla="*/ 228277 w 422723"/>
                <a:gd name="connsiteY96" fmla="*/ 115570 h 402536"/>
                <a:gd name="connsiteX97" fmla="*/ 228277 w 422723"/>
                <a:gd name="connsiteY97" fmla="*/ 192536 h 402536"/>
                <a:gd name="connsiteX98" fmla="*/ 298049 w 422723"/>
                <a:gd name="connsiteY98" fmla="*/ 192536 h 402536"/>
                <a:gd name="connsiteX99" fmla="*/ 284742 w 422723"/>
                <a:gd name="connsiteY99" fmla="*/ 119167 h 402536"/>
                <a:gd name="connsiteX100" fmla="*/ 228277 w 422723"/>
                <a:gd name="connsiteY100" fmla="*/ 115570 h 402536"/>
                <a:gd name="connsiteX101" fmla="*/ 217127 w 422723"/>
                <a:gd name="connsiteY101" fmla="*/ 115570 h 402536"/>
                <a:gd name="connsiteX102" fmla="*/ 163180 w 422723"/>
                <a:gd name="connsiteY102" fmla="*/ 119527 h 402536"/>
                <a:gd name="connsiteX103" fmla="*/ 150232 w 422723"/>
                <a:gd name="connsiteY103" fmla="*/ 192536 h 402536"/>
                <a:gd name="connsiteX104" fmla="*/ 217127 w 422723"/>
                <a:gd name="connsiteY104" fmla="*/ 192536 h 402536"/>
                <a:gd name="connsiteX105" fmla="*/ 46143 w 422723"/>
                <a:gd name="connsiteY105" fmla="*/ 115420 h 402536"/>
                <a:gd name="connsiteX106" fmla="*/ 49008 w 422723"/>
                <a:gd name="connsiteY106" fmla="*/ 122652 h 402536"/>
                <a:gd name="connsiteX107" fmla="*/ 33249 w 422723"/>
                <a:gd name="connsiteY107" fmla="*/ 198949 h 402536"/>
                <a:gd name="connsiteX108" fmla="*/ 35040 w 422723"/>
                <a:gd name="connsiteY108" fmla="*/ 224984 h 402536"/>
                <a:gd name="connsiteX109" fmla="*/ 47217 w 422723"/>
                <a:gd name="connsiteY109" fmla="*/ 208350 h 402536"/>
                <a:gd name="connsiteX110" fmla="*/ 54739 w 422723"/>
                <a:gd name="connsiteY110" fmla="*/ 207265 h 402536"/>
                <a:gd name="connsiteX111" fmla="*/ 55813 w 422723"/>
                <a:gd name="connsiteY111" fmla="*/ 215220 h 402536"/>
                <a:gd name="connsiteX112" fmla="*/ 36115 w 422723"/>
                <a:gd name="connsiteY112" fmla="*/ 241617 h 402536"/>
                <a:gd name="connsiteX113" fmla="*/ 31817 w 422723"/>
                <a:gd name="connsiteY113" fmla="*/ 243787 h 402536"/>
                <a:gd name="connsiteX114" fmla="*/ 28593 w 422723"/>
                <a:gd name="connsiteY114" fmla="*/ 242702 h 402536"/>
                <a:gd name="connsiteX115" fmla="*/ 2090 w 422723"/>
                <a:gd name="connsiteY115" fmla="*/ 223176 h 402536"/>
                <a:gd name="connsiteX116" fmla="*/ 1015 w 422723"/>
                <a:gd name="connsiteY116" fmla="*/ 215220 h 402536"/>
                <a:gd name="connsiteX117" fmla="*/ 8895 w 422723"/>
                <a:gd name="connsiteY117" fmla="*/ 214136 h 402536"/>
                <a:gd name="connsiteX118" fmla="*/ 24295 w 422723"/>
                <a:gd name="connsiteY118" fmla="*/ 225707 h 402536"/>
                <a:gd name="connsiteX119" fmla="*/ 22505 w 422723"/>
                <a:gd name="connsiteY119" fmla="*/ 198949 h 402536"/>
                <a:gd name="connsiteX120" fmla="*/ 38980 w 422723"/>
                <a:gd name="connsiteY120" fmla="*/ 118312 h 402536"/>
                <a:gd name="connsiteX121" fmla="*/ 46143 w 422723"/>
                <a:gd name="connsiteY121" fmla="*/ 115420 h 402536"/>
                <a:gd name="connsiteX122" fmla="*/ 278628 w 422723"/>
                <a:gd name="connsiteY122" fmla="*/ 73491 h 402536"/>
                <a:gd name="connsiteX123" fmla="*/ 293374 w 422723"/>
                <a:gd name="connsiteY123" fmla="*/ 109096 h 402536"/>
                <a:gd name="connsiteX124" fmla="*/ 331497 w 422723"/>
                <a:gd name="connsiteY124" fmla="*/ 115570 h 402536"/>
                <a:gd name="connsiteX125" fmla="*/ 278628 w 422723"/>
                <a:gd name="connsiteY125" fmla="*/ 73491 h 402536"/>
                <a:gd name="connsiteX126" fmla="*/ 170373 w 422723"/>
                <a:gd name="connsiteY126" fmla="*/ 72052 h 402536"/>
                <a:gd name="connsiteX127" fmla="*/ 113188 w 422723"/>
                <a:gd name="connsiteY127" fmla="*/ 116649 h 402536"/>
                <a:gd name="connsiteX128" fmla="*/ 154908 w 422723"/>
                <a:gd name="connsiteY128" fmla="*/ 109456 h 402536"/>
                <a:gd name="connsiteX129" fmla="*/ 170373 w 422723"/>
                <a:gd name="connsiteY129" fmla="*/ 72052 h 402536"/>
                <a:gd name="connsiteX130" fmla="*/ 228277 w 422723"/>
                <a:gd name="connsiteY130" fmla="*/ 61622 h 402536"/>
                <a:gd name="connsiteX131" fmla="*/ 228277 w 422723"/>
                <a:gd name="connsiteY131" fmla="*/ 104780 h 402536"/>
                <a:gd name="connsiteX132" fmla="*/ 280786 w 422723"/>
                <a:gd name="connsiteY132" fmla="*/ 107658 h 402536"/>
                <a:gd name="connsiteX133" fmla="*/ 263163 w 422723"/>
                <a:gd name="connsiteY133" fmla="*/ 67376 h 402536"/>
                <a:gd name="connsiteX134" fmla="*/ 228277 w 422723"/>
                <a:gd name="connsiteY134" fmla="*/ 61622 h 402536"/>
                <a:gd name="connsiteX135" fmla="*/ 217127 w 422723"/>
                <a:gd name="connsiteY135" fmla="*/ 61622 h 402536"/>
                <a:gd name="connsiteX136" fmla="*/ 185478 w 422723"/>
                <a:gd name="connsiteY136" fmla="*/ 66657 h 402536"/>
                <a:gd name="connsiteX137" fmla="*/ 167136 w 422723"/>
                <a:gd name="connsiteY137" fmla="*/ 107658 h 402536"/>
                <a:gd name="connsiteX138" fmla="*/ 217127 w 422723"/>
                <a:gd name="connsiteY138" fmla="*/ 104780 h 402536"/>
                <a:gd name="connsiteX139" fmla="*/ 222522 w 422723"/>
                <a:gd name="connsiteY139" fmla="*/ 50473 h 402536"/>
                <a:gd name="connsiteX140" fmla="*/ 370340 w 422723"/>
                <a:gd name="connsiteY140" fmla="*/ 197931 h 402536"/>
                <a:gd name="connsiteX141" fmla="*/ 271435 w 422723"/>
                <a:gd name="connsiteY141" fmla="*/ 337117 h 402536"/>
                <a:gd name="connsiteX142" fmla="*/ 270716 w 422723"/>
                <a:gd name="connsiteY142" fmla="*/ 337836 h 402536"/>
                <a:gd name="connsiteX143" fmla="*/ 269996 w 422723"/>
                <a:gd name="connsiteY143" fmla="*/ 337476 h 402536"/>
                <a:gd name="connsiteX144" fmla="*/ 222522 w 422723"/>
                <a:gd name="connsiteY144" fmla="*/ 345389 h 402536"/>
                <a:gd name="connsiteX145" fmla="*/ 75424 w 422723"/>
                <a:gd name="connsiteY145" fmla="*/ 197931 h 402536"/>
                <a:gd name="connsiteX146" fmla="*/ 222522 w 422723"/>
                <a:gd name="connsiteY146" fmla="*/ 50473 h 402536"/>
                <a:gd name="connsiteX147" fmla="*/ 332081 w 422723"/>
                <a:gd name="connsiteY147" fmla="*/ 3930 h 402536"/>
                <a:gd name="connsiteX148" fmla="*/ 339268 w 422723"/>
                <a:gd name="connsiteY148" fmla="*/ 7538 h 402536"/>
                <a:gd name="connsiteX149" fmla="*/ 335675 w 422723"/>
                <a:gd name="connsiteY149" fmla="*/ 14393 h 402536"/>
                <a:gd name="connsiteX150" fmla="*/ 314114 w 422723"/>
                <a:gd name="connsiteY150" fmla="*/ 21609 h 402536"/>
                <a:gd name="connsiteX151" fmla="*/ 417606 w 422723"/>
                <a:gd name="connsiteY151" fmla="*/ 154743 h 402536"/>
                <a:gd name="connsiteX152" fmla="*/ 413293 w 422723"/>
                <a:gd name="connsiteY152" fmla="*/ 161237 h 402536"/>
                <a:gd name="connsiteX153" fmla="*/ 412215 w 422723"/>
                <a:gd name="connsiteY153" fmla="*/ 161237 h 402536"/>
                <a:gd name="connsiteX154" fmla="*/ 406825 w 422723"/>
                <a:gd name="connsiteY154" fmla="*/ 157269 h 402536"/>
                <a:gd name="connsiteX155" fmla="*/ 308005 w 422723"/>
                <a:gd name="connsiteY155" fmla="*/ 30629 h 402536"/>
                <a:gd name="connsiteX156" fmla="*/ 315551 w 422723"/>
                <a:gd name="connsiteY156" fmla="*/ 53720 h 402536"/>
                <a:gd name="connsiteX157" fmla="*/ 311958 w 422723"/>
                <a:gd name="connsiteY157" fmla="*/ 60575 h 402536"/>
                <a:gd name="connsiteX158" fmla="*/ 310161 w 422723"/>
                <a:gd name="connsiteY158" fmla="*/ 60936 h 402536"/>
                <a:gd name="connsiteX159" fmla="*/ 304771 w 422723"/>
                <a:gd name="connsiteY159" fmla="*/ 57328 h 402536"/>
                <a:gd name="connsiteX160" fmla="*/ 293631 w 422723"/>
                <a:gd name="connsiteY160" fmla="*/ 22331 h 402536"/>
                <a:gd name="connsiteX161" fmla="*/ 297224 w 422723"/>
                <a:gd name="connsiteY161" fmla="*/ 15115 h 402536"/>
                <a:gd name="connsiteX162" fmla="*/ 190856 w 422723"/>
                <a:gd name="connsiteY162" fmla="*/ 1985 h 402536"/>
                <a:gd name="connsiteX163" fmla="*/ 196946 w 422723"/>
                <a:gd name="connsiteY163" fmla="*/ 6328 h 402536"/>
                <a:gd name="connsiteX164" fmla="*/ 192647 w 422723"/>
                <a:gd name="connsiteY164" fmla="*/ 12481 h 402536"/>
                <a:gd name="connsiteX165" fmla="*/ 68708 w 422723"/>
                <a:gd name="connsiteY165" fmla="*/ 89214 h 402536"/>
                <a:gd name="connsiteX166" fmla="*/ 64410 w 422723"/>
                <a:gd name="connsiteY166" fmla="*/ 91386 h 402536"/>
                <a:gd name="connsiteX167" fmla="*/ 61186 w 422723"/>
                <a:gd name="connsiteY167" fmla="*/ 89938 h 402536"/>
                <a:gd name="connsiteX168" fmla="*/ 59753 w 422723"/>
                <a:gd name="connsiteY168" fmla="*/ 82337 h 402536"/>
                <a:gd name="connsiteX169" fmla="*/ 190856 w 422723"/>
                <a:gd name="connsiteY169" fmla="*/ 1985 h 402536"/>
                <a:gd name="connsiteX170" fmla="*/ 227204 w 422723"/>
                <a:gd name="connsiteY170" fmla="*/ 34 h 402536"/>
                <a:gd name="connsiteX171" fmla="*/ 264086 w 422723"/>
                <a:gd name="connsiteY171" fmla="*/ 4363 h 402536"/>
                <a:gd name="connsiteX172" fmla="*/ 268383 w 422723"/>
                <a:gd name="connsiteY172" fmla="*/ 10858 h 402536"/>
                <a:gd name="connsiteX173" fmla="*/ 263012 w 422723"/>
                <a:gd name="connsiteY173" fmla="*/ 15187 h 402536"/>
                <a:gd name="connsiteX174" fmla="*/ 261938 w 422723"/>
                <a:gd name="connsiteY174" fmla="*/ 15187 h 402536"/>
                <a:gd name="connsiteX175" fmla="*/ 227204 w 422723"/>
                <a:gd name="connsiteY175" fmla="*/ 10858 h 402536"/>
                <a:gd name="connsiteX176" fmla="*/ 221474 w 422723"/>
                <a:gd name="connsiteY176" fmla="*/ 5085 h 402536"/>
                <a:gd name="connsiteX177" fmla="*/ 227204 w 422723"/>
                <a:gd name="connsiteY177" fmla="*/ 34 h 402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422723" h="402536">
                  <a:moveTo>
                    <a:pt x="295029" y="344886"/>
                  </a:moveTo>
                  <a:lnTo>
                    <a:pt x="332659" y="353951"/>
                  </a:lnTo>
                  <a:cubicBezTo>
                    <a:pt x="334106" y="354313"/>
                    <a:pt x="335553" y="355038"/>
                    <a:pt x="335915" y="356489"/>
                  </a:cubicBezTo>
                  <a:cubicBezTo>
                    <a:pt x="337000" y="357576"/>
                    <a:pt x="337000" y="359389"/>
                    <a:pt x="336639" y="360477"/>
                  </a:cubicBezTo>
                  <a:lnTo>
                    <a:pt x="327955" y="398185"/>
                  </a:lnTo>
                  <a:cubicBezTo>
                    <a:pt x="327231" y="400723"/>
                    <a:pt x="325060" y="402536"/>
                    <a:pt x="322166" y="402536"/>
                  </a:cubicBezTo>
                  <a:cubicBezTo>
                    <a:pt x="321804" y="402536"/>
                    <a:pt x="321442" y="402536"/>
                    <a:pt x="321080" y="402173"/>
                  </a:cubicBezTo>
                  <a:cubicBezTo>
                    <a:pt x="318186" y="401448"/>
                    <a:pt x="316376" y="398547"/>
                    <a:pt x="317100" y="395647"/>
                  </a:cubicBezTo>
                  <a:lnTo>
                    <a:pt x="322889" y="371354"/>
                  </a:lnTo>
                  <a:cubicBezTo>
                    <a:pt x="292134" y="389120"/>
                    <a:pt x="257761" y="398547"/>
                    <a:pt x="221941" y="398547"/>
                  </a:cubicBezTo>
                  <a:cubicBezTo>
                    <a:pt x="220131" y="398547"/>
                    <a:pt x="217961" y="398547"/>
                    <a:pt x="215790" y="398547"/>
                  </a:cubicBezTo>
                  <a:cubicBezTo>
                    <a:pt x="212895" y="398185"/>
                    <a:pt x="210362" y="396009"/>
                    <a:pt x="210724" y="392746"/>
                  </a:cubicBezTo>
                  <a:cubicBezTo>
                    <a:pt x="210724" y="389483"/>
                    <a:pt x="213257" y="387308"/>
                    <a:pt x="216151" y="387308"/>
                  </a:cubicBezTo>
                  <a:cubicBezTo>
                    <a:pt x="217961" y="387308"/>
                    <a:pt x="220131" y="387308"/>
                    <a:pt x="221941" y="387308"/>
                  </a:cubicBezTo>
                  <a:cubicBezTo>
                    <a:pt x="255952" y="387308"/>
                    <a:pt x="288516" y="378606"/>
                    <a:pt x="317462" y="361565"/>
                  </a:cubicBezTo>
                  <a:lnTo>
                    <a:pt x="292496" y="355764"/>
                  </a:lnTo>
                  <a:cubicBezTo>
                    <a:pt x="289602" y="355038"/>
                    <a:pt x="287792" y="351775"/>
                    <a:pt x="288516" y="348875"/>
                  </a:cubicBezTo>
                  <a:cubicBezTo>
                    <a:pt x="289240" y="346337"/>
                    <a:pt x="292134" y="344161"/>
                    <a:pt x="295029" y="344886"/>
                  </a:cubicBezTo>
                  <a:close/>
                  <a:moveTo>
                    <a:pt x="82336" y="333626"/>
                  </a:moveTo>
                  <a:cubicBezTo>
                    <a:pt x="84843" y="331461"/>
                    <a:pt x="88066" y="331461"/>
                    <a:pt x="90215" y="333626"/>
                  </a:cubicBezTo>
                  <a:cubicBezTo>
                    <a:pt x="115641" y="358521"/>
                    <a:pt x="147156" y="375839"/>
                    <a:pt x="181536" y="383416"/>
                  </a:cubicBezTo>
                  <a:cubicBezTo>
                    <a:pt x="184401" y="384137"/>
                    <a:pt x="186191" y="387024"/>
                    <a:pt x="185833" y="389910"/>
                  </a:cubicBezTo>
                  <a:cubicBezTo>
                    <a:pt x="185117" y="392796"/>
                    <a:pt x="182610" y="394600"/>
                    <a:pt x="180461" y="394600"/>
                  </a:cubicBezTo>
                  <a:cubicBezTo>
                    <a:pt x="180103" y="394600"/>
                    <a:pt x="179387" y="394600"/>
                    <a:pt x="179029" y="394240"/>
                  </a:cubicBezTo>
                  <a:cubicBezTo>
                    <a:pt x="142858" y="386302"/>
                    <a:pt x="109553" y="367902"/>
                    <a:pt x="82336" y="341564"/>
                  </a:cubicBezTo>
                  <a:cubicBezTo>
                    <a:pt x="80545" y="339399"/>
                    <a:pt x="80187" y="336152"/>
                    <a:pt x="82336" y="333626"/>
                  </a:cubicBezTo>
                  <a:close/>
                  <a:moveTo>
                    <a:pt x="393725" y="290392"/>
                  </a:moveTo>
                  <a:cubicBezTo>
                    <a:pt x="396246" y="291469"/>
                    <a:pt x="397327" y="295057"/>
                    <a:pt x="395526" y="297928"/>
                  </a:cubicBezTo>
                  <a:cubicBezTo>
                    <a:pt x="387242" y="312639"/>
                    <a:pt x="376796" y="326633"/>
                    <a:pt x="364549" y="338833"/>
                  </a:cubicBezTo>
                  <a:cubicBezTo>
                    <a:pt x="363469" y="339910"/>
                    <a:pt x="362028" y="340627"/>
                    <a:pt x="360587" y="340627"/>
                  </a:cubicBezTo>
                  <a:cubicBezTo>
                    <a:pt x="359507" y="340627"/>
                    <a:pt x="358066" y="339910"/>
                    <a:pt x="356985" y="338833"/>
                  </a:cubicBezTo>
                  <a:cubicBezTo>
                    <a:pt x="354824" y="336680"/>
                    <a:pt x="354824" y="333092"/>
                    <a:pt x="356625" y="330939"/>
                  </a:cubicBezTo>
                  <a:cubicBezTo>
                    <a:pt x="368151" y="319457"/>
                    <a:pt x="378237" y="306181"/>
                    <a:pt x="386161" y="292186"/>
                  </a:cubicBezTo>
                  <a:cubicBezTo>
                    <a:pt x="387962" y="289675"/>
                    <a:pt x="390844" y="288598"/>
                    <a:pt x="393725" y="290392"/>
                  </a:cubicBezTo>
                  <a:close/>
                  <a:moveTo>
                    <a:pt x="166416" y="288204"/>
                  </a:moveTo>
                  <a:cubicBezTo>
                    <a:pt x="171452" y="301871"/>
                    <a:pt x="177566" y="315537"/>
                    <a:pt x="185118" y="329204"/>
                  </a:cubicBezTo>
                  <a:cubicBezTo>
                    <a:pt x="195189" y="331722"/>
                    <a:pt x="205978" y="333520"/>
                    <a:pt x="217127" y="334239"/>
                  </a:cubicBezTo>
                  <a:lnTo>
                    <a:pt x="217127" y="291081"/>
                  </a:lnTo>
                  <a:cubicBezTo>
                    <a:pt x="200224" y="291081"/>
                    <a:pt x="182960" y="290002"/>
                    <a:pt x="166416" y="288204"/>
                  </a:cubicBezTo>
                  <a:close/>
                  <a:moveTo>
                    <a:pt x="282225" y="287484"/>
                  </a:moveTo>
                  <a:cubicBezTo>
                    <a:pt x="264242" y="289642"/>
                    <a:pt x="246259" y="290721"/>
                    <a:pt x="228277" y="291081"/>
                  </a:cubicBezTo>
                  <a:lnTo>
                    <a:pt x="228277" y="334239"/>
                  </a:lnTo>
                  <a:cubicBezTo>
                    <a:pt x="240505" y="333520"/>
                    <a:pt x="252373" y="331722"/>
                    <a:pt x="263523" y="328125"/>
                  </a:cubicBezTo>
                  <a:cubicBezTo>
                    <a:pt x="271075" y="314818"/>
                    <a:pt x="277189" y="301151"/>
                    <a:pt x="282225" y="287484"/>
                  </a:cubicBezTo>
                  <a:close/>
                  <a:moveTo>
                    <a:pt x="113907" y="280291"/>
                  </a:moveTo>
                  <a:cubicBezTo>
                    <a:pt x="128293" y="298993"/>
                    <a:pt x="147714" y="314458"/>
                    <a:pt x="170013" y="323809"/>
                  </a:cubicBezTo>
                  <a:cubicBezTo>
                    <a:pt x="163899" y="311581"/>
                    <a:pt x="158504" y="298993"/>
                    <a:pt x="153829" y="286765"/>
                  </a:cubicBezTo>
                  <a:cubicBezTo>
                    <a:pt x="140521" y="285327"/>
                    <a:pt x="127214" y="282809"/>
                    <a:pt x="113907" y="280291"/>
                  </a:cubicBezTo>
                  <a:close/>
                  <a:moveTo>
                    <a:pt x="332216" y="279572"/>
                  </a:moveTo>
                  <a:cubicBezTo>
                    <a:pt x="319629" y="282090"/>
                    <a:pt x="307041" y="284248"/>
                    <a:pt x="294453" y="286046"/>
                  </a:cubicBezTo>
                  <a:cubicBezTo>
                    <a:pt x="290497" y="297914"/>
                    <a:pt x="285462" y="310143"/>
                    <a:pt x="279347" y="322011"/>
                  </a:cubicBezTo>
                  <a:cubicBezTo>
                    <a:pt x="300207" y="312301"/>
                    <a:pt x="318550" y="297555"/>
                    <a:pt x="332216" y="279572"/>
                  </a:cubicBezTo>
                  <a:close/>
                  <a:moveTo>
                    <a:pt x="39661" y="266208"/>
                  </a:moveTo>
                  <a:cubicBezTo>
                    <a:pt x="42872" y="264786"/>
                    <a:pt x="45726" y="266563"/>
                    <a:pt x="47153" y="269051"/>
                  </a:cubicBezTo>
                  <a:cubicBezTo>
                    <a:pt x="51791" y="281135"/>
                    <a:pt x="58212" y="292864"/>
                    <a:pt x="65347" y="303526"/>
                  </a:cubicBezTo>
                  <a:cubicBezTo>
                    <a:pt x="67131" y="306014"/>
                    <a:pt x="66417" y="309213"/>
                    <a:pt x="63920" y="310990"/>
                  </a:cubicBezTo>
                  <a:cubicBezTo>
                    <a:pt x="62850" y="311700"/>
                    <a:pt x="61779" y="312056"/>
                    <a:pt x="60709" y="312056"/>
                  </a:cubicBezTo>
                  <a:cubicBezTo>
                    <a:pt x="58925" y="312056"/>
                    <a:pt x="57498" y="311345"/>
                    <a:pt x="56428" y="309568"/>
                  </a:cubicBezTo>
                  <a:cubicBezTo>
                    <a:pt x="48580" y="298195"/>
                    <a:pt x="42159" y="286111"/>
                    <a:pt x="36807" y="273316"/>
                  </a:cubicBezTo>
                  <a:cubicBezTo>
                    <a:pt x="35737" y="270473"/>
                    <a:pt x="37164" y="267274"/>
                    <a:pt x="39661" y="266208"/>
                  </a:cubicBezTo>
                  <a:close/>
                  <a:moveTo>
                    <a:pt x="309199" y="203326"/>
                  </a:moveTo>
                  <a:cubicBezTo>
                    <a:pt x="308839" y="227063"/>
                    <a:pt x="305242" y="250800"/>
                    <a:pt x="298409" y="274177"/>
                  </a:cubicBezTo>
                  <a:cubicBezTo>
                    <a:pt x="312435" y="272019"/>
                    <a:pt x="326822" y="269502"/>
                    <a:pt x="340848" y="266265"/>
                  </a:cubicBezTo>
                  <a:cubicBezTo>
                    <a:pt x="351638" y="247563"/>
                    <a:pt x="358111" y="225984"/>
                    <a:pt x="358831" y="203326"/>
                  </a:cubicBezTo>
                  <a:close/>
                  <a:moveTo>
                    <a:pt x="228277" y="203326"/>
                  </a:moveTo>
                  <a:lnTo>
                    <a:pt x="228277" y="279932"/>
                  </a:lnTo>
                  <a:cubicBezTo>
                    <a:pt x="247338" y="279932"/>
                    <a:pt x="266760" y="278493"/>
                    <a:pt x="286181" y="275976"/>
                  </a:cubicBezTo>
                  <a:cubicBezTo>
                    <a:pt x="294093" y="252238"/>
                    <a:pt x="297690" y="227782"/>
                    <a:pt x="298049" y="203326"/>
                  </a:cubicBezTo>
                  <a:close/>
                  <a:moveTo>
                    <a:pt x="149872" y="203326"/>
                  </a:moveTo>
                  <a:cubicBezTo>
                    <a:pt x="150592" y="228142"/>
                    <a:pt x="154548" y="252598"/>
                    <a:pt x="162460" y="277055"/>
                  </a:cubicBezTo>
                  <a:cubicBezTo>
                    <a:pt x="180443" y="278853"/>
                    <a:pt x="198785" y="279932"/>
                    <a:pt x="217127" y="280291"/>
                  </a:cubicBezTo>
                  <a:lnTo>
                    <a:pt x="217127" y="203326"/>
                  </a:lnTo>
                  <a:close/>
                  <a:moveTo>
                    <a:pt x="86573" y="203326"/>
                  </a:moveTo>
                  <a:cubicBezTo>
                    <a:pt x="87293" y="226703"/>
                    <a:pt x="94126" y="248282"/>
                    <a:pt x="104916" y="266984"/>
                  </a:cubicBezTo>
                  <a:cubicBezTo>
                    <a:pt x="120021" y="270221"/>
                    <a:pt x="135127" y="273098"/>
                    <a:pt x="150232" y="275256"/>
                  </a:cubicBezTo>
                  <a:cubicBezTo>
                    <a:pt x="143039" y="251519"/>
                    <a:pt x="139442" y="227782"/>
                    <a:pt x="139083" y="203326"/>
                  </a:cubicBezTo>
                  <a:close/>
                  <a:moveTo>
                    <a:pt x="416165" y="182595"/>
                  </a:moveTo>
                  <a:cubicBezTo>
                    <a:pt x="419444" y="182236"/>
                    <a:pt x="421994" y="184749"/>
                    <a:pt x="421994" y="187979"/>
                  </a:cubicBezTo>
                  <a:cubicBezTo>
                    <a:pt x="422359" y="191568"/>
                    <a:pt x="422723" y="194798"/>
                    <a:pt x="422723" y="198387"/>
                  </a:cubicBezTo>
                  <a:cubicBezTo>
                    <a:pt x="422723" y="219922"/>
                    <a:pt x="419079" y="240739"/>
                    <a:pt x="412157" y="260838"/>
                  </a:cubicBezTo>
                  <a:cubicBezTo>
                    <a:pt x="411793" y="263351"/>
                    <a:pt x="409607" y="264427"/>
                    <a:pt x="407420" y="264427"/>
                  </a:cubicBezTo>
                  <a:cubicBezTo>
                    <a:pt x="406692" y="264427"/>
                    <a:pt x="405963" y="264427"/>
                    <a:pt x="405599" y="264068"/>
                  </a:cubicBezTo>
                  <a:cubicBezTo>
                    <a:pt x="402684" y="263351"/>
                    <a:pt x="400862" y="260120"/>
                    <a:pt x="401955" y="257249"/>
                  </a:cubicBezTo>
                  <a:cubicBezTo>
                    <a:pt x="408149" y="238586"/>
                    <a:pt x="411428" y="218486"/>
                    <a:pt x="411428" y="198387"/>
                  </a:cubicBezTo>
                  <a:cubicBezTo>
                    <a:pt x="411428" y="195157"/>
                    <a:pt x="411428" y="191568"/>
                    <a:pt x="411428" y="188338"/>
                  </a:cubicBezTo>
                  <a:cubicBezTo>
                    <a:pt x="411064" y="185466"/>
                    <a:pt x="413250" y="182954"/>
                    <a:pt x="416165" y="182595"/>
                  </a:cubicBezTo>
                  <a:close/>
                  <a:moveTo>
                    <a:pt x="151311" y="120965"/>
                  </a:moveTo>
                  <a:cubicBezTo>
                    <a:pt x="135486" y="123123"/>
                    <a:pt x="120021" y="126000"/>
                    <a:pt x="104556" y="129597"/>
                  </a:cubicBezTo>
                  <a:cubicBezTo>
                    <a:pt x="93767" y="148299"/>
                    <a:pt x="87293" y="169518"/>
                    <a:pt x="86573" y="192536"/>
                  </a:cubicBezTo>
                  <a:lnTo>
                    <a:pt x="139083" y="192536"/>
                  </a:lnTo>
                  <a:cubicBezTo>
                    <a:pt x="139802" y="168799"/>
                    <a:pt x="143758" y="145062"/>
                    <a:pt x="151311" y="120965"/>
                  </a:cubicBezTo>
                  <a:close/>
                  <a:moveTo>
                    <a:pt x="296970" y="120606"/>
                  </a:moveTo>
                  <a:cubicBezTo>
                    <a:pt x="304163" y="144702"/>
                    <a:pt x="308479" y="168799"/>
                    <a:pt x="309199" y="192536"/>
                  </a:cubicBezTo>
                  <a:lnTo>
                    <a:pt x="358831" y="192536"/>
                  </a:lnTo>
                  <a:cubicBezTo>
                    <a:pt x="358111" y="169518"/>
                    <a:pt x="351278" y="147580"/>
                    <a:pt x="340129" y="128878"/>
                  </a:cubicBezTo>
                  <a:cubicBezTo>
                    <a:pt x="326102" y="125641"/>
                    <a:pt x="311357" y="122763"/>
                    <a:pt x="296970" y="120606"/>
                  </a:cubicBezTo>
                  <a:close/>
                  <a:moveTo>
                    <a:pt x="228277" y="115570"/>
                  </a:moveTo>
                  <a:lnTo>
                    <a:pt x="228277" y="192536"/>
                  </a:lnTo>
                  <a:lnTo>
                    <a:pt x="298049" y="192536"/>
                  </a:lnTo>
                  <a:cubicBezTo>
                    <a:pt x="297330" y="168439"/>
                    <a:pt x="292655" y="143623"/>
                    <a:pt x="284742" y="119167"/>
                  </a:cubicBezTo>
                  <a:cubicBezTo>
                    <a:pt x="266040" y="116649"/>
                    <a:pt x="247338" y="115570"/>
                    <a:pt x="228277" y="115570"/>
                  </a:cubicBezTo>
                  <a:close/>
                  <a:moveTo>
                    <a:pt x="217127" y="115570"/>
                  </a:moveTo>
                  <a:cubicBezTo>
                    <a:pt x="199145" y="115930"/>
                    <a:pt x="181162" y="117369"/>
                    <a:pt x="163180" y="119527"/>
                  </a:cubicBezTo>
                  <a:cubicBezTo>
                    <a:pt x="155267" y="143983"/>
                    <a:pt x="150951" y="168439"/>
                    <a:pt x="150232" y="192536"/>
                  </a:cubicBezTo>
                  <a:lnTo>
                    <a:pt x="217127" y="192536"/>
                  </a:lnTo>
                  <a:close/>
                  <a:moveTo>
                    <a:pt x="46143" y="115420"/>
                  </a:moveTo>
                  <a:cubicBezTo>
                    <a:pt x="49008" y="116866"/>
                    <a:pt x="50441" y="119759"/>
                    <a:pt x="49008" y="122652"/>
                  </a:cubicBezTo>
                  <a:cubicBezTo>
                    <a:pt x="38622" y="146879"/>
                    <a:pt x="33249" y="172552"/>
                    <a:pt x="33249" y="198949"/>
                  </a:cubicBezTo>
                  <a:cubicBezTo>
                    <a:pt x="33249" y="207627"/>
                    <a:pt x="33966" y="216305"/>
                    <a:pt x="35040" y="224984"/>
                  </a:cubicBezTo>
                  <a:lnTo>
                    <a:pt x="47217" y="208350"/>
                  </a:lnTo>
                  <a:cubicBezTo>
                    <a:pt x="49008" y="206181"/>
                    <a:pt x="52232" y="205457"/>
                    <a:pt x="54739" y="207265"/>
                  </a:cubicBezTo>
                  <a:cubicBezTo>
                    <a:pt x="57246" y="209073"/>
                    <a:pt x="57604" y="212689"/>
                    <a:pt x="55813" y="215220"/>
                  </a:cubicBezTo>
                  <a:lnTo>
                    <a:pt x="36115" y="241617"/>
                  </a:lnTo>
                  <a:cubicBezTo>
                    <a:pt x="35040" y="243063"/>
                    <a:pt x="33607" y="243787"/>
                    <a:pt x="31817" y="243787"/>
                  </a:cubicBezTo>
                  <a:cubicBezTo>
                    <a:pt x="30742" y="243787"/>
                    <a:pt x="29668" y="243787"/>
                    <a:pt x="28593" y="242702"/>
                  </a:cubicBezTo>
                  <a:lnTo>
                    <a:pt x="2090" y="223176"/>
                  </a:lnTo>
                  <a:cubicBezTo>
                    <a:pt x="-59" y="221006"/>
                    <a:pt x="-776" y="217752"/>
                    <a:pt x="1015" y="215220"/>
                  </a:cubicBezTo>
                  <a:cubicBezTo>
                    <a:pt x="2806" y="212689"/>
                    <a:pt x="6387" y="212328"/>
                    <a:pt x="8895" y="214136"/>
                  </a:cubicBezTo>
                  <a:lnTo>
                    <a:pt x="24295" y="225707"/>
                  </a:lnTo>
                  <a:cubicBezTo>
                    <a:pt x="22863" y="217028"/>
                    <a:pt x="22505" y="207989"/>
                    <a:pt x="22505" y="198949"/>
                  </a:cubicBezTo>
                  <a:cubicBezTo>
                    <a:pt x="22505" y="171106"/>
                    <a:pt x="28235" y="143624"/>
                    <a:pt x="38980" y="118312"/>
                  </a:cubicBezTo>
                  <a:cubicBezTo>
                    <a:pt x="40412" y="115420"/>
                    <a:pt x="43636" y="113973"/>
                    <a:pt x="46143" y="115420"/>
                  </a:cubicBezTo>
                  <a:close/>
                  <a:moveTo>
                    <a:pt x="278628" y="73491"/>
                  </a:moveTo>
                  <a:cubicBezTo>
                    <a:pt x="284023" y="85359"/>
                    <a:pt x="289058" y="97228"/>
                    <a:pt x="293374" y="109096"/>
                  </a:cubicBezTo>
                  <a:cubicBezTo>
                    <a:pt x="305962" y="110894"/>
                    <a:pt x="318909" y="113052"/>
                    <a:pt x="331497" y="115570"/>
                  </a:cubicBezTo>
                  <a:cubicBezTo>
                    <a:pt x="317471" y="97587"/>
                    <a:pt x="299488" y="82842"/>
                    <a:pt x="278628" y="73491"/>
                  </a:cubicBezTo>
                  <a:close/>
                  <a:moveTo>
                    <a:pt x="170373" y="72052"/>
                  </a:moveTo>
                  <a:cubicBezTo>
                    <a:pt x="147714" y="81403"/>
                    <a:pt x="127934" y="96868"/>
                    <a:pt x="113188" y="116649"/>
                  </a:cubicBezTo>
                  <a:cubicBezTo>
                    <a:pt x="127214" y="113412"/>
                    <a:pt x="141241" y="111254"/>
                    <a:pt x="154908" y="109456"/>
                  </a:cubicBezTo>
                  <a:cubicBezTo>
                    <a:pt x="159223" y="96868"/>
                    <a:pt x="164259" y="84280"/>
                    <a:pt x="170373" y="72052"/>
                  </a:cubicBezTo>
                  <a:close/>
                  <a:moveTo>
                    <a:pt x="228277" y="61622"/>
                  </a:moveTo>
                  <a:lnTo>
                    <a:pt x="228277" y="104780"/>
                  </a:lnTo>
                  <a:cubicBezTo>
                    <a:pt x="245900" y="104780"/>
                    <a:pt x="263523" y="105859"/>
                    <a:pt x="280786" y="107658"/>
                  </a:cubicBezTo>
                  <a:cubicBezTo>
                    <a:pt x="276111" y="94350"/>
                    <a:pt x="269996" y="81043"/>
                    <a:pt x="263163" y="67376"/>
                  </a:cubicBezTo>
                  <a:cubicBezTo>
                    <a:pt x="252014" y="64140"/>
                    <a:pt x="240505" y="61982"/>
                    <a:pt x="228277" y="61622"/>
                  </a:cubicBezTo>
                  <a:close/>
                  <a:moveTo>
                    <a:pt x="217127" y="61622"/>
                  </a:moveTo>
                  <a:cubicBezTo>
                    <a:pt x="205978" y="61982"/>
                    <a:pt x="195548" y="63780"/>
                    <a:pt x="185478" y="66657"/>
                  </a:cubicBezTo>
                  <a:cubicBezTo>
                    <a:pt x="178285" y="80684"/>
                    <a:pt x="172171" y="93991"/>
                    <a:pt x="167136" y="107658"/>
                  </a:cubicBezTo>
                  <a:cubicBezTo>
                    <a:pt x="184039" y="106219"/>
                    <a:pt x="200583" y="104780"/>
                    <a:pt x="217127" y="104780"/>
                  </a:cubicBezTo>
                  <a:close/>
                  <a:moveTo>
                    <a:pt x="222522" y="50473"/>
                  </a:moveTo>
                  <a:cubicBezTo>
                    <a:pt x="304163" y="50473"/>
                    <a:pt x="370340" y="116649"/>
                    <a:pt x="370340" y="197931"/>
                  </a:cubicBezTo>
                  <a:cubicBezTo>
                    <a:pt x="370340" y="262309"/>
                    <a:pt x="328620" y="316976"/>
                    <a:pt x="271435" y="337117"/>
                  </a:cubicBezTo>
                  <a:cubicBezTo>
                    <a:pt x="271075" y="337476"/>
                    <a:pt x="271075" y="337476"/>
                    <a:pt x="270716" y="337836"/>
                  </a:cubicBezTo>
                  <a:lnTo>
                    <a:pt x="269996" y="337476"/>
                  </a:lnTo>
                  <a:cubicBezTo>
                    <a:pt x="255251" y="342511"/>
                    <a:pt x="239426" y="345389"/>
                    <a:pt x="222522" y="345389"/>
                  </a:cubicBezTo>
                  <a:cubicBezTo>
                    <a:pt x="141600" y="345389"/>
                    <a:pt x="75424" y="279212"/>
                    <a:pt x="75424" y="197931"/>
                  </a:cubicBezTo>
                  <a:cubicBezTo>
                    <a:pt x="75424" y="116649"/>
                    <a:pt x="141600" y="50473"/>
                    <a:pt x="222522" y="50473"/>
                  </a:cubicBezTo>
                  <a:close/>
                  <a:moveTo>
                    <a:pt x="332081" y="3930"/>
                  </a:moveTo>
                  <a:cubicBezTo>
                    <a:pt x="335315" y="2848"/>
                    <a:pt x="338190" y="4652"/>
                    <a:pt x="339268" y="7538"/>
                  </a:cubicBezTo>
                  <a:cubicBezTo>
                    <a:pt x="339987" y="10425"/>
                    <a:pt x="338549" y="13672"/>
                    <a:pt x="335675" y="14393"/>
                  </a:cubicBezTo>
                  <a:lnTo>
                    <a:pt x="314114" y="21609"/>
                  </a:lnTo>
                  <a:cubicBezTo>
                    <a:pt x="366219" y="48308"/>
                    <a:pt x="404310" y="97376"/>
                    <a:pt x="417606" y="154743"/>
                  </a:cubicBezTo>
                  <a:cubicBezTo>
                    <a:pt x="417965" y="157629"/>
                    <a:pt x="416168" y="160877"/>
                    <a:pt x="413293" y="161237"/>
                  </a:cubicBezTo>
                  <a:cubicBezTo>
                    <a:pt x="412934" y="161237"/>
                    <a:pt x="412215" y="161237"/>
                    <a:pt x="412215" y="161237"/>
                  </a:cubicBezTo>
                  <a:cubicBezTo>
                    <a:pt x="409700" y="161237"/>
                    <a:pt x="407544" y="159794"/>
                    <a:pt x="406825" y="157269"/>
                  </a:cubicBezTo>
                  <a:cubicBezTo>
                    <a:pt x="394248" y="102427"/>
                    <a:pt x="357595" y="55885"/>
                    <a:pt x="308005" y="30629"/>
                  </a:cubicBezTo>
                  <a:lnTo>
                    <a:pt x="315551" y="53720"/>
                  </a:lnTo>
                  <a:cubicBezTo>
                    <a:pt x="316270" y="56606"/>
                    <a:pt x="314832" y="59853"/>
                    <a:pt x="311958" y="60575"/>
                  </a:cubicBezTo>
                  <a:cubicBezTo>
                    <a:pt x="311239" y="60936"/>
                    <a:pt x="310880" y="60936"/>
                    <a:pt x="310161" y="60936"/>
                  </a:cubicBezTo>
                  <a:cubicBezTo>
                    <a:pt x="308005" y="60936"/>
                    <a:pt x="305849" y="59493"/>
                    <a:pt x="304771" y="57328"/>
                  </a:cubicBezTo>
                  <a:lnTo>
                    <a:pt x="293631" y="22331"/>
                  </a:lnTo>
                  <a:cubicBezTo>
                    <a:pt x="292912" y="19084"/>
                    <a:pt x="294350" y="16197"/>
                    <a:pt x="297224" y="15115"/>
                  </a:cubicBezTo>
                  <a:close/>
                  <a:moveTo>
                    <a:pt x="190856" y="1985"/>
                  </a:moveTo>
                  <a:cubicBezTo>
                    <a:pt x="193722" y="1261"/>
                    <a:pt x="196588" y="3433"/>
                    <a:pt x="196946" y="6328"/>
                  </a:cubicBezTo>
                  <a:cubicBezTo>
                    <a:pt x="197304" y="9224"/>
                    <a:pt x="195513" y="12119"/>
                    <a:pt x="192647" y="12481"/>
                  </a:cubicBezTo>
                  <a:cubicBezTo>
                    <a:pt x="143215" y="20082"/>
                    <a:pt x="98081" y="47952"/>
                    <a:pt x="68708" y="89214"/>
                  </a:cubicBezTo>
                  <a:cubicBezTo>
                    <a:pt x="67634" y="90300"/>
                    <a:pt x="65843" y="91386"/>
                    <a:pt x="64410" y="91386"/>
                  </a:cubicBezTo>
                  <a:cubicBezTo>
                    <a:pt x="63335" y="91386"/>
                    <a:pt x="61903" y="90662"/>
                    <a:pt x="61186" y="89938"/>
                  </a:cubicBezTo>
                  <a:cubicBezTo>
                    <a:pt x="58679" y="88490"/>
                    <a:pt x="57962" y="84871"/>
                    <a:pt x="59753" y="82337"/>
                  </a:cubicBezTo>
                  <a:cubicBezTo>
                    <a:pt x="90917" y="38903"/>
                    <a:pt x="138917" y="9948"/>
                    <a:pt x="190856" y="1985"/>
                  </a:cubicBezTo>
                  <a:close/>
                  <a:moveTo>
                    <a:pt x="227204" y="34"/>
                  </a:moveTo>
                  <a:cubicBezTo>
                    <a:pt x="239736" y="34"/>
                    <a:pt x="251911" y="1477"/>
                    <a:pt x="264086" y="4363"/>
                  </a:cubicBezTo>
                  <a:cubicBezTo>
                    <a:pt x="267309" y="4724"/>
                    <a:pt x="268741" y="7971"/>
                    <a:pt x="268383" y="10858"/>
                  </a:cubicBezTo>
                  <a:cubicBezTo>
                    <a:pt x="267667" y="13383"/>
                    <a:pt x="265518" y="15187"/>
                    <a:pt x="263012" y="15187"/>
                  </a:cubicBezTo>
                  <a:cubicBezTo>
                    <a:pt x="262654" y="15187"/>
                    <a:pt x="261938" y="15187"/>
                    <a:pt x="261938" y="15187"/>
                  </a:cubicBezTo>
                  <a:cubicBezTo>
                    <a:pt x="250479" y="12662"/>
                    <a:pt x="238662" y="10858"/>
                    <a:pt x="227204" y="10858"/>
                  </a:cubicBezTo>
                  <a:cubicBezTo>
                    <a:pt x="223981" y="10497"/>
                    <a:pt x="221474" y="8332"/>
                    <a:pt x="221474" y="5085"/>
                  </a:cubicBezTo>
                  <a:cubicBezTo>
                    <a:pt x="221832" y="2198"/>
                    <a:pt x="224339" y="-327"/>
                    <a:pt x="227204" y="34"/>
                  </a:cubicBezTo>
                  <a:close/>
                </a:path>
              </a:pathLst>
            </a:custGeom>
            <a:solidFill>
              <a:srgbClr val="C00000"/>
            </a:solidFill>
            <a:ln>
              <a:noFill/>
            </a:ln>
            <a:effectLst/>
          </p:spPr>
          <p:txBody>
            <a:bodyPr wrap="square" anchor="ctr">
              <a:noAutofit/>
            </a:bodyPr>
            <a:lstStyle/>
            <a:p>
              <a:endParaRPr lang="en-US" sz="3599" dirty="0">
                <a:latin typeface="Poppins" pitchFamily="2" charset="77"/>
              </a:endParaRPr>
            </a:p>
          </p:txBody>
        </p:sp>
        <p:sp>
          <p:nvSpPr>
            <p:cNvPr id="33" name="Freeform 318">
              <a:extLst>
                <a:ext uri="{FF2B5EF4-FFF2-40B4-BE49-F238E27FC236}">
                  <a16:creationId xmlns:a16="http://schemas.microsoft.com/office/drawing/2014/main" id="{603D48E1-FC20-55DB-4AEF-4E548DBB5A16}"/>
                </a:ext>
              </a:extLst>
            </p:cNvPr>
            <p:cNvSpPr>
              <a:spLocks noChangeArrowheads="1"/>
            </p:cNvSpPr>
            <p:nvPr/>
          </p:nvSpPr>
          <p:spPr bwMode="auto">
            <a:xfrm>
              <a:off x="6874911" y="2576545"/>
              <a:ext cx="622560" cy="554532"/>
            </a:xfrm>
            <a:custGeom>
              <a:avLst/>
              <a:gdLst>
                <a:gd name="T0" fmla="*/ 579 w 931"/>
                <a:gd name="T1" fmla="*/ 565 h 889"/>
                <a:gd name="T2" fmla="*/ 772 w 931"/>
                <a:gd name="T3" fmla="*/ 492 h 889"/>
                <a:gd name="T4" fmla="*/ 905 w 931"/>
                <a:gd name="T5" fmla="*/ 529 h 889"/>
                <a:gd name="T6" fmla="*/ 804 w 931"/>
                <a:gd name="T7" fmla="*/ 662 h 889"/>
                <a:gd name="T8" fmla="*/ 512 w 931"/>
                <a:gd name="T9" fmla="*/ 662 h 889"/>
                <a:gd name="T10" fmla="*/ 804 w 931"/>
                <a:gd name="T11" fmla="*/ 590 h 889"/>
                <a:gd name="T12" fmla="*/ 804 w 931"/>
                <a:gd name="T13" fmla="*/ 662 h 889"/>
                <a:gd name="T14" fmla="*/ 497 w 931"/>
                <a:gd name="T15" fmla="*/ 759 h 889"/>
                <a:gd name="T16" fmla="*/ 433 w 931"/>
                <a:gd name="T17" fmla="*/ 733 h 889"/>
                <a:gd name="T18" fmla="*/ 460 w 931"/>
                <a:gd name="T19" fmla="*/ 719 h 889"/>
                <a:gd name="T20" fmla="*/ 497 w 931"/>
                <a:gd name="T21" fmla="*/ 687 h 889"/>
                <a:gd name="T22" fmla="*/ 711 w 931"/>
                <a:gd name="T23" fmla="*/ 723 h 889"/>
                <a:gd name="T24" fmla="*/ 199 w 931"/>
                <a:gd name="T25" fmla="*/ 759 h 889"/>
                <a:gd name="T26" fmla="*/ 24 w 931"/>
                <a:gd name="T27" fmla="*/ 529 h 889"/>
                <a:gd name="T28" fmla="*/ 174 w 931"/>
                <a:gd name="T29" fmla="*/ 315 h 889"/>
                <a:gd name="T30" fmla="*/ 437 w 931"/>
                <a:gd name="T31" fmla="*/ 362 h 889"/>
                <a:gd name="T32" fmla="*/ 222 w 931"/>
                <a:gd name="T33" fmla="*/ 436 h 889"/>
                <a:gd name="T34" fmla="*/ 210 w 931"/>
                <a:gd name="T35" fmla="*/ 448 h 889"/>
                <a:gd name="T36" fmla="*/ 266 w 931"/>
                <a:gd name="T37" fmla="*/ 460 h 889"/>
                <a:gd name="T38" fmla="*/ 409 w 931"/>
                <a:gd name="T39" fmla="*/ 731 h 889"/>
                <a:gd name="T40" fmla="*/ 199 w 931"/>
                <a:gd name="T41" fmla="*/ 759 h 889"/>
                <a:gd name="T42" fmla="*/ 429 w 931"/>
                <a:gd name="T43" fmla="*/ 468 h 889"/>
                <a:gd name="T44" fmla="*/ 379 w 931"/>
                <a:gd name="T45" fmla="*/ 491 h 889"/>
                <a:gd name="T46" fmla="*/ 360 w 931"/>
                <a:gd name="T47" fmla="*/ 506 h 889"/>
                <a:gd name="T48" fmla="*/ 410 w 931"/>
                <a:gd name="T49" fmla="*/ 705 h 889"/>
                <a:gd name="T50" fmla="*/ 290 w 931"/>
                <a:gd name="T51" fmla="*/ 460 h 889"/>
                <a:gd name="T52" fmla="*/ 431 w 931"/>
                <a:gd name="T53" fmla="*/ 431 h 889"/>
                <a:gd name="T54" fmla="*/ 455 w 931"/>
                <a:gd name="T55" fmla="*/ 33 h 889"/>
                <a:gd name="T56" fmla="*/ 494 w 931"/>
                <a:gd name="T57" fmla="*/ 36 h 889"/>
                <a:gd name="T58" fmla="*/ 614 w 931"/>
                <a:gd name="T59" fmla="*/ 380 h 889"/>
                <a:gd name="T60" fmla="*/ 435 w 931"/>
                <a:gd name="T61" fmla="*/ 706 h 889"/>
                <a:gd name="T62" fmla="*/ 569 w 931"/>
                <a:gd name="T63" fmla="*/ 375 h 889"/>
                <a:gd name="T64" fmla="*/ 553 w 931"/>
                <a:gd name="T65" fmla="*/ 356 h 889"/>
                <a:gd name="T66" fmla="*/ 468 w 931"/>
                <a:gd name="T67" fmla="*/ 268 h 889"/>
                <a:gd name="T68" fmla="*/ 478 w 931"/>
                <a:gd name="T69" fmla="*/ 134 h 889"/>
                <a:gd name="T70" fmla="*/ 455 w 931"/>
                <a:gd name="T71" fmla="*/ 132 h 889"/>
                <a:gd name="T72" fmla="*/ 399 w 931"/>
                <a:gd name="T73" fmla="*/ 183 h 889"/>
                <a:gd name="T74" fmla="*/ 381 w 931"/>
                <a:gd name="T75" fmla="*/ 199 h 889"/>
                <a:gd name="T76" fmla="*/ 440 w 931"/>
                <a:gd name="T77" fmla="*/ 312 h 889"/>
                <a:gd name="T78" fmla="*/ 294 w 931"/>
                <a:gd name="T79" fmla="*/ 290 h 889"/>
                <a:gd name="T80" fmla="*/ 809 w 931"/>
                <a:gd name="T81" fmla="*/ 431 h 889"/>
                <a:gd name="T82" fmla="*/ 621 w 931"/>
                <a:gd name="T83" fmla="*/ 468 h 889"/>
                <a:gd name="T84" fmla="*/ 772 w 931"/>
                <a:gd name="T85" fmla="*/ 396 h 889"/>
                <a:gd name="T86" fmla="*/ 820 w 931"/>
                <a:gd name="T87" fmla="*/ 468 h 889"/>
                <a:gd name="T88" fmla="*/ 833 w 931"/>
                <a:gd name="T89" fmla="*/ 431 h 889"/>
                <a:gd name="T90" fmla="*/ 639 w 931"/>
                <a:gd name="T91" fmla="*/ 371 h 889"/>
                <a:gd name="T92" fmla="*/ 477 w 931"/>
                <a:gd name="T93" fmla="*/ 2 h 889"/>
                <a:gd name="T94" fmla="*/ 438 w 931"/>
                <a:gd name="T95" fmla="*/ 16 h 889"/>
                <a:gd name="T96" fmla="*/ 174 w 931"/>
                <a:gd name="T97" fmla="*/ 290 h 889"/>
                <a:gd name="T98" fmla="*/ 0 w 931"/>
                <a:gd name="T99" fmla="*/ 584 h 889"/>
                <a:gd name="T100" fmla="*/ 412 w 931"/>
                <a:gd name="T101" fmla="*/ 783 h 889"/>
                <a:gd name="T102" fmla="*/ 458 w 931"/>
                <a:gd name="T103" fmla="*/ 884 h 889"/>
                <a:gd name="T104" fmla="*/ 475 w 931"/>
                <a:gd name="T105" fmla="*/ 884 h 889"/>
                <a:gd name="T106" fmla="*/ 476 w 931"/>
                <a:gd name="T107" fmla="*/ 867 h 889"/>
                <a:gd name="T108" fmla="*/ 594 w 931"/>
                <a:gd name="T109" fmla="*/ 783 h 889"/>
                <a:gd name="T110" fmla="*/ 736 w 931"/>
                <a:gd name="T111" fmla="*/ 723 h 889"/>
                <a:gd name="T112" fmla="*/ 804 w 931"/>
                <a:gd name="T113" fmla="*/ 687 h 889"/>
                <a:gd name="T114" fmla="*/ 865 w 931"/>
                <a:gd name="T115" fmla="*/ 626 h 889"/>
                <a:gd name="T116" fmla="*/ 869 w 931"/>
                <a:gd name="T117" fmla="*/ 590 h 889"/>
                <a:gd name="T118" fmla="*/ 869 w 931"/>
                <a:gd name="T119" fmla="*/ 468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31" h="889">
                  <a:moveTo>
                    <a:pt x="869" y="565"/>
                  </a:moveTo>
                  <a:lnTo>
                    <a:pt x="804" y="565"/>
                  </a:lnTo>
                  <a:lnTo>
                    <a:pt x="579" y="565"/>
                  </a:lnTo>
                  <a:lnTo>
                    <a:pt x="579" y="565"/>
                  </a:lnTo>
                  <a:cubicBezTo>
                    <a:pt x="592" y="542"/>
                    <a:pt x="604" y="518"/>
                    <a:pt x="613" y="492"/>
                  </a:cubicBezTo>
                  <a:lnTo>
                    <a:pt x="772" y="492"/>
                  </a:lnTo>
                  <a:lnTo>
                    <a:pt x="869" y="492"/>
                  </a:lnTo>
                  <a:lnTo>
                    <a:pt x="869" y="492"/>
                  </a:lnTo>
                  <a:cubicBezTo>
                    <a:pt x="889" y="492"/>
                    <a:pt x="905" y="509"/>
                    <a:pt x="905" y="529"/>
                  </a:cubicBezTo>
                  <a:lnTo>
                    <a:pt x="905" y="529"/>
                  </a:lnTo>
                  <a:cubicBezTo>
                    <a:pt x="905" y="549"/>
                    <a:pt x="889" y="565"/>
                    <a:pt x="869" y="565"/>
                  </a:cubicBezTo>
                  <a:close/>
                  <a:moveTo>
                    <a:pt x="804" y="662"/>
                  </a:moveTo>
                  <a:lnTo>
                    <a:pt x="675" y="662"/>
                  </a:lnTo>
                  <a:lnTo>
                    <a:pt x="512" y="662"/>
                  </a:lnTo>
                  <a:lnTo>
                    <a:pt x="512" y="662"/>
                  </a:lnTo>
                  <a:cubicBezTo>
                    <a:pt x="530" y="641"/>
                    <a:pt x="548" y="616"/>
                    <a:pt x="565" y="590"/>
                  </a:cubicBezTo>
                  <a:lnTo>
                    <a:pt x="804" y="590"/>
                  </a:lnTo>
                  <a:lnTo>
                    <a:pt x="804" y="590"/>
                  </a:lnTo>
                  <a:cubicBezTo>
                    <a:pt x="824" y="590"/>
                    <a:pt x="840" y="606"/>
                    <a:pt x="840" y="626"/>
                  </a:cubicBezTo>
                  <a:lnTo>
                    <a:pt x="840" y="626"/>
                  </a:lnTo>
                  <a:cubicBezTo>
                    <a:pt x="840" y="646"/>
                    <a:pt x="824" y="662"/>
                    <a:pt x="804" y="662"/>
                  </a:cubicBezTo>
                  <a:close/>
                  <a:moveTo>
                    <a:pt x="675" y="759"/>
                  </a:moveTo>
                  <a:lnTo>
                    <a:pt x="594" y="759"/>
                  </a:lnTo>
                  <a:lnTo>
                    <a:pt x="497" y="759"/>
                  </a:lnTo>
                  <a:lnTo>
                    <a:pt x="434" y="759"/>
                  </a:lnTo>
                  <a:lnTo>
                    <a:pt x="434" y="759"/>
                  </a:lnTo>
                  <a:cubicBezTo>
                    <a:pt x="433" y="748"/>
                    <a:pt x="433" y="739"/>
                    <a:pt x="433" y="733"/>
                  </a:cubicBezTo>
                  <a:lnTo>
                    <a:pt x="433" y="733"/>
                  </a:lnTo>
                  <a:cubicBezTo>
                    <a:pt x="443" y="731"/>
                    <a:pt x="452" y="726"/>
                    <a:pt x="460" y="719"/>
                  </a:cubicBezTo>
                  <a:lnTo>
                    <a:pt x="460" y="719"/>
                  </a:lnTo>
                  <a:cubicBezTo>
                    <a:pt x="469" y="709"/>
                    <a:pt x="480" y="698"/>
                    <a:pt x="492" y="685"/>
                  </a:cubicBezTo>
                  <a:lnTo>
                    <a:pt x="492" y="685"/>
                  </a:lnTo>
                  <a:cubicBezTo>
                    <a:pt x="494" y="686"/>
                    <a:pt x="495" y="687"/>
                    <a:pt x="497" y="687"/>
                  </a:cubicBezTo>
                  <a:lnTo>
                    <a:pt x="675" y="687"/>
                  </a:lnTo>
                  <a:lnTo>
                    <a:pt x="675" y="687"/>
                  </a:lnTo>
                  <a:cubicBezTo>
                    <a:pt x="695" y="687"/>
                    <a:pt x="711" y="702"/>
                    <a:pt x="711" y="723"/>
                  </a:cubicBezTo>
                  <a:lnTo>
                    <a:pt x="711" y="723"/>
                  </a:lnTo>
                  <a:cubicBezTo>
                    <a:pt x="711" y="743"/>
                    <a:pt x="695" y="759"/>
                    <a:pt x="675" y="759"/>
                  </a:cubicBezTo>
                  <a:close/>
                  <a:moveTo>
                    <a:pt x="199" y="759"/>
                  </a:moveTo>
                  <a:lnTo>
                    <a:pt x="199" y="759"/>
                  </a:lnTo>
                  <a:cubicBezTo>
                    <a:pt x="103" y="759"/>
                    <a:pt x="24" y="681"/>
                    <a:pt x="24" y="584"/>
                  </a:cubicBezTo>
                  <a:lnTo>
                    <a:pt x="24" y="529"/>
                  </a:lnTo>
                  <a:lnTo>
                    <a:pt x="24" y="464"/>
                  </a:lnTo>
                  <a:lnTo>
                    <a:pt x="24" y="464"/>
                  </a:lnTo>
                  <a:cubicBezTo>
                    <a:pt x="24" y="381"/>
                    <a:pt x="91" y="315"/>
                    <a:pt x="174" y="315"/>
                  </a:cubicBezTo>
                  <a:lnTo>
                    <a:pt x="389" y="315"/>
                  </a:lnTo>
                  <a:lnTo>
                    <a:pt x="389" y="315"/>
                  </a:lnTo>
                  <a:cubicBezTo>
                    <a:pt x="415" y="315"/>
                    <a:pt x="437" y="336"/>
                    <a:pt x="437" y="362"/>
                  </a:cubicBezTo>
                  <a:lnTo>
                    <a:pt x="437" y="362"/>
                  </a:lnTo>
                  <a:cubicBezTo>
                    <a:pt x="437" y="403"/>
                    <a:pt x="403" y="436"/>
                    <a:pt x="363" y="436"/>
                  </a:cubicBezTo>
                  <a:lnTo>
                    <a:pt x="222" y="436"/>
                  </a:lnTo>
                  <a:lnTo>
                    <a:pt x="222" y="436"/>
                  </a:lnTo>
                  <a:cubicBezTo>
                    <a:pt x="215" y="436"/>
                    <a:pt x="210" y="441"/>
                    <a:pt x="210" y="448"/>
                  </a:cubicBezTo>
                  <a:lnTo>
                    <a:pt x="210" y="448"/>
                  </a:lnTo>
                  <a:cubicBezTo>
                    <a:pt x="210" y="455"/>
                    <a:pt x="215" y="460"/>
                    <a:pt x="222" y="460"/>
                  </a:cubicBezTo>
                  <a:lnTo>
                    <a:pt x="266" y="460"/>
                  </a:lnTo>
                  <a:lnTo>
                    <a:pt x="266" y="460"/>
                  </a:lnTo>
                  <a:cubicBezTo>
                    <a:pt x="288" y="572"/>
                    <a:pt x="349" y="666"/>
                    <a:pt x="384" y="713"/>
                  </a:cubicBezTo>
                  <a:lnTo>
                    <a:pt x="384" y="713"/>
                  </a:lnTo>
                  <a:cubicBezTo>
                    <a:pt x="390" y="722"/>
                    <a:pt x="399" y="727"/>
                    <a:pt x="409" y="731"/>
                  </a:cubicBezTo>
                  <a:lnTo>
                    <a:pt x="409" y="731"/>
                  </a:lnTo>
                  <a:cubicBezTo>
                    <a:pt x="409" y="738"/>
                    <a:pt x="409" y="748"/>
                    <a:pt x="409" y="759"/>
                  </a:cubicBezTo>
                  <a:lnTo>
                    <a:pt x="199" y="759"/>
                  </a:lnTo>
                  <a:close/>
                  <a:moveTo>
                    <a:pt x="429" y="468"/>
                  </a:moveTo>
                  <a:lnTo>
                    <a:pt x="429" y="468"/>
                  </a:lnTo>
                  <a:lnTo>
                    <a:pt x="429" y="468"/>
                  </a:lnTo>
                  <a:lnTo>
                    <a:pt x="423" y="545"/>
                  </a:lnTo>
                  <a:lnTo>
                    <a:pt x="379" y="491"/>
                  </a:lnTo>
                  <a:lnTo>
                    <a:pt x="379" y="491"/>
                  </a:lnTo>
                  <a:cubicBezTo>
                    <a:pt x="374" y="486"/>
                    <a:pt x="367" y="486"/>
                    <a:pt x="362" y="490"/>
                  </a:cubicBezTo>
                  <a:lnTo>
                    <a:pt x="362" y="490"/>
                  </a:lnTo>
                  <a:cubicBezTo>
                    <a:pt x="357" y="493"/>
                    <a:pt x="356" y="501"/>
                    <a:pt x="360" y="506"/>
                  </a:cubicBezTo>
                  <a:lnTo>
                    <a:pt x="420" y="580"/>
                  </a:lnTo>
                  <a:lnTo>
                    <a:pt x="410" y="705"/>
                  </a:lnTo>
                  <a:lnTo>
                    <a:pt x="410" y="705"/>
                  </a:lnTo>
                  <a:cubicBezTo>
                    <a:pt x="408" y="703"/>
                    <a:pt x="405" y="701"/>
                    <a:pt x="404" y="698"/>
                  </a:cubicBezTo>
                  <a:lnTo>
                    <a:pt x="404" y="698"/>
                  </a:lnTo>
                  <a:cubicBezTo>
                    <a:pt x="370" y="654"/>
                    <a:pt x="312" y="565"/>
                    <a:pt x="290" y="460"/>
                  </a:cubicBezTo>
                  <a:lnTo>
                    <a:pt x="363" y="460"/>
                  </a:lnTo>
                  <a:lnTo>
                    <a:pt x="363" y="460"/>
                  </a:lnTo>
                  <a:cubicBezTo>
                    <a:pt x="389" y="460"/>
                    <a:pt x="414" y="449"/>
                    <a:pt x="431" y="431"/>
                  </a:cubicBezTo>
                  <a:lnTo>
                    <a:pt x="429" y="468"/>
                  </a:lnTo>
                  <a:close/>
                  <a:moveTo>
                    <a:pt x="455" y="33"/>
                  </a:moveTo>
                  <a:lnTo>
                    <a:pt x="455" y="33"/>
                  </a:lnTo>
                  <a:cubicBezTo>
                    <a:pt x="460" y="27"/>
                    <a:pt x="467" y="25"/>
                    <a:pt x="475" y="26"/>
                  </a:cubicBezTo>
                  <a:lnTo>
                    <a:pt x="475" y="26"/>
                  </a:lnTo>
                  <a:cubicBezTo>
                    <a:pt x="482" y="26"/>
                    <a:pt x="489" y="30"/>
                    <a:pt x="494" y="36"/>
                  </a:cubicBezTo>
                  <a:lnTo>
                    <a:pt x="494" y="36"/>
                  </a:lnTo>
                  <a:cubicBezTo>
                    <a:pt x="533" y="89"/>
                    <a:pt x="626" y="229"/>
                    <a:pt x="614" y="380"/>
                  </a:cubicBezTo>
                  <a:lnTo>
                    <a:pt x="614" y="380"/>
                  </a:lnTo>
                  <a:cubicBezTo>
                    <a:pt x="603" y="531"/>
                    <a:pt x="490" y="655"/>
                    <a:pt x="442" y="701"/>
                  </a:cubicBezTo>
                  <a:lnTo>
                    <a:pt x="442" y="701"/>
                  </a:lnTo>
                  <a:cubicBezTo>
                    <a:pt x="440" y="704"/>
                    <a:pt x="437" y="705"/>
                    <a:pt x="435" y="706"/>
                  </a:cubicBezTo>
                  <a:lnTo>
                    <a:pt x="453" y="475"/>
                  </a:lnTo>
                  <a:lnTo>
                    <a:pt x="569" y="375"/>
                  </a:lnTo>
                  <a:lnTo>
                    <a:pt x="569" y="375"/>
                  </a:lnTo>
                  <a:cubicBezTo>
                    <a:pt x="574" y="371"/>
                    <a:pt x="574" y="363"/>
                    <a:pt x="570" y="358"/>
                  </a:cubicBezTo>
                  <a:lnTo>
                    <a:pt x="570" y="358"/>
                  </a:lnTo>
                  <a:cubicBezTo>
                    <a:pt x="566" y="353"/>
                    <a:pt x="558" y="352"/>
                    <a:pt x="553" y="356"/>
                  </a:cubicBezTo>
                  <a:lnTo>
                    <a:pt x="455" y="440"/>
                  </a:lnTo>
                  <a:lnTo>
                    <a:pt x="468" y="268"/>
                  </a:lnTo>
                  <a:lnTo>
                    <a:pt x="468" y="268"/>
                  </a:lnTo>
                  <a:lnTo>
                    <a:pt x="468" y="268"/>
                  </a:lnTo>
                  <a:lnTo>
                    <a:pt x="478" y="134"/>
                  </a:lnTo>
                  <a:lnTo>
                    <a:pt x="478" y="134"/>
                  </a:lnTo>
                  <a:cubicBezTo>
                    <a:pt x="479" y="128"/>
                    <a:pt x="474" y="122"/>
                    <a:pt x="467" y="121"/>
                  </a:cubicBezTo>
                  <a:lnTo>
                    <a:pt x="467" y="121"/>
                  </a:lnTo>
                  <a:cubicBezTo>
                    <a:pt x="461" y="121"/>
                    <a:pt x="455" y="126"/>
                    <a:pt x="455" y="132"/>
                  </a:cubicBezTo>
                  <a:lnTo>
                    <a:pt x="447" y="238"/>
                  </a:lnTo>
                  <a:lnTo>
                    <a:pt x="399" y="183"/>
                  </a:lnTo>
                  <a:lnTo>
                    <a:pt x="399" y="183"/>
                  </a:lnTo>
                  <a:cubicBezTo>
                    <a:pt x="395" y="178"/>
                    <a:pt x="387" y="177"/>
                    <a:pt x="382" y="182"/>
                  </a:cubicBezTo>
                  <a:lnTo>
                    <a:pt x="382" y="182"/>
                  </a:lnTo>
                  <a:cubicBezTo>
                    <a:pt x="377" y="186"/>
                    <a:pt x="377" y="194"/>
                    <a:pt x="381" y="199"/>
                  </a:cubicBezTo>
                  <a:lnTo>
                    <a:pt x="443" y="272"/>
                  </a:lnTo>
                  <a:lnTo>
                    <a:pt x="440" y="312"/>
                  </a:lnTo>
                  <a:lnTo>
                    <a:pt x="440" y="312"/>
                  </a:lnTo>
                  <a:cubicBezTo>
                    <a:pt x="427" y="299"/>
                    <a:pt x="409" y="290"/>
                    <a:pt x="389" y="290"/>
                  </a:cubicBezTo>
                  <a:lnTo>
                    <a:pt x="294" y="290"/>
                  </a:lnTo>
                  <a:lnTo>
                    <a:pt x="294" y="290"/>
                  </a:lnTo>
                  <a:cubicBezTo>
                    <a:pt x="325" y="172"/>
                    <a:pt x="407" y="79"/>
                    <a:pt x="455" y="33"/>
                  </a:cubicBezTo>
                  <a:close/>
                  <a:moveTo>
                    <a:pt x="809" y="431"/>
                  </a:moveTo>
                  <a:lnTo>
                    <a:pt x="809" y="431"/>
                  </a:lnTo>
                  <a:cubicBezTo>
                    <a:pt x="809" y="452"/>
                    <a:pt x="792" y="468"/>
                    <a:pt x="772" y="468"/>
                  </a:cubicBezTo>
                  <a:lnTo>
                    <a:pt x="621" y="468"/>
                  </a:lnTo>
                  <a:lnTo>
                    <a:pt x="621" y="468"/>
                  </a:lnTo>
                  <a:cubicBezTo>
                    <a:pt x="629" y="445"/>
                    <a:pt x="634" y="420"/>
                    <a:pt x="637" y="396"/>
                  </a:cubicBezTo>
                  <a:lnTo>
                    <a:pt x="772" y="396"/>
                  </a:lnTo>
                  <a:lnTo>
                    <a:pt x="772" y="396"/>
                  </a:lnTo>
                  <a:cubicBezTo>
                    <a:pt x="792" y="396"/>
                    <a:pt x="809" y="412"/>
                    <a:pt x="809" y="431"/>
                  </a:cubicBezTo>
                  <a:close/>
                  <a:moveTo>
                    <a:pt x="869" y="468"/>
                  </a:moveTo>
                  <a:lnTo>
                    <a:pt x="820" y="468"/>
                  </a:lnTo>
                  <a:lnTo>
                    <a:pt x="820" y="468"/>
                  </a:lnTo>
                  <a:cubicBezTo>
                    <a:pt x="828" y="458"/>
                    <a:pt x="833" y="446"/>
                    <a:pt x="833" y="431"/>
                  </a:cubicBezTo>
                  <a:lnTo>
                    <a:pt x="833" y="431"/>
                  </a:lnTo>
                  <a:cubicBezTo>
                    <a:pt x="833" y="399"/>
                    <a:pt x="806" y="371"/>
                    <a:pt x="772" y="371"/>
                  </a:cubicBezTo>
                  <a:lnTo>
                    <a:pt x="639" y="371"/>
                  </a:lnTo>
                  <a:lnTo>
                    <a:pt x="639" y="371"/>
                  </a:lnTo>
                  <a:cubicBezTo>
                    <a:pt x="646" y="222"/>
                    <a:pt x="563" y="89"/>
                    <a:pt x="513" y="21"/>
                  </a:cubicBezTo>
                  <a:lnTo>
                    <a:pt x="513" y="21"/>
                  </a:lnTo>
                  <a:cubicBezTo>
                    <a:pt x="504" y="10"/>
                    <a:pt x="491" y="2"/>
                    <a:pt x="477" y="2"/>
                  </a:cubicBezTo>
                  <a:lnTo>
                    <a:pt x="477" y="2"/>
                  </a:lnTo>
                  <a:cubicBezTo>
                    <a:pt x="462" y="0"/>
                    <a:pt x="448" y="5"/>
                    <a:pt x="438" y="16"/>
                  </a:cubicBezTo>
                  <a:lnTo>
                    <a:pt x="438" y="16"/>
                  </a:lnTo>
                  <a:cubicBezTo>
                    <a:pt x="388" y="64"/>
                    <a:pt x="300" y="164"/>
                    <a:pt x="269" y="290"/>
                  </a:cubicBezTo>
                  <a:lnTo>
                    <a:pt x="174" y="290"/>
                  </a:lnTo>
                  <a:lnTo>
                    <a:pt x="174" y="290"/>
                  </a:lnTo>
                  <a:cubicBezTo>
                    <a:pt x="78" y="290"/>
                    <a:pt x="0" y="368"/>
                    <a:pt x="0" y="464"/>
                  </a:cubicBezTo>
                  <a:lnTo>
                    <a:pt x="0" y="529"/>
                  </a:lnTo>
                  <a:lnTo>
                    <a:pt x="0" y="584"/>
                  </a:lnTo>
                  <a:lnTo>
                    <a:pt x="0" y="584"/>
                  </a:lnTo>
                  <a:cubicBezTo>
                    <a:pt x="0" y="694"/>
                    <a:pt x="89" y="783"/>
                    <a:pt x="199" y="783"/>
                  </a:cubicBezTo>
                  <a:lnTo>
                    <a:pt x="412" y="783"/>
                  </a:lnTo>
                  <a:lnTo>
                    <a:pt x="412" y="783"/>
                  </a:lnTo>
                  <a:cubicBezTo>
                    <a:pt x="417" y="816"/>
                    <a:pt x="430" y="855"/>
                    <a:pt x="458" y="884"/>
                  </a:cubicBezTo>
                  <a:lnTo>
                    <a:pt x="458" y="884"/>
                  </a:lnTo>
                  <a:cubicBezTo>
                    <a:pt x="461" y="887"/>
                    <a:pt x="464" y="888"/>
                    <a:pt x="467" y="888"/>
                  </a:cubicBezTo>
                  <a:lnTo>
                    <a:pt x="467" y="888"/>
                  </a:lnTo>
                  <a:cubicBezTo>
                    <a:pt x="470" y="888"/>
                    <a:pt x="473" y="887"/>
                    <a:pt x="475" y="884"/>
                  </a:cubicBezTo>
                  <a:lnTo>
                    <a:pt x="475" y="884"/>
                  </a:lnTo>
                  <a:cubicBezTo>
                    <a:pt x="480" y="880"/>
                    <a:pt x="481" y="872"/>
                    <a:pt x="476" y="867"/>
                  </a:cubicBezTo>
                  <a:lnTo>
                    <a:pt x="476" y="867"/>
                  </a:lnTo>
                  <a:cubicBezTo>
                    <a:pt x="453" y="843"/>
                    <a:pt x="442" y="811"/>
                    <a:pt x="437" y="783"/>
                  </a:cubicBezTo>
                  <a:lnTo>
                    <a:pt x="497" y="783"/>
                  </a:lnTo>
                  <a:lnTo>
                    <a:pt x="594" y="783"/>
                  </a:lnTo>
                  <a:lnTo>
                    <a:pt x="675" y="783"/>
                  </a:lnTo>
                  <a:lnTo>
                    <a:pt x="675" y="783"/>
                  </a:lnTo>
                  <a:cubicBezTo>
                    <a:pt x="708" y="783"/>
                    <a:pt x="736" y="756"/>
                    <a:pt x="736" y="723"/>
                  </a:cubicBezTo>
                  <a:lnTo>
                    <a:pt x="736" y="723"/>
                  </a:lnTo>
                  <a:cubicBezTo>
                    <a:pt x="736" y="709"/>
                    <a:pt x="731" y="696"/>
                    <a:pt x="724" y="687"/>
                  </a:cubicBezTo>
                  <a:lnTo>
                    <a:pt x="804" y="687"/>
                  </a:lnTo>
                  <a:lnTo>
                    <a:pt x="804" y="687"/>
                  </a:lnTo>
                  <a:cubicBezTo>
                    <a:pt x="838" y="687"/>
                    <a:pt x="865" y="659"/>
                    <a:pt x="865" y="626"/>
                  </a:cubicBezTo>
                  <a:lnTo>
                    <a:pt x="865" y="626"/>
                  </a:lnTo>
                  <a:cubicBezTo>
                    <a:pt x="865" y="612"/>
                    <a:pt x="861" y="600"/>
                    <a:pt x="853" y="590"/>
                  </a:cubicBezTo>
                  <a:lnTo>
                    <a:pt x="869" y="590"/>
                  </a:lnTo>
                  <a:lnTo>
                    <a:pt x="869" y="590"/>
                  </a:lnTo>
                  <a:cubicBezTo>
                    <a:pt x="902" y="590"/>
                    <a:pt x="930" y="562"/>
                    <a:pt x="930" y="529"/>
                  </a:cubicBezTo>
                  <a:lnTo>
                    <a:pt x="930" y="529"/>
                  </a:lnTo>
                  <a:cubicBezTo>
                    <a:pt x="930" y="495"/>
                    <a:pt x="902" y="468"/>
                    <a:pt x="869" y="468"/>
                  </a:cubicBezTo>
                  <a:close/>
                </a:path>
              </a:pathLst>
            </a:custGeom>
            <a:solidFill>
              <a:srgbClr val="C00000"/>
            </a:solidFill>
            <a:ln>
              <a:noFill/>
            </a:ln>
            <a:effectLst/>
          </p:spPr>
          <p:txBody>
            <a:bodyPr wrap="none" anchor="ctr"/>
            <a:lstStyle/>
            <a:p>
              <a:endParaRPr lang="en-US" sz="1463" dirty="0">
                <a:latin typeface="Poppins" pitchFamily="2" charset="77"/>
              </a:endParaRPr>
            </a:p>
          </p:txBody>
        </p:sp>
        <p:sp>
          <p:nvSpPr>
            <p:cNvPr id="34" name="TextBox 33">
              <a:extLst>
                <a:ext uri="{FF2B5EF4-FFF2-40B4-BE49-F238E27FC236}">
                  <a16:creationId xmlns:a16="http://schemas.microsoft.com/office/drawing/2014/main" id="{3335C7DE-9115-0B54-964B-7917F2D6CF69}"/>
                </a:ext>
              </a:extLst>
            </p:cNvPr>
            <p:cNvSpPr txBox="1"/>
            <p:nvPr/>
          </p:nvSpPr>
          <p:spPr>
            <a:xfrm>
              <a:off x="7566739" y="1772991"/>
              <a:ext cx="2104032" cy="400110"/>
            </a:xfrm>
            <a:prstGeom prst="rect">
              <a:avLst/>
            </a:prstGeom>
            <a:noFill/>
          </p:spPr>
          <p:txBody>
            <a:bodyPr wrap="square" rtlCol="0" anchor="b">
              <a:spAutoFit/>
            </a:bodyPr>
            <a:lstStyle/>
            <a:p>
              <a:r>
                <a:rPr lang="en-US" sz="2000" b="1" spc="-12"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Internal Audit</a:t>
              </a:r>
            </a:p>
          </p:txBody>
        </p:sp>
        <p:sp>
          <p:nvSpPr>
            <p:cNvPr id="35" name="TextBox 34">
              <a:extLst>
                <a:ext uri="{FF2B5EF4-FFF2-40B4-BE49-F238E27FC236}">
                  <a16:creationId xmlns:a16="http://schemas.microsoft.com/office/drawing/2014/main" id="{1D7932EF-5CFE-738E-898A-9E10C62D736F}"/>
                </a:ext>
              </a:extLst>
            </p:cNvPr>
            <p:cNvSpPr txBox="1"/>
            <p:nvPr/>
          </p:nvSpPr>
          <p:spPr>
            <a:xfrm>
              <a:off x="7577991" y="4484879"/>
              <a:ext cx="3629634" cy="369332"/>
            </a:xfrm>
            <a:prstGeom prst="rect">
              <a:avLst/>
            </a:prstGeom>
            <a:noFill/>
          </p:spPr>
          <p:txBody>
            <a:bodyPr wrap="square" rtlCol="0" anchor="b">
              <a:spAutoFit/>
            </a:bodyPr>
            <a:lstStyle/>
            <a:p>
              <a:pPr>
                <a:lnSpc>
                  <a:spcPct val="90000"/>
                </a:lnSpc>
              </a:pPr>
              <a:r>
                <a:rPr lang="en-US" sz="2000" b="1" spc="-12"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Enterprise Risk Management</a:t>
              </a:r>
            </a:p>
          </p:txBody>
        </p:sp>
        <p:sp>
          <p:nvSpPr>
            <p:cNvPr id="36" name="TextBox 35">
              <a:extLst>
                <a:ext uri="{FF2B5EF4-FFF2-40B4-BE49-F238E27FC236}">
                  <a16:creationId xmlns:a16="http://schemas.microsoft.com/office/drawing/2014/main" id="{30620282-7C18-3F7E-B2AA-4043B3D6CC9C}"/>
                </a:ext>
              </a:extLst>
            </p:cNvPr>
            <p:cNvSpPr txBox="1"/>
            <p:nvPr/>
          </p:nvSpPr>
          <p:spPr>
            <a:xfrm>
              <a:off x="7585789" y="2711033"/>
              <a:ext cx="3956904" cy="369332"/>
            </a:xfrm>
            <a:prstGeom prst="rect">
              <a:avLst/>
            </a:prstGeom>
            <a:noFill/>
          </p:spPr>
          <p:txBody>
            <a:bodyPr wrap="square" rtlCol="0" anchor="b">
              <a:spAutoFit/>
            </a:bodyPr>
            <a:lstStyle/>
            <a:p>
              <a:pPr>
                <a:lnSpc>
                  <a:spcPct val="90000"/>
                </a:lnSpc>
              </a:pPr>
              <a:r>
                <a:rPr lang="en-US" sz="2000" b="1" spc="-12"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Sustainability Reporting Services</a:t>
              </a:r>
            </a:p>
          </p:txBody>
        </p:sp>
        <p:sp>
          <p:nvSpPr>
            <p:cNvPr id="37" name="TextBox 36">
              <a:extLst>
                <a:ext uri="{FF2B5EF4-FFF2-40B4-BE49-F238E27FC236}">
                  <a16:creationId xmlns:a16="http://schemas.microsoft.com/office/drawing/2014/main" id="{AECC84E2-5F74-061C-9E19-597AB4D599D3}"/>
                </a:ext>
              </a:extLst>
            </p:cNvPr>
            <p:cNvSpPr txBox="1"/>
            <p:nvPr/>
          </p:nvSpPr>
          <p:spPr>
            <a:xfrm>
              <a:off x="6933801" y="5141550"/>
              <a:ext cx="4601094" cy="338554"/>
            </a:xfrm>
            <a:prstGeom prst="rect">
              <a:avLst/>
            </a:prstGeom>
            <a:solidFill>
              <a:srgbClr val="C00000"/>
            </a:solidFill>
          </p:spPr>
          <p:txBody>
            <a:bodyPr wrap="square" rtlCol="0">
              <a:spAutoFit/>
            </a:bodyPr>
            <a:lstStyle/>
            <a:p>
              <a:pPr algn="ctr"/>
              <a:r>
                <a:rPr lang="en-US" sz="1600" dirty="0">
                  <a:solidFill>
                    <a:schemeClr val="bg1"/>
                  </a:solidFill>
                  <a:latin typeface="Roboto" panose="02000000000000000000" pitchFamily="2" charset="0"/>
                  <a:ea typeface="Roboto" panose="02000000000000000000" pitchFamily="2" charset="0"/>
                </a:rPr>
                <a:t>and we put our client’s success first</a:t>
              </a:r>
              <a:endParaRPr lang="en-SG" sz="1600" dirty="0">
                <a:solidFill>
                  <a:schemeClr val="bg1"/>
                </a:solidFill>
                <a:latin typeface="Roboto" panose="02000000000000000000" pitchFamily="2" charset="0"/>
                <a:ea typeface="Roboto" panose="02000000000000000000" pitchFamily="2" charset="0"/>
              </a:endParaRPr>
            </a:p>
          </p:txBody>
        </p:sp>
        <p:sp>
          <p:nvSpPr>
            <p:cNvPr id="38" name="TextBox 37">
              <a:extLst>
                <a:ext uri="{FF2B5EF4-FFF2-40B4-BE49-F238E27FC236}">
                  <a16:creationId xmlns:a16="http://schemas.microsoft.com/office/drawing/2014/main" id="{B85C131A-F188-B38A-3E53-19B412C9035E}"/>
                </a:ext>
              </a:extLst>
            </p:cNvPr>
            <p:cNvSpPr txBox="1"/>
            <p:nvPr/>
          </p:nvSpPr>
          <p:spPr>
            <a:xfrm>
              <a:off x="6760957" y="1242373"/>
              <a:ext cx="4773938" cy="335989"/>
            </a:xfrm>
            <a:prstGeom prst="rect">
              <a:avLst/>
            </a:prstGeom>
            <a:noFill/>
          </p:spPr>
          <p:txBody>
            <a:bodyPr wrap="square" rtlCol="0">
              <a:spAutoFit/>
            </a:bodyPr>
            <a:lstStyle/>
            <a:p>
              <a:pPr marL="0" marR="0" lvl="0" indent="0" algn="just" defTabSz="457200" rtl="0" eaLnBrk="1" fontAlgn="auto" latinLnBrk="0" hangingPunct="1">
                <a:lnSpc>
                  <a:spcPts val="2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Roboto" panose="02000000000000000000" pitchFamily="2" charset="0"/>
                  <a:ea typeface="Roboto" panose="02000000000000000000" pitchFamily="2" charset="0"/>
                  <a:cs typeface="Tahoma" panose="020B0604030504040204" pitchFamily="34" charset="0"/>
                </a:rPr>
                <a:t>At InCorp, we specialise in the following services:</a:t>
              </a:r>
            </a:p>
          </p:txBody>
        </p:sp>
        <p:cxnSp>
          <p:nvCxnSpPr>
            <p:cNvPr id="39" name="Straight Connector 38">
              <a:extLst>
                <a:ext uri="{FF2B5EF4-FFF2-40B4-BE49-F238E27FC236}">
                  <a16:creationId xmlns:a16="http://schemas.microsoft.com/office/drawing/2014/main" id="{570C4114-832F-445B-371D-C26BF88D4E50}"/>
                </a:ext>
              </a:extLst>
            </p:cNvPr>
            <p:cNvCxnSpPr>
              <a:cxnSpLocks/>
            </p:cNvCxnSpPr>
            <p:nvPr/>
          </p:nvCxnSpPr>
          <p:spPr>
            <a:xfrm>
              <a:off x="7663178" y="2416566"/>
              <a:ext cx="3761314"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8A224C6-D183-4514-B73D-8B5B8EE81121}"/>
                </a:ext>
              </a:extLst>
            </p:cNvPr>
            <p:cNvCxnSpPr>
              <a:cxnSpLocks/>
            </p:cNvCxnSpPr>
            <p:nvPr/>
          </p:nvCxnSpPr>
          <p:spPr>
            <a:xfrm>
              <a:off x="7663178" y="3322083"/>
              <a:ext cx="3761314"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2B0C8358-190E-BCE1-AE61-0E85BBC3D973}"/>
                </a:ext>
              </a:extLst>
            </p:cNvPr>
            <p:cNvSpPr txBox="1"/>
            <p:nvPr/>
          </p:nvSpPr>
          <p:spPr>
            <a:xfrm>
              <a:off x="7577991" y="3559875"/>
              <a:ext cx="4033970" cy="400110"/>
            </a:xfrm>
            <a:prstGeom prst="rect">
              <a:avLst/>
            </a:prstGeom>
            <a:noFill/>
          </p:spPr>
          <p:txBody>
            <a:bodyPr wrap="square" rtlCol="0" anchor="b">
              <a:spAutoFit/>
            </a:bodyPr>
            <a:lstStyle/>
            <a:p>
              <a:r>
                <a:rPr lang="en-US" sz="2000" b="1" spc="-12" dirty="0">
                  <a:solidFill>
                    <a:schemeClr val="tx1">
                      <a:lumMod val="75000"/>
                      <a:lumOff val="25000"/>
                    </a:schemeClr>
                  </a:solidFill>
                  <a:latin typeface="Roboto" panose="02000000000000000000" pitchFamily="2" charset="0"/>
                  <a:ea typeface="Roboto" panose="02000000000000000000" pitchFamily="2" charset="0"/>
                  <a:cs typeface="Arial" panose="020B0604020202020204" pitchFamily="34" charset="0"/>
                </a:rPr>
                <a:t>Pre-IPO Internal Controls Review</a:t>
              </a:r>
            </a:p>
          </p:txBody>
        </p:sp>
        <p:sp>
          <p:nvSpPr>
            <p:cNvPr id="42" name="Google Shape;819;p41">
              <a:extLst>
                <a:ext uri="{FF2B5EF4-FFF2-40B4-BE49-F238E27FC236}">
                  <a16:creationId xmlns:a16="http://schemas.microsoft.com/office/drawing/2014/main" id="{BE1C8FB2-1567-3D45-AE5F-C75D434CEA50}"/>
                </a:ext>
              </a:extLst>
            </p:cNvPr>
            <p:cNvSpPr/>
            <p:nvPr/>
          </p:nvSpPr>
          <p:spPr>
            <a:xfrm>
              <a:off x="6805102" y="3458282"/>
              <a:ext cx="632853" cy="622547"/>
            </a:xfrm>
            <a:custGeom>
              <a:avLst/>
              <a:gdLst/>
              <a:ahLst/>
              <a:cxnLst/>
              <a:rect l="l" t="t" r="r" b="b"/>
              <a:pathLst>
                <a:path w="16266" h="16267" extrusionOk="0">
                  <a:moveTo>
                    <a:pt x="11503" y="5349"/>
                  </a:moveTo>
                  <a:lnTo>
                    <a:pt x="11650" y="5398"/>
                  </a:lnTo>
                  <a:lnTo>
                    <a:pt x="11796" y="5447"/>
                  </a:lnTo>
                  <a:lnTo>
                    <a:pt x="11919" y="5545"/>
                  </a:lnTo>
                  <a:lnTo>
                    <a:pt x="12065" y="5691"/>
                  </a:lnTo>
                  <a:lnTo>
                    <a:pt x="12163" y="5838"/>
                  </a:lnTo>
                  <a:lnTo>
                    <a:pt x="12212" y="6033"/>
                  </a:lnTo>
                  <a:lnTo>
                    <a:pt x="12236" y="6229"/>
                  </a:lnTo>
                  <a:lnTo>
                    <a:pt x="12236" y="6375"/>
                  </a:lnTo>
                  <a:lnTo>
                    <a:pt x="12187" y="6522"/>
                  </a:lnTo>
                  <a:lnTo>
                    <a:pt x="12138" y="6644"/>
                  </a:lnTo>
                  <a:lnTo>
                    <a:pt x="12041" y="6766"/>
                  </a:lnTo>
                  <a:lnTo>
                    <a:pt x="7938" y="10893"/>
                  </a:lnTo>
                  <a:lnTo>
                    <a:pt x="7816" y="11015"/>
                  </a:lnTo>
                  <a:lnTo>
                    <a:pt x="7645" y="11113"/>
                  </a:lnTo>
                  <a:lnTo>
                    <a:pt x="7474" y="11186"/>
                  </a:lnTo>
                  <a:lnTo>
                    <a:pt x="7303" y="11211"/>
                  </a:lnTo>
                  <a:lnTo>
                    <a:pt x="7083" y="11211"/>
                  </a:lnTo>
                  <a:lnTo>
                    <a:pt x="6912" y="11162"/>
                  </a:lnTo>
                  <a:lnTo>
                    <a:pt x="6765" y="11064"/>
                  </a:lnTo>
                  <a:lnTo>
                    <a:pt x="6619" y="10967"/>
                  </a:lnTo>
                  <a:lnTo>
                    <a:pt x="4567" y="8915"/>
                  </a:lnTo>
                  <a:lnTo>
                    <a:pt x="4470" y="8769"/>
                  </a:lnTo>
                  <a:lnTo>
                    <a:pt x="4372" y="8622"/>
                  </a:lnTo>
                  <a:lnTo>
                    <a:pt x="4323" y="8451"/>
                  </a:lnTo>
                  <a:lnTo>
                    <a:pt x="4323" y="8280"/>
                  </a:lnTo>
                  <a:lnTo>
                    <a:pt x="4323" y="8109"/>
                  </a:lnTo>
                  <a:lnTo>
                    <a:pt x="4372" y="7938"/>
                  </a:lnTo>
                  <a:lnTo>
                    <a:pt x="4470" y="7792"/>
                  </a:lnTo>
                  <a:lnTo>
                    <a:pt x="4567" y="7670"/>
                  </a:lnTo>
                  <a:lnTo>
                    <a:pt x="4714" y="7547"/>
                  </a:lnTo>
                  <a:lnTo>
                    <a:pt x="4860" y="7474"/>
                  </a:lnTo>
                  <a:lnTo>
                    <a:pt x="5031" y="7425"/>
                  </a:lnTo>
                  <a:lnTo>
                    <a:pt x="5202" y="7401"/>
                  </a:lnTo>
                  <a:lnTo>
                    <a:pt x="5373" y="7425"/>
                  </a:lnTo>
                  <a:lnTo>
                    <a:pt x="5520" y="7474"/>
                  </a:lnTo>
                  <a:lnTo>
                    <a:pt x="5691" y="7547"/>
                  </a:lnTo>
                  <a:lnTo>
                    <a:pt x="5813" y="7670"/>
                  </a:lnTo>
                  <a:lnTo>
                    <a:pt x="7181" y="9013"/>
                  </a:lnTo>
                  <a:lnTo>
                    <a:pt x="10673" y="5667"/>
                  </a:lnTo>
                  <a:lnTo>
                    <a:pt x="10820" y="5520"/>
                  </a:lnTo>
                  <a:lnTo>
                    <a:pt x="10991" y="5423"/>
                  </a:lnTo>
                  <a:lnTo>
                    <a:pt x="11161" y="5374"/>
                  </a:lnTo>
                  <a:lnTo>
                    <a:pt x="11357" y="5349"/>
                  </a:lnTo>
                  <a:close/>
                  <a:moveTo>
                    <a:pt x="7718" y="1"/>
                  </a:moveTo>
                  <a:lnTo>
                    <a:pt x="7303" y="50"/>
                  </a:lnTo>
                  <a:lnTo>
                    <a:pt x="6887" y="98"/>
                  </a:lnTo>
                  <a:lnTo>
                    <a:pt x="6497" y="172"/>
                  </a:lnTo>
                  <a:lnTo>
                    <a:pt x="6106" y="245"/>
                  </a:lnTo>
                  <a:lnTo>
                    <a:pt x="5715" y="367"/>
                  </a:lnTo>
                  <a:lnTo>
                    <a:pt x="5349" y="489"/>
                  </a:lnTo>
                  <a:lnTo>
                    <a:pt x="4958" y="636"/>
                  </a:lnTo>
                  <a:lnTo>
                    <a:pt x="4616" y="807"/>
                  </a:lnTo>
                  <a:lnTo>
                    <a:pt x="4250" y="978"/>
                  </a:lnTo>
                  <a:lnTo>
                    <a:pt x="3908" y="1173"/>
                  </a:lnTo>
                  <a:lnTo>
                    <a:pt x="3590" y="1393"/>
                  </a:lnTo>
                  <a:lnTo>
                    <a:pt x="3273" y="1613"/>
                  </a:lnTo>
                  <a:lnTo>
                    <a:pt x="2955" y="1857"/>
                  </a:lnTo>
                  <a:lnTo>
                    <a:pt x="2662" y="2125"/>
                  </a:lnTo>
                  <a:lnTo>
                    <a:pt x="2394" y="2394"/>
                  </a:lnTo>
                  <a:lnTo>
                    <a:pt x="2125" y="2663"/>
                  </a:lnTo>
                  <a:lnTo>
                    <a:pt x="1856" y="2956"/>
                  </a:lnTo>
                  <a:lnTo>
                    <a:pt x="1612" y="3273"/>
                  </a:lnTo>
                  <a:lnTo>
                    <a:pt x="1392" y="3591"/>
                  </a:lnTo>
                  <a:lnTo>
                    <a:pt x="1172" y="3908"/>
                  </a:lnTo>
                  <a:lnTo>
                    <a:pt x="977" y="4250"/>
                  </a:lnTo>
                  <a:lnTo>
                    <a:pt x="806" y="4617"/>
                  </a:lnTo>
                  <a:lnTo>
                    <a:pt x="635" y="4959"/>
                  </a:lnTo>
                  <a:lnTo>
                    <a:pt x="489" y="5349"/>
                  </a:lnTo>
                  <a:lnTo>
                    <a:pt x="366" y="5716"/>
                  </a:lnTo>
                  <a:lnTo>
                    <a:pt x="244" y="6106"/>
                  </a:lnTo>
                  <a:lnTo>
                    <a:pt x="171" y="6497"/>
                  </a:lnTo>
                  <a:lnTo>
                    <a:pt x="98" y="6888"/>
                  </a:lnTo>
                  <a:lnTo>
                    <a:pt x="49" y="7303"/>
                  </a:lnTo>
                  <a:lnTo>
                    <a:pt x="0" y="7718"/>
                  </a:lnTo>
                  <a:lnTo>
                    <a:pt x="0" y="8134"/>
                  </a:lnTo>
                  <a:lnTo>
                    <a:pt x="0" y="8549"/>
                  </a:lnTo>
                  <a:lnTo>
                    <a:pt x="49" y="8964"/>
                  </a:lnTo>
                  <a:lnTo>
                    <a:pt x="98" y="9379"/>
                  </a:lnTo>
                  <a:lnTo>
                    <a:pt x="171" y="9770"/>
                  </a:lnTo>
                  <a:lnTo>
                    <a:pt x="244" y="10161"/>
                  </a:lnTo>
                  <a:lnTo>
                    <a:pt x="366" y="10551"/>
                  </a:lnTo>
                  <a:lnTo>
                    <a:pt x="489" y="10918"/>
                  </a:lnTo>
                  <a:lnTo>
                    <a:pt x="635" y="11309"/>
                  </a:lnTo>
                  <a:lnTo>
                    <a:pt x="806" y="11650"/>
                  </a:lnTo>
                  <a:lnTo>
                    <a:pt x="977" y="12017"/>
                  </a:lnTo>
                  <a:lnTo>
                    <a:pt x="1172" y="12359"/>
                  </a:lnTo>
                  <a:lnTo>
                    <a:pt x="1392" y="12676"/>
                  </a:lnTo>
                  <a:lnTo>
                    <a:pt x="1612" y="12994"/>
                  </a:lnTo>
                  <a:lnTo>
                    <a:pt x="1856" y="13311"/>
                  </a:lnTo>
                  <a:lnTo>
                    <a:pt x="2125" y="13604"/>
                  </a:lnTo>
                  <a:lnTo>
                    <a:pt x="2394" y="13873"/>
                  </a:lnTo>
                  <a:lnTo>
                    <a:pt x="2662" y="14142"/>
                  </a:lnTo>
                  <a:lnTo>
                    <a:pt x="2955" y="14410"/>
                  </a:lnTo>
                  <a:lnTo>
                    <a:pt x="3273" y="14655"/>
                  </a:lnTo>
                  <a:lnTo>
                    <a:pt x="3590" y="14874"/>
                  </a:lnTo>
                  <a:lnTo>
                    <a:pt x="3908" y="15094"/>
                  </a:lnTo>
                  <a:lnTo>
                    <a:pt x="4250" y="15290"/>
                  </a:lnTo>
                  <a:lnTo>
                    <a:pt x="4616" y="15460"/>
                  </a:lnTo>
                  <a:lnTo>
                    <a:pt x="4958" y="15631"/>
                  </a:lnTo>
                  <a:lnTo>
                    <a:pt x="5349" y="15778"/>
                  </a:lnTo>
                  <a:lnTo>
                    <a:pt x="5715" y="15900"/>
                  </a:lnTo>
                  <a:lnTo>
                    <a:pt x="6106" y="16022"/>
                  </a:lnTo>
                  <a:lnTo>
                    <a:pt x="6497" y="16095"/>
                  </a:lnTo>
                  <a:lnTo>
                    <a:pt x="6887" y="16169"/>
                  </a:lnTo>
                  <a:lnTo>
                    <a:pt x="7303" y="16218"/>
                  </a:lnTo>
                  <a:lnTo>
                    <a:pt x="7718" y="16266"/>
                  </a:lnTo>
                  <a:lnTo>
                    <a:pt x="8548" y="16266"/>
                  </a:lnTo>
                  <a:lnTo>
                    <a:pt x="8963" y="16218"/>
                  </a:lnTo>
                  <a:lnTo>
                    <a:pt x="9379" y="16169"/>
                  </a:lnTo>
                  <a:lnTo>
                    <a:pt x="9769" y="16095"/>
                  </a:lnTo>
                  <a:lnTo>
                    <a:pt x="10160" y="16022"/>
                  </a:lnTo>
                  <a:lnTo>
                    <a:pt x="10551" y="15900"/>
                  </a:lnTo>
                  <a:lnTo>
                    <a:pt x="10942" y="15778"/>
                  </a:lnTo>
                  <a:lnTo>
                    <a:pt x="11308" y="15631"/>
                  </a:lnTo>
                  <a:lnTo>
                    <a:pt x="11650" y="15460"/>
                  </a:lnTo>
                  <a:lnTo>
                    <a:pt x="12016" y="15290"/>
                  </a:lnTo>
                  <a:lnTo>
                    <a:pt x="12358" y="15094"/>
                  </a:lnTo>
                  <a:lnTo>
                    <a:pt x="12676" y="14874"/>
                  </a:lnTo>
                  <a:lnTo>
                    <a:pt x="12993" y="14655"/>
                  </a:lnTo>
                  <a:lnTo>
                    <a:pt x="13311" y="14410"/>
                  </a:lnTo>
                  <a:lnTo>
                    <a:pt x="13604" y="14142"/>
                  </a:lnTo>
                  <a:lnTo>
                    <a:pt x="13872" y="13873"/>
                  </a:lnTo>
                  <a:lnTo>
                    <a:pt x="14166" y="13604"/>
                  </a:lnTo>
                  <a:lnTo>
                    <a:pt x="14410" y="13311"/>
                  </a:lnTo>
                  <a:lnTo>
                    <a:pt x="14654" y="12994"/>
                  </a:lnTo>
                  <a:lnTo>
                    <a:pt x="14874" y="12676"/>
                  </a:lnTo>
                  <a:lnTo>
                    <a:pt x="15094" y="12359"/>
                  </a:lnTo>
                  <a:lnTo>
                    <a:pt x="15289" y="12017"/>
                  </a:lnTo>
                  <a:lnTo>
                    <a:pt x="15460" y="11650"/>
                  </a:lnTo>
                  <a:lnTo>
                    <a:pt x="15631" y="11309"/>
                  </a:lnTo>
                  <a:lnTo>
                    <a:pt x="15777" y="10918"/>
                  </a:lnTo>
                  <a:lnTo>
                    <a:pt x="15900" y="10551"/>
                  </a:lnTo>
                  <a:lnTo>
                    <a:pt x="16022" y="10161"/>
                  </a:lnTo>
                  <a:lnTo>
                    <a:pt x="16095" y="9770"/>
                  </a:lnTo>
                  <a:lnTo>
                    <a:pt x="16168" y="9379"/>
                  </a:lnTo>
                  <a:lnTo>
                    <a:pt x="16217" y="8964"/>
                  </a:lnTo>
                  <a:lnTo>
                    <a:pt x="16266" y="8549"/>
                  </a:lnTo>
                  <a:lnTo>
                    <a:pt x="16266" y="8134"/>
                  </a:lnTo>
                  <a:lnTo>
                    <a:pt x="16266" y="7718"/>
                  </a:lnTo>
                  <a:lnTo>
                    <a:pt x="16217" y="7303"/>
                  </a:lnTo>
                  <a:lnTo>
                    <a:pt x="16168" y="6888"/>
                  </a:lnTo>
                  <a:lnTo>
                    <a:pt x="16095" y="6497"/>
                  </a:lnTo>
                  <a:lnTo>
                    <a:pt x="16022" y="6106"/>
                  </a:lnTo>
                  <a:lnTo>
                    <a:pt x="15900" y="5716"/>
                  </a:lnTo>
                  <a:lnTo>
                    <a:pt x="15777" y="5349"/>
                  </a:lnTo>
                  <a:lnTo>
                    <a:pt x="15631" y="4959"/>
                  </a:lnTo>
                  <a:lnTo>
                    <a:pt x="15460" y="4617"/>
                  </a:lnTo>
                  <a:lnTo>
                    <a:pt x="15289" y="4250"/>
                  </a:lnTo>
                  <a:lnTo>
                    <a:pt x="15094" y="3908"/>
                  </a:lnTo>
                  <a:lnTo>
                    <a:pt x="14874" y="3591"/>
                  </a:lnTo>
                  <a:lnTo>
                    <a:pt x="14654" y="3273"/>
                  </a:lnTo>
                  <a:lnTo>
                    <a:pt x="14410" y="2956"/>
                  </a:lnTo>
                  <a:lnTo>
                    <a:pt x="14166" y="2663"/>
                  </a:lnTo>
                  <a:lnTo>
                    <a:pt x="13872" y="2394"/>
                  </a:lnTo>
                  <a:lnTo>
                    <a:pt x="13604" y="2125"/>
                  </a:lnTo>
                  <a:lnTo>
                    <a:pt x="13311" y="1857"/>
                  </a:lnTo>
                  <a:lnTo>
                    <a:pt x="12993" y="1613"/>
                  </a:lnTo>
                  <a:lnTo>
                    <a:pt x="12676" y="1393"/>
                  </a:lnTo>
                  <a:lnTo>
                    <a:pt x="12358" y="1173"/>
                  </a:lnTo>
                  <a:lnTo>
                    <a:pt x="12016" y="978"/>
                  </a:lnTo>
                  <a:lnTo>
                    <a:pt x="11650" y="807"/>
                  </a:lnTo>
                  <a:lnTo>
                    <a:pt x="11308" y="636"/>
                  </a:lnTo>
                  <a:lnTo>
                    <a:pt x="10942" y="489"/>
                  </a:lnTo>
                  <a:lnTo>
                    <a:pt x="10551" y="367"/>
                  </a:lnTo>
                  <a:lnTo>
                    <a:pt x="10160" y="245"/>
                  </a:lnTo>
                  <a:lnTo>
                    <a:pt x="9769" y="172"/>
                  </a:lnTo>
                  <a:lnTo>
                    <a:pt x="9379" y="98"/>
                  </a:lnTo>
                  <a:lnTo>
                    <a:pt x="8963" y="50"/>
                  </a:lnTo>
                  <a:lnTo>
                    <a:pt x="8548" y="1"/>
                  </a:lnTo>
                  <a:close/>
                </a:path>
              </a:pathLst>
            </a:custGeom>
            <a:noFill/>
            <a:ln w="19050">
              <a:solidFill>
                <a:srgbClr val="C000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solidFill>
                  <a:schemeClr val="dk1"/>
                </a:solidFill>
              </a:endParaRPr>
            </a:p>
          </p:txBody>
        </p:sp>
        <p:cxnSp>
          <p:nvCxnSpPr>
            <p:cNvPr id="43" name="Straight Connector 42">
              <a:extLst>
                <a:ext uri="{FF2B5EF4-FFF2-40B4-BE49-F238E27FC236}">
                  <a16:creationId xmlns:a16="http://schemas.microsoft.com/office/drawing/2014/main" id="{43A743D2-7546-3CE7-AAB9-EDAF1C94DB36}"/>
                </a:ext>
              </a:extLst>
            </p:cNvPr>
            <p:cNvCxnSpPr>
              <a:cxnSpLocks/>
            </p:cNvCxnSpPr>
            <p:nvPr/>
          </p:nvCxnSpPr>
          <p:spPr>
            <a:xfrm>
              <a:off x="7663178" y="4225934"/>
              <a:ext cx="3783347"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30133197"/>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7157BD-6843-E674-9696-E8674CC5FBDD}"/>
              </a:ext>
            </a:extLst>
          </p:cNvPr>
          <p:cNvGrpSpPr/>
          <p:nvPr/>
        </p:nvGrpSpPr>
        <p:grpSpPr>
          <a:xfrm>
            <a:off x="650415" y="1372015"/>
            <a:ext cx="4858288" cy="4858288"/>
            <a:chOff x="3415423" y="748423"/>
            <a:chExt cx="5361153" cy="5361153"/>
          </a:xfrm>
        </p:grpSpPr>
        <p:sp>
          <p:nvSpPr>
            <p:cNvPr id="5" name="Oval 4">
              <a:extLst>
                <a:ext uri="{FF2B5EF4-FFF2-40B4-BE49-F238E27FC236}">
                  <a16:creationId xmlns:a16="http://schemas.microsoft.com/office/drawing/2014/main" id="{3F0D58C7-F113-0B5F-AB34-8ACAA72E3C3F}"/>
                </a:ext>
              </a:extLst>
            </p:cNvPr>
            <p:cNvSpPr/>
            <p:nvPr/>
          </p:nvSpPr>
          <p:spPr>
            <a:xfrm>
              <a:off x="3415423" y="748423"/>
              <a:ext cx="5361153" cy="5361153"/>
            </a:xfrm>
            <a:prstGeom prst="ellipse">
              <a:avLst/>
            </a:prstGeom>
            <a:blipFill>
              <a:blip r:embed="rId2"/>
              <a:stretch>
                <a:fillRect l="1042" r="-104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6" name="Group 5">
              <a:extLst>
                <a:ext uri="{FF2B5EF4-FFF2-40B4-BE49-F238E27FC236}">
                  <a16:creationId xmlns:a16="http://schemas.microsoft.com/office/drawing/2014/main" id="{B8A568BB-B5DE-B9F3-B0A7-2EA033F8255A}"/>
                </a:ext>
              </a:extLst>
            </p:cNvPr>
            <p:cNvGrpSpPr/>
            <p:nvPr/>
          </p:nvGrpSpPr>
          <p:grpSpPr>
            <a:xfrm>
              <a:off x="3595551" y="890338"/>
              <a:ext cx="5091249" cy="5078723"/>
              <a:chOff x="3595551" y="890338"/>
              <a:chExt cx="5091249" cy="5078723"/>
            </a:xfrm>
          </p:grpSpPr>
          <p:sp>
            <p:nvSpPr>
              <p:cNvPr id="7" name="Oval 6">
                <a:extLst>
                  <a:ext uri="{FF2B5EF4-FFF2-40B4-BE49-F238E27FC236}">
                    <a16:creationId xmlns:a16="http://schemas.microsoft.com/office/drawing/2014/main" id="{97018C85-1181-28FF-CB27-EE1680996151}"/>
                  </a:ext>
                </a:extLst>
              </p:cNvPr>
              <p:cNvSpPr/>
              <p:nvPr/>
            </p:nvSpPr>
            <p:spPr>
              <a:xfrm>
                <a:off x="3608076" y="890338"/>
                <a:ext cx="5078724" cy="5078723"/>
              </a:xfrm>
              <a:prstGeom prst="ellipse">
                <a:avLst/>
              </a:prstGeom>
              <a:solidFill>
                <a:srgbClr val="CC0000">
                  <a:alpha val="58000"/>
                </a:srgb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Title 4">
                <a:extLst>
                  <a:ext uri="{FF2B5EF4-FFF2-40B4-BE49-F238E27FC236}">
                    <a16:creationId xmlns:a16="http://schemas.microsoft.com/office/drawing/2014/main" id="{97C6FD05-3DCD-0FFF-CED8-677EEF19662A}"/>
                  </a:ext>
                </a:extLst>
              </p:cNvPr>
              <p:cNvSpPr txBox="1">
                <a:spLocks/>
              </p:cNvSpPr>
              <p:nvPr/>
            </p:nvSpPr>
            <p:spPr>
              <a:xfrm>
                <a:off x="3595551" y="2821302"/>
                <a:ext cx="5078723" cy="1325563"/>
              </a:xfrm>
              <a:prstGeom prst="rect">
                <a:avLst/>
              </a:prstGeom>
            </p:spPr>
            <p:txBody>
              <a:bodyPr anchor="ctr" anchorCtr="1">
                <a:noAutofit/>
              </a:bodyPr>
              <a:lstStyle>
                <a:lvl1pPr algn="l" defTabSz="914377" rtl="0" eaLnBrk="1" latinLnBrk="0" hangingPunct="1">
                  <a:lnSpc>
                    <a:spcPct val="90000"/>
                  </a:lnSpc>
                  <a:spcBef>
                    <a:spcPct val="0"/>
                  </a:spcBef>
                  <a:buNone/>
                  <a:defRPr sz="4000" b="1" kern="1200">
                    <a:solidFill>
                      <a:schemeClr val="tx1"/>
                    </a:solidFill>
                    <a:latin typeface="Roboto" panose="02000000000000000000" pitchFamily="2" charset="0"/>
                    <a:ea typeface="Roboto" panose="02000000000000000000" pitchFamily="2" charset="0"/>
                    <a:cs typeface="+mj-cs"/>
                  </a:defRPr>
                </a:lvl1pPr>
              </a:lstStyle>
              <a:p>
                <a:pPr algn="ctr"/>
                <a:r>
                  <a:rPr lang="en-US" sz="4400" dirty="0">
                    <a:solidFill>
                      <a:schemeClr val="bg1"/>
                    </a:solidFill>
                  </a:rPr>
                  <a:t>Our </a:t>
                </a:r>
              </a:p>
              <a:p>
                <a:pPr algn="ctr"/>
                <a:r>
                  <a:rPr lang="en-US" sz="4400" dirty="0">
                    <a:solidFill>
                      <a:schemeClr val="bg1"/>
                    </a:solidFill>
                  </a:rPr>
                  <a:t>Professional Track Record</a:t>
                </a:r>
              </a:p>
            </p:txBody>
          </p:sp>
        </p:grpSp>
      </p:grpSp>
    </p:spTree>
    <p:extLst>
      <p:ext uri="{BB962C8B-B14F-4D97-AF65-F5344CB8AC3E}">
        <p14:creationId xmlns:p14="http://schemas.microsoft.com/office/powerpoint/2010/main" val="49854614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A8E2E-C119-64CA-26E1-AE4C30A3C54D}"/>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107A875-937A-1C34-7C13-A289696FD947}"/>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81A7B4AA-F595-6043-F0A0-C812F92D356B}"/>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2069A6A0-7240-75D4-8426-E3390D58B380}"/>
              </a:ext>
            </a:extLst>
          </p:cNvPr>
          <p:cNvSpPr txBox="1"/>
          <p:nvPr/>
        </p:nvSpPr>
        <p:spPr>
          <a:xfrm>
            <a:off x="587301" y="29742"/>
            <a:ext cx="7826913" cy="78246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Our Professional Track Records (Past 5 Years)</a:t>
            </a:r>
          </a:p>
          <a:p>
            <a:pPr defTabSz="891317">
              <a:buClr>
                <a:srgbClr val="000000"/>
              </a:buClr>
              <a:defRPr/>
            </a:pPr>
            <a:r>
              <a:rPr lang="en-US"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 Public Sector</a:t>
            </a:r>
          </a:p>
        </p:txBody>
      </p:sp>
      <p:graphicFrame>
        <p:nvGraphicFramePr>
          <p:cNvPr id="6" name="Table 5">
            <a:extLst>
              <a:ext uri="{FF2B5EF4-FFF2-40B4-BE49-F238E27FC236}">
                <a16:creationId xmlns:a16="http://schemas.microsoft.com/office/drawing/2014/main" id="{929B1CC9-F9FF-2765-337C-6F4878E49379}"/>
              </a:ext>
            </a:extLst>
          </p:cNvPr>
          <p:cNvGraphicFramePr>
            <a:graphicFrameLocks noGrp="1"/>
          </p:cNvGraphicFramePr>
          <p:nvPr>
            <p:extLst>
              <p:ext uri="{D42A27DB-BD31-4B8C-83A1-F6EECF244321}">
                <p14:modId xmlns:p14="http://schemas.microsoft.com/office/powerpoint/2010/main" val="2459335035"/>
              </p:ext>
            </p:extLst>
          </p:nvPr>
        </p:nvGraphicFramePr>
        <p:xfrm>
          <a:off x="458669" y="1112720"/>
          <a:ext cx="5411406" cy="4973088"/>
        </p:xfrm>
        <a:graphic>
          <a:graphicData uri="http://schemas.openxmlformats.org/drawingml/2006/table">
            <a:tbl>
              <a:tblPr/>
              <a:tblGrid>
                <a:gridCol w="726992">
                  <a:extLst>
                    <a:ext uri="{9D8B030D-6E8A-4147-A177-3AD203B41FA5}">
                      <a16:colId xmlns:a16="http://schemas.microsoft.com/office/drawing/2014/main" val="1188851721"/>
                    </a:ext>
                  </a:extLst>
                </a:gridCol>
                <a:gridCol w="4684414">
                  <a:extLst>
                    <a:ext uri="{9D8B030D-6E8A-4147-A177-3AD203B41FA5}">
                      <a16:colId xmlns:a16="http://schemas.microsoft.com/office/drawing/2014/main" val="3690663027"/>
                    </a:ext>
                  </a:extLst>
                </a:gridCol>
              </a:tblGrid>
              <a:tr h="268440">
                <a:tc>
                  <a:txBody>
                    <a:bodyPr/>
                    <a:lstStyle/>
                    <a:p>
                      <a:pPr algn="ctr" rtl="0" fontAlgn="ctr"/>
                      <a:r>
                        <a:rPr lang="en-GB" sz="1400" b="1" i="0" u="none" strike="noStrike" dirty="0">
                          <a:solidFill>
                            <a:srgbClr val="FFFFFF"/>
                          </a:solidFill>
                          <a:effectLst/>
                          <a:latin typeface="Roboto" panose="02000000000000000000" pitchFamily="2" charset="0"/>
                        </a:rPr>
                        <a:t>S/N</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ctr"/>
                      <a:r>
                        <a:rPr lang="en-GB" sz="1400" b="1" i="0" u="none" strike="noStrike" dirty="0">
                          <a:solidFill>
                            <a:srgbClr val="FFFFFF"/>
                          </a:solidFill>
                          <a:effectLst/>
                          <a:latin typeface="Roboto" panose="02000000000000000000" pitchFamily="2" charset="0"/>
                        </a:rPr>
                        <a:t>Organisation</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702279458"/>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1</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Roboto" panose="02000000000000000000" pitchFamily="2" charset="0"/>
                        </a:rPr>
                        <a:t>MUIS Group (MUIS, Warees Group, MMWSS, Mosques)</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2587863"/>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2</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400" b="0" i="0" u="none" strike="noStrike" dirty="0">
                          <a:solidFill>
                            <a:srgbClr val="000000"/>
                          </a:solidFill>
                          <a:effectLst/>
                          <a:latin typeface="Roboto" panose="02000000000000000000" pitchFamily="2" charset="0"/>
                        </a:rPr>
                        <a:t>Ministry of Home Affairs</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3220035"/>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3</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ASTAR Research Entities</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1405650"/>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4</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Attorney-General’s Chambers</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2632839"/>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5</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400" b="0" i="0" u="none" strike="noStrike" dirty="0">
                          <a:solidFill>
                            <a:srgbClr val="000000"/>
                          </a:solidFill>
                          <a:effectLst/>
                          <a:latin typeface="Roboto" panose="02000000000000000000" pitchFamily="2" charset="0"/>
                        </a:rPr>
                        <a:t>Civil Aviation Authority of Singapore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8365974"/>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6</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Civil Service College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7376003"/>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7</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ISEAS - Yusof Ishak Institute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307631"/>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8</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ISTANA</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0282455"/>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9</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Land Transport Authority</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0731225"/>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10</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Maritime Port Authority</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5571708"/>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11</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Ministry of Education</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023456"/>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12</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Ministry of Health</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9412794"/>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13</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Ministry of National Development</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4884008"/>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14</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Council for Estate Agencies</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9027836"/>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15</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Board of Architects</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3208793"/>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16</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Professional Engineers Board</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2013979"/>
                  </a:ext>
                </a:extLst>
              </a:tr>
              <a:tr h="276744">
                <a:tc>
                  <a:txBody>
                    <a:bodyPr/>
                    <a:lstStyle/>
                    <a:p>
                      <a:pPr algn="ctr" rtl="0" fontAlgn="ctr"/>
                      <a:r>
                        <a:rPr lang="en-GB" sz="1400" b="0" i="0" u="none" strike="noStrike" dirty="0">
                          <a:solidFill>
                            <a:srgbClr val="0A0C0E"/>
                          </a:solidFill>
                          <a:effectLst/>
                          <a:latin typeface="Roboto" panose="02000000000000000000" pitchFamily="2" charset="0"/>
                        </a:rPr>
                        <a:t>17</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400" b="0" i="0" u="none" strike="noStrike" dirty="0">
                          <a:solidFill>
                            <a:srgbClr val="000000"/>
                          </a:solidFill>
                          <a:effectLst/>
                          <a:latin typeface="Roboto" panose="02000000000000000000" pitchFamily="2" charset="0"/>
                        </a:rPr>
                        <a:t>Ministry of Social and Family Development</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3807870"/>
                  </a:ext>
                </a:extLst>
              </a:tr>
            </a:tbl>
          </a:graphicData>
        </a:graphic>
      </p:graphicFrame>
      <p:graphicFrame>
        <p:nvGraphicFramePr>
          <p:cNvPr id="2" name="Table 1">
            <a:extLst>
              <a:ext uri="{FF2B5EF4-FFF2-40B4-BE49-F238E27FC236}">
                <a16:creationId xmlns:a16="http://schemas.microsoft.com/office/drawing/2014/main" id="{AE59459E-807B-0EF7-6EE6-26A55BE663DC}"/>
              </a:ext>
            </a:extLst>
          </p:cNvPr>
          <p:cNvGraphicFramePr>
            <a:graphicFrameLocks noGrp="1"/>
          </p:cNvGraphicFramePr>
          <p:nvPr/>
        </p:nvGraphicFramePr>
        <p:xfrm>
          <a:off x="6321918" y="1119120"/>
          <a:ext cx="5464688" cy="4973088"/>
        </p:xfrm>
        <a:graphic>
          <a:graphicData uri="http://schemas.openxmlformats.org/drawingml/2006/table">
            <a:tbl>
              <a:tblPr/>
              <a:tblGrid>
                <a:gridCol w="734150">
                  <a:extLst>
                    <a:ext uri="{9D8B030D-6E8A-4147-A177-3AD203B41FA5}">
                      <a16:colId xmlns:a16="http://schemas.microsoft.com/office/drawing/2014/main" val="1188851721"/>
                    </a:ext>
                  </a:extLst>
                </a:gridCol>
                <a:gridCol w="4730538">
                  <a:extLst>
                    <a:ext uri="{9D8B030D-6E8A-4147-A177-3AD203B41FA5}">
                      <a16:colId xmlns:a16="http://schemas.microsoft.com/office/drawing/2014/main" val="3690663027"/>
                    </a:ext>
                  </a:extLst>
                </a:gridCol>
              </a:tblGrid>
              <a:tr h="251524">
                <a:tc>
                  <a:txBody>
                    <a:bodyPr/>
                    <a:lstStyle/>
                    <a:p>
                      <a:pPr algn="ctr" rtl="0" fontAlgn="ctr"/>
                      <a:r>
                        <a:rPr lang="en-GB" sz="1400" b="1" i="0" u="none" strike="noStrike" dirty="0">
                          <a:solidFill>
                            <a:srgbClr val="FFFFFF"/>
                          </a:solidFill>
                          <a:effectLst/>
                          <a:latin typeface="Roboto" panose="02000000000000000000" pitchFamily="2" charset="0"/>
                        </a:rPr>
                        <a:t>S/N</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ctr"/>
                      <a:r>
                        <a:rPr lang="en-GB" sz="1400" b="1" i="0" u="none" strike="noStrike" dirty="0">
                          <a:solidFill>
                            <a:srgbClr val="FFFFFF"/>
                          </a:solidFill>
                          <a:effectLst/>
                          <a:latin typeface="Roboto" panose="02000000000000000000" pitchFamily="2" charset="0"/>
                        </a:rPr>
                        <a:t>Organisation</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702279458"/>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18</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National Archives of Singapore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1405650"/>
                  </a:ext>
                </a:extLst>
              </a:tr>
              <a:tr h="257928">
                <a:tc>
                  <a:txBody>
                    <a:bodyPr/>
                    <a:lstStyle/>
                    <a:p>
                      <a:pPr algn="ctr" rtl="0" fontAlgn="ctr"/>
                      <a:r>
                        <a:rPr lang="en-SG" sz="1400" b="0" i="0" u="none" strike="noStrike" dirty="0">
                          <a:solidFill>
                            <a:srgbClr val="0A0C0E"/>
                          </a:solidFill>
                          <a:effectLst/>
                          <a:latin typeface="Roboto" panose="02000000000000000000" pitchFamily="2" charset="0"/>
                        </a:rPr>
                        <a:t>19</a:t>
                      </a:r>
                      <a:endParaRPr lang="en-GB" sz="1400" b="0" i="0" u="none" strike="noStrike" dirty="0">
                        <a:solidFill>
                          <a:srgbClr val="0A0C0E"/>
                        </a:solidFill>
                        <a:effectLst/>
                        <a:latin typeface="Roboto" panose="02000000000000000000" pitchFamily="2" charset="0"/>
                      </a:endParaRP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National Heritage Board</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2632839"/>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20</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National Library Board</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8365974"/>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21</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Ngee Ann Polytechnic</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7376003"/>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22</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People's Association</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307631"/>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23</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Republic Polytechnic</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0282455"/>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24</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400" b="0" i="0" u="none" strike="noStrike" dirty="0">
                          <a:solidFill>
                            <a:srgbClr val="000000"/>
                          </a:solidFill>
                          <a:effectLst/>
                          <a:latin typeface="Roboto" panose="02000000000000000000" pitchFamily="2" charset="0"/>
                        </a:rPr>
                        <a:t>Science Centre Board Group (SCB, SVPL, SSCG)</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0731225"/>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25</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Singapore Civil Defence Force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5571708"/>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26</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Singapore Food Agency</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023456"/>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27</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Singapore Courts</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9412794"/>
                  </a:ext>
                </a:extLst>
              </a:tr>
              <a:tr h="336788">
                <a:tc>
                  <a:txBody>
                    <a:bodyPr/>
                    <a:lstStyle/>
                    <a:p>
                      <a:pPr algn="ctr" rtl="0" fontAlgn="ctr"/>
                      <a:r>
                        <a:rPr lang="en-GB" sz="1400" b="0" i="0" u="none" strike="noStrike" dirty="0">
                          <a:solidFill>
                            <a:srgbClr val="0A0C0E"/>
                          </a:solidFill>
                          <a:effectLst/>
                          <a:latin typeface="Roboto" panose="02000000000000000000" pitchFamily="2" charset="0"/>
                        </a:rPr>
                        <a:t>28</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400" b="0" i="0" u="none" strike="noStrike" dirty="0">
                          <a:solidFill>
                            <a:srgbClr val="000000"/>
                          </a:solidFill>
                          <a:effectLst/>
                          <a:latin typeface="Roboto" panose="02000000000000000000" pitchFamily="2" charset="0"/>
                        </a:rPr>
                        <a:t>The Competition and Consumer Commission of Singapore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4884008"/>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29</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Government Technology Agency of Singapore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0211057"/>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30</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400" b="0" i="0" u="none" strike="noStrike" dirty="0">
                          <a:solidFill>
                            <a:srgbClr val="000000"/>
                          </a:solidFill>
                          <a:effectLst/>
                          <a:latin typeface="Roboto" panose="02000000000000000000" pitchFamily="2" charset="0"/>
                        </a:rPr>
                        <a:t>Info‑communications Media Development Authority</a:t>
                      </a:r>
                      <a:endParaRPr lang="en-GB" sz="1400" b="0" i="0" u="none" strike="noStrike" dirty="0">
                        <a:solidFill>
                          <a:srgbClr val="000000"/>
                        </a:solidFill>
                        <a:effectLst/>
                        <a:latin typeface="Roboto" panose="02000000000000000000" pitchFamily="2" charset="0"/>
                      </a:endParaRP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621404"/>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31</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400" b="0" i="0" u="none" strike="noStrike" dirty="0">
                          <a:solidFill>
                            <a:srgbClr val="000000"/>
                          </a:solidFill>
                          <a:effectLst/>
                          <a:latin typeface="Roboto" panose="02000000000000000000" pitchFamily="2" charset="0"/>
                        </a:rPr>
                        <a:t>Singapore Prison Services</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6711489"/>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32</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Singapore Police Force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3666442"/>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33</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Immigration and Checkpoints Authority</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8734645"/>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34</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Central Narcotics Bureau</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6538465"/>
                  </a:ext>
                </a:extLst>
              </a:tr>
              <a:tr h="257928">
                <a:tc>
                  <a:txBody>
                    <a:bodyPr/>
                    <a:lstStyle/>
                    <a:p>
                      <a:pPr algn="ctr" rtl="0" fontAlgn="ctr"/>
                      <a:r>
                        <a:rPr lang="en-GB" sz="1400" b="0" i="0" u="none" strike="noStrike" dirty="0">
                          <a:solidFill>
                            <a:srgbClr val="0A0C0E"/>
                          </a:solidFill>
                          <a:effectLst/>
                          <a:latin typeface="Roboto" panose="02000000000000000000" pitchFamily="2" charset="0"/>
                        </a:rPr>
                        <a:t>35</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400" b="0" i="0" u="none" strike="noStrike" dirty="0">
                          <a:solidFill>
                            <a:srgbClr val="000000"/>
                          </a:solidFill>
                          <a:effectLst/>
                          <a:latin typeface="Roboto" panose="02000000000000000000" pitchFamily="2" charset="0"/>
                        </a:rPr>
                        <a:t>Home Team Academy</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2498545"/>
                  </a:ext>
                </a:extLst>
              </a:tr>
            </a:tbl>
          </a:graphicData>
        </a:graphic>
      </p:graphicFrame>
      <p:grpSp>
        <p:nvGrpSpPr>
          <p:cNvPr id="7" name="Group 6">
            <a:extLst>
              <a:ext uri="{FF2B5EF4-FFF2-40B4-BE49-F238E27FC236}">
                <a16:creationId xmlns:a16="http://schemas.microsoft.com/office/drawing/2014/main" id="{C2DD4443-F3FC-89BC-6544-BE5547498523}"/>
              </a:ext>
            </a:extLst>
          </p:cNvPr>
          <p:cNvGrpSpPr/>
          <p:nvPr/>
        </p:nvGrpSpPr>
        <p:grpSpPr>
          <a:xfrm>
            <a:off x="8414214" y="333481"/>
            <a:ext cx="3372392" cy="465340"/>
            <a:chOff x="7907575" y="301933"/>
            <a:chExt cx="3263191" cy="500989"/>
          </a:xfrm>
          <a:solidFill>
            <a:schemeClr val="bg1">
              <a:lumMod val="50000"/>
            </a:schemeClr>
          </a:solidFill>
        </p:grpSpPr>
        <p:sp>
          <p:nvSpPr>
            <p:cNvPr id="8" name="Rectangle 7">
              <a:extLst>
                <a:ext uri="{FF2B5EF4-FFF2-40B4-BE49-F238E27FC236}">
                  <a16:creationId xmlns:a16="http://schemas.microsoft.com/office/drawing/2014/main" id="{7B439CFC-DCDF-5489-91A6-0DF720338236}"/>
                </a:ext>
              </a:extLst>
            </p:cNvPr>
            <p:cNvSpPr/>
            <p:nvPr/>
          </p:nvSpPr>
          <p:spPr>
            <a:xfrm>
              <a:off x="7907575" y="301933"/>
              <a:ext cx="3263191" cy="500989"/>
            </a:xfrm>
            <a:prstGeom prst="rect">
              <a:avLst/>
            </a:prstGeom>
            <a:gr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SG" sz="1400" b="0" i="0" u="none" strike="noStrike" kern="1200" cap="none" spc="0" normalizeH="0" baseline="0" noProof="0" dirty="0">
                <a:ln>
                  <a:noFill/>
                </a:ln>
                <a:solidFill>
                  <a:prstClr val="white"/>
                </a:solidFill>
                <a:effectLst/>
                <a:uLnTx/>
                <a:uFillTx/>
                <a:latin typeface="Gill Sans MT"/>
                <a:ea typeface="+mn-ea"/>
                <a:cs typeface="+mn-cs"/>
              </a:endParaRPr>
            </a:p>
          </p:txBody>
        </p:sp>
        <p:sp>
          <p:nvSpPr>
            <p:cNvPr id="9" name="Rectangle 8">
              <a:extLst>
                <a:ext uri="{FF2B5EF4-FFF2-40B4-BE49-F238E27FC236}">
                  <a16:creationId xmlns:a16="http://schemas.microsoft.com/office/drawing/2014/main" id="{B1ECD992-A411-9F1F-2597-6B2F11A6AF2D}"/>
                </a:ext>
              </a:extLst>
            </p:cNvPr>
            <p:cNvSpPr/>
            <p:nvPr/>
          </p:nvSpPr>
          <p:spPr>
            <a:xfrm>
              <a:off x="7907575" y="336520"/>
              <a:ext cx="3263191" cy="233605"/>
            </a:xfrm>
            <a:prstGeom prst="rect">
              <a:avLst/>
            </a:prstGeom>
            <a:grpFill/>
          </p:spPr>
          <p:txBody>
            <a:bodyPr wrap="square">
              <a:spAutoFit/>
            </a:bodyPr>
            <a:lstStyle/>
            <a:p>
              <a:pPr marL="0" marR="0" lvl="0" indent="0" defTabSz="361142" rtl="0" eaLnBrk="1" fontAlgn="base" latinLnBrk="0" hangingPunct="1">
                <a:lnSpc>
                  <a:spcPct val="90000"/>
                </a:lnSpc>
                <a:spcBef>
                  <a:spcPct val="0"/>
                </a:spcBef>
                <a:spcAft>
                  <a:spcPct val="3500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We are on the following Framework Agreements/Panels</a:t>
              </a: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p>
          </p:txBody>
        </p:sp>
        <p:sp>
          <p:nvSpPr>
            <p:cNvPr id="10" name="TextBox 9">
              <a:extLst>
                <a:ext uri="{FF2B5EF4-FFF2-40B4-BE49-F238E27FC236}">
                  <a16:creationId xmlns:a16="http://schemas.microsoft.com/office/drawing/2014/main" id="{389AC6E1-0EF6-EF9A-98CB-D41EB616F5CF}"/>
                </a:ext>
              </a:extLst>
            </p:cNvPr>
            <p:cNvSpPr txBox="1"/>
            <p:nvPr/>
          </p:nvSpPr>
          <p:spPr>
            <a:xfrm>
              <a:off x="7907575" y="533185"/>
              <a:ext cx="732273" cy="233605"/>
            </a:xfrm>
            <a:prstGeom prst="rect">
              <a:avLst/>
            </a:prstGeom>
            <a:grpFill/>
          </p:spPr>
          <p:txBody>
            <a:bodyPr wrap="square">
              <a:spAutoFit/>
            </a:bodyPr>
            <a:lstStyle/>
            <a:p>
              <a:pPr marL="0" marR="0" lvl="0" indent="0" algn="ctr" defTabSz="361142" rtl="0" eaLnBrk="1" fontAlgn="base" latinLnBrk="0" hangingPunct="1">
                <a:lnSpc>
                  <a:spcPct val="90000"/>
                </a:lnSpc>
                <a:spcBef>
                  <a:spcPct val="0"/>
                </a:spcBef>
                <a:spcAft>
                  <a:spcPct val="3500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1. MOH</a:t>
              </a:r>
            </a:p>
          </p:txBody>
        </p:sp>
        <p:sp>
          <p:nvSpPr>
            <p:cNvPr id="11" name="TextBox 10">
              <a:extLst>
                <a:ext uri="{FF2B5EF4-FFF2-40B4-BE49-F238E27FC236}">
                  <a16:creationId xmlns:a16="http://schemas.microsoft.com/office/drawing/2014/main" id="{B974AA5D-EB9A-FF11-8DD7-B85498DFF8A0}"/>
                </a:ext>
              </a:extLst>
            </p:cNvPr>
            <p:cNvSpPr txBox="1"/>
            <p:nvPr/>
          </p:nvSpPr>
          <p:spPr>
            <a:xfrm>
              <a:off x="8486422" y="535740"/>
              <a:ext cx="779482" cy="233605"/>
            </a:xfrm>
            <a:prstGeom prst="rect">
              <a:avLst/>
            </a:prstGeom>
            <a:grpFill/>
          </p:spPr>
          <p:txBody>
            <a:bodyPr wrap="square">
              <a:spAutoFit/>
            </a:bodyPr>
            <a:lstStyle/>
            <a:p>
              <a:pPr marL="0" marR="0" lvl="0" indent="0" algn="ctr" defTabSz="361142" rtl="0" eaLnBrk="1" fontAlgn="base" latinLnBrk="0" hangingPunct="1">
                <a:lnSpc>
                  <a:spcPct val="90000"/>
                </a:lnSpc>
                <a:spcBef>
                  <a:spcPct val="0"/>
                </a:spcBef>
                <a:spcAft>
                  <a:spcPct val="3500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 MSF</a:t>
              </a:r>
            </a:p>
          </p:txBody>
        </p:sp>
        <p:sp>
          <p:nvSpPr>
            <p:cNvPr id="12" name="TextBox 11">
              <a:extLst>
                <a:ext uri="{FF2B5EF4-FFF2-40B4-BE49-F238E27FC236}">
                  <a16:creationId xmlns:a16="http://schemas.microsoft.com/office/drawing/2014/main" id="{9B216AB2-958A-46B8-5278-2629CBA266C7}"/>
                </a:ext>
              </a:extLst>
            </p:cNvPr>
            <p:cNvSpPr txBox="1"/>
            <p:nvPr/>
          </p:nvSpPr>
          <p:spPr>
            <a:xfrm>
              <a:off x="9113199" y="535920"/>
              <a:ext cx="659923" cy="233605"/>
            </a:xfrm>
            <a:prstGeom prst="rect">
              <a:avLst/>
            </a:prstGeom>
            <a:grpFill/>
          </p:spPr>
          <p:txBody>
            <a:bodyPr wrap="square">
              <a:spAutoFit/>
            </a:bodyPr>
            <a:lstStyle/>
            <a:p>
              <a:pPr marL="0" marR="0" lvl="0" indent="0" algn="ctr" defTabSz="361142" rtl="0" eaLnBrk="1" fontAlgn="base" latinLnBrk="0" hangingPunct="1">
                <a:lnSpc>
                  <a:spcPct val="90000"/>
                </a:lnSpc>
                <a:spcBef>
                  <a:spcPct val="0"/>
                </a:spcBef>
                <a:spcAft>
                  <a:spcPct val="3500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3. MHA</a:t>
              </a:r>
            </a:p>
          </p:txBody>
        </p:sp>
        <p:sp>
          <p:nvSpPr>
            <p:cNvPr id="13" name="TextBox 12">
              <a:extLst>
                <a:ext uri="{FF2B5EF4-FFF2-40B4-BE49-F238E27FC236}">
                  <a16:creationId xmlns:a16="http://schemas.microsoft.com/office/drawing/2014/main" id="{D199F91C-54E8-61AE-47AB-A09EB2F4155F}"/>
                </a:ext>
              </a:extLst>
            </p:cNvPr>
            <p:cNvSpPr txBox="1"/>
            <p:nvPr/>
          </p:nvSpPr>
          <p:spPr>
            <a:xfrm>
              <a:off x="9729062" y="536947"/>
              <a:ext cx="660644" cy="233605"/>
            </a:xfrm>
            <a:prstGeom prst="rect">
              <a:avLst/>
            </a:prstGeom>
            <a:grpFill/>
          </p:spPr>
          <p:txBody>
            <a:bodyPr wrap="square">
              <a:spAutoFit/>
            </a:bodyPr>
            <a:lstStyle/>
            <a:p>
              <a:pPr marL="0" marR="0" lvl="0" indent="0" algn="ctr" defTabSz="361142" rtl="0" eaLnBrk="1" fontAlgn="base" latinLnBrk="0" hangingPunct="1">
                <a:lnSpc>
                  <a:spcPct val="90000"/>
                </a:lnSpc>
                <a:spcBef>
                  <a:spcPct val="0"/>
                </a:spcBef>
                <a:spcAft>
                  <a:spcPct val="3500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4. NHB</a:t>
              </a:r>
            </a:p>
          </p:txBody>
        </p:sp>
        <p:sp>
          <p:nvSpPr>
            <p:cNvPr id="14" name="TextBox 13">
              <a:extLst>
                <a:ext uri="{FF2B5EF4-FFF2-40B4-BE49-F238E27FC236}">
                  <a16:creationId xmlns:a16="http://schemas.microsoft.com/office/drawing/2014/main" id="{A13C316A-C623-6A3D-2D5F-30B7A0C5DCE9}"/>
                </a:ext>
              </a:extLst>
            </p:cNvPr>
            <p:cNvSpPr txBox="1"/>
            <p:nvPr/>
          </p:nvSpPr>
          <p:spPr>
            <a:xfrm>
              <a:off x="10236279" y="536947"/>
              <a:ext cx="659923" cy="233605"/>
            </a:xfrm>
            <a:prstGeom prst="rect">
              <a:avLst/>
            </a:prstGeom>
            <a:grpFill/>
          </p:spPr>
          <p:txBody>
            <a:bodyPr wrap="square">
              <a:spAutoFit/>
            </a:bodyPr>
            <a:lstStyle/>
            <a:p>
              <a:pPr marL="0" marR="0" lvl="0" indent="0" algn="ctr" defTabSz="361142" rtl="0" eaLnBrk="1" fontAlgn="base" latinLnBrk="0" hangingPunct="1">
                <a:lnSpc>
                  <a:spcPct val="90000"/>
                </a:lnSpc>
                <a:spcBef>
                  <a:spcPct val="0"/>
                </a:spcBef>
                <a:spcAft>
                  <a:spcPct val="3500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5. MPA</a:t>
              </a:r>
            </a:p>
          </p:txBody>
        </p:sp>
      </p:grpSp>
    </p:spTree>
    <p:extLst>
      <p:ext uri="{BB962C8B-B14F-4D97-AF65-F5344CB8AC3E}">
        <p14:creationId xmlns:p14="http://schemas.microsoft.com/office/powerpoint/2010/main" val="2093877302"/>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85C56-4CA6-1D35-F542-0F59AACFB52A}"/>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2FA6AA4-535C-FA63-E901-7EEEC6CEE694}"/>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F88BCAEB-F2F8-AEF7-1A42-AC8EA35D9E1B}"/>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3EA4CC3E-B179-AF02-143C-C04D75392107}"/>
              </a:ext>
            </a:extLst>
          </p:cNvPr>
          <p:cNvSpPr txBox="1"/>
          <p:nvPr/>
        </p:nvSpPr>
        <p:spPr>
          <a:xfrm>
            <a:off x="587301" y="29742"/>
            <a:ext cx="7826913" cy="78246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Our Professional Track Record</a:t>
            </a:r>
          </a:p>
          <a:p>
            <a:pPr defTabSz="891317">
              <a:buClr>
                <a:srgbClr val="000000"/>
              </a:buClr>
              <a:defRPr/>
            </a:pPr>
            <a:r>
              <a:rPr lang="en-US"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 Charities/IPCs</a:t>
            </a:r>
          </a:p>
        </p:txBody>
      </p:sp>
      <p:graphicFrame>
        <p:nvGraphicFramePr>
          <p:cNvPr id="6" name="Table 5">
            <a:extLst>
              <a:ext uri="{FF2B5EF4-FFF2-40B4-BE49-F238E27FC236}">
                <a16:creationId xmlns:a16="http://schemas.microsoft.com/office/drawing/2014/main" id="{F456B924-216E-55C8-9699-2238D64944F9}"/>
              </a:ext>
            </a:extLst>
          </p:cNvPr>
          <p:cNvGraphicFramePr>
            <a:graphicFrameLocks noGrp="1"/>
          </p:cNvGraphicFramePr>
          <p:nvPr>
            <p:extLst>
              <p:ext uri="{D42A27DB-BD31-4B8C-83A1-F6EECF244321}">
                <p14:modId xmlns:p14="http://schemas.microsoft.com/office/powerpoint/2010/main" val="2481037760"/>
              </p:ext>
            </p:extLst>
          </p:nvPr>
        </p:nvGraphicFramePr>
        <p:xfrm>
          <a:off x="458669" y="1043712"/>
          <a:ext cx="5521851" cy="5195159"/>
        </p:xfrm>
        <a:graphic>
          <a:graphicData uri="http://schemas.openxmlformats.org/drawingml/2006/table">
            <a:tbl>
              <a:tblPr/>
              <a:tblGrid>
                <a:gridCol w="698904">
                  <a:extLst>
                    <a:ext uri="{9D8B030D-6E8A-4147-A177-3AD203B41FA5}">
                      <a16:colId xmlns:a16="http://schemas.microsoft.com/office/drawing/2014/main" val="1188851721"/>
                    </a:ext>
                  </a:extLst>
                </a:gridCol>
                <a:gridCol w="4822947">
                  <a:extLst>
                    <a:ext uri="{9D8B030D-6E8A-4147-A177-3AD203B41FA5}">
                      <a16:colId xmlns:a16="http://schemas.microsoft.com/office/drawing/2014/main" val="3690663027"/>
                    </a:ext>
                  </a:extLst>
                </a:gridCol>
              </a:tblGrid>
              <a:tr h="315914">
                <a:tc>
                  <a:txBody>
                    <a:bodyPr/>
                    <a:lstStyle/>
                    <a:p>
                      <a:pPr algn="ctr" rtl="0" fontAlgn="ctr"/>
                      <a:r>
                        <a:rPr lang="en-GB" sz="1200" b="1" i="0" u="none" strike="noStrike" dirty="0">
                          <a:solidFill>
                            <a:srgbClr val="FFFFFF"/>
                          </a:solidFill>
                          <a:effectLst/>
                          <a:latin typeface="Roboto" panose="02000000000000000000" pitchFamily="2" charset="0"/>
                        </a:rPr>
                        <a:t>S/N</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ctr"/>
                      <a:r>
                        <a:rPr lang="en-GB" sz="1200" b="1" i="0" u="none" strike="noStrike" dirty="0">
                          <a:solidFill>
                            <a:srgbClr val="FFFFFF"/>
                          </a:solidFill>
                          <a:effectLst/>
                          <a:latin typeface="Roboto" panose="02000000000000000000" pitchFamily="2" charset="0"/>
                        </a:rPr>
                        <a:t>Organisation</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702279458"/>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1</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200" b="0" i="0" u="none" strike="noStrike" dirty="0">
                          <a:solidFill>
                            <a:srgbClr val="000000"/>
                          </a:solidFill>
                          <a:effectLst/>
                          <a:latin typeface="Roboto" panose="02000000000000000000" pitchFamily="2" charset="0"/>
                        </a:rPr>
                        <a:t>Association for Persons with Special Needs</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1405650"/>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2</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AWWA Ltd</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2632839"/>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3</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Beyond Social Services</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8365974"/>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4</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Covenant Evangelical Free Church</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7376003"/>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5</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Loving Heart Multi-Service Centre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307631"/>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6</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200" b="0" i="0" u="none" strike="noStrike" dirty="0">
                          <a:solidFill>
                            <a:srgbClr val="000000"/>
                          </a:solidFill>
                          <a:effectLst/>
                          <a:latin typeface="Roboto" panose="02000000000000000000" pitchFamily="2" charset="0"/>
                        </a:rPr>
                        <a:t>Management Development Institute of Singapore (MDIS)</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0282455"/>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7</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Muslimin Trust Fund Association</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0731225"/>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8</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ABC</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5571708"/>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9</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200" b="0" i="0" u="none" strike="noStrike" dirty="0">
                          <a:solidFill>
                            <a:srgbClr val="000000"/>
                          </a:solidFill>
                          <a:effectLst/>
                          <a:latin typeface="Roboto" panose="02000000000000000000" pitchFamily="2" charset="0"/>
                        </a:rPr>
                        <a:t>Riding for the Disabled Association of Singapore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023456"/>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10</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200" b="0" i="0" u="none" strike="noStrike" dirty="0">
                          <a:solidFill>
                            <a:srgbClr val="000000"/>
                          </a:solidFill>
                          <a:effectLst/>
                          <a:latin typeface="Roboto" panose="02000000000000000000" pitchFamily="2" charset="0"/>
                        </a:rPr>
                        <a:t>St John's Home for Elderly Persons</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9412794"/>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11</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200" b="0" i="0" u="none" strike="noStrike" dirty="0">
                          <a:solidFill>
                            <a:srgbClr val="000000"/>
                          </a:solidFill>
                          <a:effectLst/>
                          <a:latin typeface="Roboto" panose="02000000000000000000" pitchFamily="2" charset="0"/>
                        </a:rPr>
                        <a:t>Special Needs Trust Company Limited</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4884008"/>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12</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Sree Narayana Mission</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9027836"/>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13</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200" b="0" i="0" u="none" strike="noStrike" dirty="0">
                          <a:solidFill>
                            <a:srgbClr val="000000"/>
                          </a:solidFill>
                          <a:effectLst/>
                          <a:latin typeface="Roboto" panose="02000000000000000000" pitchFamily="2" charset="0"/>
                        </a:rPr>
                        <a:t>Thong Kheng Welfare Services Society</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3208793"/>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14</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Yayasan Mendaki</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2013979"/>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15</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Rahmatan Lil Alamin Foundation</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3608288"/>
                  </a:ext>
                </a:extLst>
              </a:tr>
            </a:tbl>
          </a:graphicData>
        </a:graphic>
      </p:graphicFrame>
      <p:graphicFrame>
        <p:nvGraphicFramePr>
          <p:cNvPr id="2" name="Table 1">
            <a:extLst>
              <a:ext uri="{FF2B5EF4-FFF2-40B4-BE49-F238E27FC236}">
                <a16:creationId xmlns:a16="http://schemas.microsoft.com/office/drawing/2014/main" id="{C2BB4A65-A590-EBA8-CED4-128C95574B69}"/>
              </a:ext>
            </a:extLst>
          </p:cNvPr>
          <p:cNvGraphicFramePr>
            <a:graphicFrameLocks noGrp="1"/>
          </p:cNvGraphicFramePr>
          <p:nvPr>
            <p:extLst>
              <p:ext uri="{D42A27DB-BD31-4B8C-83A1-F6EECF244321}">
                <p14:modId xmlns:p14="http://schemas.microsoft.com/office/powerpoint/2010/main" val="2145105640"/>
              </p:ext>
            </p:extLst>
          </p:nvPr>
        </p:nvGraphicFramePr>
        <p:xfrm>
          <a:off x="6327249" y="1043712"/>
          <a:ext cx="5521851" cy="5195159"/>
        </p:xfrm>
        <a:graphic>
          <a:graphicData uri="http://schemas.openxmlformats.org/drawingml/2006/table">
            <a:tbl>
              <a:tblPr/>
              <a:tblGrid>
                <a:gridCol w="628597">
                  <a:extLst>
                    <a:ext uri="{9D8B030D-6E8A-4147-A177-3AD203B41FA5}">
                      <a16:colId xmlns:a16="http://schemas.microsoft.com/office/drawing/2014/main" val="1188851721"/>
                    </a:ext>
                  </a:extLst>
                </a:gridCol>
                <a:gridCol w="4893254">
                  <a:extLst>
                    <a:ext uri="{9D8B030D-6E8A-4147-A177-3AD203B41FA5}">
                      <a16:colId xmlns:a16="http://schemas.microsoft.com/office/drawing/2014/main" val="3690663027"/>
                    </a:ext>
                  </a:extLst>
                </a:gridCol>
              </a:tblGrid>
              <a:tr h="315914">
                <a:tc>
                  <a:txBody>
                    <a:bodyPr/>
                    <a:lstStyle/>
                    <a:p>
                      <a:pPr algn="ctr" rtl="0" fontAlgn="ctr"/>
                      <a:r>
                        <a:rPr lang="en-GB" sz="1200" b="1" i="0" u="none" strike="noStrike" dirty="0">
                          <a:solidFill>
                            <a:srgbClr val="FFFFFF"/>
                          </a:solidFill>
                          <a:effectLst/>
                          <a:latin typeface="Roboto" panose="02000000000000000000" pitchFamily="2" charset="0"/>
                        </a:rPr>
                        <a:t>S/N</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ctr"/>
                      <a:r>
                        <a:rPr lang="en-GB" sz="1200" b="1" i="0" u="none" strike="noStrike" dirty="0">
                          <a:solidFill>
                            <a:srgbClr val="FFFFFF"/>
                          </a:solidFill>
                          <a:effectLst/>
                          <a:latin typeface="Roboto" panose="02000000000000000000" pitchFamily="2" charset="0"/>
                        </a:rPr>
                        <a:t>Organisation</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702279458"/>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16</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Muslim Kidney Action Association</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6826297"/>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17</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Mindset Care Limited</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6196819"/>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18</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200" b="0" i="0" u="none" strike="noStrike" dirty="0">
                          <a:solidFill>
                            <a:srgbClr val="000000"/>
                          </a:solidFill>
                          <a:effectLst/>
                          <a:latin typeface="Roboto" panose="02000000000000000000" pitchFamily="2" charset="0"/>
                        </a:rPr>
                        <a:t>Ronald McDonald House Charities Singapore</a:t>
                      </a:r>
                      <a:endParaRPr lang="en-GB" sz="1200" b="0" i="0" u="none" strike="noStrike" dirty="0">
                        <a:solidFill>
                          <a:srgbClr val="000000"/>
                        </a:solidFill>
                        <a:effectLst/>
                        <a:latin typeface="Roboto" panose="02000000000000000000" pitchFamily="2" charset="0"/>
                      </a:endParaRP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0482452"/>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19</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pl-PL" sz="1200" b="0" i="0" u="none" strike="noStrike" dirty="0">
                          <a:solidFill>
                            <a:srgbClr val="000000"/>
                          </a:solidFill>
                          <a:effectLst/>
                          <a:latin typeface="Roboto" panose="02000000000000000000" pitchFamily="2" charset="0"/>
                        </a:rPr>
                        <a:t>Sam Kiang Huay Kwan Charity Clinic</a:t>
                      </a:r>
                      <a:endParaRPr lang="en-GB" sz="1200" b="0" i="0" u="none" strike="noStrike" dirty="0">
                        <a:solidFill>
                          <a:srgbClr val="000000"/>
                        </a:solidFill>
                        <a:effectLst/>
                        <a:latin typeface="Roboto" panose="02000000000000000000" pitchFamily="2" charset="0"/>
                      </a:endParaRP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059323"/>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20</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Kidney Dialysis Foundation</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6376125"/>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21</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200" b="0" i="0" u="none" strike="noStrike" dirty="0">
                          <a:solidFill>
                            <a:srgbClr val="000000"/>
                          </a:solidFill>
                          <a:effectLst/>
                          <a:latin typeface="Roboto" panose="02000000000000000000" pitchFamily="2" charset="0"/>
                        </a:rPr>
                        <a:t>Sunlove Abode for Intellectually Infirmed</a:t>
                      </a:r>
                      <a:endParaRPr lang="en-GB" sz="1200" b="0" i="0" u="none" strike="noStrike" dirty="0">
                        <a:solidFill>
                          <a:srgbClr val="000000"/>
                        </a:solidFill>
                        <a:effectLst/>
                        <a:latin typeface="Roboto" panose="02000000000000000000" pitchFamily="2" charset="0"/>
                      </a:endParaRP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653240"/>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22</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Diabetes Singapore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3072720"/>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23</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The Smile Mission Ltd</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3675965"/>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24</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Asia Cornea Foundation</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917252"/>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25</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Society for Continence (Singapore)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0068675"/>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26</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Breast Cancer Foundation</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9094939"/>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27</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Bone Marrow Donor Programme</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8249726"/>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28</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Sian Chay Medical Institution</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9579646"/>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29</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Ren Ci Hospital</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738164"/>
                  </a:ext>
                </a:extLst>
              </a:tr>
              <a:tr h="325283">
                <a:tc>
                  <a:txBody>
                    <a:bodyPr/>
                    <a:lstStyle/>
                    <a:p>
                      <a:pPr algn="ctr" rtl="0" fontAlgn="ctr"/>
                      <a:r>
                        <a:rPr lang="en-GB" sz="1200" b="0" i="0" u="none" strike="noStrike" dirty="0">
                          <a:solidFill>
                            <a:srgbClr val="0A0C0E"/>
                          </a:solidFill>
                          <a:effectLst/>
                          <a:latin typeface="Roboto" panose="02000000000000000000" pitchFamily="2" charset="0"/>
                        </a:rPr>
                        <a:t>30</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200" b="0" i="0" u="none" strike="noStrike" dirty="0">
                          <a:solidFill>
                            <a:srgbClr val="000000"/>
                          </a:solidFill>
                          <a:effectLst/>
                          <a:latin typeface="Roboto" panose="02000000000000000000" pitchFamily="2" charset="0"/>
                        </a:rPr>
                        <a:t>Shan You</a:t>
                      </a:r>
                    </a:p>
                  </a:txBody>
                  <a:tcPr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6919030"/>
                  </a:ext>
                </a:extLst>
              </a:tr>
            </a:tbl>
          </a:graphicData>
        </a:graphic>
      </p:graphicFrame>
    </p:spTree>
    <p:extLst>
      <p:ext uri="{BB962C8B-B14F-4D97-AF65-F5344CB8AC3E}">
        <p14:creationId xmlns:p14="http://schemas.microsoft.com/office/powerpoint/2010/main" val="423004096"/>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92812-B9F8-9CF9-BC80-1F9C767C06FE}"/>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55C45495-FF8A-A728-2C98-49343C9487DB}"/>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7FDFD16-AD44-CD29-71E5-C7365208BE68}"/>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EA557DD3-92BA-0702-103F-82E102628D7E}"/>
              </a:ext>
            </a:extLst>
          </p:cNvPr>
          <p:cNvSpPr txBox="1"/>
          <p:nvPr/>
        </p:nvSpPr>
        <p:spPr>
          <a:xfrm>
            <a:off x="587301" y="29742"/>
            <a:ext cx="7826913" cy="813239"/>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Our Professional Track Record</a:t>
            </a:r>
          </a:p>
          <a:p>
            <a:pPr defTabSz="891317">
              <a:buClr>
                <a:srgbClr val="000000"/>
              </a:buClr>
              <a:defRPr/>
            </a:pPr>
            <a:r>
              <a:rPr lang="en-US"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 Listed Companies</a:t>
            </a:r>
          </a:p>
        </p:txBody>
      </p:sp>
      <p:graphicFrame>
        <p:nvGraphicFramePr>
          <p:cNvPr id="6" name="Table 5">
            <a:extLst>
              <a:ext uri="{FF2B5EF4-FFF2-40B4-BE49-F238E27FC236}">
                <a16:creationId xmlns:a16="http://schemas.microsoft.com/office/drawing/2014/main" id="{2CAD0F23-4FBB-D938-24D1-C48C7DCDD3CA}"/>
              </a:ext>
            </a:extLst>
          </p:cNvPr>
          <p:cNvGraphicFramePr>
            <a:graphicFrameLocks noGrp="1"/>
          </p:cNvGraphicFramePr>
          <p:nvPr/>
        </p:nvGraphicFramePr>
        <p:xfrm>
          <a:off x="587301" y="958736"/>
          <a:ext cx="11357047" cy="5444092"/>
        </p:xfrm>
        <a:graphic>
          <a:graphicData uri="http://schemas.openxmlformats.org/drawingml/2006/table">
            <a:tbl>
              <a:tblPr/>
              <a:tblGrid>
                <a:gridCol w="562562">
                  <a:extLst>
                    <a:ext uri="{9D8B030D-6E8A-4147-A177-3AD203B41FA5}">
                      <a16:colId xmlns:a16="http://schemas.microsoft.com/office/drawing/2014/main" val="1188851721"/>
                    </a:ext>
                  </a:extLst>
                </a:gridCol>
                <a:gridCol w="2344589">
                  <a:extLst>
                    <a:ext uri="{9D8B030D-6E8A-4147-A177-3AD203B41FA5}">
                      <a16:colId xmlns:a16="http://schemas.microsoft.com/office/drawing/2014/main" val="3690663027"/>
                    </a:ext>
                  </a:extLst>
                </a:gridCol>
                <a:gridCol w="5283938">
                  <a:extLst>
                    <a:ext uri="{9D8B030D-6E8A-4147-A177-3AD203B41FA5}">
                      <a16:colId xmlns:a16="http://schemas.microsoft.com/office/drawing/2014/main" val="3225661152"/>
                    </a:ext>
                  </a:extLst>
                </a:gridCol>
                <a:gridCol w="3165958">
                  <a:extLst>
                    <a:ext uri="{9D8B030D-6E8A-4147-A177-3AD203B41FA5}">
                      <a16:colId xmlns:a16="http://schemas.microsoft.com/office/drawing/2014/main" val="2603890822"/>
                    </a:ext>
                  </a:extLst>
                </a:gridCol>
              </a:tblGrid>
              <a:tr h="222364">
                <a:tc>
                  <a:txBody>
                    <a:bodyPr/>
                    <a:lstStyle/>
                    <a:p>
                      <a:pPr algn="ctr" rtl="0" fontAlgn="ctr"/>
                      <a:r>
                        <a:rPr lang="en-GB" sz="1000" b="1" i="0" u="none" strike="noStrike" dirty="0">
                          <a:solidFill>
                            <a:srgbClr val="FFFFFF"/>
                          </a:solidFill>
                          <a:effectLst/>
                          <a:latin typeface="Roboto" panose="02000000000000000000" pitchFamily="2" charset="0"/>
                        </a:rPr>
                        <a:t>S/N</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ctr"/>
                      <a:r>
                        <a:rPr lang="en-GB" sz="1000" b="1" i="0" u="none" strike="noStrike" dirty="0">
                          <a:solidFill>
                            <a:srgbClr val="FFFFFF"/>
                          </a:solidFill>
                          <a:effectLst/>
                          <a:latin typeface="Roboto" panose="02000000000000000000" pitchFamily="2" charset="0"/>
                        </a:rPr>
                        <a:t>Organisation</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ctr"/>
                      <a:r>
                        <a:rPr lang="en-GB" sz="1000" b="1" i="0" u="none" strike="noStrike" dirty="0">
                          <a:solidFill>
                            <a:srgbClr val="FFFFFF"/>
                          </a:solidFill>
                          <a:effectLst/>
                          <a:latin typeface="Roboto" panose="02000000000000000000" pitchFamily="2" charset="0"/>
                        </a:rPr>
                        <a:t>Industry</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rtl="0" fontAlgn="ctr"/>
                      <a:r>
                        <a:rPr lang="en-GB" sz="1000" b="1" i="0" u="none" strike="noStrike" dirty="0">
                          <a:solidFill>
                            <a:srgbClr val="FFFFFF"/>
                          </a:solidFill>
                          <a:effectLst/>
                          <a:latin typeface="Roboto" panose="02000000000000000000" pitchFamily="2" charset="0"/>
                        </a:rPr>
                        <a:t>Professional Services Provided</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702279458"/>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1</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Old Chang Kee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Food Manufacturing and Retail</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1405650"/>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2</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UOB-Kay Hian Holdings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Financial Services / Stockbroking</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000" b="0" i="0" u="none" strike="noStrike" dirty="0">
                          <a:solidFill>
                            <a:srgbClr val="000000"/>
                          </a:solidFill>
                          <a:effectLst/>
                          <a:latin typeface="Roboto" panose="02000000000000000000" pitchFamily="2" charset="0"/>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2632839"/>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3</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Nordic Group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Automation System Integration &amp; Engineering</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8365974"/>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4</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Marco Polo Marine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Marine Logistics and Offshore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7376003"/>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5</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Hor Kew Corporation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Building Construction and Prefabrication</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307631"/>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6</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Tritech Group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Specialist Engineering Services, and Ground and Structural Engineering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0282455"/>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7</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Addvalue Technologies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Technology / Telecommunications Equipment</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0731225"/>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8</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Prospera Global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Lodging and boarding houses and backpackers' hostel</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5571708"/>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9</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Union Steel Holdings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Steel Manufacturing and Fabrication</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023456"/>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10</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Asia Vets Holdings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Veterinary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9412794"/>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11</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Polaris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Industrial Products and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4884008"/>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12</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A0C0E"/>
                          </a:solidFill>
                          <a:effectLst/>
                          <a:latin typeface="Roboto" panose="02000000000000000000" pitchFamily="2" charset="0"/>
                        </a:rPr>
                        <a:t>Vin’s Holdings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Integrated Automotive Solutions Provider</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Pre-IPO Internal Controls Review &amp; Internal Audit</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9027836"/>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13</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HG Metal Manufacturing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Metal Manufacturing</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Review on SR Process</a:t>
                      </a:r>
                      <a:endParaRPr lang="en-GB" sz="1000" b="0" i="0" u="none" strike="noStrike" dirty="0">
                        <a:solidFill>
                          <a:srgbClr val="000000"/>
                        </a:solidFill>
                        <a:effectLst/>
                        <a:latin typeface="Roboto" panose="02000000000000000000" pitchFamily="2" charset="0"/>
                      </a:endParaRP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3208793"/>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14</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Matex International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Specialty Chemicals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Sustainability Report (SR)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2013979"/>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15</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Koda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Original Design Manufacturer of Furniture</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000" b="0" i="0" u="none" strike="noStrike" dirty="0">
                          <a:solidFill>
                            <a:srgbClr val="000000"/>
                          </a:solidFill>
                          <a:effectLst/>
                          <a:latin typeface="Roboto" panose="02000000000000000000" pitchFamily="2" charset="0"/>
                        </a:rPr>
                        <a:t>Sustainability Report (SR)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3807870"/>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16</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Autagco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Restaurant and Assisted Living</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000" b="0" i="0" u="none" strike="noStrike" dirty="0">
                          <a:solidFill>
                            <a:srgbClr val="000000"/>
                          </a:solidFill>
                          <a:effectLst/>
                          <a:latin typeface="Roboto" panose="02000000000000000000" pitchFamily="2" charset="0"/>
                        </a:rPr>
                        <a:t>Sustainability Report (SR)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4942369"/>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17</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Assurance Healthcare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Healthcare Solutions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000" b="0" i="0" u="none" strike="noStrike" dirty="0">
                          <a:solidFill>
                            <a:srgbClr val="000000"/>
                          </a:solidFill>
                          <a:effectLst/>
                          <a:latin typeface="Roboto" panose="02000000000000000000" pitchFamily="2" charset="0"/>
                        </a:rPr>
                        <a:t>Sustainability Report (SR)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4301551"/>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18</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Dyna-Mac Holdings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Offshore Engineering and Construction</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0093124"/>
                  </a:ext>
                </a:extLst>
              </a:tr>
              <a:tr h="163179">
                <a:tc>
                  <a:txBody>
                    <a:bodyPr/>
                    <a:lstStyle/>
                    <a:p>
                      <a:pPr algn="ctr" rtl="0" fontAlgn="ctr"/>
                      <a:r>
                        <a:rPr lang="en-SG" sz="1000" b="0" i="0" u="none" strike="noStrike" dirty="0">
                          <a:solidFill>
                            <a:srgbClr val="0A0C0E"/>
                          </a:solidFill>
                          <a:effectLst/>
                          <a:latin typeface="Roboto" panose="02000000000000000000" pitchFamily="2" charset="0"/>
                        </a:rPr>
                        <a:t>19</a:t>
                      </a:r>
                      <a:endParaRPr lang="en-GB" sz="1000" b="0" i="0" u="none" strike="noStrike" dirty="0">
                        <a:solidFill>
                          <a:srgbClr val="0A0C0E"/>
                        </a:solidFill>
                        <a:effectLst/>
                        <a:latin typeface="Roboto" panose="02000000000000000000" pitchFamily="2" charset="0"/>
                      </a:endParaRP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ISEC Healthcare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Healthcare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Audit &amp; Internal Review on SR Process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5243185"/>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20</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CFM Holdings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Metal Stamping and Tooling</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Review on SR Process</a:t>
                      </a:r>
                      <a:endParaRPr lang="en-GB" sz="1000" b="0" i="0" u="none" strike="noStrike" dirty="0">
                        <a:solidFill>
                          <a:srgbClr val="000000"/>
                        </a:solidFill>
                        <a:effectLst/>
                        <a:latin typeface="Roboto" panose="02000000000000000000" pitchFamily="2" charset="0"/>
                      </a:endParaRP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0752596"/>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21</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YKGI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Food and Beverage</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000" b="0" i="0" u="none" strike="noStrike" dirty="0">
                          <a:solidFill>
                            <a:srgbClr val="000000"/>
                          </a:solidFill>
                          <a:effectLst/>
                          <a:latin typeface="Roboto" panose="02000000000000000000" pitchFamily="2" charset="0"/>
                        </a:rPr>
                        <a:t>Sustainability Report (SR)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5446252"/>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22</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China Mining International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Mining and Resources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000" b="0" i="0" u="none" strike="noStrike" dirty="0">
                          <a:solidFill>
                            <a:srgbClr val="000000"/>
                          </a:solidFill>
                          <a:effectLst/>
                          <a:latin typeface="Roboto" panose="02000000000000000000" pitchFamily="2" charset="0"/>
                        </a:rPr>
                        <a:t>Sustainability Report (SR)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0211057"/>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23</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F J Benjamin Holdings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Retail and Distribution of Luxury and Lifestyle Brands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Sustainability Report (SR)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621404"/>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24</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Wilton Resources Corporation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Exploration, Mining and Production of Gold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Sustainability Report (SR)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6711489"/>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25</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Unusual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Production and Promotion of Live Events and Concerts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000" b="0" i="0" u="none" strike="noStrike" dirty="0">
                          <a:solidFill>
                            <a:srgbClr val="000000"/>
                          </a:solidFill>
                          <a:effectLst/>
                          <a:latin typeface="Roboto" panose="02000000000000000000" pitchFamily="2" charset="0"/>
                        </a:rPr>
                        <a:t>Sustainability Report (SR)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3666442"/>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26</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Kim Heng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Integrated Offshore and Marine Value Chain Services Provider</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000" b="0" i="0" u="none" strike="noStrike" dirty="0">
                          <a:solidFill>
                            <a:srgbClr val="000000"/>
                          </a:solidFill>
                          <a:effectLst/>
                          <a:latin typeface="Roboto" panose="02000000000000000000" pitchFamily="2" charset="0"/>
                        </a:rPr>
                        <a:t>Sustainability Framework/Policy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8734645"/>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27</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Metech International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Lab-grown Diamond and Supply-Chain Management</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Internal Audit</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6538465"/>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28</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Noel Gifts International Ltd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Gifts, Hampers and Flowers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Internal Review on SR Process</a:t>
                      </a:r>
                      <a:endParaRPr lang="en-GB" sz="1000" b="0" i="0" u="none" strike="noStrike" dirty="0">
                        <a:solidFill>
                          <a:srgbClr val="000000"/>
                        </a:solidFill>
                        <a:effectLst/>
                        <a:latin typeface="Roboto" panose="02000000000000000000" pitchFamily="2" charset="0"/>
                      </a:endParaRP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2498545"/>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29</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Rich Capital Holdings Limited</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Property Development, Investment and Management, and Specialist Construction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000" b="0" i="0" u="none" strike="noStrike" dirty="0">
                          <a:solidFill>
                            <a:srgbClr val="000000"/>
                          </a:solidFill>
                          <a:effectLst/>
                          <a:latin typeface="Roboto" panose="02000000000000000000" pitchFamily="2" charset="0"/>
                        </a:rPr>
                        <a:t>Sustainability Report (SR)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7314178"/>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30</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Basel Medical Group Ltd (NASDAQ)</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Healthcare Services</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rPr>
                        <a:t>Internal Audit</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55734"/>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31</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nb-NO" sz="1000" b="0" i="0" u="none" strike="noStrike" dirty="0">
                          <a:solidFill>
                            <a:srgbClr val="000000"/>
                          </a:solidFill>
                          <a:effectLst/>
                          <a:latin typeface="Roboto" panose="02000000000000000000" pitchFamily="2" charset="0"/>
                        </a:rPr>
                        <a:t>Zheng Li Holdings Limited (HKEX)</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GB" sz="1000" b="0" i="0" u="none" strike="noStrike" dirty="0">
                          <a:solidFill>
                            <a:srgbClr val="000000"/>
                          </a:solidFill>
                          <a:effectLst/>
                          <a:latin typeface="Roboto" panose="02000000000000000000" pitchFamily="2" charset="0"/>
                        </a:rPr>
                        <a:t>Automotive Service Provider</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rPr>
                        <a:t>Internal Audit</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3817593"/>
                  </a:ext>
                </a:extLst>
              </a:tr>
              <a:tr h="163179">
                <a:tc>
                  <a:txBody>
                    <a:bodyPr/>
                    <a:lstStyle/>
                    <a:p>
                      <a:pPr algn="ctr" rtl="0" fontAlgn="ctr"/>
                      <a:r>
                        <a:rPr lang="en-GB" sz="1000" b="0" i="0" u="none" strike="noStrike" dirty="0">
                          <a:solidFill>
                            <a:srgbClr val="0A0C0E"/>
                          </a:solidFill>
                          <a:effectLst/>
                          <a:latin typeface="Roboto" panose="02000000000000000000" pitchFamily="2" charset="0"/>
                        </a:rPr>
                        <a:t>32</a:t>
                      </a:r>
                    </a:p>
                  </a:txBody>
                  <a:tcPr marL="2133"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CW Group Holdings Limited (HKEX)</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r>
                        <a:rPr lang="en-US" sz="1000" b="0" i="0" u="none" strike="noStrike" dirty="0">
                          <a:solidFill>
                            <a:srgbClr val="000000"/>
                          </a:solidFill>
                          <a:effectLst/>
                          <a:latin typeface="Roboto" panose="02000000000000000000" pitchFamily="2" charset="0"/>
                        </a:rPr>
                        <a:t>Precision Engineering Solutions Provider and Machine Tool Manufacturer and Distributor</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rPr>
                        <a:t>Internal Audit</a:t>
                      </a:r>
                    </a:p>
                  </a:txBody>
                  <a:tcPr marL="25596" marR="2133" marT="2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3234594"/>
                  </a:ext>
                </a:extLst>
              </a:tr>
            </a:tbl>
          </a:graphicData>
        </a:graphic>
      </p:graphicFrame>
    </p:spTree>
    <p:extLst>
      <p:ext uri="{BB962C8B-B14F-4D97-AF65-F5344CB8AC3E}">
        <p14:creationId xmlns:p14="http://schemas.microsoft.com/office/powerpoint/2010/main" val="2580664865"/>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7157BD-6843-E674-9696-E8674CC5FBDD}"/>
              </a:ext>
            </a:extLst>
          </p:cNvPr>
          <p:cNvGrpSpPr/>
          <p:nvPr/>
        </p:nvGrpSpPr>
        <p:grpSpPr>
          <a:xfrm>
            <a:off x="650415" y="1372015"/>
            <a:ext cx="4858288" cy="4858288"/>
            <a:chOff x="3415423" y="748423"/>
            <a:chExt cx="5361153" cy="5361153"/>
          </a:xfrm>
        </p:grpSpPr>
        <p:sp>
          <p:nvSpPr>
            <p:cNvPr id="5" name="Oval 4">
              <a:extLst>
                <a:ext uri="{FF2B5EF4-FFF2-40B4-BE49-F238E27FC236}">
                  <a16:creationId xmlns:a16="http://schemas.microsoft.com/office/drawing/2014/main" id="{3F0D58C7-F113-0B5F-AB34-8ACAA72E3C3F}"/>
                </a:ext>
              </a:extLst>
            </p:cNvPr>
            <p:cNvSpPr/>
            <p:nvPr/>
          </p:nvSpPr>
          <p:spPr>
            <a:xfrm>
              <a:off x="3415423" y="748423"/>
              <a:ext cx="5361153" cy="5361153"/>
            </a:xfrm>
            <a:prstGeom prst="ellipse">
              <a:avLst/>
            </a:prstGeom>
            <a:blipFill>
              <a:blip r:embed="rId2"/>
              <a:stretch>
                <a:fillRect l="1042" r="-104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6" name="Group 5">
              <a:extLst>
                <a:ext uri="{FF2B5EF4-FFF2-40B4-BE49-F238E27FC236}">
                  <a16:creationId xmlns:a16="http://schemas.microsoft.com/office/drawing/2014/main" id="{B8A568BB-B5DE-B9F3-B0A7-2EA033F8255A}"/>
                </a:ext>
              </a:extLst>
            </p:cNvPr>
            <p:cNvGrpSpPr/>
            <p:nvPr/>
          </p:nvGrpSpPr>
          <p:grpSpPr>
            <a:xfrm>
              <a:off x="3595551" y="890338"/>
              <a:ext cx="5091249" cy="5078723"/>
              <a:chOff x="3595551" y="890338"/>
              <a:chExt cx="5091249" cy="5078723"/>
            </a:xfrm>
          </p:grpSpPr>
          <p:sp>
            <p:nvSpPr>
              <p:cNvPr id="7" name="Oval 6">
                <a:extLst>
                  <a:ext uri="{FF2B5EF4-FFF2-40B4-BE49-F238E27FC236}">
                    <a16:creationId xmlns:a16="http://schemas.microsoft.com/office/drawing/2014/main" id="{97018C85-1181-28FF-CB27-EE1680996151}"/>
                  </a:ext>
                </a:extLst>
              </p:cNvPr>
              <p:cNvSpPr/>
              <p:nvPr/>
            </p:nvSpPr>
            <p:spPr>
              <a:xfrm>
                <a:off x="3608076" y="890338"/>
                <a:ext cx="5078724" cy="5078723"/>
              </a:xfrm>
              <a:prstGeom prst="ellipse">
                <a:avLst/>
              </a:prstGeom>
              <a:solidFill>
                <a:srgbClr val="CC0000">
                  <a:alpha val="58000"/>
                </a:srgb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Title 4">
                <a:extLst>
                  <a:ext uri="{FF2B5EF4-FFF2-40B4-BE49-F238E27FC236}">
                    <a16:creationId xmlns:a16="http://schemas.microsoft.com/office/drawing/2014/main" id="{97C6FD05-3DCD-0FFF-CED8-677EEF19662A}"/>
                  </a:ext>
                </a:extLst>
              </p:cNvPr>
              <p:cNvSpPr txBox="1">
                <a:spLocks/>
              </p:cNvSpPr>
              <p:nvPr/>
            </p:nvSpPr>
            <p:spPr>
              <a:xfrm>
                <a:off x="3595551" y="2821302"/>
                <a:ext cx="5078723" cy="1325563"/>
              </a:xfrm>
              <a:prstGeom prst="rect">
                <a:avLst/>
              </a:prstGeom>
            </p:spPr>
            <p:txBody>
              <a:bodyPr anchor="ctr" anchorCtr="1">
                <a:noAutofit/>
              </a:bodyPr>
              <a:lstStyle>
                <a:lvl1pPr algn="l" defTabSz="914377" rtl="0" eaLnBrk="1" latinLnBrk="0" hangingPunct="1">
                  <a:lnSpc>
                    <a:spcPct val="90000"/>
                  </a:lnSpc>
                  <a:spcBef>
                    <a:spcPct val="0"/>
                  </a:spcBef>
                  <a:buNone/>
                  <a:defRPr sz="4000" b="1" kern="1200">
                    <a:solidFill>
                      <a:schemeClr val="tx1"/>
                    </a:solidFill>
                    <a:latin typeface="Roboto" panose="02000000000000000000" pitchFamily="2" charset="0"/>
                    <a:ea typeface="Roboto" panose="02000000000000000000" pitchFamily="2" charset="0"/>
                    <a:cs typeface="+mj-cs"/>
                  </a:defRPr>
                </a:lvl1pPr>
              </a:lstStyle>
              <a:p>
                <a:pPr algn="ctr"/>
                <a:r>
                  <a:rPr lang="en-US" sz="4400" dirty="0">
                    <a:solidFill>
                      <a:schemeClr val="bg1"/>
                    </a:solidFill>
                  </a:rPr>
                  <a:t>Your Service Team</a:t>
                </a:r>
              </a:p>
            </p:txBody>
          </p:sp>
        </p:grpSp>
      </p:grpSp>
    </p:spTree>
    <p:extLst>
      <p:ext uri="{BB962C8B-B14F-4D97-AF65-F5344CB8AC3E}">
        <p14:creationId xmlns:p14="http://schemas.microsoft.com/office/powerpoint/2010/main" val="307090770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10" name="TextBox 9">
            <a:extLst>
              <a:ext uri="{FF2B5EF4-FFF2-40B4-BE49-F238E27FC236}">
                <a16:creationId xmlns:a16="http://schemas.microsoft.com/office/drawing/2014/main" id="{7872C063-3F67-5E41-F8D5-F37FBD1C9729}"/>
              </a:ext>
            </a:extLst>
          </p:cNvPr>
          <p:cNvSpPr txBox="1"/>
          <p:nvPr/>
        </p:nvSpPr>
        <p:spPr>
          <a:xfrm>
            <a:off x="8888694" y="1168114"/>
            <a:ext cx="939800" cy="307777"/>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Arial" charset="0"/>
              </a:rPr>
              <a:t>Role</a:t>
            </a:r>
          </a:p>
        </p:txBody>
      </p:sp>
      <p:sp>
        <p:nvSpPr>
          <p:cNvPr id="11" name="TextBox 10">
            <a:extLst>
              <a:ext uri="{FF2B5EF4-FFF2-40B4-BE49-F238E27FC236}">
                <a16:creationId xmlns:a16="http://schemas.microsoft.com/office/drawing/2014/main" id="{3F61606E-B962-4726-F952-9C2CDA2E637B}"/>
              </a:ext>
            </a:extLst>
          </p:cNvPr>
          <p:cNvSpPr txBox="1"/>
          <p:nvPr/>
        </p:nvSpPr>
        <p:spPr>
          <a:xfrm>
            <a:off x="9752294" y="1168114"/>
            <a:ext cx="1582132" cy="307777"/>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Arial" charset="0"/>
              </a:rPr>
              <a:t>Responsibility</a:t>
            </a:r>
          </a:p>
        </p:txBody>
      </p:sp>
      <p:graphicFrame>
        <p:nvGraphicFramePr>
          <p:cNvPr id="12" name="Diagram 11">
            <a:extLst>
              <a:ext uri="{FF2B5EF4-FFF2-40B4-BE49-F238E27FC236}">
                <a16:creationId xmlns:a16="http://schemas.microsoft.com/office/drawing/2014/main" id="{43486696-73F9-8D26-2E11-00874E9FFD39}"/>
              </a:ext>
            </a:extLst>
          </p:cNvPr>
          <p:cNvGraphicFramePr/>
          <p:nvPr>
            <p:extLst>
              <p:ext uri="{D42A27DB-BD31-4B8C-83A1-F6EECF244321}">
                <p14:modId xmlns:p14="http://schemas.microsoft.com/office/powerpoint/2010/main" val="2231086617"/>
              </p:ext>
            </p:extLst>
          </p:nvPr>
        </p:nvGraphicFramePr>
        <p:xfrm>
          <a:off x="9030881" y="1600362"/>
          <a:ext cx="1013264" cy="40187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TextBox 12">
            <a:extLst>
              <a:ext uri="{FF2B5EF4-FFF2-40B4-BE49-F238E27FC236}">
                <a16:creationId xmlns:a16="http://schemas.microsoft.com/office/drawing/2014/main" id="{94D7C8C7-262B-0182-0D83-A15C528E9C2F}"/>
              </a:ext>
            </a:extLst>
          </p:cNvPr>
          <p:cNvSpPr txBox="1"/>
          <p:nvPr/>
        </p:nvSpPr>
        <p:spPr>
          <a:xfrm>
            <a:off x="9927733" y="4354275"/>
            <a:ext cx="1600200" cy="707886"/>
          </a:xfrm>
          <a:prstGeom prst="rect">
            <a:avLst/>
          </a:prstGeom>
          <a:noFill/>
        </p:spPr>
        <p:txBody>
          <a:bodyPr wrap="square" rtlCol="0">
            <a:spAutoFit/>
          </a:bodyPr>
          <a:lstStyle/>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000" b="0" i="0" u="none" strike="noStrike" kern="1200" cap="none" spc="0" normalizeH="0" baseline="0" noProof="0" dirty="0">
                <a:ln>
                  <a:noFill/>
                </a:ln>
                <a:solidFill>
                  <a:prstClr val="black"/>
                </a:solidFill>
                <a:effectLst/>
                <a:uLnTx/>
                <a:uFillTx/>
                <a:latin typeface="Arial" charset="0"/>
                <a:ea typeface="+mn-ea"/>
                <a:cs typeface="Arial" charset="0"/>
              </a:rPr>
              <a:t>Lead team in executing the project, fieldwork and documentation</a:t>
            </a:r>
          </a:p>
        </p:txBody>
      </p:sp>
      <p:sp>
        <p:nvSpPr>
          <p:cNvPr id="15" name="TextBox 14">
            <a:extLst>
              <a:ext uri="{FF2B5EF4-FFF2-40B4-BE49-F238E27FC236}">
                <a16:creationId xmlns:a16="http://schemas.microsoft.com/office/drawing/2014/main" id="{8302F0AC-3BE9-5A58-CE0A-ED070498191D}"/>
              </a:ext>
            </a:extLst>
          </p:cNvPr>
          <p:cNvSpPr txBox="1"/>
          <p:nvPr/>
        </p:nvSpPr>
        <p:spPr>
          <a:xfrm>
            <a:off x="9927733" y="1635313"/>
            <a:ext cx="1600200" cy="553998"/>
          </a:xfrm>
          <a:prstGeom prst="rect">
            <a:avLst/>
          </a:prstGeom>
          <a:noFill/>
        </p:spPr>
        <p:txBody>
          <a:bodyPr wrap="square" rtlCol="0">
            <a:spAutoFit/>
          </a:bodyPr>
          <a:lstStyle/>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000" b="0" i="0" u="none" strike="noStrike" kern="1200" cap="none" spc="0" normalizeH="0" baseline="0" noProof="0" dirty="0">
                <a:ln>
                  <a:noFill/>
                </a:ln>
                <a:solidFill>
                  <a:prstClr val="black"/>
                </a:solidFill>
                <a:effectLst/>
                <a:uLnTx/>
                <a:uFillTx/>
                <a:latin typeface="Arial" charset="0"/>
                <a:ea typeface="+mn-ea"/>
                <a:cs typeface="Arial" charset="0"/>
              </a:rPr>
              <a:t>Overall responsibility for service and quality delivery</a:t>
            </a:r>
          </a:p>
        </p:txBody>
      </p:sp>
      <p:sp>
        <p:nvSpPr>
          <p:cNvPr id="16" name="TextBox 15">
            <a:extLst>
              <a:ext uri="{FF2B5EF4-FFF2-40B4-BE49-F238E27FC236}">
                <a16:creationId xmlns:a16="http://schemas.microsoft.com/office/drawing/2014/main" id="{8CAECB1B-C5D9-8395-AB96-061F078E5257}"/>
              </a:ext>
            </a:extLst>
          </p:cNvPr>
          <p:cNvSpPr txBox="1"/>
          <p:nvPr/>
        </p:nvSpPr>
        <p:spPr>
          <a:xfrm>
            <a:off x="9904803" y="2961927"/>
            <a:ext cx="1666517" cy="707886"/>
          </a:xfrm>
          <a:prstGeom prst="rect">
            <a:avLst/>
          </a:prstGeom>
          <a:noFill/>
        </p:spPr>
        <p:txBody>
          <a:bodyPr wrap="square" rtlCol="0">
            <a:spAutoFit/>
          </a:bodyPr>
          <a:lstStyle/>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000" b="0" i="0" u="none" strike="noStrike" kern="1200" cap="none" spc="0" normalizeH="0" baseline="0" noProof="0" dirty="0">
                <a:ln>
                  <a:noFill/>
                </a:ln>
                <a:solidFill>
                  <a:prstClr val="black"/>
                </a:solidFill>
                <a:effectLst/>
                <a:uLnTx/>
                <a:uFillTx/>
                <a:latin typeface="Arial" charset="0"/>
                <a:ea typeface="+mn-ea"/>
                <a:cs typeface="Arial" charset="0"/>
              </a:rPr>
              <a:t>Responsible for project management and monitoring of timeline and deliverables</a:t>
            </a:r>
          </a:p>
        </p:txBody>
      </p:sp>
      <p:sp>
        <p:nvSpPr>
          <p:cNvPr id="17" name="Round Same Side Corner Rectangle 20">
            <a:extLst>
              <a:ext uri="{FF2B5EF4-FFF2-40B4-BE49-F238E27FC236}">
                <a16:creationId xmlns:a16="http://schemas.microsoft.com/office/drawing/2014/main" id="{8B8564D1-F615-D247-2E8D-166A808B21A7}"/>
              </a:ext>
            </a:extLst>
          </p:cNvPr>
          <p:cNvSpPr/>
          <p:nvPr/>
        </p:nvSpPr>
        <p:spPr>
          <a:xfrm>
            <a:off x="3348729" y="2174182"/>
            <a:ext cx="2394386" cy="492709"/>
          </a:xfrm>
          <a:prstGeom prst="round2SameRect">
            <a:avLst>
              <a:gd name="adj1" fmla="val 0"/>
              <a:gd name="adj2" fmla="val 132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75850" tIns="251935" rtlCol="0" anchor="t"/>
          <a:lstStyle/>
          <a:p>
            <a:endParaRPr lang="uk-UA" sz="900" b="1"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8" name="Round Same Side Corner Rectangle 21">
            <a:extLst>
              <a:ext uri="{FF2B5EF4-FFF2-40B4-BE49-F238E27FC236}">
                <a16:creationId xmlns:a16="http://schemas.microsoft.com/office/drawing/2014/main" id="{B482336B-3388-E03C-BC55-894933579C0B}"/>
              </a:ext>
            </a:extLst>
          </p:cNvPr>
          <p:cNvSpPr/>
          <p:nvPr/>
        </p:nvSpPr>
        <p:spPr>
          <a:xfrm>
            <a:off x="3348729" y="1600362"/>
            <a:ext cx="2394386" cy="571469"/>
          </a:xfrm>
          <a:prstGeom prst="round2SameRect">
            <a:avLst/>
          </a:prstGeom>
          <a:solidFill>
            <a:schemeClr val="bg1"/>
          </a:solidFill>
          <a:ln w="38100">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lIns="647832" rtlCol="0" anchor="ctr"/>
          <a:lstStyle/>
          <a:p>
            <a:pPr algn="l"/>
            <a:endParaRPr lang="uk-UA" sz="9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9" name="TextBox 18">
            <a:extLst>
              <a:ext uri="{FF2B5EF4-FFF2-40B4-BE49-F238E27FC236}">
                <a16:creationId xmlns:a16="http://schemas.microsoft.com/office/drawing/2014/main" id="{AB834E19-7D2C-A3E2-5110-7A7BA343AA8D}"/>
              </a:ext>
            </a:extLst>
          </p:cNvPr>
          <p:cNvSpPr txBox="1"/>
          <p:nvPr/>
        </p:nvSpPr>
        <p:spPr>
          <a:xfrm>
            <a:off x="3345320" y="1746445"/>
            <a:ext cx="2394386" cy="276999"/>
          </a:xfrm>
          <a:prstGeom prst="rect">
            <a:avLst/>
          </a:prstGeom>
          <a:noFill/>
        </p:spPr>
        <p:txBody>
          <a:bodyPr wrap="square" rtlCol="0" anchor="ctr" anchorCtr="0">
            <a:spAutoFit/>
          </a:bodyPr>
          <a:lstStyle/>
          <a:p>
            <a:r>
              <a:rPr lang="en-US" sz="1200" b="1" dirty="0">
                <a:latin typeface="Roboto" panose="02000000000000000000" pitchFamily="2" charset="0"/>
                <a:ea typeface="Roboto" panose="02000000000000000000" pitchFamily="2" charset="0"/>
                <a:cs typeface="Roboto" panose="02000000000000000000" pitchFamily="2" charset="0"/>
              </a:rPr>
              <a:t>Ruby Rouben</a:t>
            </a:r>
          </a:p>
        </p:txBody>
      </p:sp>
      <p:sp>
        <p:nvSpPr>
          <p:cNvPr id="20" name="Subtitle 2">
            <a:extLst>
              <a:ext uri="{FF2B5EF4-FFF2-40B4-BE49-F238E27FC236}">
                <a16:creationId xmlns:a16="http://schemas.microsoft.com/office/drawing/2014/main" id="{F6498256-D632-89C5-E9B0-35BB31DF509C}"/>
              </a:ext>
            </a:extLst>
          </p:cNvPr>
          <p:cNvSpPr txBox="1">
            <a:spLocks/>
          </p:cNvSpPr>
          <p:nvPr/>
        </p:nvSpPr>
        <p:spPr>
          <a:xfrm>
            <a:off x="3275753" y="2134006"/>
            <a:ext cx="2511430" cy="519822"/>
          </a:xfrm>
          <a:prstGeom prst="rect">
            <a:avLst/>
          </a:prstGeom>
        </p:spPr>
        <p:txBody>
          <a:bodyPr vert="horz" wrap="squar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en-US" sz="1050" dirty="0">
                <a:solidFill>
                  <a:schemeClr val="tx1"/>
                </a:solidFill>
                <a:latin typeface="Roboto" panose="02000000000000000000" pitchFamily="2" charset="0"/>
                <a:ea typeface="Roboto" panose="02000000000000000000" pitchFamily="2" charset="0"/>
                <a:cs typeface="Roboto" panose="02000000000000000000" pitchFamily="2" charset="0"/>
              </a:rPr>
              <a:t>Engagement Director</a:t>
            </a:r>
          </a:p>
          <a:p>
            <a:pPr>
              <a:lnSpc>
                <a:spcPts val="1750"/>
              </a:lnSpc>
            </a:pPr>
            <a:r>
              <a:rPr lang="en-US" sz="1050" dirty="0">
                <a:solidFill>
                  <a:schemeClr val="tx1"/>
                </a:solidFill>
                <a:latin typeface="Roboto" panose="02000000000000000000" pitchFamily="2" charset="0"/>
                <a:ea typeface="Roboto" panose="02000000000000000000" pitchFamily="2" charset="0"/>
                <a:cs typeface="Roboto" panose="02000000000000000000" pitchFamily="2" charset="0"/>
              </a:rPr>
              <a:t>&gt; 16 Years of Relevant Experience</a:t>
            </a:r>
          </a:p>
        </p:txBody>
      </p:sp>
      <p:sp>
        <p:nvSpPr>
          <p:cNvPr id="21" name="Round Same Side Corner Rectangle 20">
            <a:extLst>
              <a:ext uri="{FF2B5EF4-FFF2-40B4-BE49-F238E27FC236}">
                <a16:creationId xmlns:a16="http://schemas.microsoft.com/office/drawing/2014/main" id="{F20DC554-7F74-D135-2CE1-CC9153F94ED2}"/>
              </a:ext>
            </a:extLst>
          </p:cNvPr>
          <p:cNvSpPr/>
          <p:nvPr/>
        </p:nvSpPr>
        <p:spPr>
          <a:xfrm>
            <a:off x="4774719" y="3487563"/>
            <a:ext cx="2394386" cy="492709"/>
          </a:xfrm>
          <a:prstGeom prst="round2SameRect">
            <a:avLst>
              <a:gd name="adj1" fmla="val 0"/>
              <a:gd name="adj2" fmla="val 132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75850" tIns="251935" rtlCol="0" anchor="t"/>
          <a:lstStyle/>
          <a:p>
            <a:endParaRPr lang="uk-UA" sz="9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2" name="Round Same Side Corner Rectangle 21">
            <a:extLst>
              <a:ext uri="{FF2B5EF4-FFF2-40B4-BE49-F238E27FC236}">
                <a16:creationId xmlns:a16="http://schemas.microsoft.com/office/drawing/2014/main" id="{EAB326E4-875D-83DC-139F-53571E38C07B}"/>
              </a:ext>
            </a:extLst>
          </p:cNvPr>
          <p:cNvSpPr/>
          <p:nvPr/>
        </p:nvSpPr>
        <p:spPr>
          <a:xfrm>
            <a:off x="4774719" y="2913743"/>
            <a:ext cx="2394386" cy="571469"/>
          </a:xfrm>
          <a:prstGeom prst="round2SameRect">
            <a:avLst/>
          </a:prstGeom>
          <a:solidFill>
            <a:schemeClr val="bg1"/>
          </a:solidFill>
          <a:ln w="38100">
            <a:solidFill>
              <a:srgbClr val="00B050"/>
            </a:solidFill>
          </a:ln>
          <a:effectLst/>
        </p:spPr>
        <p:style>
          <a:lnRef idx="2">
            <a:schemeClr val="accent1">
              <a:shade val="50000"/>
            </a:schemeClr>
          </a:lnRef>
          <a:fillRef idx="1">
            <a:schemeClr val="accent1"/>
          </a:fillRef>
          <a:effectRef idx="0">
            <a:schemeClr val="accent1"/>
          </a:effectRef>
          <a:fontRef idx="minor">
            <a:schemeClr val="lt1"/>
          </a:fontRef>
        </p:style>
        <p:txBody>
          <a:bodyPr lIns="647832" rtlCol="0" anchor="ctr"/>
          <a:lstStyle/>
          <a:p>
            <a:endParaRPr lang="uk-UA" sz="900" dirty="0">
              <a:latin typeface="Roboto" panose="02000000000000000000" pitchFamily="2" charset="0"/>
              <a:ea typeface="Roboto" panose="02000000000000000000" pitchFamily="2" charset="0"/>
              <a:cs typeface="Roboto" panose="02000000000000000000" pitchFamily="2" charset="0"/>
            </a:endParaRPr>
          </a:p>
        </p:txBody>
      </p:sp>
      <p:sp>
        <p:nvSpPr>
          <p:cNvPr id="23" name="TextBox 22">
            <a:extLst>
              <a:ext uri="{FF2B5EF4-FFF2-40B4-BE49-F238E27FC236}">
                <a16:creationId xmlns:a16="http://schemas.microsoft.com/office/drawing/2014/main" id="{3FDA1E09-D33D-07C5-176A-8458A43A534B}"/>
              </a:ext>
            </a:extLst>
          </p:cNvPr>
          <p:cNvSpPr txBox="1"/>
          <p:nvPr/>
        </p:nvSpPr>
        <p:spPr>
          <a:xfrm>
            <a:off x="4786407" y="3071429"/>
            <a:ext cx="2371009" cy="276999"/>
          </a:xfrm>
          <a:prstGeom prst="rect">
            <a:avLst/>
          </a:prstGeom>
          <a:noFill/>
        </p:spPr>
        <p:txBody>
          <a:bodyPr wrap="square" rtlCol="0" anchor="ctr" anchorCtr="0">
            <a:spAutoFit/>
          </a:bodyPr>
          <a:lstStyle/>
          <a:p>
            <a:r>
              <a:rPr lang="en-US" sz="1200" b="1" dirty="0">
                <a:latin typeface="Roboto" panose="02000000000000000000" pitchFamily="2" charset="0"/>
                <a:ea typeface="Roboto" panose="02000000000000000000" pitchFamily="2" charset="0"/>
                <a:cs typeface="Roboto" panose="02000000000000000000" pitchFamily="2" charset="0"/>
              </a:rPr>
              <a:t>Jespreet Kaur</a:t>
            </a:r>
          </a:p>
        </p:txBody>
      </p:sp>
      <p:sp>
        <p:nvSpPr>
          <p:cNvPr id="24" name="Subtitle 2">
            <a:extLst>
              <a:ext uri="{FF2B5EF4-FFF2-40B4-BE49-F238E27FC236}">
                <a16:creationId xmlns:a16="http://schemas.microsoft.com/office/drawing/2014/main" id="{5A3DC94B-726E-65E7-6388-A9966644ABF6}"/>
              </a:ext>
            </a:extLst>
          </p:cNvPr>
          <p:cNvSpPr txBox="1">
            <a:spLocks/>
          </p:cNvSpPr>
          <p:nvPr/>
        </p:nvSpPr>
        <p:spPr>
          <a:xfrm>
            <a:off x="4841289" y="3443865"/>
            <a:ext cx="2394386" cy="519245"/>
          </a:xfrm>
          <a:prstGeom prst="rect">
            <a:avLst/>
          </a:prstGeom>
        </p:spPr>
        <p:txBody>
          <a:bodyPr vert="horz" wrap="squar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en-US" sz="1100" dirty="0">
                <a:solidFill>
                  <a:schemeClr val="tx1"/>
                </a:solidFill>
                <a:latin typeface="Roboto" panose="02000000000000000000" pitchFamily="2" charset="0"/>
                <a:ea typeface="Roboto" panose="02000000000000000000" pitchFamily="2" charset="0"/>
                <a:cs typeface="Roboto" panose="02000000000000000000" pitchFamily="2" charset="0"/>
              </a:rPr>
              <a:t>Manager</a:t>
            </a:r>
          </a:p>
          <a:p>
            <a:pPr>
              <a:lnSpc>
                <a:spcPts val="1750"/>
              </a:lnSpc>
            </a:pPr>
            <a:r>
              <a:rPr lang="en-US" sz="1100" dirty="0">
                <a:solidFill>
                  <a:schemeClr val="tx1"/>
                </a:solidFill>
                <a:latin typeface="Roboto" panose="02000000000000000000" pitchFamily="2" charset="0"/>
                <a:ea typeface="Roboto" panose="02000000000000000000" pitchFamily="2" charset="0"/>
                <a:cs typeface="Roboto" panose="02000000000000000000" pitchFamily="2" charset="0"/>
              </a:rPr>
              <a:t>&gt; 6 Years of Relevant Experience</a:t>
            </a:r>
          </a:p>
        </p:txBody>
      </p:sp>
      <p:sp>
        <p:nvSpPr>
          <p:cNvPr id="48" name="Round Same Side Corner Rectangle 21">
            <a:extLst>
              <a:ext uri="{FF2B5EF4-FFF2-40B4-BE49-F238E27FC236}">
                <a16:creationId xmlns:a16="http://schemas.microsoft.com/office/drawing/2014/main" id="{9B9DA868-7415-C436-DE57-A0446820C259}"/>
              </a:ext>
            </a:extLst>
          </p:cNvPr>
          <p:cNvSpPr/>
          <p:nvPr/>
        </p:nvSpPr>
        <p:spPr>
          <a:xfrm>
            <a:off x="2136298" y="2913743"/>
            <a:ext cx="2394386" cy="571469"/>
          </a:xfrm>
          <a:prstGeom prst="round2SameRect">
            <a:avLst/>
          </a:prstGeom>
          <a:solidFill>
            <a:schemeClr val="bg1"/>
          </a:solidFill>
          <a:ln w="38100">
            <a:solidFill>
              <a:srgbClr val="00B050"/>
            </a:solidFill>
          </a:ln>
          <a:effectLst/>
        </p:spPr>
        <p:style>
          <a:lnRef idx="2">
            <a:schemeClr val="accent1">
              <a:shade val="50000"/>
            </a:schemeClr>
          </a:lnRef>
          <a:fillRef idx="1">
            <a:schemeClr val="accent1"/>
          </a:fillRef>
          <a:effectRef idx="0">
            <a:schemeClr val="accent1"/>
          </a:effectRef>
          <a:fontRef idx="minor">
            <a:schemeClr val="lt1"/>
          </a:fontRef>
        </p:style>
        <p:txBody>
          <a:bodyPr lIns="647832" rtlCol="0" anchor="ctr"/>
          <a:lstStyle/>
          <a:p>
            <a:pPr algn="l"/>
            <a:endParaRPr lang="uk-UA" sz="900" dirty="0">
              <a:latin typeface="Roboto" panose="02000000000000000000" pitchFamily="2" charset="0"/>
              <a:ea typeface="Roboto" panose="02000000000000000000" pitchFamily="2" charset="0"/>
              <a:cs typeface="Roboto" panose="02000000000000000000" pitchFamily="2" charset="0"/>
            </a:endParaRPr>
          </a:p>
        </p:txBody>
      </p:sp>
      <p:sp>
        <p:nvSpPr>
          <p:cNvPr id="49" name="TextBox 48">
            <a:extLst>
              <a:ext uri="{FF2B5EF4-FFF2-40B4-BE49-F238E27FC236}">
                <a16:creationId xmlns:a16="http://schemas.microsoft.com/office/drawing/2014/main" id="{AFF650F1-CE91-7CBE-EA0D-7BCCA42D3330}"/>
              </a:ext>
            </a:extLst>
          </p:cNvPr>
          <p:cNvSpPr txBox="1"/>
          <p:nvPr/>
        </p:nvSpPr>
        <p:spPr>
          <a:xfrm>
            <a:off x="2132889" y="3060977"/>
            <a:ext cx="2394386" cy="276999"/>
          </a:xfrm>
          <a:prstGeom prst="rect">
            <a:avLst/>
          </a:prstGeom>
          <a:noFill/>
        </p:spPr>
        <p:txBody>
          <a:bodyPr wrap="square" rtlCol="0" anchor="ctr" anchorCtr="0">
            <a:spAutoFit/>
          </a:bodyPr>
          <a:lstStyle/>
          <a:p>
            <a:r>
              <a:rPr lang="en-US" sz="1200" b="1" dirty="0">
                <a:latin typeface="Roboto" panose="02000000000000000000" pitchFamily="2" charset="0"/>
                <a:ea typeface="Roboto" panose="02000000000000000000" pitchFamily="2" charset="0"/>
                <a:cs typeface="Roboto" panose="02000000000000000000" pitchFamily="2" charset="0"/>
              </a:rPr>
              <a:t>Kwok Jing Yi</a:t>
            </a:r>
          </a:p>
        </p:txBody>
      </p:sp>
      <p:sp>
        <p:nvSpPr>
          <p:cNvPr id="50" name="Round Same Side Corner Rectangle 20">
            <a:extLst>
              <a:ext uri="{FF2B5EF4-FFF2-40B4-BE49-F238E27FC236}">
                <a16:creationId xmlns:a16="http://schemas.microsoft.com/office/drawing/2014/main" id="{3305E678-7C83-0A49-7E37-203F9C067E76}"/>
              </a:ext>
            </a:extLst>
          </p:cNvPr>
          <p:cNvSpPr/>
          <p:nvPr/>
        </p:nvSpPr>
        <p:spPr>
          <a:xfrm>
            <a:off x="2136298" y="3533959"/>
            <a:ext cx="2394386" cy="492709"/>
          </a:xfrm>
          <a:prstGeom prst="round2SameRect">
            <a:avLst>
              <a:gd name="adj1" fmla="val 0"/>
              <a:gd name="adj2" fmla="val 132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75850" tIns="251935" rtlCol="0" anchor="t"/>
          <a:lstStyle/>
          <a:p>
            <a:endParaRPr lang="uk-UA" sz="900" b="1"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1" name="Subtitle 2">
            <a:extLst>
              <a:ext uri="{FF2B5EF4-FFF2-40B4-BE49-F238E27FC236}">
                <a16:creationId xmlns:a16="http://schemas.microsoft.com/office/drawing/2014/main" id="{37ACF465-BB48-EF03-36A1-CBA8C1745585}"/>
              </a:ext>
            </a:extLst>
          </p:cNvPr>
          <p:cNvSpPr txBox="1">
            <a:spLocks/>
          </p:cNvSpPr>
          <p:nvPr/>
        </p:nvSpPr>
        <p:spPr>
          <a:xfrm>
            <a:off x="2063322" y="3443543"/>
            <a:ext cx="2511430" cy="519822"/>
          </a:xfrm>
          <a:prstGeom prst="rect">
            <a:avLst/>
          </a:prstGeom>
        </p:spPr>
        <p:txBody>
          <a:bodyPr vert="horz" wrap="squar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en-US" sz="1050" dirty="0">
                <a:solidFill>
                  <a:schemeClr val="tx1"/>
                </a:solidFill>
                <a:latin typeface="Roboto" panose="02000000000000000000" pitchFamily="2" charset="0"/>
                <a:ea typeface="Roboto" panose="02000000000000000000" pitchFamily="2" charset="0"/>
                <a:cs typeface="Roboto" panose="02000000000000000000" pitchFamily="2" charset="0"/>
              </a:rPr>
              <a:t>Senior Manager</a:t>
            </a:r>
          </a:p>
          <a:p>
            <a:pPr>
              <a:lnSpc>
                <a:spcPts val="1750"/>
              </a:lnSpc>
            </a:pPr>
            <a:r>
              <a:rPr lang="en-US" sz="1050" dirty="0">
                <a:solidFill>
                  <a:schemeClr val="tx1"/>
                </a:solidFill>
                <a:latin typeface="Roboto" panose="02000000000000000000" pitchFamily="2" charset="0"/>
                <a:ea typeface="Roboto" panose="02000000000000000000" pitchFamily="2" charset="0"/>
                <a:cs typeface="Roboto" panose="02000000000000000000" pitchFamily="2" charset="0"/>
              </a:rPr>
              <a:t>&gt; 10 Years of Relevant Experience</a:t>
            </a:r>
          </a:p>
        </p:txBody>
      </p:sp>
      <p:sp>
        <p:nvSpPr>
          <p:cNvPr id="2" name="Google Shape;190;p2">
            <a:extLst>
              <a:ext uri="{FF2B5EF4-FFF2-40B4-BE49-F238E27FC236}">
                <a16:creationId xmlns:a16="http://schemas.microsoft.com/office/drawing/2014/main" id="{A4745A51-9D10-0636-5A3C-03FD2CD83607}"/>
              </a:ext>
            </a:extLst>
          </p:cNvPr>
          <p:cNvSpPr txBox="1"/>
          <p:nvPr/>
        </p:nvSpPr>
        <p:spPr>
          <a:xfrm>
            <a:off x="605955" y="206524"/>
            <a:ext cx="7826913" cy="505462"/>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Your Service Team – Key Management </a:t>
            </a:r>
          </a:p>
        </p:txBody>
      </p:sp>
      <p:pic>
        <p:nvPicPr>
          <p:cNvPr id="6" name="Picture 8" descr="Chartered Accountant of Singapore - Credly">
            <a:extLst>
              <a:ext uri="{FF2B5EF4-FFF2-40B4-BE49-F238E27FC236}">
                <a16:creationId xmlns:a16="http://schemas.microsoft.com/office/drawing/2014/main" id="{3EACE00C-64E1-9FA5-11A7-03C592809408}"/>
              </a:ext>
            </a:extLst>
          </p:cNvPr>
          <p:cNvPicPr>
            <a:picLocks noChangeAspect="1" noChangeArrowheads="1"/>
          </p:cNvPicPr>
          <p:nvPr/>
        </p:nvPicPr>
        <p:blipFill rotWithShape="1">
          <a:blip r:embed="rId7" cstate="email">
            <a:extLst>
              <a:ext uri="{28A0092B-C50C-407E-A947-70E740481C1C}">
                <a14:useLocalDpi xmlns:a14="http://schemas.microsoft.com/office/drawing/2010/main" val="0"/>
              </a:ext>
            </a:extLst>
          </a:blip>
          <a:srcRect l="11905" t="15990" r="12803" b="15990"/>
          <a:stretch/>
        </p:blipFill>
        <p:spPr bwMode="auto">
          <a:xfrm>
            <a:off x="4872574" y="1719019"/>
            <a:ext cx="386190" cy="34888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0" descr="Social Media and Badging">
            <a:extLst>
              <a:ext uri="{FF2B5EF4-FFF2-40B4-BE49-F238E27FC236}">
                <a16:creationId xmlns:a16="http://schemas.microsoft.com/office/drawing/2014/main" id="{835CC7B2-4989-A85B-2C10-9F9366D0F1D8}"/>
              </a:ext>
            </a:extLst>
          </p:cNvPr>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4464145" y="1694234"/>
            <a:ext cx="397074" cy="39707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descr="Social Media and Badging">
            <a:extLst>
              <a:ext uri="{FF2B5EF4-FFF2-40B4-BE49-F238E27FC236}">
                <a16:creationId xmlns:a16="http://schemas.microsoft.com/office/drawing/2014/main" id="{2FAB156E-3800-4716-4E46-8B6A8B6D7E0C}"/>
              </a:ext>
            </a:extLst>
          </p:cNvPr>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3301304" y="3007802"/>
            <a:ext cx="397074" cy="397074"/>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8" descr="Chartered Accountant of Singapore - Credly">
            <a:extLst>
              <a:ext uri="{FF2B5EF4-FFF2-40B4-BE49-F238E27FC236}">
                <a16:creationId xmlns:a16="http://schemas.microsoft.com/office/drawing/2014/main" id="{6FA15A5D-1FF2-86A7-A8AA-5B307B7B1401}"/>
              </a:ext>
            </a:extLst>
          </p:cNvPr>
          <p:cNvPicPr>
            <a:picLocks noChangeAspect="1" noChangeArrowheads="1"/>
          </p:cNvPicPr>
          <p:nvPr/>
        </p:nvPicPr>
        <p:blipFill rotWithShape="1">
          <a:blip r:embed="rId7" cstate="email">
            <a:extLst>
              <a:ext uri="{28A0092B-C50C-407E-A947-70E740481C1C}">
                <a14:useLocalDpi xmlns:a14="http://schemas.microsoft.com/office/drawing/2010/main" val="0"/>
              </a:ext>
            </a:extLst>
          </a:blip>
          <a:srcRect l="11905" t="15990" r="12803" b="15990"/>
          <a:stretch/>
        </p:blipFill>
        <p:spPr bwMode="auto">
          <a:xfrm>
            <a:off x="5971911" y="3027905"/>
            <a:ext cx="386190" cy="348883"/>
          </a:xfrm>
          <a:prstGeom prst="rect">
            <a:avLst/>
          </a:prstGeom>
          <a:noFill/>
          <a:extLst>
            <a:ext uri="{909E8E84-426E-40DD-AFC4-6F175D3DCCD1}">
              <a14:hiddenFill xmlns:a14="http://schemas.microsoft.com/office/drawing/2010/main">
                <a:solidFill>
                  <a:srgbClr val="FFFFFF"/>
                </a:solidFill>
              </a14:hiddenFill>
            </a:ext>
          </a:extLst>
        </p:spPr>
      </p:pic>
      <p:sp>
        <p:nvSpPr>
          <p:cNvPr id="14" name="Round Same Side Corner Rectangle 20">
            <a:extLst>
              <a:ext uri="{FF2B5EF4-FFF2-40B4-BE49-F238E27FC236}">
                <a16:creationId xmlns:a16="http://schemas.microsoft.com/office/drawing/2014/main" id="{603F5EEF-5BFA-DBFD-6B1C-8B4B421087B2}"/>
              </a:ext>
            </a:extLst>
          </p:cNvPr>
          <p:cNvSpPr/>
          <p:nvPr/>
        </p:nvSpPr>
        <p:spPr>
          <a:xfrm>
            <a:off x="3394623" y="4859881"/>
            <a:ext cx="2394386" cy="492709"/>
          </a:xfrm>
          <a:prstGeom prst="round2SameRect">
            <a:avLst>
              <a:gd name="adj1" fmla="val 0"/>
              <a:gd name="adj2" fmla="val 132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75850" tIns="251935" rtlCol="0" anchor="t"/>
          <a:lstStyle/>
          <a:p>
            <a:endParaRPr lang="uk-UA" sz="9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9" name="Round Same Side Corner Rectangle 21">
            <a:extLst>
              <a:ext uri="{FF2B5EF4-FFF2-40B4-BE49-F238E27FC236}">
                <a16:creationId xmlns:a16="http://schemas.microsoft.com/office/drawing/2014/main" id="{B89F309E-60CC-168B-79CF-65B500E98690}"/>
              </a:ext>
            </a:extLst>
          </p:cNvPr>
          <p:cNvSpPr/>
          <p:nvPr/>
        </p:nvSpPr>
        <p:spPr>
          <a:xfrm>
            <a:off x="3394623" y="4286061"/>
            <a:ext cx="2394386" cy="571469"/>
          </a:xfrm>
          <a:prstGeom prst="round2SameRect">
            <a:avLst/>
          </a:prstGeom>
          <a:solidFill>
            <a:schemeClr val="bg1"/>
          </a:solidFill>
          <a:ln w="38100">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lIns="647832" rtlCol="0" anchor="ctr"/>
          <a:lstStyle/>
          <a:p>
            <a:pPr algn="l"/>
            <a:endParaRPr lang="uk-UA" sz="900" dirty="0">
              <a:latin typeface="Roboto" panose="02000000000000000000" pitchFamily="2" charset="0"/>
              <a:ea typeface="Roboto" panose="02000000000000000000" pitchFamily="2" charset="0"/>
              <a:cs typeface="Roboto" panose="02000000000000000000" pitchFamily="2" charset="0"/>
            </a:endParaRPr>
          </a:p>
        </p:txBody>
      </p:sp>
      <p:sp>
        <p:nvSpPr>
          <p:cNvPr id="30" name="TextBox 29">
            <a:extLst>
              <a:ext uri="{FF2B5EF4-FFF2-40B4-BE49-F238E27FC236}">
                <a16:creationId xmlns:a16="http://schemas.microsoft.com/office/drawing/2014/main" id="{5B7D0D77-4D84-E574-59DD-13E5A75EC9D2}"/>
              </a:ext>
            </a:extLst>
          </p:cNvPr>
          <p:cNvSpPr txBox="1"/>
          <p:nvPr/>
        </p:nvSpPr>
        <p:spPr>
          <a:xfrm>
            <a:off x="3406311" y="4443747"/>
            <a:ext cx="2371009" cy="276999"/>
          </a:xfrm>
          <a:prstGeom prst="rect">
            <a:avLst/>
          </a:prstGeom>
          <a:noFill/>
        </p:spPr>
        <p:txBody>
          <a:bodyPr wrap="square" rtlCol="0" anchor="ctr" anchorCtr="0">
            <a:spAutoFit/>
          </a:bodyPr>
          <a:lstStyle/>
          <a:p>
            <a:r>
              <a:rPr lang="en-US" sz="1200" b="1" dirty="0">
                <a:latin typeface="Roboto" panose="02000000000000000000" pitchFamily="2" charset="0"/>
                <a:ea typeface="Roboto" panose="02000000000000000000" pitchFamily="2" charset="0"/>
                <a:cs typeface="Roboto" panose="02000000000000000000" pitchFamily="2" charset="0"/>
              </a:rPr>
              <a:t>Calvin Wong</a:t>
            </a:r>
          </a:p>
        </p:txBody>
      </p:sp>
      <p:sp>
        <p:nvSpPr>
          <p:cNvPr id="31" name="Subtitle 2">
            <a:extLst>
              <a:ext uri="{FF2B5EF4-FFF2-40B4-BE49-F238E27FC236}">
                <a16:creationId xmlns:a16="http://schemas.microsoft.com/office/drawing/2014/main" id="{5E42C477-0B14-1538-AA47-2E2268DA7AC3}"/>
              </a:ext>
            </a:extLst>
          </p:cNvPr>
          <p:cNvSpPr txBox="1">
            <a:spLocks/>
          </p:cNvSpPr>
          <p:nvPr/>
        </p:nvSpPr>
        <p:spPr>
          <a:xfrm>
            <a:off x="3461193" y="4816183"/>
            <a:ext cx="2394386" cy="519245"/>
          </a:xfrm>
          <a:prstGeom prst="rect">
            <a:avLst/>
          </a:prstGeom>
        </p:spPr>
        <p:txBody>
          <a:bodyPr vert="horz" wrap="squar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en-US" sz="1100" dirty="0">
                <a:solidFill>
                  <a:schemeClr val="tx1"/>
                </a:solidFill>
                <a:latin typeface="Roboto" panose="02000000000000000000" pitchFamily="2" charset="0"/>
                <a:ea typeface="Roboto" panose="02000000000000000000" pitchFamily="2" charset="0"/>
                <a:cs typeface="Roboto" panose="02000000000000000000" pitchFamily="2" charset="0"/>
              </a:rPr>
              <a:t>Assistant Manager</a:t>
            </a:r>
          </a:p>
          <a:p>
            <a:pPr>
              <a:lnSpc>
                <a:spcPts val="1750"/>
              </a:lnSpc>
            </a:pPr>
            <a:r>
              <a:rPr lang="en-US" sz="1100" dirty="0">
                <a:solidFill>
                  <a:schemeClr val="tx1"/>
                </a:solidFill>
                <a:latin typeface="Roboto" panose="02000000000000000000" pitchFamily="2" charset="0"/>
                <a:ea typeface="Roboto" panose="02000000000000000000" pitchFamily="2" charset="0"/>
                <a:cs typeface="Roboto" panose="02000000000000000000" pitchFamily="2" charset="0"/>
              </a:rPr>
              <a:t>&gt; 4 Years of Relevant Experience</a:t>
            </a:r>
          </a:p>
        </p:txBody>
      </p:sp>
      <p:sp>
        <p:nvSpPr>
          <p:cNvPr id="33" name="Round Same Side Corner Rectangle 20">
            <a:extLst>
              <a:ext uri="{FF2B5EF4-FFF2-40B4-BE49-F238E27FC236}">
                <a16:creationId xmlns:a16="http://schemas.microsoft.com/office/drawing/2014/main" id="{204ABBB2-E063-ABAB-08F7-C3BA296CE2A3}"/>
              </a:ext>
            </a:extLst>
          </p:cNvPr>
          <p:cNvSpPr/>
          <p:nvPr/>
        </p:nvSpPr>
        <p:spPr>
          <a:xfrm>
            <a:off x="5971912" y="4849527"/>
            <a:ext cx="2394386" cy="492709"/>
          </a:xfrm>
          <a:prstGeom prst="round2SameRect">
            <a:avLst>
              <a:gd name="adj1" fmla="val 0"/>
              <a:gd name="adj2" fmla="val 132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75850" tIns="251935" rtlCol="0" anchor="t"/>
          <a:lstStyle/>
          <a:p>
            <a:endParaRPr lang="uk-UA" sz="9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6" name="Round Same Side Corner Rectangle 21">
            <a:extLst>
              <a:ext uri="{FF2B5EF4-FFF2-40B4-BE49-F238E27FC236}">
                <a16:creationId xmlns:a16="http://schemas.microsoft.com/office/drawing/2014/main" id="{545BA828-7BA4-49DD-B401-E9EF03CA5945}"/>
              </a:ext>
            </a:extLst>
          </p:cNvPr>
          <p:cNvSpPr/>
          <p:nvPr/>
        </p:nvSpPr>
        <p:spPr>
          <a:xfrm>
            <a:off x="5971912" y="4275707"/>
            <a:ext cx="2394386" cy="571469"/>
          </a:xfrm>
          <a:prstGeom prst="round2SameRect">
            <a:avLst/>
          </a:prstGeom>
          <a:solidFill>
            <a:schemeClr val="bg1"/>
          </a:solidFill>
          <a:ln w="38100">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lIns="647832" rtlCol="0" anchor="ctr"/>
          <a:lstStyle/>
          <a:p>
            <a:pPr algn="l"/>
            <a:endParaRPr lang="uk-UA" sz="900" dirty="0">
              <a:latin typeface="Roboto" panose="02000000000000000000" pitchFamily="2" charset="0"/>
              <a:ea typeface="Roboto" panose="02000000000000000000" pitchFamily="2" charset="0"/>
              <a:cs typeface="Roboto" panose="02000000000000000000" pitchFamily="2" charset="0"/>
            </a:endParaRPr>
          </a:p>
        </p:txBody>
      </p:sp>
      <p:sp>
        <p:nvSpPr>
          <p:cNvPr id="37" name="TextBox 36">
            <a:extLst>
              <a:ext uri="{FF2B5EF4-FFF2-40B4-BE49-F238E27FC236}">
                <a16:creationId xmlns:a16="http://schemas.microsoft.com/office/drawing/2014/main" id="{D813FA59-744E-E52D-029D-39C7D905F862}"/>
              </a:ext>
            </a:extLst>
          </p:cNvPr>
          <p:cNvSpPr txBox="1"/>
          <p:nvPr/>
        </p:nvSpPr>
        <p:spPr>
          <a:xfrm>
            <a:off x="5983600" y="4433393"/>
            <a:ext cx="2371009" cy="276999"/>
          </a:xfrm>
          <a:prstGeom prst="rect">
            <a:avLst/>
          </a:prstGeom>
          <a:noFill/>
        </p:spPr>
        <p:txBody>
          <a:bodyPr wrap="square" rtlCol="0" anchor="ctr" anchorCtr="0">
            <a:spAutoFit/>
          </a:bodyPr>
          <a:lstStyle/>
          <a:p>
            <a:r>
              <a:rPr lang="en-US" sz="1200" b="1" dirty="0">
                <a:latin typeface="Roboto" panose="02000000000000000000" pitchFamily="2" charset="0"/>
                <a:ea typeface="Roboto" panose="02000000000000000000" pitchFamily="2" charset="0"/>
                <a:cs typeface="Roboto" panose="02000000000000000000" pitchFamily="2" charset="0"/>
              </a:rPr>
              <a:t>James Yeo</a:t>
            </a:r>
          </a:p>
        </p:txBody>
      </p:sp>
      <p:sp>
        <p:nvSpPr>
          <p:cNvPr id="38" name="Subtitle 2">
            <a:extLst>
              <a:ext uri="{FF2B5EF4-FFF2-40B4-BE49-F238E27FC236}">
                <a16:creationId xmlns:a16="http://schemas.microsoft.com/office/drawing/2014/main" id="{6B8F33D4-331B-F30C-193C-A86C8F425215}"/>
              </a:ext>
            </a:extLst>
          </p:cNvPr>
          <p:cNvSpPr txBox="1">
            <a:spLocks/>
          </p:cNvSpPr>
          <p:nvPr/>
        </p:nvSpPr>
        <p:spPr>
          <a:xfrm>
            <a:off x="6038482" y="4805829"/>
            <a:ext cx="2394386" cy="519245"/>
          </a:xfrm>
          <a:prstGeom prst="rect">
            <a:avLst/>
          </a:prstGeom>
        </p:spPr>
        <p:txBody>
          <a:bodyPr vert="horz" wrap="squar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en-US" sz="1100" dirty="0">
                <a:solidFill>
                  <a:schemeClr val="tx1"/>
                </a:solidFill>
                <a:latin typeface="Roboto" panose="02000000000000000000" pitchFamily="2" charset="0"/>
                <a:ea typeface="Roboto" panose="02000000000000000000" pitchFamily="2" charset="0"/>
                <a:cs typeface="Roboto" panose="02000000000000000000" pitchFamily="2" charset="0"/>
              </a:rPr>
              <a:t>Assistant Manager</a:t>
            </a:r>
          </a:p>
          <a:p>
            <a:pPr>
              <a:lnSpc>
                <a:spcPts val="1750"/>
              </a:lnSpc>
            </a:pPr>
            <a:r>
              <a:rPr lang="en-US" sz="1100" dirty="0">
                <a:solidFill>
                  <a:schemeClr val="tx1"/>
                </a:solidFill>
                <a:latin typeface="Roboto" panose="02000000000000000000" pitchFamily="2" charset="0"/>
                <a:ea typeface="Roboto" panose="02000000000000000000" pitchFamily="2" charset="0"/>
                <a:cs typeface="Roboto" panose="02000000000000000000" pitchFamily="2" charset="0"/>
              </a:rPr>
              <a:t>&gt; 4 Years of Relevant Experience</a:t>
            </a:r>
          </a:p>
        </p:txBody>
      </p:sp>
      <p:pic>
        <p:nvPicPr>
          <p:cNvPr id="42" name="Picture 4" descr="Certified in Cybersecurity (CC) - Credly">
            <a:extLst>
              <a:ext uri="{FF2B5EF4-FFF2-40B4-BE49-F238E27FC236}">
                <a16:creationId xmlns:a16="http://schemas.microsoft.com/office/drawing/2014/main" id="{83B2BC7C-9346-E4A3-4D58-19EDB685118A}"/>
              </a:ext>
            </a:extLst>
          </p:cNvPr>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6914420" y="4348817"/>
            <a:ext cx="431065" cy="43106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Chartered Accountant of Singapore - Credly">
            <a:extLst>
              <a:ext uri="{FF2B5EF4-FFF2-40B4-BE49-F238E27FC236}">
                <a16:creationId xmlns:a16="http://schemas.microsoft.com/office/drawing/2014/main" id="{E407C0F5-3308-434F-3F4B-C4BB04863A12}"/>
              </a:ext>
            </a:extLst>
          </p:cNvPr>
          <p:cNvPicPr>
            <a:picLocks noChangeAspect="1" noChangeArrowheads="1"/>
          </p:cNvPicPr>
          <p:nvPr/>
        </p:nvPicPr>
        <p:blipFill rotWithShape="1">
          <a:blip r:embed="rId7" cstate="email">
            <a:extLst>
              <a:ext uri="{28A0092B-C50C-407E-A947-70E740481C1C}">
                <a14:useLocalDpi xmlns:a14="http://schemas.microsoft.com/office/drawing/2010/main" val="0"/>
              </a:ext>
            </a:extLst>
          </a:blip>
          <a:srcRect l="11905" t="15990" r="12803" b="15990"/>
          <a:stretch/>
        </p:blipFill>
        <p:spPr bwMode="auto">
          <a:xfrm>
            <a:off x="4486809" y="4386751"/>
            <a:ext cx="386190" cy="348883"/>
          </a:xfrm>
          <a:prstGeom prst="rect">
            <a:avLst/>
          </a:prstGeom>
          <a:noFill/>
          <a:extLst>
            <a:ext uri="{909E8E84-426E-40DD-AFC4-6F175D3DCCD1}">
              <a14:hiddenFill xmlns:a14="http://schemas.microsoft.com/office/drawing/2010/main">
                <a:solidFill>
                  <a:srgbClr val="FFFFFF"/>
                </a:solidFill>
              </a14:hiddenFill>
            </a:ext>
          </a:extLst>
        </p:spPr>
      </p:pic>
      <p:sp>
        <p:nvSpPr>
          <p:cNvPr id="8" name="Round Same Side Corner Rectangle 20">
            <a:extLst>
              <a:ext uri="{FF2B5EF4-FFF2-40B4-BE49-F238E27FC236}">
                <a16:creationId xmlns:a16="http://schemas.microsoft.com/office/drawing/2014/main" id="{A5C7677B-6D0A-B8B6-F3B4-81CB4B03B353}"/>
              </a:ext>
            </a:extLst>
          </p:cNvPr>
          <p:cNvSpPr/>
          <p:nvPr/>
        </p:nvSpPr>
        <p:spPr>
          <a:xfrm>
            <a:off x="780212" y="4865314"/>
            <a:ext cx="2394386" cy="492709"/>
          </a:xfrm>
          <a:prstGeom prst="round2SameRect">
            <a:avLst>
              <a:gd name="adj1" fmla="val 0"/>
              <a:gd name="adj2" fmla="val 132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75850" tIns="251935" rtlCol="0" anchor="t"/>
          <a:lstStyle/>
          <a:p>
            <a:endParaRPr lang="uk-UA" sz="9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5" name="Round Same Side Corner Rectangle 21">
            <a:extLst>
              <a:ext uri="{FF2B5EF4-FFF2-40B4-BE49-F238E27FC236}">
                <a16:creationId xmlns:a16="http://schemas.microsoft.com/office/drawing/2014/main" id="{4C528B09-6C3A-1DDD-6F09-376D32D35701}"/>
              </a:ext>
            </a:extLst>
          </p:cNvPr>
          <p:cNvSpPr/>
          <p:nvPr/>
        </p:nvSpPr>
        <p:spPr>
          <a:xfrm>
            <a:off x="780212" y="4291494"/>
            <a:ext cx="2394386" cy="571469"/>
          </a:xfrm>
          <a:prstGeom prst="round2SameRect">
            <a:avLst/>
          </a:prstGeom>
          <a:solidFill>
            <a:schemeClr val="bg1"/>
          </a:solidFill>
          <a:ln w="38100">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lIns="647832" rtlCol="0" anchor="ctr"/>
          <a:lstStyle/>
          <a:p>
            <a:pPr algn="l"/>
            <a:endParaRPr lang="uk-UA" sz="900" dirty="0">
              <a:latin typeface="Roboto" panose="02000000000000000000" pitchFamily="2" charset="0"/>
              <a:ea typeface="Roboto" panose="02000000000000000000" pitchFamily="2" charset="0"/>
              <a:cs typeface="Roboto" panose="02000000000000000000" pitchFamily="2" charset="0"/>
            </a:endParaRPr>
          </a:p>
        </p:txBody>
      </p:sp>
      <p:sp>
        <p:nvSpPr>
          <p:cNvPr id="26" name="TextBox 25">
            <a:extLst>
              <a:ext uri="{FF2B5EF4-FFF2-40B4-BE49-F238E27FC236}">
                <a16:creationId xmlns:a16="http://schemas.microsoft.com/office/drawing/2014/main" id="{81DB3D28-D169-6E36-6EE7-E82E715EB026}"/>
              </a:ext>
            </a:extLst>
          </p:cNvPr>
          <p:cNvSpPr txBox="1"/>
          <p:nvPr/>
        </p:nvSpPr>
        <p:spPr>
          <a:xfrm>
            <a:off x="791900" y="4449180"/>
            <a:ext cx="2371009" cy="276999"/>
          </a:xfrm>
          <a:prstGeom prst="rect">
            <a:avLst/>
          </a:prstGeom>
          <a:noFill/>
        </p:spPr>
        <p:txBody>
          <a:bodyPr wrap="square" rtlCol="0" anchor="ctr" anchorCtr="0">
            <a:spAutoFit/>
          </a:bodyPr>
          <a:lstStyle/>
          <a:p>
            <a:r>
              <a:rPr lang="en-US" sz="1200" b="1" dirty="0">
                <a:latin typeface="Roboto" panose="02000000000000000000" pitchFamily="2" charset="0"/>
                <a:ea typeface="Roboto" panose="02000000000000000000" pitchFamily="2" charset="0"/>
                <a:cs typeface="Roboto" panose="02000000000000000000" pitchFamily="2" charset="0"/>
              </a:rPr>
              <a:t>Teo Wei Kang</a:t>
            </a:r>
          </a:p>
        </p:txBody>
      </p:sp>
      <p:sp>
        <p:nvSpPr>
          <p:cNvPr id="27" name="Subtitle 2">
            <a:extLst>
              <a:ext uri="{FF2B5EF4-FFF2-40B4-BE49-F238E27FC236}">
                <a16:creationId xmlns:a16="http://schemas.microsoft.com/office/drawing/2014/main" id="{1664EA2C-8D46-9E07-E9AD-53920C703C7B}"/>
              </a:ext>
            </a:extLst>
          </p:cNvPr>
          <p:cNvSpPr txBox="1">
            <a:spLocks/>
          </p:cNvSpPr>
          <p:nvPr/>
        </p:nvSpPr>
        <p:spPr>
          <a:xfrm>
            <a:off x="846782" y="4821616"/>
            <a:ext cx="2394386" cy="519245"/>
          </a:xfrm>
          <a:prstGeom prst="rect">
            <a:avLst/>
          </a:prstGeom>
        </p:spPr>
        <p:txBody>
          <a:bodyPr vert="horz" wrap="square" lIns="45720" tIns="22860" rIns="45720" bIns="2286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en-US" sz="1100" dirty="0">
                <a:solidFill>
                  <a:schemeClr val="tx1"/>
                </a:solidFill>
                <a:latin typeface="Roboto" panose="02000000000000000000" pitchFamily="2" charset="0"/>
                <a:ea typeface="Roboto" panose="02000000000000000000" pitchFamily="2" charset="0"/>
                <a:cs typeface="Roboto" panose="02000000000000000000" pitchFamily="2" charset="0"/>
              </a:rPr>
              <a:t>Assistant Manager</a:t>
            </a:r>
          </a:p>
          <a:p>
            <a:pPr>
              <a:lnSpc>
                <a:spcPts val="1750"/>
              </a:lnSpc>
            </a:pPr>
            <a:r>
              <a:rPr lang="en-US" sz="1100" dirty="0">
                <a:solidFill>
                  <a:schemeClr val="tx1"/>
                </a:solidFill>
                <a:latin typeface="Roboto" panose="02000000000000000000" pitchFamily="2" charset="0"/>
                <a:ea typeface="Roboto" panose="02000000000000000000" pitchFamily="2" charset="0"/>
                <a:cs typeface="Roboto" panose="02000000000000000000" pitchFamily="2" charset="0"/>
              </a:rPr>
              <a:t>&gt; 5 Years of Relevant Experience</a:t>
            </a:r>
          </a:p>
        </p:txBody>
      </p:sp>
      <p:pic>
        <p:nvPicPr>
          <p:cNvPr id="32" name="Picture 10" descr="Social Media and Badging">
            <a:extLst>
              <a:ext uri="{FF2B5EF4-FFF2-40B4-BE49-F238E27FC236}">
                <a16:creationId xmlns:a16="http://schemas.microsoft.com/office/drawing/2014/main" id="{B44CC16F-E8C4-4492-38DA-9A9DEDA4FE86}"/>
              </a:ext>
            </a:extLst>
          </p:cNvPr>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1922523" y="4394536"/>
            <a:ext cx="397074" cy="39707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descr="Certified in Cybersecurity (CC) - Credly">
            <a:extLst>
              <a:ext uri="{FF2B5EF4-FFF2-40B4-BE49-F238E27FC236}">
                <a16:creationId xmlns:a16="http://schemas.microsoft.com/office/drawing/2014/main" id="{CBBF6DAD-B062-A37D-A7B4-7F917FDF7996}"/>
              </a:ext>
            </a:extLst>
          </p:cNvPr>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2385498" y="4372146"/>
            <a:ext cx="431065" cy="43106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E6E43117-3927-CFE1-D034-41D9B7E4A962}"/>
              </a:ext>
            </a:extLst>
          </p:cNvPr>
          <p:cNvSpPr txBox="1"/>
          <p:nvPr/>
        </p:nvSpPr>
        <p:spPr>
          <a:xfrm>
            <a:off x="143524" y="6075280"/>
            <a:ext cx="5576835" cy="307777"/>
          </a:xfrm>
          <a:prstGeom prst="rect">
            <a:avLst/>
          </a:prstGeom>
          <a:noFill/>
        </p:spPr>
        <p:txBody>
          <a:bodyPr wrap="square" rtlCol="0">
            <a:spAutoFit/>
          </a:bodyPr>
          <a:lstStyle/>
          <a:p>
            <a:r>
              <a:rPr lang="en-SG" sz="1400" dirty="0">
                <a:latin typeface="Roboto" panose="02000000000000000000" pitchFamily="2" charset="0"/>
                <a:ea typeface="Roboto" panose="02000000000000000000" pitchFamily="2" charset="0"/>
                <a:cs typeface="Roboto" panose="02000000000000000000" pitchFamily="2" charset="0"/>
              </a:rPr>
              <a:t>*The Risk Assurance Team has 15 team members.</a:t>
            </a:r>
          </a:p>
        </p:txBody>
      </p:sp>
    </p:spTree>
    <p:extLst>
      <p:ext uri="{BB962C8B-B14F-4D97-AF65-F5344CB8AC3E}">
        <p14:creationId xmlns:p14="http://schemas.microsoft.com/office/powerpoint/2010/main" val="2543432074"/>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2" name="Content Placeholder 2">
            <a:extLst>
              <a:ext uri="{FF2B5EF4-FFF2-40B4-BE49-F238E27FC236}">
                <a16:creationId xmlns:a16="http://schemas.microsoft.com/office/drawing/2014/main" id="{1BA3E29B-0128-D96E-2C66-AAE4C5CAD673}"/>
              </a:ext>
            </a:extLst>
          </p:cNvPr>
          <p:cNvSpPr txBox="1">
            <a:spLocks/>
          </p:cNvSpPr>
          <p:nvPr/>
        </p:nvSpPr>
        <p:spPr bwMode="auto">
          <a:xfrm>
            <a:off x="605955" y="2965666"/>
            <a:ext cx="2024056" cy="1919288"/>
          </a:xfrm>
          <a:prstGeom prst="rect">
            <a:avLst/>
          </a:prstGeom>
          <a:noFill/>
          <a:ln w="9525">
            <a:noFill/>
            <a:miter lim="800000"/>
            <a:headEnd/>
            <a:tailEnd/>
          </a:ln>
        </p:spPr>
        <p:txBody>
          <a:bodyPr/>
          <a:lstStyle/>
          <a:p>
            <a:pPr defTabSz="914400" fontAlgn="base">
              <a:spcBef>
                <a:spcPct val="0"/>
              </a:spcBef>
              <a:spcAft>
                <a:spcPct val="0"/>
              </a:spcAft>
              <a:defRPr/>
            </a:pPr>
            <a:r>
              <a:rPr lang="en-US" sz="1050" b="1" dirty="0">
                <a:solidFill>
                  <a:srgbClr val="113663"/>
                </a:solidFill>
                <a:latin typeface="Roboto" panose="02000000000000000000" pitchFamily="2" charset="0"/>
                <a:ea typeface="Roboto" panose="02000000000000000000" pitchFamily="2" charset="0"/>
                <a:cs typeface="Arial" pitchFamily="34" charset="0"/>
              </a:rPr>
              <a:t>Ruby Rouben</a:t>
            </a:r>
            <a:endParaRPr lang="en-US" sz="1050" dirty="0">
              <a:solidFill>
                <a:srgbClr val="113663"/>
              </a:solidFill>
              <a:latin typeface="Roboto" panose="02000000000000000000" pitchFamily="2" charset="0"/>
              <a:ea typeface="Roboto" panose="02000000000000000000" pitchFamily="2" charset="0"/>
              <a:cs typeface="Arial" pitchFamily="34" charset="0"/>
            </a:endParaRPr>
          </a:p>
          <a:p>
            <a:pPr defTabSz="914400" fontAlgn="base">
              <a:spcBef>
                <a:spcPct val="0"/>
              </a:spcBef>
              <a:spcAft>
                <a:spcPct val="0"/>
              </a:spcAft>
              <a:defRPr/>
            </a:pPr>
            <a:r>
              <a:rPr lang="en-US" sz="1050" dirty="0">
                <a:solidFill>
                  <a:prstClr val="black"/>
                </a:solidFill>
                <a:latin typeface="Roboto" panose="02000000000000000000" pitchFamily="2" charset="0"/>
                <a:ea typeface="Roboto" panose="02000000000000000000" pitchFamily="2" charset="0"/>
                <a:cs typeface="Arial" pitchFamily="34" charset="0"/>
              </a:rPr>
              <a:t>Engagement Director</a:t>
            </a:r>
          </a:p>
          <a:p>
            <a:pPr defTabSz="914400" fontAlgn="base">
              <a:spcBef>
                <a:spcPct val="0"/>
              </a:spcBef>
              <a:spcAft>
                <a:spcPct val="0"/>
              </a:spcAft>
              <a:defRPr/>
            </a:pPr>
            <a:r>
              <a:rPr lang="en-US" sz="1050" dirty="0">
                <a:solidFill>
                  <a:prstClr val="black"/>
                </a:solidFill>
                <a:latin typeface="Roboto" panose="02000000000000000000" pitchFamily="2" charset="0"/>
                <a:ea typeface="Roboto" panose="02000000000000000000" pitchFamily="2" charset="0"/>
                <a:cs typeface="Arial" pitchFamily="34" charset="0"/>
              </a:rPr>
              <a:t> </a:t>
            </a:r>
          </a:p>
          <a:p>
            <a:pPr defTabSz="914400" fontAlgn="base">
              <a:lnSpc>
                <a:spcPct val="150000"/>
              </a:lnSpc>
              <a:spcBef>
                <a:spcPct val="0"/>
              </a:spcBef>
              <a:spcAft>
                <a:spcPct val="0"/>
              </a:spcAft>
              <a:defRPr/>
            </a:pPr>
            <a:r>
              <a:rPr lang="en-US" sz="1050" dirty="0">
                <a:solidFill>
                  <a:prstClr val="black"/>
                </a:solidFill>
                <a:latin typeface="Roboto" panose="02000000000000000000" pitchFamily="2" charset="0"/>
                <a:ea typeface="Roboto" panose="02000000000000000000" pitchFamily="2" charset="0"/>
                <a:cs typeface="Arial" pitchFamily="34" charset="0"/>
              </a:rPr>
              <a:t>           </a:t>
            </a:r>
            <a:r>
              <a:rPr lang="en-US" sz="1050" u="sng" dirty="0">
                <a:solidFill>
                  <a:prstClr val="black"/>
                </a:solidFill>
                <a:latin typeface="Roboto" panose="02000000000000000000" pitchFamily="2" charset="0"/>
                <a:ea typeface="Roboto" panose="02000000000000000000" pitchFamily="2" charset="0"/>
                <a:cs typeface="Arial" pitchFamily="34" charset="0"/>
              </a:rPr>
              <a:t>Email</a:t>
            </a:r>
          </a:p>
          <a:p>
            <a:pPr defTabSz="914400" fontAlgn="base">
              <a:lnSpc>
                <a:spcPct val="150000"/>
              </a:lnSpc>
              <a:spcBef>
                <a:spcPct val="0"/>
              </a:spcBef>
              <a:spcAft>
                <a:spcPct val="0"/>
              </a:spcAft>
              <a:defRPr/>
            </a:pPr>
            <a:r>
              <a:rPr lang="en-US" sz="1050" dirty="0">
                <a:solidFill>
                  <a:prstClr val="black"/>
                </a:solidFill>
                <a:latin typeface="Roboto" panose="02000000000000000000" pitchFamily="2" charset="0"/>
                <a:ea typeface="Roboto" panose="02000000000000000000" pitchFamily="2" charset="0"/>
                <a:cs typeface="Arial" pitchFamily="34" charset="0"/>
              </a:rPr>
              <a:t>           ruby@incorp.asia</a:t>
            </a:r>
          </a:p>
          <a:p>
            <a:pPr defTabSz="914400" fontAlgn="base">
              <a:spcBef>
                <a:spcPct val="0"/>
              </a:spcBef>
              <a:spcAft>
                <a:spcPct val="0"/>
              </a:spcAft>
              <a:defRPr/>
            </a:pPr>
            <a:r>
              <a:rPr lang="en-US" sz="1050" dirty="0">
                <a:solidFill>
                  <a:prstClr val="black"/>
                </a:solidFill>
                <a:latin typeface="Roboto" panose="02000000000000000000" pitchFamily="2" charset="0"/>
                <a:ea typeface="Roboto" panose="02000000000000000000" pitchFamily="2" charset="0"/>
                <a:cs typeface="Arial" pitchFamily="34" charset="0"/>
              </a:rPr>
              <a:t> </a:t>
            </a:r>
          </a:p>
        </p:txBody>
      </p:sp>
      <p:sp>
        <p:nvSpPr>
          <p:cNvPr id="6" name="Content Placeholder 2">
            <a:extLst>
              <a:ext uri="{FF2B5EF4-FFF2-40B4-BE49-F238E27FC236}">
                <a16:creationId xmlns:a16="http://schemas.microsoft.com/office/drawing/2014/main" id="{81F37576-462A-D68E-CF50-F9C2358C7971}"/>
              </a:ext>
            </a:extLst>
          </p:cNvPr>
          <p:cNvSpPr txBox="1">
            <a:spLocks/>
          </p:cNvSpPr>
          <p:nvPr/>
        </p:nvSpPr>
        <p:spPr bwMode="auto">
          <a:xfrm>
            <a:off x="2971800" y="943576"/>
            <a:ext cx="9033388" cy="5457224"/>
          </a:xfrm>
          <a:prstGeom prst="rect">
            <a:avLst/>
          </a:prstGeom>
          <a:noFill/>
          <a:ln w="9525">
            <a:noFill/>
            <a:miter lim="800000"/>
            <a:headEnd/>
            <a:tailEnd/>
          </a:ln>
        </p:spPr>
        <p:txBody>
          <a:bodyPr/>
          <a:lstStyle/>
          <a:p>
            <a:pPr algn="just" defTabSz="914400" fontAlgn="base">
              <a:spcBef>
                <a:spcPct val="0"/>
              </a:spcBef>
              <a:spcAft>
                <a:spcPct val="0"/>
              </a:spcAft>
              <a:defRPr/>
            </a:pPr>
            <a:r>
              <a:rPr lang="en-US" sz="1200" b="1" dirty="0">
                <a:solidFill>
                  <a:srgbClr val="BB2121"/>
                </a:solidFill>
                <a:latin typeface="Roboto" panose="02000000000000000000" pitchFamily="2" charset="0"/>
                <a:ea typeface="Roboto" panose="02000000000000000000" pitchFamily="2" charset="0"/>
                <a:cs typeface="Arial" panose="020B0604020202020204" pitchFamily="34" charset="0"/>
              </a:rPr>
              <a:t>Professional Experience</a:t>
            </a:r>
          </a:p>
          <a:p>
            <a:pPr algn="just" defTabSz="914400" fontAlgn="base">
              <a:spcBef>
                <a:spcPct val="0"/>
              </a:spcBef>
              <a:spcAft>
                <a:spcPct val="0"/>
              </a:spcAft>
              <a:defRPr/>
            </a:pPr>
            <a:endParaRPr lang="en-SG" sz="1050" dirty="0">
              <a:solidFill>
                <a:prstClr val="black"/>
              </a:solidFill>
              <a:latin typeface="Roboto" panose="02000000000000000000" pitchFamily="2" charset="0"/>
              <a:ea typeface="Roboto" panose="02000000000000000000" pitchFamily="2" charset="0"/>
              <a:cs typeface="Arial" panose="020B0604020202020204" pitchFamily="34" charset="0"/>
            </a:endParaRPr>
          </a:p>
          <a:p>
            <a:pPr algn="just" defTabSz="914400" fontAlgn="base">
              <a:spcBef>
                <a:spcPct val="0"/>
              </a:spcBef>
              <a:spcAft>
                <a:spcPct val="0"/>
              </a:spcAft>
              <a:defRPr/>
            </a:pPr>
            <a:r>
              <a:rPr lang="en-US" sz="1050" dirty="0">
                <a:solidFill>
                  <a:prstClr val="black"/>
                </a:solidFill>
                <a:latin typeface="Roboto" panose="02000000000000000000" pitchFamily="2" charset="0"/>
                <a:ea typeface="Roboto" panose="02000000000000000000" pitchFamily="2" charset="0"/>
                <a:cs typeface="Arial" panose="020B0604020202020204" pitchFamily="34" charset="0"/>
              </a:rPr>
              <a:t>Ruby is the Director, Head – Risk Assurance at In.Corp. She has </a:t>
            </a:r>
            <a:r>
              <a:rPr lang="en-US" sz="1050" b="1" dirty="0">
                <a:solidFill>
                  <a:prstClr val="black"/>
                </a:solidFill>
                <a:latin typeface="Roboto" panose="02000000000000000000" pitchFamily="2" charset="0"/>
                <a:ea typeface="Roboto" panose="02000000000000000000" pitchFamily="2" charset="0"/>
                <a:cs typeface="Arial" panose="020B0604020202020204" pitchFamily="34" charset="0"/>
              </a:rPr>
              <a:t>more than 16 years of experience in the audit profession,</a:t>
            </a:r>
            <a:r>
              <a:rPr lang="en-US" sz="1050" dirty="0">
                <a:solidFill>
                  <a:prstClr val="black"/>
                </a:solidFill>
                <a:latin typeface="Roboto" panose="02000000000000000000" pitchFamily="2" charset="0"/>
                <a:ea typeface="Roboto" panose="02000000000000000000" pitchFamily="2" charset="0"/>
                <a:cs typeface="Arial" panose="020B0604020202020204" pitchFamily="34" charset="0"/>
              </a:rPr>
              <a:t> of which 10 years have been in a supervisory position.</a:t>
            </a:r>
          </a:p>
          <a:p>
            <a:pPr algn="just" defTabSz="914400" fontAlgn="base">
              <a:spcBef>
                <a:spcPct val="0"/>
              </a:spcBef>
              <a:spcAft>
                <a:spcPct val="0"/>
              </a:spcAft>
              <a:defRPr/>
            </a:pPr>
            <a:endParaRPr lang="en-US" sz="1050" dirty="0">
              <a:solidFill>
                <a:prstClr val="black"/>
              </a:solidFill>
              <a:latin typeface="Roboto" panose="02000000000000000000" pitchFamily="2" charset="0"/>
              <a:ea typeface="Roboto" panose="02000000000000000000" pitchFamily="2" charset="0"/>
              <a:cs typeface="Arial" panose="020B0604020202020204" pitchFamily="34" charset="0"/>
            </a:endParaRPr>
          </a:p>
          <a:p>
            <a:pPr algn="just" defTabSz="914400" fontAlgn="base">
              <a:spcBef>
                <a:spcPct val="0"/>
              </a:spcBef>
              <a:spcAft>
                <a:spcPct val="0"/>
              </a:spcAft>
              <a:defRPr/>
            </a:pPr>
            <a:r>
              <a:rPr lang="en-US" sz="1050" dirty="0">
                <a:solidFill>
                  <a:prstClr val="black"/>
                </a:solidFill>
                <a:latin typeface="Roboto" panose="02000000000000000000" pitchFamily="2" charset="0"/>
                <a:ea typeface="Roboto" panose="02000000000000000000" pitchFamily="2" charset="0"/>
                <a:cs typeface="Arial" panose="020B0604020202020204" pitchFamily="34" charset="0"/>
              </a:rPr>
              <a:t>Ruby has led the </a:t>
            </a:r>
            <a:r>
              <a:rPr lang="en-US" altLang="en-US" sz="1050" b="1" dirty="0">
                <a:solidFill>
                  <a:prstClr val="black"/>
                </a:solidFill>
                <a:latin typeface="Roboto" panose="02000000000000000000" pitchFamily="2" charset="0"/>
                <a:ea typeface="Roboto" panose="02000000000000000000" pitchFamily="2" charset="0"/>
                <a:cs typeface="Arial" pitchFamily="34" charset="0"/>
              </a:rPr>
              <a:t>internal audit</a:t>
            </a:r>
            <a:r>
              <a:rPr lang="en-US" altLang="en-US" sz="1050" dirty="0">
                <a:solidFill>
                  <a:prstClr val="black"/>
                </a:solidFill>
                <a:latin typeface="Roboto" panose="02000000000000000000" pitchFamily="2" charset="0"/>
                <a:ea typeface="Roboto" panose="02000000000000000000" pitchFamily="2" charset="0"/>
                <a:cs typeface="Arial" pitchFamily="34" charset="0"/>
              </a:rPr>
              <a:t> </a:t>
            </a:r>
            <a:r>
              <a:rPr lang="en-US" altLang="en-US" sz="1050" b="1" dirty="0">
                <a:solidFill>
                  <a:prstClr val="black"/>
                </a:solidFill>
                <a:latin typeface="Roboto" panose="02000000000000000000" pitchFamily="2" charset="0"/>
                <a:ea typeface="Roboto" panose="02000000000000000000" pitchFamily="2" charset="0"/>
                <a:cs typeface="Arial" pitchFamily="34" charset="0"/>
              </a:rPr>
              <a:t>and risk advisory engagements </a:t>
            </a:r>
            <a:r>
              <a:rPr lang="en-US" altLang="en-US" sz="1050" dirty="0">
                <a:solidFill>
                  <a:prstClr val="black"/>
                </a:solidFill>
                <a:latin typeface="Roboto" panose="02000000000000000000" pitchFamily="2" charset="0"/>
                <a:ea typeface="Roboto" panose="02000000000000000000" pitchFamily="2" charset="0"/>
                <a:cs typeface="Arial" pitchFamily="34" charset="0"/>
              </a:rPr>
              <a:t>with various </a:t>
            </a:r>
            <a:r>
              <a:rPr lang="en-US" altLang="en-US" sz="1050" b="1" dirty="0">
                <a:solidFill>
                  <a:prstClr val="black"/>
                </a:solidFill>
                <a:latin typeface="Roboto" panose="02000000000000000000" pitchFamily="2" charset="0"/>
                <a:ea typeface="Roboto" panose="02000000000000000000" pitchFamily="2" charset="0"/>
                <a:cs typeface="Arial" pitchFamily="34" charset="0"/>
              </a:rPr>
              <a:t>Ministries </a:t>
            </a:r>
            <a:r>
              <a:rPr lang="en-US" altLang="en-US" sz="1050" dirty="0">
                <a:solidFill>
                  <a:prstClr val="black"/>
                </a:solidFill>
                <a:latin typeface="Roboto" panose="02000000000000000000" pitchFamily="2" charset="0"/>
                <a:ea typeface="Roboto" panose="02000000000000000000" pitchFamily="2" charset="0"/>
                <a:cs typeface="Arial" pitchFamily="34" charset="0"/>
              </a:rPr>
              <a:t>(eg. MHA, MSF, MOH, MND, MOE, MCI)</a:t>
            </a:r>
            <a:r>
              <a:rPr lang="en-US" altLang="en-US" sz="1050" b="1" dirty="0">
                <a:solidFill>
                  <a:prstClr val="black"/>
                </a:solidFill>
                <a:latin typeface="Roboto" panose="02000000000000000000" pitchFamily="2" charset="0"/>
                <a:ea typeface="Roboto" panose="02000000000000000000" pitchFamily="2" charset="0"/>
                <a:cs typeface="Arial" pitchFamily="34" charset="0"/>
              </a:rPr>
              <a:t>, Organs of State </a:t>
            </a:r>
            <a:r>
              <a:rPr lang="en-US" altLang="en-US" sz="1050" dirty="0">
                <a:solidFill>
                  <a:prstClr val="black"/>
                </a:solidFill>
                <a:latin typeface="Roboto" panose="02000000000000000000" pitchFamily="2" charset="0"/>
                <a:ea typeface="Roboto" panose="02000000000000000000" pitchFamily="2" charset="0"/>
                <a:cs typeface="Arial" pitchFamily="34" charset="0"/>
              </a:rPr>
              <a:t>(eg. Judiciary - Supreme Court of Singapore, President’s Office – ISTANA), </a:t>
            </a:r>
            <a:r>
              <a:rPr lang="en-US" altLang="en-US" sz="1050" b="1" dirty="0">
                <a:solidFill>
                  <a:prstClr val="black"/>
                </a:solidFill>
                <a:latin typeface="Roboto" panose="02000000000000000000" pitchFamily="2" charset="0"/>
                <a:ea typeface="Roboto" panose="02000000000000000000" pitchFamily="2" charset="0"/>
                <a:cs typeface="Arial" pitchFamily="34" charset="0"/>
              </a:rPr>
              <a:t>Statutory Boards</a:t>
            </a:r>
            <a:r>
              <a:rPr lang="en-US" altLang="en-US" sz="1050" dirty="0">
                <a:solidFill>
                  <a:prstClr val="black"/>
                </a:solidFill>
                <a:latin typeface="Roboto" panose="02000000000000000000" pitchFamily="2" charset="0"/>
                <a:ea typeface="Roboto" panose="02000000000000000000" pitchFamily="2" charset="0"/>
                <a:cs typeface="Arial" pitchFamily="34" charset="0"/>
              </a:rPr>
              <a:t> (eg. The Agency for Science, Technology and Research (A*STAR), ISEAS – The Yusof Ishak Institute, People’s Association, Civil Aviation Authority of Singapore, National Library Board, Council of Estate Agencies, Government Technology Agency, Land Transport Authority and Science Centre Board)</a:t>
            </a:r>
            <a:r>
              <a:rPr lang="en-US" altLang="en-US" sz="1050" b="1" dirty="0">
                <a:solidFill>
                  <a:prstClr val="black"/>
                </a:solidFill>
                <a:latin typeface="Roboto" panose="02000000000000000000" pitchFamily="2" charset="0"/>
                <a:ea typeface="Roboto" panose="02000000000000000000" pitchFamily="2" charset="0"/>
                <a:cs typeface="Arial" pitchFamily="34" charset="0"/>
              </a:rPr>
              <a:t>, Institutions of Higher Learning </a:t>
            </a:r>
            <a:r>
              <a:rPr lang="en-US" altLang="en-US" sz="1050" dirty="0">
                <a:solidFill>
                  <a:prstClr val="black"/>
                </a:solidFill>
                <a:latin typeface="Roboto" panose="02000000000000000000" pitchFamily="2" charset="0"/>
                <a:ea typeface="Roboto" panose="02000000000000000000" pitchFamily="2" charset="0"/>
                <a:cs typeface="Arial" pitchFamily="34" charset="0"/>
              </a:rPr>
              <a:t>(eg. Ngee Ann Polytechnic, Republic Polytechnic, MDIS, Singapore School of the Arts)</a:t>
            </a:r>
            <a:r>
              <a:rPr lang="en-US" altLang="en-US" sz="1050" b="1" dirty="0">
                <a:solidFill>
                  <a:prstClr val="black"/>
                </a:solidFill>
                <a:latin typeface="Roboto" panose="02000000000000000000" pitchFamily="2" charset="0"/>
                <a:ea typeface="Roboto" panose="02000000000000000000" pitchFamily="2" charset="0"/>
                <a:cs typeface="Arial" pitchFamily="34" charset="0"/>
              </a:rPr>
              <a:t>, Multinationals </a:t>
            </a:r>
            <a:r>
              <a:rPr lang="en-US" altLang="en-US" sz="1050" dirty="0">
                <a:solidFill>
                  <a:prstClr val="black"/>
                </a:solidFill>
                <a:latin typeface="Roboto" panose="02000000000000000000" pitchFamily="2" charset="0"/>
                <a:ea typeface="Roboto" panose="02000000000000000000" pitchFamily="2" charset="0"/>
                <a:cs typeface="Arial" pitchFamily="34" charset="0"/>
              </a:rPr>
              <a:t>(eg. Boeing Asia Pacific, ST Engineering)</a:t>
            </a:r>
            <a:r>
              <a:rPr lang="en-US" altLang="en-US" sz="1050" b="1" dirty="0">
                <a:solidFill>
                  <a:prstClr val="black"/>
                </a:solidFill>
                <a:latin typeface="Roboto" panose="02000000000000000000" pitchFamily="2" charset="0"/>
                <a:ea typeface="Roboto" panose="02000000000000000000" pitchFamily="2" charset="0"/>
                <a:cs typeface="Arial" pitchFamily="34" charset="0"/>
              </a:rPr>
              <a:t>, Public Listed Companies </a:t>
            </a:r>
            <a:r>
              <a:rPr lang="en-US" altLang="en-US" sz="1050" dirty="0">
                <a:solidFill>
                  <a:prstClr val="black"/>
                </a:solidFill>
                <a:latin typeface="Roboto" panose="02000000000000000000" pitchFamily="2" charset="0"/>
                <a:ea typeface="Roboto" panose="02000000000000000000" pitchFamily="2" charset="0"/>
                <a:cs typeface="Arial" pitchFamily="34" charset="0"/>
              </a:rPr>
              <a:t>(eg. Old Chang Kee, Nordic Group, Union Steel, Asia Vets, Addvalue Technologies, Sinjia Land)</a:t>
            </a:r>
            <a:r>
              <a:rPr lang="en-US" altLang="en-US" sz="1050" b="1" dirty="0">
                <a:solidFill>
                  <a:prstClr val="black"/>
                </a:solidFill>
                <a:latin typeface="Roboto" panose="02000000000000000000" pitchFamily="2" charset="0"/>
                <a:ea typeface="Roboto" panose="02000000000000000000" pitchFamily="2" charset="0"/>
                <a:cs typeface="Arial" pitchFamily="34" charset="0"/>
              </a:rPr>
              <a:t>, Financial Institutions, Charities </a:t>
            </a:r>
            <a:r>
              <a:rPr lang="en-US" altLang="en-US" sz="1050" dirty="0">
                <a:solidFill>
                  <a:prstClr val="black"/>
                </a:solidFill>
                <a:latin typeface="Roboto" panose="02000000000000000000" pitchFamily="2" charset="0"/>
                <a:ea typeface="Roboto" panose="02000000000000000000" pitchFamily="2" charset="0"/>
                <a:cs typeface="Arial" pitchFamily="34" charset="0"/>
              </a:rPr>
              <a:t>and </a:t>
            </a:r>
            <a:r>
              <a:rPr lang="en-US" altLang="en-US" sz="1050" b="1" dirty="0">
                <a:solidFill>
                  <a:prstClr val="black"/>
                </a:solidFill>
                <a:latin typeface="Roboto" panose="02000000000000000000" pitchFamily="2" charset="0"/>
                <a:ea typeface="Roboto" panose="02000000000000000000" pitchFamily="2" charset="0"/>
                <a:cs typeface="Arial" pitchFamily="34" charset="0"/>
              </a:rPr>
              <a:t>Institutions of a Public Character </a:t>
            </a:r>
            <a:r>
              <a:rPr lang="en-US" sz="1050" dirty="0">
                <a:solidFill>
                  <a:prstClr val="black"/>
                </a:solidFill>
                <a:latin typeface="Roboto" panose="02000000000000000000" pitchFamily="2" charset="0"/>
                <a:ea typeface="Roboto" panose="02000000000000000000" pitchFamily="2" charset="0"/>
                <a:cs typeface="Arial" panose="020B0604020202020204" pitchFamily="34" charset="0"/>
              </a:rPr>
              <a:t>(i.e. Yayasan Mendaki, Ang Mo Kio-Thye Hua Kwan Hospital, Sree Narayana Mission (Singapore). </a:t>
            </a:r>
          </a:p>
          <a:p>
            <a:pPr algn="just" defTabSz="914400" fontAlgn="base">
              <a:spcBef>
                <a:spcPct val="0"/>
              </a:spcBef>
              <a:spcAft>
                <a:spcPct val="0"/>
              </a:spcAft>
              <a:defRPr/>
            </a:pPr>
            <a:endParaRPr lang="en-US" sz="1050" dirty="0">
              <a:solidFill>
                <a:prstClr val="black"/>
              </a:solidFill>
              <a:latin typeface="Roboto" panose="02000000000000000000" pitchFamily="2" charset="0"/>
              <a:ea typeface="Roboto" panose="02000000000000000000" pitchFamily="2" charset="0"/>
              <a:cs typeface="Arial" panose="020B0604020202020204" pitchFamily="34" charset="0"/>
            </a:endParaRPr>
          </a:p>
          <a:p>
            <a:pPr algn="just" defTabSz="914400" fontAlgn="base">
              <a:spcBef>
                <a:spcPct val="0"/>
              </a:spcBef>
              <a:spcAft>
                <a:spcPct val="0"/>
              </a:spcAft>
              <a:defRPr/>
            </a:pPr>
            <a:r>
              <a:rPr lang="en-US" sz="1050" dirty="0">
                <a:solidFill>
                  <a:prstClr val="black"/>
                </a:solidFill>
                <a:latin typeface="Roboto" panose="02000000000000000000" pitchFamily="2" charset="0"/>
                <a:ea typeface="Roboto" panose="02000000000000000000" pitchFamily="2" charset="0"/>
                <a:cs typeface="Arial" panose="020B0604020202020204" pitchFamily="34" charset="0"/>
              </a:rPr>
              <a:t>Her involvement included the planning, execution and review of the different internal audit assignments. The various internal audit assignments have provided her with the necessary knowledge and skill set regarding the design and operating effectiveness of internal controls and procedures. </a:t>
            </a:r>
          </a:p>
          <a:p>
            <a:pPr algn="just" defTabSz="914400" fontAlgn="base">
              <a:spcBef>
                <a:spcPct val="0"/>
              </a:spcBef>
              <a:spcAft>
                <a:spcPct val="0"/>
              </a:spcAft>
              <a:defRPr/>
            </a:pPr>
            <a:endParaRPr lang="en-US" sz="1050" dirty="0">
              <a:solidFill>
                <a:prstClr val="black"/>
              </a:solidFill>
              <a:latin typeface="Roboto" panose="02000000000000000000" pitchFamily="2" charset="0"/>
              <a:ea typeface="Roboto" panose="02000000000000000000" pitchFamily="2" charset="0"/>
              <a:cs typeface="Arial" panose="020B0604020202020204" pitchFamily="34" charset="0"/>
            </a:endParaRPr>
          </a:p>
          <a:p>
            <a:pPr algn="just" defTabSz="914400" fontAlgn="base">
              <a:spcBef>
                <a:spcPct val="0"/>
              </a:spcBef>
              <a:spcAft>
                <a:spcPct val="0"/>
              </a:spcAft>
              <a:defRPr/>
            </a:pPr>
            <a:r>
              <a:rPr lang="en-US" sz="1050" dirty="0">
                <a:solidFill>
                  <a:prstClr val="black"/>
                </a:solidFill>
                <a:latin typeface="Roboto" panose="02000000000000000000" pitchFamily="2" charset="0"/>
                <a:ea typeface="Roboto" panose="02000000000000000000" pitchFamily="2" charset="0"/>
                <a:cs typeface="Arial" panose="020B0604020202020204" pitchFamily="34" charset="0"/>
              </a:rPr>
              <a:t>Ruby also provided her insights at the IIA conference panel discussions on data analytics and the whistleblowing process in August 2023 and May 2024, respectively.</a:t>
            </a:r>
          </a:p>
          <a:p>
            <a:pPr algn="just" defTabSz="914400" fontAlgn="base">
              <a:spcBef>
                <a:spcPct val="0"/>
              </a:spcBef>
              <a:spcAft>
                <a:spcPct val="0"/>
              </a:spcAft>
              <a:defRPr/>
            </a:pPr>
            <a:endParaRPr lang="en-US" sz="1050" dirty="0">
              <a:solidFill>
                <a:prstClr val="black"/>
              </a:solidFill>
              <a:latin typeface="Roboto" panose="02000000000000000000" pitchFamily="2" charset="0"/>
              <a:ea typeface="Roboto" panose="02000000000000000000" pitchFamily="2" charset="0"/>
              <a:cs typeface="Arial" panose="020B0604020202020204" pitchFamily="34" charset="0"/>
            </a:endParaRPr>
          </a:p>
          <a:p>
            <a:pPr algn="just" defTabSz="914400" fontAlgn="base">
              <a:spcBef>
                <a:spcPct val="0"/>
              </a:spcBef>
              <a:spcAft>
                <a:spcPct val="0"/>
              </a:spcAft>
              <a:defRPr/>
            </a:pPr>
            <a:r>
              <a:rPr lang="en-US" sz="1050" dirty="0">
                <a:solidFill>
                  <a:prstClr val="black"/>
                </a:solidFill>
                <a:latin typeface="Roboto" panose="02000000000000000000" pitchFamily="2" charset="0"/>
                <a:ea typeface="Roboto" panose="02000000000000000000" pitchFamily="2" charset="0"/>
                <a:cs typeface="Arial" panose="020B0604020202020204" pitchFamily="34" charset="0"/>
              </a:rPr>
              <a:t>She started her career in Ernst &amp; Young LLP and worked on external audits and special audits for diverse industries notably property development, education, trading and telecommunications for international MNCs and SMEs.</a:t>
            </a:r>
          </a:p>
          <a:p>
            <a:pPr algn="just" defTabSz="914400" fontAlgn="base">
              <a:spcBef>
                <a:spcPct val="0"/>
              </a:spcBef>
              <a:spcAft>
                <a:spcPct val="0"/>
              </a:spcAft>
              <a:defRPr/>
            </a:pPr>
            <a:endParaRPr lang="en-US" sz="1050" dirty="0">
              <a:solidFill>
                <a:prstClr val="black"/>
              </a:solidFill>
              <a:latin typeface="Roboto" panose="02000000000000000000" pitchFamily="2" charset="0"/>
              <a:ea typeface="Roboto" panose="02000000000000000000" pitchFamily="2" charset="0"/>
              <a:cs typeface="Arial" panose="020B0604020202020204" pitchFamily="34" charset="0"/>
            </a:endParaRPr>
          </a:p>
          <a:p>
            <a:pPr algn="just" defTabSz="914400" fontAlgn="base">
              <a:spcBef>
                <a:spcPct val="0"/>
              </a:spcBef>
              <a:spcAft>
                <a:spcPct val="0"/>
              </a:spcAft>
              <a:defRPr/>
            </a:pPr>
            <a:r>
              <a:rPr lang="en-US" sz="1200" b="1" dirty="0">
                <a:solidFill>
                  <a:srgbClr val="BB2121"/>
                </a:solidFill>
                <a:latin typeface="Roboto" panose="02000000000000000000" pitchFamily="2" charset="0"/>
                <a:ea typeface="Roboto" panose="02000000000000000000" pitchFamily="2" charset="0"/>
                <a:cs typeface="Arial" panose="020B0604020202020204" pitchFamily="34" charset="0"/>
              </a:rPr>
              <a:t>Qualifications and Professional Memberships</a:t>
            </a:r>
          </a:p>
          <a:p>
            <a:pPr algn="just" defTabSz="914400" fontAlgn="base">
              <a:spcBef>
                <a:spcPts val="263"/>
              </a:spcBef>
              <a:spcAft>
                <a:spcPct val="0"/>
              </a:spcAft>
              <a:defRPr/>
            </a:pPr>
            <a:endParaRPr lang="en-US" sz="1000" b="1" dirty="0">
              <a:solidFill>
                <a:srgbClr val="C00000"/>
              </a:solidFill>
              <a:latin typeface="Roboto" panose="02000000000000000000" pitchFamily="2" charset="0"/>
              <a:ea typeface="Roboto" panose="02000000000000000000" pitchFamily="2" charset="0"/>
              <a:cs typeface="Arial" panose="020B0604020202020204" pitchFamily="34" charset="0"/>
            </a:endParaRPr>
          </a:p>
          <a:p>
            <a:pPr marL="179388" lvl="1" indent="-179388" defTabSz="914400" fontAlgn="base">
              <a:spcBef>
                <a:spcPts val="244"/>
              </a:spcBef>
              <a:spcAft>
                <a:spcPct val="0"/>
              </a:spcAft>
              <a:buClr>
                <a:srgbClr val="4D1434"/>
              </a:buClr>
              <a:buFont typeface="Wingdings" pitchFamily="2" charset="2"/>
              <a:buChar char="§"/>
              <a:defRPr/>
            </a:pPr>
            <a:r>
              <a:rPr lang="en-US" sz="1050" b="1" dirty="0">
                <a:solidFill>
                  <a:prstClr val="black"/>
                </a:solidFill>
                <a:latin typeface="Roboto" panose="02000000000000000000" pitchFamily="2" charset="0"/>
                <a:ea typeface="Roboto" panose="02000000000000000000" pitchFamily="2" charset="0"/>
                <a:cs typeface="Arial" pitchFamily="34" charset="0"/>
              </a:rPr>
              <a:t>Certified Internal Auditor (IIA)</a:t>
            </a:r>
          </a:p>
          <a:p>
            <a:pPr marL="179388" lvl="1" indent="-179388" defTabSz="914400" fontAlgn="base">
              <a:spcBef>
                <a:spcPts val="244"/>
              </a:spcBef>
              <a:spcAft>
                <a:spcPct val="0"/>
              </a:spcAft>
              <a:buClr>
                <a:srgbClr val="4D1434"/>
              </a:buClr>
              <a:buFont typeface="Wingdings" pitchFamily="2" charset="2"/>
              <a:buChar char="§"/>
              <a:defRPr/>
            </a:pPr>
            <a:r>
              <a:rPr lang="en-US" sz="1050" b="1" dirty="0">
                <a:solidFill>
                  <a:prstClr val="black"/>
                </a:solidFill>
                <a:latin typeface="Roboto" panose="02000000000000000000" pitchFamily="2" charset="0"/>
                <a:ea typeface="Roboto" panose="02000000000000000000" pitchFamily="2" charset="0"/>
                <a:cs typeface="Arial" pitchFamily="34" charset="0"/>
              </a:rPr>
              <a:t>Chartered Accountant, Singapore</a:t>
            </a:r>
          </a:p>
          <a:p>
            <a:pPr marL="179388" lvl="1" indent="-179388" defTabSz="914400" fontAlgn="base">
              <a:spcBef>
                <a:spcPts val="244"/>
              </a:spcBef>
              <a:spcAft>
                <a:spcPct val="0"/>
              </a:spcAft>
              <a:buClr>
                <a:srgbClr val="4D1434"/>
              </a:buClr>
              <a:buFont typeface="Wingdings" pitchFamily="2" charset="2"/>
              <a:buChar char="§"/>
              <a:defRPr/>
            </a:pPr>
            <a:r>
              <a:rPr lang="en-US" sz="1050" dirty="0">
                <a:solidFill>
                  <a:prstClr val="black"/>
                </a:solidFill>
                <a:latin typeface="Roboto" panose="02000000000000000000" pitchFamily="2" charset="0"/>
                <a:ea typeface="Roboto" panose="02000000000000000000" pitchFamily="2" charset="0"/>
                <a:cs typeface="Arial" pitchFamily="34" charset="0"/>
              </a:rPr>
              <a:t>Certificate in Sustainability for Finance</a:t>
            </a:r>
          </a:p>
          <a:p>
            <a:pPr marL="179388" lvl="1" indent="-179388" defTabSz="914400" fontAlgn="base">
              <a:spcBef>
                <a:spcPts val="244"/>
              </a:spcBef>
              <a:spcAft>
                <a:spcPct val="0"/>
              </a:spcAft>
              <a:buClr>
                <a:srgbClr val="4D1434"/>
              </a:buClr>
              <a:buFont typeface="Wingdings" pitchFamily="2" charset="2"/>
              <a:buChar char="§"/>
              <a:defRPr/>
            </a:pPr>
            <a:r>
              <a:rPr lang="en-US" sz="1050" dirty="0">
                <a:solidFill>
                  <a:prstClr val="black"/>
                </a:solidFill>
                <a:latin typeface="Roboto" panose="02000000000000000000" pitchFamily="2" charset="0"/>
                <a:ea typeface="Roboto" panose="02000000000000000000" pitchFamily="2" charset="0"/>
                <a:cs typeface="Arial" pitchFamily="34" charset="0"/>
              </a:rPr>
              <a:t>Bachelor of Accountancy (Nanyang Technological University)</a:t>
            </a:r>
          </a:p>
          <a:p>
            <a:pPr marL="179388" lvl="1" indent="-179388" defTabSz="914400" fontAlgn="base">
              <a:spcBef>
                <a:spcPts val="244"/>
              </a:spcBef>
              <a:spcAft>
                <a:spcPct val="0"/>
              </a:spcAft>
              <a:buClr>
                <a:srgbClr val="4D1434"/>
              </a:buClr>
              <a:buFont typeface="Wingdings" pitchFamily="2" charset="2"/>
              <a:buChar char="§"/>
              <a:defRPr/>
            </a:pPr>
            <a:r>
              <a:rPr lang="en-US" sz="1050" dirty="0">
                <a:solidFill>
                  <a:prstClr val="black"/>
                </a:solidFill>
                <a:latin typeface="Roboto" panose="02000000000000000000" pitchFamily="2" charset="0"/>
                <a:ea typeface="Roboto" panose="02000000000000000000" pitchFamily="2" charset="0"/>
                <a:cs typeface="Arial" pitchFamily="34" charset="0"/>
              </a:rPr>
              <a:t>Masters of Science – Management (University College Dublin)</a:t>
            </a:r>
          </a:p>
          <a:p>
            <a:pPr marL="179388" lvl="1" indent="-179388" defTabSz="914400" fontAlgn="base">
              <a:spcBef>
                <a:spcPts val="244"/>
              </a:spcBef>
              <a:spcAft>
                <a:spcPct val="0"/>
              </a:spcAft>
              <a:buClr>
                <a:srgbClr val="4D1434"/>
              </a:buClr>
              <a:buFont typeface="Wingdings" pitchFamily="2" charset="2"/>
              <a:buChar char="§"/>
              <a:defRPr/>
            </a:pPr>
            <a:r>
              <a:rPr lang="en-US" sz="1050" dirty="0">
                <a:solidFill>
                  <a:prstClr val="black"/>
                </a:solidFill>
                <a:latin typeface="Roboto" panose="02000000000000000000" pitchFamily="2" charset="0"/>
                <a:ea typeface="Roboto" panose="02000000000000000000" pitchFamily="2" charset="0"/>
                <a:cs typeface="Arial" pitchFamily="34" charset="0"/>
              </a:rPr>
              <a:t>Member, The Institute of Internal Auditors Singapore (IIA)</a:t>
            </a:r>
          </a:p>
          <a:p>
            <a:pPr marL="179388" lvl="1" indent="-179388" defTabSz="914400" fontAlgn="base">
              <a:spcBef>
                <a:spcPts val="244"/>
              </a:spcBef>
              <a:spcAft>
                <a:spcPct val="0"/>
              </a:spcAft>
              <a:buClr>
                <a:srgbClr val="4D1434"/>
              </a:buClr>
              <a:buFont typeface="Wingdings" pitchFamily="2" charset="2"/>
              <a:buChar char="§"/>
              <a:defRPr/>
            </a:pPr>
            <a:r>
              <a:rPr lang="en-US" sz="1050" dirty="0">
                <a:solidFill>
                  <a:prstClr val="black"/>
                </a:solidFill>
                <a:latin typeface="Roboto" panose="02000000000000000000" pitchFamily="2" charset="0"/>
                <a:ea typeface="Roboto" panose="02000000000000000000" pitchFamily="2" charset="0"/>
                <a:cs typeface="Arial" pitchFamily="34" charset="0"/>
              </a:rPr>
              <a:t>Member, Institute of Singapore Chartered Accountants (ISCA)</a:t>
            </a:r>
          </a:p>
          <a:p>
            <a:pPr marL="179388" lvl="1" indent="-179388" defTabSz="914400" fontAlgn="base">
              <a:spcBef>
                <a:spcPts val="244"/>
              </a:spcBef>
              <a:spcAft>
                <a:spcPct val="0"/>
              </a:spcAft>
              <a:buClr>
                <a:srgbClr val="4D1434"/>
              </a:buClr>
              <a:buFont typeface="Wingdings" pitchFamily="2" charset="2"/>
              <a:buChar char="§"/>
              <a:defRPr/>
            </a:pPr>
            <a:r>
              <a:rPr lang="en-US" sz="1050" dirty="0">
                <a:solidFill>
                  <a:prstClr val="black"/>
                </a:solidFill>
                <a:latin typeface="Roboto" panose="02000000000000000000" pitchFamily="2" charset="0"/>
                <a:ea typeface="Roboto" panose="02000000000000000000" pitchFamily="2" charset="0"/>
                <a:cs typeface="Arial" pitchFamily="34" charset="0"/>
              </a:rPr>
              <a:t>Member, Information Systems Audit and Control Association (ISACA)</a:t>
            </a:r>
          </a:p>
          <a:p>
            <a:pPr defTabSz="914400" fontAlgn="base">
              <a:spcBef>
                <a:spcPts val="244"/>
              </a:spcBef>
              <a:spcAft>
                <a:spcPct val="0"/>
              </a:spcAft>
              <a:defRPr/>
            </a:pPr>
            <a:endParaRPr lang="en-US" sz="1050" dirty="0">
              <a:solidFill>
                <a:prstClr val="black"/>
              </a:solidFill>
              <a:latin typeface="Roboto" panose="02000000000000000000" pitchFamily="2" charset="0"/>
              <a:ea typeface="Roboto" panose="02000000000000000000" pitchFamily="2" charset="0"/>
              <a:cs typeface="Arial" pitchFamily="34" charset="0"/>
            </a:endParaRPr>
          </a:p>
          <a:p>
            <a:pPr marL="91579" indent="-91579" defTabSz="914400" fontAlgn="base">
              <a:spcBef>
                <a:spcPts val="244"/>
              </a:spcBef>
              <a:spcAft>
                <a:spcPct val="0"/>
              </a:spcAft>
              <a:defRPr/>
            </a:pPr>
            <a:endParaRPr lang="en-US" sz="1050" dirty="0">
              <a:solidFill>
                <a:prstClr val="black"/>
              </a:solidFill>
              <a:latin typeface="Roboto" panose="02000000000000000000" pitchFamily="2" charset="0"/>
              <a:ea typeface="Roboto" panose="02000000000000000000" pitchFamily="2" charset="0"/>
              <a:cs typeface="Arial" pitchFamily="34" charset="0"/>
            </a:endParaRPr>
          </a:p>
          <a:p>
            <a:pPr algn="just" defTabSz="914400" fontAlgn="base">
              <a:spcBef>
                <a:spcPts val="325"/>
              </a:spcBef>
              <a:spcAft>
                <a:spcPct val="0"/>
              </a:spcAft>
              <a:buClr>
                <a:srgbClr val="4D1434"/>
              </a:buClr>
              <a:buSzPct val="68000"/>
              <a:defRPr/>
            </a:pPr>
            <a:endParaRPr lang="en-US" sz="1050" dirty="0">
              <a:solidFill>
                <a:prstClr val="black"/>
              </a:solidFill>
              <a:latin typeface="Roboto" panose="02000000000000000000" pitchFamily="2" charset="0"/>
              <a:ea typeface="Roboto" panose="02000000000000000000" pitchFamily="2" charset="0"/>
              <a:cs typeface="Arial" pitchFamily="34" charset="0"/>
            </a:endParaRPr>
          </a:p>
        </p:txBody>
      </p:sp>
      <p:sp>
        <p:nvSpPr>
          <p:cNvPr id="7" name="Shape 2836">
            <a:extLst>
              <a:ext uri="{FF2B5EF4-FFF2-40B4-BE49-F238E27FC236}">
                <a16:creationId xmlns:a16="http://schemas.microsoft.com/office/drawing/2014/main" id="{B6CF39D1-A5F6-9D58-0C50-DA6D4C847F5F}"/>
              </a:ext>
            </a:extLst>
          </p:cNvPr>
          <p:cNvSpPr>
            <a:spLocks noChangeAspect="1"/>
          </p:cNvSpPr>
          <p:nvPr/>
        </p:nvSpPr>
        <p:spPr>
          <a:xfrm>
            <a:off x="752093" y="3549647"/>
            <a:ext cx="205486" cy="149444"/>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ysClr val="windowText" lastClr="000000"/>
          </a:solidFill>
          <a:ln w="12700">
            <a:miter lim="400000"/>
          </a:ln>
        </p:spPr>
        <p:txBody>
          <a:bodyPr lIns="6728" tIns="6728" rIns="6728" bIns="6728" anchor="ctr"/>
          <a:lstStyle/>
          <a:p>
            <a:pPr marL="0" marR="0" lvl="0" indent="0" defTabSz="80719" eaLnBrk="1" fontAlgn="base" latinLnBrk="0" hangingPunct="1">
              <a:lnSpc>
                <a:spcPct val="100000"/>
              </a:lnSpc>
              <a:spcBef>
                <a:spcPct val="0"/>
              </a:spcBef>
              <a:spcAft>
                <a:spcPct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530" b="1"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Open Sans Semibold" charset="0"/>
              <a:ea typeface="Open Sans Semibold" charset="0"/>
              <a:cs typeface="Open Sans Semibold" charset="0"/>
              <a:sym typeface="Gill Sans"/>
            </a:endParaRPr>
          </a:p>
        </p:txBody>
      </p:sp>
      <p:pic>
        <p:nvPicPr>
          <p:cNvPr id="8" name="Picture 7">
            <a:extLst>
              <a:ext uri="{FF2B5EF4-FFF2-40B4-BE49-F238E27FC236}">
                <a16:creationId xmlns:a16="http://schemas.microsoft.com/office/drawing/2014/main" id="{EBF0E354-2C83-F804-15FF-AE57B71D3D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218" y="1390434"/>
            <a:ext cx="1542257" cy="1542257"/>
          </a:xfrm>
          <a:prstGeom prst="rect">
            <a:avLst/>
          </a:prstGeom>
        </p:spPr>
      </p:pic>
      <p:sp>
        <p:nvSpPr>
          <p:cNvPr id="9" name="Google Shape;190;p2">
            <a:extLst>
              <a:ext uri="{FF2B5EF4-FFF2-40B4-BE49-F238E27FC236}">
                <a16:creationId xmlns:a16="http://schemas.microsoft.com/office/drawing/2014/main" id="{2B67B318-516C-1190-CAE6-3458F2D70229}"/>
              </a:ext>
            </a:extLst>
          </p:cNvPr>
          <p:cNvSpPr txBox="1"/>
          <p:nvPr/>
        </p:nvSpPr>
        <p:spPr>
          <a:xfrm>
            <a:off x="605955" y="206524"/>
            <a:ext cx="7826913" cy="505462"/>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Your Service Team</a:t>
            </a:r>
          </a:p>
        </p:txBody>
      </p:sp>
    </p:spTree>
    <p:extLst>
      <p:ext uri="{BB962C8B-B14F-4D97-AF65-F5344CB8AC3E}">
        <p14:creationId xmlns:p14="http://schemas.microsoft.com/office/powerpoint/2010/main" val="1179886938"/>
      </p:ext>
    </p:ext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G" sz="3599"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Content Placeholder 2">
            <a:extLst>
              <a:ext uri="{FF2B5EF4-FFF2-40B4-BE49-F238E27FC236}">
                <a16:creationId xmlns:a16="http://schemas.microsoft.com/office/drawing/2014/main" id="{0BA5E060-706E-2641-B612-C6EEE6642045}"/>
              </a:ext>
            </a:extLst>
          </p:cNvPr>
          <p:cNvSpPr txBox="1">
            <a:spLocks/>
          </p:cNvSpPr>
          <p:nvPr/>
        </p:nvSpPr>
        <p:spPr bwMode="auto">
          <a:xfrm>
            <a:off x="3251200" y="1257300"/>
            <a:ext cx="8369300" cy="4343400"/>
          </a:xfrm>
          <a:prstGeom prst="rect">
            <a:avLst/>
          </a:prstGeom>
          <a:noFill/>
          <a:ln w="9525">
            <a:noFill/>
            <a:miter lim="800000"/>
            <a:headEnd/>
            <a:tailEnd/>
          </a:ln>
        </p:spPr>
        <p: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B2121"/>
                </a:solidFill>
                <a:effectLst/>
                <a:uLnTx/>
                <a:uFillTx/>
                <a:latin typeface="Roboto" panose="02000000000000000000" pitchFamily="2" charset="0"/>
                <a:ea typeface="Roboto" panose="02000000000000000000" pitchFamily="2" charset="0"/>
                <a:cs typeface="+mn-cs"/>
              </a:rPr>
              <a:t>Professional Experience</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SG"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Jing Yi has been in the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audit profession for more than 10 years </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and has vast experience in a broad spectrum of industries such as financial institutions, education, property development, construction, trading, service providers, shipping, investment holding and solicitors’ audits. She has been also involved in various internal audits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of government ministries, organs of state and statutory boards</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 such as</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 </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MOE Schools, Ministry of Home Affairs, Supreme Court of Singapore, Ministry of National Development, Ministry of Social and Family Development, Ministry of Health, Land Transport Authority, Science Centre Board, Ngee Ann Polytechnic, Charities, Institutions of Public Character (i.e. Yayasan Mendaki, Ang Mo Kio-Thye Hua Kwan Hospital, Sree Narayana Mission (Singapore)),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public listed companies </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(i.e. Old Chang Kee, Asia Vets Holdings, Union Steel, Addvalue Technologies, Nordic Group, Sinjia Land, Dyna-Mac) and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other private sector organisations </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(i.e. Boeing Asia Pacific Aviation Services, ST Engineering e-Services). </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She is involved with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Internal Audits</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Enterprise Risk Management (ERM) </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and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Sustainability Reporting </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work for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companies listed on the SGX (</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i.e. Addvalue, Sinjia Land, Asia Vets Holdings, Koda Ltd)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and GEMS HKEx</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 Jing Yi has also completed a consultancy project for the SME Business &amp; Financial Management (BFM) Programme which involves working closely with her client to formulate a financial growth strategy and enhance their expansion plans. </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just" defTabSz="457200" rtl="0" eaLnBrk="1" fontAlgn="auto" latinLnBrk="0" hangingPunct="1">
              <a:lnSpc>
                <a:spcPct val="100000"/>
              </a:lnSpc>
              <a:spcBef>
                <a:spcPts val="324"/>
              </a:spcBef>
              <a:spcAft>
                <a:spcPts val="0"/>
              </a:spcAft>
              <a:buClrTx/>
              <a:buSzTx/>
              <a:buFontTx/>
              <a:buNone/>
              <a:tabLst/>
              <a:defRPr/>
            </a:pPr>
            <a:r>
              <a:rPr kumimoji="0" lang="en-US" sz="1200" b="1" i="0" u="none" strike="noStrike" kern="1200" cap="none" spc="0" normalizeH="0" baseline="0" noProof="0" dirty="0">
                <a:ln>
                  <a:noFill/>
                </a:ln>
                <a:solidFill>
                  <a:srgbClr val="C00000"/>
                </a:solidFill>
                <a:effectLst/>
                <a:uLnTx/>
                <a:uFillTx/>
                <a:latin typeface="Roboto" panose="02000000000000000000" pitchFamily="2" charset="0"/>
                <a:ea typeface="Roboto" panose="02000000000000000000" pitchFamily="2" charset="0"/>
                <a:cs typeface="+mn-cs"/>
              </a:rPr>
              <a:t>Qualifications and Professional Memberships</a:t>
            </a:r>
          </a:p>
          <a:p>
            <a:pPr marL="0" marR="0" lvl="0" indent="0" algn="just" defTabSz="457200" rtl="0" eaLnBrk="1" fontAlgn="auto" latinLnBrk="0" hangingPunct="1">
              <a:lnSpc>
                <a:spcPct val="100000"/>
              </a:lnSpc>
              <a:spcBef>
                <a:spcPts val="324"/>
              </a:spcBef>
              <a:spcAft>
                <a:spcPts val="0"/>
              </a:spcAft>
              <a:buClrTx/>
              <a:buSzTx/>
              <a:buFontTx/>
              <a:buNone/>
              <a:tabLst/>
              <a:defRPr/>
            </a:pPr>
            <a:endParaRPr kumimoji="0" lang="en-US" sz="1050" b="1" i="0" u="none" strike="noStrike" kern="1200" cap="none" spc="0" normalizeH="0" baseline="0" noProof="0" dirty="0">
              <a:ln>
                <a:noFill/>
              </a:ln>
              <a:solidFill>
                <a:srgbClr val="4D1434"/>
              </a:solidFill>
              <a:effectLst/>
              <a:uLnTx/>
              <a:uFillTx/>
              <a:latin typeface="Roboto" panose="02000000000000000000" pitchFamily="2" charset="0"/>
              <a:ea typeface="Roboto" panose="02000000000000000000" pitchFamily="2" charset="0"/>
              <a:cs typeface="+mn-cs"/>
            </a:endParaRPr>
          </a:p>
          <a:p>
            <a:pPr marL="112713" marR="0" lvl="1" indent="-112713" algn="l" defTabSz="457200" rtl="0" eaLnBrk="1" fontAlgn="auto" latinLnBrk="0" hangingPunct="1">
              <a:lnSpc>
                <a:spcPct val="100000"/>
              </a:lnSpc>
              <a:spcBef>
                <a:spcPts val="300"/>
              </a:spcBef>
              <a:spcAft>
                <a:spcPts val="0"/>
              </a:spcAft>
              <a:buClr>
                <a:srgbClr val="4D1434"/>
              </a:buClr>
              <a:buSzTx/>
              <a:buFont typeface="Wingdings" pitchFamily="2" charset="2"/>
              <a:buChar char="§"/>
              <a:tabLst/>
              <a:defRPr/>
            </a:pP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Certified Internal Auditor (IIA)</a:t>
            </a:r>
          </a:p>
          <a:p>
            <a:pPr marL="112713" marR="0" lvl="1" indent="-112713" algn="l" defTabSz="457200" rtl="0" eaLnBrk="1" fontAlgn="auto" latinLnBrk="0" hangingPunct="1">
              <a:lnSpc>
                <a:spcPct val="100000"/>
              </a:lnSpc>
              <a:spcBef>
                <a:spcPts val="300"/>
              </a:spcBef>
              <a:spcAft>
                <a:spcPts val="0"/>
              </a:spcAft>
              <a:buClr>
                <a:srgbClr val="4D1434"/>
              </a:buClr>
              <a:buSzTx/>
              <a:buFont typeface="Wingdings" pitchFamily="2" charset="2"/>
              <a:buChar char="§"/>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Certificate in Sustainability Reporting</a:t>
            </a:r>
          </a:p>
          <a:p>
            <a:pPr marL="112713" marR="0" lvl="1" indent="-112713" algn="l" defTabSz="457200" rtl="0" eaLnBrk="1" fontAlgn="auto" latinLnBrk="0" hangingPunct="1">
              <a:lnSpc>
                <a:spcPct val="100000"/>
              </a:lnSpc>
              <a:spcBef>
                <a:spcPts val="300"/>
              </a:spcBef>
              <a:spcAft>
                <a:spcPts val="0"/>
              </a:spcAft>
              <a:buClr>
                <a:srgbClr val="4D1434"/>
              </a:buClr>
              <a:buSzTx/>
              <a:buFont typeface="Wingdings" pitchFamily="2" charset="2"/>
              <a:buChar char="§"/>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Certificate in Sustainability Frameworks and Ethics (CertSFE)</a:t>
            </a:r>
          </a:p>
          <a:p>
            <a:pPr marL="112713" marR="0" lvl="1" indent="-112713" algn="l" defTabSz="457200" rtl="0" eaLnBrk="1" fontAlgn="auto" latinLnBrk="0" hangingPunct="1">
              <a:lnSpc>
                <a:spcPct val="100000"/>
              </a:lnSpc>
              <a:spcBef>
                <a:spcPts val="300"/>
              </a:spcBef>
              <a:spcAft>
                <a:spcPts val="0"/>
              </a:spcAft>
              <a:buClr>
                <a:srgbClr val="4D1434"/>
              </a:buClr>
              <a:buSzTx/>
              <a:buFont typeface="Wingdings" pitchFamily="2" charset="2"/>
              <a:buChar char="§"/>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BSc (Hons) in Accounting and Finance </a:t>
            </a:r>
          </a:p>
          <a:p>
            <a:pPr marL="112713" marR="0" lvl="1" indent="-112713" algn="l" defTabSz="457200" rtl="0" eaLnBrk="1" fontAlgn="auto" latinLnBrk="0" hangingPunct="1">
              <a:lnSpc>
                <a:spcPct val="100000"/>
              </a:lnSpc>
              <a:spcBef>
                <a:spcPts val="300"/>
              </a:spcBef>
              <a:spcAft>
                <a:spcPts val="0"/>
              </a:spcAft>
              <a:buClr>
                <a:srgbClr val="4D1434"/>
              </a:buClr>
              <a:buSzTx/>
              <a:buFont typeface="Wingdings" pitchFamily="2" charset="2"/>
              <a:buChar char="§"/>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Member, The Institute of Internal Auditors Singapore (IIA)</a:t>
            </a:r>
          </a:p>
          <a:p>
            <a:pPr marL="112713" marR="0" lvl="0" indent="-112713" algn="l" defTabSz="457200" rtl="0" eaLnBrk="1" fontAlgn="auto" latinLnBrk="0" hangingPunct="1">
              <a:lnSpc>
                <a:spcPct val="100000"/>
              </a:lnSpc>
              <a:spcBef>
                <a:spcPts val="30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Arial" pitchFamily="34" charset="0"/>
            </a:endParaRPr>
          </a:p>
          <a:p>
            <a:pPr marL="0" marR="0" lvl="0" indent="0" algn="just" defTabSz="457200" rtl="0" eaLnBrk="1" fontAlgn="auto" latinLnBrk="0" hangingPunct="1">
              <a:lnSpc>
                <a:spcPct val="100000"/>
              </a:lnSpc>
              <a:spcBef>
                <a:spcPts val="400"/>
              </a:spcBef>
              <a:spcAft>
                <a:spcPts val="0"/>
              </a:spcAft>
              <a:buClr>
                <a:srgbClr val="4D1434"/>
              </a:buClr>
              <a:buSzPct val="68000"/>
              <a:buFontTx/>
              <a:buNone/>
              <a:tabLst/>
              <a:defRPr/>
            </a:pPr>
            <a:endPar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Arial" pitchFamily="34" charset="0"/>
            </a:endParaRPr>
          </a:p>
        </p:txBody>
      </p:sp>
      <p:pic>
        <p:nvPicPr>
          <p:cNvPr id="6" name="Picture 5">
            <a:extLst>
              <a:ext uri="{FF2B5EF4-FFF2-40B4-BE49-F238E27FC236}">
                <a16:creationId xmlns:a16="http://schemas.microsoft.com/office/drawing/2014/main" id="{37677BC7-820F-64DD-B873-69D69570BC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099" y="1257300"/>
            <a:ext cx="1541152" cy="1541152"/>
          </a:xfrm>
          <a:prstGeom prst="rect">
            <a:avLst/>
          </a:prstGeom>
        </p:spPr>
      </p:pic>
      <p:sp>
        <p:nvSpPr>
          <p:cNvPr id="7" name="Content Placeholder 2">
            <a:extLst>
              <a:ext uri="{FF2B5EF4-FFF2-40B4-BE49-F238E27FC236}">
                <a16:creationId xmlns:a16="http://schemas.microsoft.com/office/drawing/2014/main" id="{01B3142C-6AE5-7D98-5C24-4A47E6634E8B}"/>
              </a:ext>
            </a:extLst>
          </p:cNvPr>
          <p:cNvSpPr txBox="1">
            <a:spLocks/>
          </p:cNvSpPr>
          <p:nvPr/>
        </p:nvSpPr>
        <p:spPr bwMode="auto">
          <a:xfrm>
            <a:off x="771099" y="3027510"/>
            <a:ext cx="2055739" cy="1919288"/>
          </a:xfrm>
          <a:prstGeom prst="rect">
            <a:avLst/>
          </a:prstGeom>
          <a:no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13663"/>
                </a:solidFill>
                <a:effectLst/>
                <a:uLnTx/>
                <a:uFillTx/>
                <a:latin typeface="Roboto" panose="02000000000000000000" pitchFamily="2" charset="0"/>
                <a:ea typeface="Roboto" panose="02000000000000000000" pitchFamily="2" charset="0"/>
                <a:cs typeface="Arial" pitchFamily="34" charset="0"/>
              </a:rPr>
              <a:t>Kwok Jing Yi</a:t>
            </a:r>
            <a:endParaRPr kumimoji="0" lang="en-US" sz="1050" b="0" i="0" u="none" strike="noStrike" kern="1200" cap="none" spc="0" normalizeH="0" baseline="0" noProof="0" dirty="0">
              <a:ln>
                <a:noFill/>
              </a:ln>
              <a:solidFill>
                <a:srgbClr val="113663"/>
              </a:solidFill>
              <a:effectLst/>
              <a:uLnTx/>
              <a:uFillTx/>
              <a:latin typeface="Roboto" panose="02000000000000000000" pitchFamily="2" charset="0"/>
              <a:ea typeface="Roboto" panose="02000000000000000000" pitchFamily="2" charset="0"/>
              <a:cs typeface="Arial"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Arial" pitchFamily="34" charset="0"/>
              </a:rPr>
              <a:t>Senior Manager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Arial" pitchFamily="34" charset="0"/>
              </a:rPr>
              <a:t> </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Arial" pitchFamily="34" charset="0"/>
              </a:rPr>
              <a:t>           </a:t>
            </a:r>
            <a:r>
              <a:rPr kumimoji="0" lang="en-US" sz="1050" b="0" i="0" u="sng"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Arial" pitchFamily="34" charset="0"/>
              </a:rPr>
              <a:t>Email</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Arial" pitchFamily="34" charset="0"/>
              </a:rPr>
              <a:t>           jingyikwok@incorp.asia </a:t>
            </a:r>
          </a:p>
        </p:txBody>
      </p:sp>
      <p:sp>
        <p:nvSpPr>
          <p:cNvPr id="8" name="Shape 2836">
            <a:extLst>
              <a:ext uri="{FF2B5EF4-FFF2-40B4-BE49-F238E27FC236}">
                <a16:creationId xmlns:a16="http://schemas.microsoft.com/office/drawing/2014/main" id="{AF9616CB-1E12-83B0-DEA2-8D722546DD5C}"/>
              </a:ext>
            </a:extLst>
          </p:cNvPr>
          <p:cNvSpPr>
            <a:spLocks noChangeAspect="1"/>
          </p:cNvSpPr>
          <p:nvPr/>
        </p:nvSpPr>
        <p:spPr>
          <a:xfrm>
            <a:off x="904248" y="3619639"/>
            <a:ext cx="205486" cy="149444"/>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tx1"/>
          </a:solidFill>
          <a:ln w="12700">
            <a:miter lim="400000"/>
          </a:ln>
        </p:spPr>
        <p:txBody>
          <a:bodyPr lIns="6728" tIns="6728" rIns="6728" bIns="6728" anchor="ctr"/>
          <a:lstStyle/>
          <a:p>
            <a:pPr marL="0" marR="0" lvl="0" indent="0" algn="l" defTabSz="80719"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530" b="1"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Open Sans Semibold" charset="0"/>
              <a:ea typeface="Open Sans Semibold" charset="0"/>
              <a:cs typeface="Open Sans Semibold" charset="0"/>
              <a:sym typeface="Gill Sans"/>
            </a:endParaRPr>
          </a:p>
        </p:txBody>
      </p:sp>
      <p:sp>
        <p:nvSpPr>
          <p:cNvPr id="9" name="Google Shape;190;p2">
            <a:extLst>
              <a:ext uri="{FF2B5EF4-FFF2-40B4-BE49-F238E27FC236}">
                <a16:creationId xmlns:a16="http://schemas.microsoft.com/office/drawing/2014/main" id="{603A3F95-88DA-C46D-E7BB-A7B8947FAF79}"/>
              </a:ext>
            </a:extLst>
          </p:cNvPr>
          <p:cNvSpPr txBox="1"/>
          <p:nvPr/>
        </p:nvSpPr>
        <p:spPr>
          <a:xfrm>
            <a:off x="605955" y="206524"/>
            <a:ext cx="7826913" cy="505462"/>
          </a:xfrm>
          <a:prstGeom prst="rect">
            <a:avLst/>
          </a:prstGeom>
          <a:noFill/>
          <a:ln>
            <a:noFill/>
          </a:ln>
        </p:spPr>
        <p:txBody>
          <a:bodyPr spcFirstLastPara="1" wrap="square" lIns="89116" tIns="44547" rIns="89116" bIns="44547" anchor="t" anchorCtr="0">
            <a:spAutoFit/>
          </a:bodyPr>
          <a:lstStyle/>
          <a:p>
            <a:pPr marL="0" marR="0" lvl="0" indent="0" algn="l" defTabSz="891317" rtl="0" eaLnBrk="1" fontAlgn="auto" latinLnBrk="0" hangingPunct="1">
              <a:lnSpc>
                <a:spcPct val="100000"/>
              </a:lnSpc>
              <a:spcBef>
                <a:spcPts val="0"/>
              </a:spcBef>
              <a:spcAft>
                <a:spcPts val="0"/>
              </a:spcAft>
              <a:buClr>
                <a:srgbClr val="000000"/>
              </a:buClr>
              <a:buSzTx/>
              <a:buFontTx/>
              <a:buNone/>
              <a:tabLst/>
              <a:defRPr/>
            </a:pPr>
            <a:r>
              <a:rPr kumimoji="0" lang="en-US" sz="27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Your Service Team </a:t>
            </a:r>
          </a:p>
        </p:txBody>
      </p:sp>
    </p:spTree>
    <p:extLst>
      <p:ext uri="{BB962C8B-B14F-4D97-AF65-F5344CB8AC3E}">
        <p14:creationId xmlns:p14="http://schemas.microsoft.com/office/powerpoint/2010/main" val="3178933186"/>
      </p:ext>
    </p:ext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G" sz="3599"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Google Shape;190;p2">
            <a:extLst>
              <a:ext uri="{FF2B5EF4-FFF2-40B4-BE49-F238E27FC236}">
                <a16:creationId xmlns:a16="http://schemas.microsoft.com/office/drawing/2014/main" id="{F9ACF930-6165-D8A9-75E0-E45B7E490676}"/>
              </a:ext>
            </a:extLst>
          </p:cNvPr>
          <p:cNvSpPr txBox="1"/>
          <p:nvPr/>
        </p:nvSpPr>
        <p:spPr>
          <a:xfrm>
            <a:off x="605955" y="206524"/>
            <a:ext cx="7826913" cy="505462"/>
          </a:xfrm>
          <a:prstGeom prst="rect">
            <a:avLst/>
          </a:prstGeom>
          <a:noFill/>
          <a:ln>
            <a:noFill/>
          </a:ln>
        </p:spPr>
        <p:txBody>
          <a:bodyPr spcFirstLastPara="1" wrap="square" lIns="89116" tIns="44547" rIns="89116" bIns="44547" anchor="t" anchorCtr="0">
            <a:spAutoFit/>
          </a:bodyPr>
          <a:lstStyle/>
          <a:p>
            <a:pPr marL="0" marR="0" lvl="0" indent="0" algn="l" defTabSz="891317" rtl="0" eaLnBrk="1" fontAlgn="auto" latinLnBrk="0" hangingPunct="1">
              <a:lnSpc>
                <a:spcPct val="100000"/>
              </a:lnSpc>
              <a:spcBef>
                <a:spcPts val="0"/>
              </a:spcBef>
              <a:spcAft>
                <a:spcPts val="0"/>
              </a:spcAft>
              <a:buClr>
                <a:srgbClr val="000000"/>
              </a:buClr>
              <a:buSzTx/>
              <a:buFontTx/>
              <a:buNone/>
              <a:tabLst/>
              <a:defRPr/>
            </a:pPr>
            <a:r>
              <a:rPr kumimoji="0" lang="en-US" sz="27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Your Service Team </a:t>
            </a:r>
          </a:p>
        </p:txBody>
      </p:sp>
      <p:pic>
        <p:nvPicPr>
          <p:cNvPr id="2" name="Picture 3" descr="C:\Users\Amarjit\Downloads\Jespreet-Circle.png">
            <a:extLst>
              <a:ext uri="{FF2B5EF4-FFF2-40B4-BE49-F238E27FC236}">
                <a16:creationId xmlns:a16="http://schemas.microsoft.com/office/drawing/2014/main" id="{90D6DCC0-9765-005D-D028-B2450F1061A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1090" y="1267000"/>
            <a:ext cx="1531452" cy="1531452"/>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1C7615F9-F9D1-4C02-D903-AE7B904772BD}"/>
              </a:ext>
            </a:extLst>
          </p:cNvPr>
          <p:cNvSpPr txBox="1">
            <a:spLocks/>
          </p:cNvSpPr>
          <p:nvPr/>
        </p:nvSpPr>
        <p:spPr bwMode="auto">
          <a:xfrm>
            <a:off x="728500" y="3087983"/>
            <a:ext cx="2352675" cy="1919288"/>
          </a:xfrm>
          <a:prstGeom prst="rect">
            <a:avLst/>
          </a:prstGeom>
          <a:no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13663"/>
                </a:solidFill>
                <a:effectLst/>
                <a:uLnTx/>
                <a:uFillTx/>
                <a:latin typeface="Roboto" panose="02000000000000000000" pitchFamily="2" charset="0"/>
                <a:ea typeface="Roboto" panose="02000000000000000000" pitchFamily="2" charset="0"/>
                <a:cs typeface="Roboto" panose="02000000000000000000" pitchFamily="2" charset="0"/>
              </a:rPr>
              <a:t>Jespreet Kaur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Manager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113663"/>
              </a:solidFill>
              <a:effectLst/>
              <a:uLnTx/>
              <a:uFillTx/>
              <a:latin typeface="Roboto" panose="02000000000000000000" pitchFamily="2" charset="0"/>
              <a:ea typeface="Roboto" panose="02000000000000000000" pitchFamily="2" charset="0"/>
              <a:cs typeface="Roboto" panose="02000000000000000000" pitchFamily="2"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 </a:t>
            </a:r>
          </a:p>
        </p:txBody>
      </p:sp>
      <p:sp>
        <p:nvSpPr>
          <p:cNvPr id="7" name="Content Placeholder 2">
            <a:extLst>
              <a:ext uri="{FF2B5EF4-FFF2-40B4-BE49-F238E27FC236}">
                <a16:creationId xmlns:a16="http://schemas.microsoft.com/office/drawing/2014/main" id="{933ED71E-C589-662B-A8F3-B283B75A6344}"/>
              </a:ext>
            </a:extLst>
          </p:cNvPr>
          <p:cNvSpPr txBox="1">
            <a:spLocks/>
          </p:cNvSpPr>
          <p:nvPr/>
        </p:nvSpPr>
        <p:spPr bwMode="auto">
          <a:xfrm>
            <a:off x="3159727" y="1267000"/>
            <a:ext cx="8192146" cy="3592533"/>
          </a:xfrm>
          <a:prstGeom prst="rect">
            <a:avLst/>
          </a:prstGeom>
          <a:noFill/>
          <a:ln w="9525">
            <a:noFill/>
            <a:miter lim="800000"/>
            <a:headEnd/>
            <a:tailEnd/>
          </a:ln>
        </p:spPr>
        <p: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B2121"/>
                </a:solidFill>
                <a:effectLst/>
                <a:uLnTx/>
                <a:uFillTx/>
                <a:latin typeface="Roboto" panose="02000000000000000000" pitchFamily="2" charset="0"/>
                <a:ea typeface="Roboto" panose="02000000000000000000" pitchFamily="2" charset="0"/>
                <a:cs typeface="+mn-cs"/>
              </a:rPr>
              <a:t>Professional Experience</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4D1434"/>
              </a:solidFill>
              <a:effectLst/>
              <a:uLnTx/>
              <a:uFillTx/>
              <a:latin typeface="Roboto" panose="02000000000000000000" pitchFamily="2" charset="0"/>
              <a:ea typeface="Roboto" panose="02000000000000000000" pitchFamily="2" charset="0"/>
              <a:cs typeface="Roboto" panose="02000000000000000000" pitchFamily="2"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Jespreet has been in the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auditing profession for more than 6 years </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and has vast experience in a broad spectrum of industries such as public healthcare, education, manufacturing, professional services firm and investment holding companies. </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She has been also involved in various internal audits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of government ministries and statutory boards</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 such as</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 </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MOE Schools, Ngee Ann Polytechnic, Ministry of Home Affairs, Ministry of Social and Family Development, Charities, Institutions of Public Character (i.e. Sree Narayana Mission (Singapore)),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public listed companies </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(i.e. Old Chang Kee, Asia Vets Holdings) and </a:t>
            </a: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other private sector organisations</a:t>
            </a: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Her involvement included the planning and execution of the different internal audit assignments.</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Jespreet started her career in Ernst and Young LLP and worked on external audits and special audits across diverse industries.</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4D1434"/>
              </a:solidFill>
              <a:effectLst/>
              <a:uLnTx/>
              <a:uFillTx/>
              <a:latin typeface="Roboto" panose="02000000000000000000" pitchFamily="2" charset="0"/>
              <a:ea typeface="Roboto" panose="02000000000000000000" pitchFamily="2" charset="0"/>
              <a:cs typeface="Roboto" panose="02000000000000000000" pitchFamily="2" charset="0"/>
            </a:endParaRPr>
          </a:p>
          <a:p>
            <a:pPr marL="0" marR="0" lvl="0" indent="0" algn="just" defTabSz="457200" rtl="0" eaLnBrk="1" fontAlgn="auto" latinLnBrk="0" hangingPunct="1">
              <a:lnSpc>
                <a:spcPct val="100000"/>
              </a:lnSpc>
              <a:spcBef>
                <a:spcPts val="263"/>
              </a:spcBef>
              <a:spcAft>
                <a:spcPts val="0"/>
              </a:spcAft>
              <a:buClrTx/>
              <a:buSzTx/>
              <a:buFontTx/>
              <a:buNone/>
              <a:tabLst/>
              <a:defRPr/>
            </a:pPr>
            <a:r>
              <a:rPr kumimoji="0" lang="en-US" sz="1200" b="1" i="0" u="none" strike="noStrike" kern="1200" cap="none" spc="0" normalizeH="0" baseline="0" noProof="0" dirty="0">
                <a:ln>
                  <a:noFill/>
                </a:ln>
                <a:solidFill>
                  <a:srgbClr val="C00000"/>
                </a:solidFill>
                <a:effectLst/>
                <a:uLnTx/>
                <a:uFillTx/>
                <a:latin typeface="Roboto" panose="02000000000000000000" pitchFamily="2" charset="0"/>
                <a:ea typeface="Roboto" panose="02000000000000000000" pitchFamily="2" charset="0"/>
                <a:cs typeface="Roboto" panose="02000000000000000000" pitchFamily="2" charset="0"/>
              </a:rPr>
              <a:t>Qualifications and Professional Memberships</a:t>
            </a:r>
          </a:p>
          <a:p>
            <a:pPr marL="0" marR="0" lvl="0" indent="0" algn="just" defTabSz="457200" rtl="0" eaLnBrk="1" fontAlgn="auto" latinLnBrk="0" hangingPunct="1">
              <a:lnSpc>
                <a:spcPct val="100000"/>
              </a:lnSpc>
              <a:spcBef>
                <a:spcPts val="263"/>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a:p>
            <a:pPr marL="112713" marR="0" lvl="1" indent="-112713" algn="l" defTabSz="457200" rtl="0" eaLnBrk="1" fontAlgn="auto" latinLnBrk="0" hangingPunct="1">
              <a:lnSpc>
                <a:spcPct val="100000"/>
              </a:lnSpc>
              <a:spcBef>
                <a:spcPts val="300"/>
              </a:spcBef>
              <a:spcAft>
                <a:spcPts val="0"/>
              </a:spcAft>
              <a:buClr>
                <a:srgbClr val="4D1434"/>
              </a:buClr>
              <a:buSzTx/>
              <a:buFont typeface="Wingdings" pitchFamily="2" charset="2"/>
              <a:buChar char="§"/>
              <a:tabLst/>
              <a:defRPr/>
            </a:pPr>
            <a:r>
              <a:rPr kumimoji="0" lang="en-US" sz="105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Chartered Accountant, Singapore</a:t>
            </a:r>
          </a:p>
          <a:p>
            <a:pPr marL="112713" marR="0" lvl="1" indent="-112713" algn="l" defTabSz="457200" rtl="0" eaLnBrk="1" fontAlgn="auto" latinLnBrk="0" hangingPunct="1">
              <a:lnSpc>
                <a:spcPct val="100000"/>
              </a:lnSpc>
              <a:spcBef>
                <a:spcPts val="300"/>
              </a:spcBef>
              <a:spcAft>
                <a:spcPts val="0"/>
              </a:spcAft>
              <a:buClr>
                <a:srgbClr val="4D1434"/>
              </a:buClr>
              <a:buSzTx/>
              <a:buFont typeface="Wingdings" pitchFamily="2" charset="2"/>
              <a:buChar char="§"/>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Bachelor of Accountancy (Nanyang Technological University)</a:t>
            </a:r>
          </a:p>
          <a:p>
            <a:pPr marL="112713" marR="0" lvl="1" indent="-112713" algn="l" defTabSz="457200" rtl="0" eaLnBrk="1" fontAlgn="auto" latinLnBrk="0" hangingPunct="1">
              <a:lnSpc>
                <a:spcPct val="100000"/>
              </a:lnSpc>
              <a:spcBef>
                <a:spcPts val="300"/>
              </a:spcBef>
              <a:spcAft>
                <a:spcPts val="0"/>
              </a:spcAft>
              <a:buClr>
                <a:srgbClr val="4D1434"/>
              </a:buClr>
              <a:buSzTx/>
              <a:buFont typeface="Wingdings" pitchFamily="2" charset="2"/>
              <a:buChar char="§"/>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Member, Institute of Singapore Chartered Accountants (ISCA)</a:t>
            </a:r>
          </a:p>
          <a:p>
            <a:pPr marL="0" marR="0" lvl="1" indent="0" algn="l" defTabSz="457200" rtl="0" eaLnBrk="1" fontAlgn="auto" latinLnBrk="0" hangingPunct="1">
              <a:lnSpc>
                <a:spcPct val="100000"/>
              </a:lnSpc>
              <a:spcBef>
                <a:spcPts val="263"/>
              </a:spcBef>
              <a:spcAft>
                <a:spcPts val="0"/>
              </a:spcAft>
              <a:buClr>
                <a:srgbClr val="4D1434"/>
              </a:buClr>
              <a:buSzTx/>
              <a:buFontTx/>
              <a:buNone/>
              <a:tabLst/>
              <a:defRPr/>
            </a:pPr>
            <a:endPar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a:p>
            <a:pPr marL="0" marR="0" lvl="1" indent="0" algn="l" defTabSz="457200" rtl="0" eaLnBrk="1" fontAlgn="auto" latinLnBrk="0" hangingPunct="1">
              <a:lnSpc>
                <a:spcPct val="100000"/>
              </a:lnSpc>
              <a:spcBef>
                <a:spcPts val="263"/>
              </a:spcBef>
              <a:spcAft>
                <a:spcPts val="0"/>
              </a:spcAft>
              <a:buClr>
                <a:srgbClr val="4D1434"/>
              </a:buClr>
              <a:buSzTx/>
              <a:buFontTx/>
              <a:buNone/>
              <a:tabLst/>
              <a:defRPr/>
            </a:pPr>
            <a:endPar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sym typeface="Wingdings 2"/>
            </a:endParaRPr>
          </a:p>
        </p:txBody>
      </p:sp>
      <p:sp>
        <p:nvSpPr>
          <p:cNvPr id="8" name="Shape 2836">
            <a:extLst>
              <a:ext uri="{FF2B5EF4-FFF2-40B4-BE49-F238E27FC236}">
                <a16:creationId xmlns:a16="http://schemas.microsoft.com/office/drawing/2014/main" id="{5F7BDE3C-0063-1412-7C7A-B972B6CEED6A}"/>
              </a:ext>
            </a:extLst>
          </p:cNvPr>
          <p:cNvSpPr>
            <a:spLocks noChangeAspect="1"/>
          </p:cNvSpPr>
          <p:nvPr/>
        </p:nvSpPr>
        <p:spPr>
          <a:xfrm>
            <a:off x="840127" y="3768085"/>
            <a:ext cx="205486" cy="149444"/>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tx1"/>
          </a:solidFill>
          <a:ln w="12700">
            <a:miter lim="400000"/>
          </a:ln>
        </p:spPr>
        <p:txBody>
          <a:bodyPr lIns="6728" tIns="6728" rIns="6728" bIns="6728" anchor="ctr"/>
          <a:lstStyle/>
          <a:p>
            <a:pPr marL="0" marR="0" lvl="0" indent="0" algn="l" defTabSz="80719"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530" b="1" i="0" u="none"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Open Sans Semibold" charset="0"/>
              <a:ea typeface="Open Sans Semibold" charset="0"/>
              <a:cs typeface="Open Sans Semibold" charset="0"/>
              <a:sym typeface="Gill Sans"/>
            </a:endParaRPr>
          </a:p>
        </p:txBody>
      </p:sp>
      <p:sp>
        <p:nvSpPr>
          <p:cNvPr id="9" name="Content Placeholder 2">
            <a:extLst>
              <a:ext uri="{FF2B5EF4-FFF2-40B4-BE49-F238E27FC236}">
                <a16:creationId xmlns:a16="http://schemas.microsoft.com/office/drawing/2014/main" id="{68FB5AB2-1A66-0598-B624-AB0825D55776}"/>
              </a:ext>
            </a:extLst>
          </p:cNvPr>
          <p:cNvSpPr txBox="1">
            <a:spLocks/>
          </p:cNvSpPr>
          <p:nvPr/>
        </p:nvSpPr>
        <p:spPr bwMode="auto">
          <a:xfrm>
            <a:off x="693989" y="3692549"/>
            <a:ext cx="2324322" cy="1919288"/>
          </a:xfrm>
          <a:prstGeom prst="rect">
            <a:avLst/>
          </a:prstGeom>
          <a:no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1050" b="0" i="0" u="sng"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Email</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           jespreetkaur@incorp.asia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 </a:t>
            </a:r>
          </a:p>
        </p:txBody>
      </p:sp>
    </p:spTree>
    <p:extLst>
      <p:ext uri="{BB962C8B-B14F-4D97-AF65-F5344CB8AC3E}">
        <p14:creationId xmlns:p14="http://schemas.microsoft.com/office/powerpoint/2010/main" val="4133356659"/>
      </p:ext>
    </p:extLst>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C9248-506F-BBD2-B4EF-62E0EF83F8AD}"/>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3499979-E350-1193-CEA8-4A72FAAB2257}"/>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C815F15C-6628-463A-5C60-69B7154EC2BD}"/>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07FD35CF-A03D-4BDA-2937-EE104751ED1C}"/>
              </a:ext>
            </a:extLst>
          </p:cNvPr>
          <p:cNvSpPr txBox="1"/>
          <p:nvPr/>
        </p:nvSpPr>
        <p:spPr>
          <a:xfrm>
            <a:off x="605955" y="206524"/>
            <a:ext cx="7826913"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8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Your Service Team </a:t>
            </a:r>
          </a:p>
        </p:txBody>
      </p:sp>
      <p:sp>
        <p:nvSpPr>
          <p:cNvPr id="10" name="Content Placeholder 2">
            <a:extLst>
              <a:ext uri="{FF2B5EF4-FFF2-40B4-BE49-F238E27FC236}">
                <a16:creationId xmlns:a16="http://schemas.microsoft.com/office/drawing/2014/main" id="{068D67C1-559F-6EAE-9237-91FDDBC712A3}"/>
              </a:ext>
            </a:extLst>
          </p:cNvPr>
          <p:cNvSpPr txBox="1">
            <a:spLocks/>
          </p:cNvSpPr>
          <p:nvPr/>
        </p:nvSpPr>
        <p:spPr bwMode="auto">
          <a:xfrm>
            <a:off x="729951" y="3152726"/>
            <a:ext cx="2352675" cy="1919288"/>
          </a:xfrm>
          <a:prstGeom prst="rect">
            <a:avLst/>
          </a:prstGeom>
          <a:noFill/>
          <a:ln w="9525">
            <a:noFill/>
            <a:miter lim="800000"/>
            <a:headEnd/>
            <a:tailEnd/>
          </a:ln>
        </p:spPr>
        <p:txBody>
          <a:bodyPr/>
          <a:lstStyle/>
          <a:p>
            <a:pPr>
              <a:defRPr/>
            </a:pPr>
            <a:r>
              <a:rPr lang="en-US" sz="1050" b="1" dirty="0">
                <a:solidFill>
                  <a:srgbClr val="113663"/>
                </a:solidFill>
                <a:latin typeface="Roboto" panose="02000000000000000000" pitchFamily="2" charset="0"/>
                <a:ea typeface="Roboto" panose="02000000000000000000" pitchFamily="2" charset="0"/>
                <a:cs typeface="Roboto" panose="02000000000000000000" pitchFamily="2" charset="0"/>
              </a:rPr>
              <a:t>Teo Wei Kang</a:t>
            </a:r>
          </a:p>
          <a:p>
            <a:pPr>
              <a:defRPr/>
            </a:pPr>
            <a:r>
              <a:rPr lang="en-US" sz="1050" dirty="0">
                <a:solidFill>
                  <a:srgbClr val="113663"/>
                </a:solidFill>
                <a:latin typeface="Roboto" panose="02000000000000000000" pitchFamily="2" charset="0"/>
                <a:ea typeface="Roboto" panose="02000000000000000000" pitchFamily="2" charset="0"/>
                <a:cs typeface="Roboto" panose="02000000000000000000" pitchFamily="2" charset="0"/>
              </a:rPr>
              <a:t>Assistant Manager</a:t>
            </a:r>
          </a:p>
          <a:p>
            <a:pPr>
              <a:defRPr/>
            </a:pPr>
            <a:endParaRPr lang="en-US" sz="1050" dirty="0">
              <a:solidFill>
                <a:srgbClr val="113663"/>
              </a:solidFill>
              <a:latin typeface="Roboto" panose="02000000000000000000" pitchFamily="2" charset="0"/>
              <a:ea typeface="Roboto" panose="02000000000000000000" pitchFamily="2" charset="0"/>
              <a:cs typeface="Roboto" panose="02000000000000000000" pitchFamily="2" charset="0"/>
            </a:endParaRPr>
          </a:p>
          <a:p>
            <a:pPr>
              <a:defRPr/>
            </a:pP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a:t>
            </a:r>
          </a:p>
        </p:txBody>
      </p:sp>
      <p:sp>
        <p:nvSpPr>
          <p:cNvPr id="13" name="Content Placeholder 2">
            <a:extLst>
              <a:ext uri="{FF2B5EF4-FFF2-40B4-BE49-F238E27FC236}">
                <a16:creationId xmlns:a16="http://schemas.microsoft.com/office/drawing/2014/main" id="{3F1ABF62-64FC-AA43-8ADA-35189A35CB88}"/>
              </a:ext>
            </a:extLst>
          </p:cNvPr>
          <p:cNvSpPr txBox="1">
            <a:spLocks/>
          </p:cNvSpPr>
          <p:nvPr/>
        </p:nvSpPr>
        <p:spPr bwMode="auto">
          <a:xfrm>
            <a:off x="693989" y="3692549"/>
            <a:ext cx="2169791" cy="1919288"/>
          </a:xfrm>
          <a:prstGeom prst="rect">
            <a:avLst/>
          </a:prstGeom>
          <a:noFill/>
          <a:ln w="9525">
            <a:noFill/>
            <a:miter lim="800000"/>
            <a:headEnd/>
            <a:tailEnd/>
          </a:ln>
        </p:spPr>
        <p:txBody>
          <a:bodyPr/>
          <a:lstStyle/>
          <a:p>
            <a:pPr>
              <a:defRPr/>
            </a:pP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a:t>
            </a:r>
            <a:r>
              <a:rPr lang="en-US" sz="1050" u="sng" dirty="0">
                <a:solidFill>
                  <a:prstClr val="black"/>
                </a:solidFill>
                <a:latin typeface="Roboto" panose="02000000000000000000" pitchFamily="2" charset="0"/>
                <a:ea typeface="Roboto" panose="02000000000000000000" pitchFamily="2" charset="0"/>
                <a:cs typeface="Roboto" panose="02000000000000000000" pitchFamily="2" charset="0"/>
              </a:rPr>
              <a:t>Email</a:t>
            </a:r>
          </a:p>
          <a:p>
            <a:pPr>
              <a:lnSpc>
                <a:spcPct val="150000"/>
              </a:lnSpc>
              <a:defRPr/>
            </a:pP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Weikang.teo@incorp.asia</a:t>
            </a:r>
          </a:p>
          <a:p>
            <a:pPr>
              <a:defRPr/>
            </a:pP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a:t>
            </a:r>
          </a:p>
        </p:txBody>
      </p:sp>
      <p:sp>
        <p:nvSpPr>
          <p:cNvPr id="14" name="Shape 2836">
            <a:extLst>
              <a:ext uri="{FF2B5EF4-FFF2-40B4-BE49-F238E27FC236}">
                <a16:creationId xmlns:a16="http://schemas.microsoft.com/office/drawing/2014/main" id="{D5AABD26-7E2D-6C5C-C46A-E0CBA760E889}"/>
              </a:ext>
            </a:extLst>
          </p:cNvPr>
          <p:cNvSpPr>
            <a:spLocks noChangeAspect="1"/>
          </p:cNvSpPr>
          <p:nvPr/>
        </p:nvSpPr>
        <p:spPr>
          <a:xfrm>
            <a:off x="840127" y="3768085"/>
            <a:ext cx="205486" cy="149444"/>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tx1"/>
          </a:solidFill>
          <a:ln w="12700">
            <a:miter lim="400000"/>
          </a:ln>
        </p:spPr>
        <p:txBody>
          <a:bodyPr lIns="6728" tIns="6728" rIns="6728" bIns="6728" anchor="ctr"/>
          <a:lstStyle/>
          <a:p>
            <a:pPr defTabSz="80719">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530" b="1" dirty="0">
              <a:latin typeface="Open Sans Semibold" charset="0"/>
              <a:ea typeface="Open Sans Semibold" charset="0"/>
              <a:cs typeface="Open Sans Semibold" charset="0"/>
            </a:endParaRPr>
          </a:p>
        </p:txBody>
      </p:sp>
      <p:sp>
        <p:nvSpPr>
          <p:cNvPr id="6" name="Content Placeholder 2">
            <a:extLst>
              <a:ext uri="{FF2B5EF4-FFF2-40B4-BE49-F238E27FC236}">
                <a16:creationId xmlns:a16="http://schemas.microsoft.com/office/drawing/2014/main" id="{629C1A3E-DBC7-0CC5-D5ED-D49C9A081804}"/>
              </a:ext>
            </a:extLst>
          </p:cNvPr>
          <p:cNvSpPr txBox="1">
            <a:spLocks/>
          </p:cNvSpPr>
          <p:nvPr/>
        </p:nvSpPr>
        <p:spPr bwMode="auto">
          <a:xfrm>
            <a:off x="3159727" y="1267000"/>
            <a:ext cx="8192146" cy="3805014"/>
          </a:xfrm>
          <a:prstGeom prst="rect">
            <a:avLst/>
          </a:prstGeom>
          <a:noFill/>
          <a:ln w="9525">
            <a:noFill/>
            <a:miter lim="800000"/>
            <a:headEnd/>
            <a:tailEnd/>
          </a:ln>
        </p:spPr>
        <p:txBody>
          <a:bodyPr/>
          <a:lstStyle/>
          <a:p>
            <a:pPr algn="just">
              <a:defRPr/>
            </a:pPr>
            <a:r>
              <a:rPr lang="en-US" sz="1200" b="1" dirty="0">
                <a:solidFill>
                  <a:srgbClr val="BB2121"/>
                </a:solidFill>
                <a:latin typeface="Roboto" panose="02000000000000000000" pitchFamily="2" charset="0"/>
                <a:ea typeface="Roboto" panose="02000000000000000000" pitchFamily="2" charset="0"/>
                <a:cs typeface="Roboto" panose="02000000000000000000" pitchFamily="2" charset="0"/>
              </a:rPr>
              <a:t>Professional Experience</a:t>
            </a:r>
          </a:p>
          <a:p>
            <a:pPr algn="just">
              <a:defRPr/>
            </a:pPr>
            <a:endParaRPr lang="en-US" sz="1050" b="1" dirty="0">
              <a:solidFill>
                <a:srgbClr val="4D1434"/>
              </a:solidFill>
              <a:latin typeface="Roboto" panose="02000000000000000000" pitchFamily="2" charset="0"/>
              <a:ea typeface="Roboto" panose="02000000000000000000" pitchFamily="2" charset="0"/>
              <a:cs typeface="Roboto" panose="02000000000000000000" pitchFamily="2" charset="0"/>
            </a:endParaRPr>
          </a:p>
          <a:p>
            <a:pPr algn="just"/>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Wei Kang has over </a:t>
            </a:r>
            <a:r>
              <a:rPr lang="en-US" sz="1050" b="1" dirty="0">
                <a:solidFill>
                  <a:prstClr val="black"/>
                </a:solidFill>
                <a:latin typeface="Roboto" panose="02000000000000000000" pitchFamily="2" charset="0"/>
                <a:ea typeface="Roboto" panose="02000000000000000000" pitchFamily="2" charset="0"/>
                <a:cs typeface="Roboto" panose="02000000000000000000" pitchFamily="2" charset="0"/>
              </a:rPr>
              <a:t>5 years of experience in the audit profession, with a strong focus on internal audit and risk management</a:t>
            </a: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He has </a:t>
            </a:r>
            <a:r>
              <a:rPr lang="en-US" sz="1050" b="1" dirty="0">
                <a:solidFill>
                  <a:prstClr val="black"/>
                </a:solidFill>
                <a:latin typeface="Roboto" panose="02000000000000000000" pitchFamily="2" charset="0"/>
                <a:ea typeface="Roboto" panose="02000000000000000000" pitchFamily="2" charset="0"/>
                <a:cs typeface="Roboto" panose="02000000000000000000" pitchFamily="2" charset="0"/>
              </a:rPr>
              <a:t>conducted comprehensive internal audits across business units, subsidiaries, and joint ventures—both local and overseas—covering industries such as engineering and construction, property management, manufacturing, professional services, and healthcare</a:t>
            </a: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His work includes evaluating the effectiveness of internal controls, identifying operational and financial risks, and recommending practical solutions to enhance efficiency and mitigate risk.</a:t>
            </a:r>
          </a:p>
          <a:p>
            <a:pPr algn="just"/>
            <a:endParaRPr lang="en-US" sz="1050" dirty="0">
              <a:solidFill>
                <a:prstClr val="black"/>
              </a:solidFill>
              <a:latin typeface="Roboto" panose="02000000000000000000" pitchFamily="2" charset="0"/>
              <a:ea typeface="Roboto" panose="02000000000000000000" pitchFamily="2" charset="0"/>
              <a:cs typeface="Roboto" panose="02000000000000000000" pitchFamily="2" charset="0"/>
            </a:endParaRPr>
          </a:p>
          <a:p>
            <a:pPr algn="just"/>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In addition to his internal audit expertise, Wei Kang has a solid foundation in financial audit through his roles at Big 4 and international accounting firms. He has managed statutory audits for SMEs, MNCs, listed companies, and NGOs across sectors such as retail, investment holding, healthcare, and manufacturing. He also participated in IPO audit engagements under U.S. GAAP, collaborating with U.S. counterparts to ensure audit quality and compliance.</a:t>
            </a:r>
          </a:p>
          <a:p>
            <a:pPr algn="just"/>
            <a:endParaRPr lang="en-US" sz="1050" dirty="0">
              <a:solidFill>
                <a:prstClr val="black"/>
              </a:solidFill>
              <a:latin typeface="Roboto" panose="02000000000000000000" pitchFamily="2" charset="0"/>
              <a:ea typeface="Roboto" panose="02000000000000000000" pitchFamily="2" charset="0"/>
              <a:cs typeface="Roboto" panose="02000000000000000000" pitchFamily="2" charset="0"/>
            </a:endParaRPr>
          </a:p>
          <a:p>
            <a:pPr algn="just"/>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Wei Kang is a </a:t>
            </a:r>
            <a:r>
              <a:rPr lang="en-US" sz="1050" b="1" dirty="0">
                <a:solidFill>
                  <a:prstClr val="black"/>
                </a:solidFill>
                <a:latin typeface="Roboto" panose="02000000000000000000" pitchFamily="2" charset="0"/>
                <a:ea typeface="Roboto" panose="02000000000000000000" pitchFamily="2" charset="0"/>
                <a:cs typeface="Roboto" panose="02000000000000000000" pitchFamily="2" charset="0"/>
              </a:rPr>
              <a:t>Certified Internal Auditor (CIA) </a:t>
            </a: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and holds a </a:t>
            </a:r>
            <a:r>
              <a:rPr lang="en-US" sz="1050" b="1" dirty="0">
                <a:solidFill>
                  <a:prstClr val="black"/>
                </a:solidFill>
                <a:latin typeface="Roboto" panose="02000000000000000000" pitchFamily="2" charset="0"/>
                <a:ea typeface="Roboto" panose="02000000000000000000" pitchFamily="2" charset="0"/>
                <a:cs typeface="Roboto" panose="02000000000000000000" pitchFamily="2" charset="0"/>
              </a:rPr>
              <a:t>cybersecurity certification from ISC²</a:t>
            </a: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His professional strengths include internal audit, risk assessment, regulatory compliance, and cross-border audit coordination.</a:t>
            </a:r>
            <a:endParaRPr lang="en-US" sz="1050" dirty="0">
              <a:latin typeface="Roboto" panose="02000000000000000000" pitchFamily="2" charset="0"/>
              <a:ea typeface="Roboto" panose="02000000000000000000" pitchFamily="2" charset="0"/>
              <a:cs typeface="Roboto" panose="02000000000000000000" pitchFamily="2" charset="0"/>
            </a:endParaRPr>
          </a:p>
          <a:p>
            <a:pPr algn="just" defTabSz="301823" fontAlgn="auto">
              <a:spcBef>
                <a:spcPts val="0"/>
              </a:spcBef>
              <a:spcAft>
                <a:spcPts val="0"/>
              </a:spcAft>
              <a:defRPr/>
            </a:pPr>
            <a:endParaRPr lang="en-US" sz="1050" b="1" dirty="0">
              <a:solidFill>
                <a:srgbClr val="4D1434"/>
              </a:solidFill>
              <a:latin typeface="Roboto" panose="02000000000000000000" pitchFamily="2" charset="0"/>
              <a:ea typeface="Roboto" panose="02000000000000000000" pitchFamily="2" charset="0"/>
              <a:cs typeface="Roboto" panose="02000000000000000000" pitchFamily="2" charset="0"/>
            </a:endParaRPr>
          </a:p>
          <a:p>
            <a:pPr algn="just">
              <a:spcBef>
                <a:spcPts val="263"/>
              </a:spcBef>
              <a:defRPr/>
            </a:pPr>
            <a:r>
              <a:rPr lang="en-US" sz="1200" b="1" dirty="0">
                <a:solidFill>
                  <a:srgbClr val="BB2121"/>
                </a:solidFill>
                <a:latin typeface="Roboto" panose="02000000000000000000" pitchFamily="2" charset="0"/>
                <a:ea typeface="Roboto" panose="02000000000000000000" pitchFamily="2" charset="0"/>
                <a:cs typeface="Roboto" panose="02000000000000000000" pitchFamily="2" charset="0"/>
              </a:rPr>
              <a:t>Qualifications and Professional Memberships</a:t>
            </a:r>
          </a:p>
          <a:p>
            <a:pPr algn="just">
              <a:spcBef>
                <a:spcPts val="263"/>
              </a:spcBef>
              <a:defRPr/>
            </a:pPr>
            <a:endParaRPr lang="en-US" sz="1200" b="1" dirty="0">
              <a:solidFill>
                <a:srgbClr val="BB2121"/>
              </a:solidFill>
              <a:latin typeface="Roboto" panose="02000000000000000000" pitchFamily="2" charset="0"/>
              <a:ea typeface="Roboto" panose="02000000000000000000" pitchFamily="2" charset="0"/>
              <a:cs typeface="Roboto" panose="02000000000000000000" pitchFamily="2" charset="0"/>
            </a:endParaRPr>
          </a:p>
          <a:p>
            <a:pPr marL="112713" lvl="1" indent="-112713">
              <a:spcBef>
                <a:spcPts val="300"/>
              </a:spcBef>
              <a:buClr>
                <a:srgbClr val="4D1434"/>
              </a:buClr>
              <a:buFont typeface="Wingdings" pitchFamily="2" charset="2"/>
              <a:buChar char="§"/>
              <a:defRPr/>
            </a:pPr>
            <a:r>
              <a:rPr lang="en-US" sz="1050" dirty="0">
                <a:solidFill>
                  <a:prstClr val="black"/>
                </a:solidFill>
                <a:latin typeface="Roboto" panose="02000000000000000000" pitchFamily="2" charset="0"/>
                <a:ea typeface="Roboto" panose="02000000000000000000" pitchFamily="2" charset="0"/>
                <a:cs typeface="Arial" pitchFamily="34" charset="0"/>
              </a:rPr>
              <a:t>Certified Internal Auditor (CIA)</a:t>
            </a:r>
          </a:p>
          <a:p>
            <a:pPr marL="112713" lvl="1" indent="-112713">
              <a:spcBef>
                <a:spcPts val="300"/>
              </a:spcBef>
              <a:buClr>
                <a:srgbClr val="4D1434"/>
              </a:buClr>
              <a:buFont typeface="Wingdings" pitchFamily="2" charset="2"/>
              <a:buChar char="§"/>
              <a:defRPr/>
            </a:pPr>
            <a:r>
              <a:rPr lang="en-US" sz="1050" dirty="0">
                <a:solidFill>
                  <a:prstClr val="black"/>
                </a:solidFill>
                <a:latin typeface="Roboto" panose="02000000000000000000" pitchFamily="2" charset="0"/>
                <a:ea typeface="Roboto" panose="02000000000000000000" pitchFamily="2" charset="0"/>
                <a:cs typeface="Arial" pitchFamily="34" charset="0"/>
              </a:rPr>
              <a:t>CC – Certified in Cybersecurity</a:t>
            </a:r>
          </a:p>
          <a:p>
            <a:pPr marL="112713" lvl="1" indent="-112713">
              <a:spcBef>
                <a:spcPts val="300"/>
              </a:spcBef>
              <a:buClr>
                <a:srgbClr val="4D1434"/>
              </a:buClr>
              <a:buFont typeface="Wingdings" pitchFamily="2" charset="2"/>
              <a:buChar char="§"/>
              <a:defRPr/>
            </a:pPr>
            <a:r>
              <a:rPr lang="en-US" sz="1050" dirty="0">
                <a:latin typeface="Roboto" panose="02000000000000000000" pitchFamily="2" charset="0"/>
                <a:ea typeface="Roboto" panose="02000000000000000000" pitchFamily="2" charset="0"/>
                <a:cs typeface="Roboto" panose="02000000000000000000" pitchFamily="2" charset="0"/>
              </a:rPr>
              <a:t>Bachelor of Accounting (Hons)</a:t>
            </a:r>
          </a:p>
          <a:p>
            <a:pPr marL="112713" lvl="1" indent="-112713">
              <a:spcBef>
                <a:spcPts val="300"/>
              </a:spcBef>
              <a:buClr>
                <a:srgbClr val="4D1434"/>
              </a:buClr>
              <a:buFont typeface="Wingdings" pitchFamily="2" charset="2"/>
              <a:buChar char="§"/>
              <a:defRPr/>
            </a:pPr>
            <a:r>
              <a:rPr lang="en-US" sz="1050" dirty="0">
                <a:solidFill>
                  <a:prstClr val="black"/>
                </a:solidFill>
                <a:latin typeface="Roboto" panose="02000000000000000000" pitchFamily="2" charset="0"/>
                <a:ea typeface="Roboto" panose="02000000000000000000" pitchFamily="2" charset="0"/>
              </a:rPr>
              <a:t>Member, The Institute of Internal Auditors Singapore (IIA)</a:t>
            </a:r>
          </a:p>
          <a:p>
            <a:pPr marL="112713" lvl="1" indent="-112713">
              <a:spcBef>
                <a:spcPts val="300"/>
              </a:spcBef>
              <a:buClr>
                <a:srgbClr val="4D1434"/>
              </a:buClr>
              <a:buFont typeface="Wingdings" pitchFamily="2" charset="2"/>
              <a:buChar char="§"/>
              <a:defRPr/>
            </a:pPr>
            <a:endParaRPr lang="en-US" sz="1050" dirty="0">
              <a:solidFill>
                <a:prstClr val="black"/>
              </a:solidFill>
              <a:latin typeface="Roboto" panose="02000000000000000000" pitchFamily="2" charset="0"/>
              <a:ea typeface="Roboto" panose="02000000000000000000" pitchFamily="2" charset="0"/>
              <a:cs typeface="Arial" pitchFamily="34" charset="0"/>
            </a:endParaRPr>
          </a:p>
          <a:p>
            <a:pPr marL="112713" lvl="1" indent="-112713">
              <a:spcBef>
                <a:spcPts val="300"/>
              </a:spcBef>
              <a:buClr>
                <a:srgbClr val="4D1434"/>
              </a:buClr>
              <a:buFont typeface="Wingdings" pitchFamily="2" charset="2"/>
              <a:buChar char="§"/>
              <a:defRPr/>
            </a:pPr>
            <a:endParaRPr lang="en-US" sz="1050" dirty="0">
              <a:latin typeface="Roboto" panose="02000000000000000000" pitchFamily="2" charset="0"/>
              <a:ea typeface="Roboto" panose="02000000000000000000" pitchFamily="2" charset="0"/>
              <a:cs typeface="Roboto" panose="02000000000000000000" pitchFamily="2" charset="0"/>
            </a:endParaRPr>
          </a:p>
          <a:p>
            <a:pPr marL="139303" lvl="1" indent="-139303">
              <a:spcBef>
                <a:spcPts val="263"/>
              </a:spcBef>
              <a:buClr>
                <a:srgbClr val="4D1434"/>
              </a:buClr>
              <a:buFont typeface="Wingdings" pitchFamily="2" charset="2"/>
              <a:buChar char="§"/>
              <a:defRPr/>
            </a:pPr>
            <a:endParaRPr lang="en-US" sz="1050" dirty="0">
              <a:solidFill>
                <a:prstClr val="black"/>
              </a:solidFill>
              <a:latin typeface="Roboto" panose="02000000000000000000" pitchFamily="2" charset="0"/>
              <a:ea typeface="Roboto" panose="02000000000000000000" pitchFamily="2" charset="0"/>
              <a:cs typeface="Roboto" panose="02000000000000000000" pitchFamily="2" charset="0"/>
            </a:endParaRPr>
          </a:p>
        </p:txBody>
      </p:sp>
      <p:pic>
        <p:nvPicPr>
          <p:cNvPr id="7" name="Picture 6" descr="A person in a purple shirt&#10;&#10;AI-generated content may be incorrect.">
            <a:extLst>
              <a:ext uri="{FF2B5EF4-FFF2-40B4-BE49-F238E27FC236}">
                <a16:creationId xmlns:a16="http://schemas.microsoft.com/office/drawing/2014/main" id="{3A6BB817-43CE-271A-CF81-85B95FF2764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977" b="96304" l="1250" r="98250">
                        <a14:foregroundMark x1="6000" y1="89883" x2="24500" y2="81712"/>
                        <a14:foregroundMark x1="24500" y1="81712" x2="78750" y2="87354"/>
                        <a14:foregroundMark x1="78750" y1="87354" x2="43250" y2="93580"/>
                        <a14:foregroundMark x1="43250" y1="93580" x2="17750" y2="92607"/>
                        <a14:foregroundMark x1="17750" y1="92607" x2="48500" y2="84436"/>
                        <a14:foregroundMark x1="48500" y1="84436" x2="83500" y2="85603"/>
                        <a14:foregroundMark x1="83500" y1="85603" x2="92500" y2="87938"/>
                        <a14:foregroundMark x1="17250" y1="78016" x2="4500" y2="84825"/>
                        <a14:foregroundMark x1="7750" y1="79961" x2="17250" y2="98249"/>
                        <a14:foregroundMark x1="17250" y1="98249" x2="57000" y2="97860"/>
                        <a14:foregroundMark x1="57000" y1="97860" x2="81750" y2="97860"/>
                        <a14:foregroundMark x1="81750" y1="97860" x2="95250" y2="84825"/>
                        <a14:foregroundMark x1="95250" y1="84825" x2="92500" y2="82490"/>
                        <a14:foregroundMark x1="7250" y1="95331" x2="49250" y2="97860"/>
                        <a14:foregroundMark x1="49250" y1="97860" x2="97250" y2="95136"/>
                        <a14:foregroundMark x1="97250" y1="95136" x2="98250" y2="87354"/>
                        <a14:foregroundMark x1="1250" y1="87549" x2="3250" y2="96498"/>
                        <a14:foregroundMark x1="34750" y1="11868" x2="57000" y2="7977"/>
                        <a14:foregroundMark x1="57000" y1="7977" x2="75000" y2="13230"/>
                        <a14:foregroundMark x1="75000" y1="13230" x2="77250" y2="15759"/>
                        <a14:foregroundMark x1="61250" y1="8366" x2="78500" y2="17510"/>
                        <a14:foregroundMark x1="78500" y1="17510" x2="78500" y2="19261"/>
                        <a14:foregroundMark x1="63250" y1="8949" x2="79250" y2="17704"/>
                        <a14:foregroundMark x1="79250" y1="17704" x2="79250" y2="19261"/>
                        <a14:backgroundMark x1="79250" y1="19261" x2="79250" y2="25486"/>
                        <a14:backgroundMark x1="79250" y1="19455" x2="79250" y2="17315"/>
                      </a14:backgroundRemoval>
                    </a14:imgEffect>
                  </a14:imgLayer>
                </a14:imgProps>
              </a:ext>
              <a:ext uri="{28A0092B-C50C-407E-A947-70E740481C1C}">
                <a14:useLocalDpi xmlns:a14="http://schemas.microsoft.com/office/drawing/2010/main" val="0"/>
              </a:ext>
            </a:extLst>
          </a:blip>
          <a:srcRect l="-13434" r="-15081" b="2471"/>
          <a:stretch>
            <a:fillRect/>
          </a:stretch>
        </p:blipFill>
        <p:spPr>
          <a:xfrm>
            <a:off x="693989" y="1283575"/>
            <a:ext cx="1570404" cy="1531453"/>
          </a:xfrm>
          <a:prstGeom prst="ellipse">
            <a:avLst/>
          </a:prstGeom>
          <a:solidFill>
            <a:srgbClr val="C3D4DE"/>
          </a:solidFill>
          <a:ln w="63500" cap="rnd">
            <a:noFill/>
          </a:ln>
          <a:effectLst/>
        </p:spPr>
      </p:pic>
    </p:spTree>
    <p:extLst>
      <p:ext uri="{BB962C8B-B14F-4D97-AF65-F5344CB8AC3E}">
        <p14:creationId xmlns:p14="http://schemas.microsoft.com/office/powerpoint/2010/main" val="1141459277"/>
      </p:ext>
    </p:extLst>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F9ACF930-6165-D8A9-75E0-E45B7E490676}"/>
              </a:ext>
            </a:extLst>
          </p:cNvPr>
          <p:cNvSpPr txBox="1"/>
          <p:nvPr/>
        </p:nvSpPr>
        <p:spPr>
          <a:xfrm>
            <a:off x="605955" y="206524"/>
            <a:ext cx="7826913" cy="505462"/>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Your Service Team </a:t>
            </a:r>
          </a:p>
        </p:txBody>
      </p:sp>
      <p:sp>
        <p:nvSpPr>
          <p:cNvPr id="10" name="Content Placeholder 2">
            <a:extLst>
              <a:ext uri="{FF2B5EF4-FFF2-40B4-BE49-F238E27FC236}">
                <a16:creationId xmlns:a16="http://schemas.microsoft.com/office/drawing/2014/main" id="{A4FE9478-7D07-68F6-4518-530DBB14B684}"/>
              </a:ext>
            </a:extLst>
          </p:cNvPr>
          <p:cNvSpPr txBox="1">
            <a:spLocks/>
          </p:cNvSpPr>
          <p:nvPr/>
        </p:nvSpPr>
        <p:spPr bwMode="auto">
          <a:xfrm>
            <a:off x="729951" y="3152726"/>
            <a:ext cx="2352675" cy="1919288"/>
          </a:xfrm>
          <a:prstGeom prst="rect">
            <a:avLst/>
          </a:prstGeom>
          <a:noFill/>
          <a:ln w="9525">
            <a:noFill/>
            <a:miter lim="800000"/>
            <a:headEnd/>
            <a:tailEnd/>
          </a:ln>
        </p:spPr>
        <p:txBody>
          <a:bodyPr/>
          <a:lstStyle/>
          <a:p>
            <a:pPr>
              <a:defRPr/>
            </a:pPr>
            <a:r>
              <a:rPr lang="en-US" sz="1050" b="1" dirty="0">
                <a:solidFill>
                  <a:srgbClr val="113663"/>
                </a:solidFill>
                <a:latin typeface="Roboto" panose="02000000000000000000" pitchFamily="2" charset="0"/>
                <a:ea typeface="Roboto" panose="02000000000000000000" pitchFamily="2" charset="0"/>
                <a:cs typeface="Roboto" panose="02000000000000000000" pitchFamily="2" charset="0"/>
              </a:rPr>
              <a:t>James Yeo</a:t>
            </a:r>
          </a:p>
          <a:p>
            <a:pPr>
              <a:defRPr/>
            </a:pPr>
            <a:r>
              <a:rPr lang="en-US" sz="1050" dirty="0">
                <a:latin typeface="Roboto" panose="02000000000000000000" pitchFamily="2" charset="0"/>
                <a:ea typeface="Roboto" panose="02000000000000000000" pitchFamily="2" charset="0"/>
                <a:cs typeface="Roboto" panose="02000000000000000000" pitchFamily="2" charset="0"/>
              </a:rPr>
              <a:t>Assistant Manager  </a:t>
            </a:r>
          </a:p>
        </p:txBody>
      </p:sp>
      <p:sp>
        <p:nvSpPr>
          <p:cNvPr id="13" name="Content Placeholder 2">
            <a:extLst>
              <a:ext uri="{FF2B5EF4-FFF2-40B4-BE49-F238E27FC236}">
                <a16:creationId xmlns:a16="http://schemas.microsoft.com/office/drawing/2014/main" id="{8064A912-444F-2955-FFE4-F7FF24470D79}"/>
              </a:ext>
            </a:extLst>
          </p:cNvPr>
          <p:cNvSpPr txBox="1">
            <a:spLocks/>
          </p:cNvSpPr>
          <p:nvPr/>
        </p:nvSpPr>
        <p:spPr bwMode="auto">
          <a:xfrm>
            <a:off x="693989" y="3692549"/>
            <a:ext cx="2169791" cy="1919288"/>
          </a:xfrm>
          <a:prstGeom prst="rect">
            <a:avLst/>
          </a:prstGeom>
          <a:noFill/>
          <a:ln w="9525">
            <a:noFill/>
            <a:miter lim="800000"/>
            <a:headEnd/>
            <a:tailEnd/>
          </a:ln>
        </p:spPr>
        <p:txBody>
          <a:bodyPr/>
          <a:lstStyle/>
          <a:p>
            <a:pPr>
              <a:defRPr/>
            </a:pP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a:t>
            </a:r>
            <a:r>
              <a:rPr lang="en-US" sz="1050" u="sng" dirty="0">
                <a:solidFill>
                  <a:prstClr val="black"/>
                </a:solidFill>
                <a:latin typeface="Roboto" panose="02000000000000000000" pitchFamily="2" charset="0"/>
                <a:ea typeface="Roboto" panose="02000000000000000000" pitchFamily="2" charset="0"/>
                <a:cs typeface="Roboto" panose="02000000000000000000" pitchFamily="2" charset="0"/>
              </a:rPr>
              <a:t>Email</a:t>
            </a:r>
          </a:p>
          <a:p>
            <a:pPr>
              <a:lnSpc>
                <a:spcPct val="150000"/>
              </a:lnSpc>
              <a:defRPr/>
            </a:pP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jamesyeo@incorp.asia</a:t>
            </a:r>
          </a:p>
          <a:p>
            <a:pPr>
              <a:defRPr/>
            </a:pP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a:t>
            </a:r>
          </a:p>
        </p:txBody>
      </p:sp>
      <p:sp>
        <p:nvSpPr>
          <p:cNvPr id="14" name="Shape 2836">
            <a:extLst>
              <a:ext uri="{FF2B5EF4-FFF2-40B4-BE49-F238E27FC236}">
                <a16:creationId xmlns:a16="http://schemas.microsoft.com/office/drawing/2014/main" id="{01825073-3949-F04E-1256-DB80E7BEC2D0}"/>
              </a:ext>
            </a:extLst>
          </p:cNvPr>
          <p:cNvSpPr>
            <a:spLocks noChangeAspect="1"/>
          </p:cNvSpPr>
          <p:nvPr/>
        </p:nvSpPr>
        <p:spPr>
          <a:xfrm>
            <a:off x="840127" y="3768085"/>
            <a:ext cx="205486" cy="149444"/>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tx1"/>
          </a:solidFill>
          <a:ln w="12700">
            <a:miter lim="400000"/>
          </a:ln>
        </p:spPr>
        <p:txBody>
          <a:bodyPr lIns="6728" tIns="6728" rIns="6728" bIns="6728" anchor="ctr"/>
          <a:lstStyle/>
          <a:p>
            <a:pPr defTabSz="80719">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530" b="1" dirty="0">
              <a:latin typeface="Open Sans Semibold" charset="0"/>
              <a:ea typeface="Open Sans Semibold" charset="0"/>
              <a:cs typeface="Open Sans Semibold" charset="0"/>
            </a:endParaRPr>
          </a:p>
        </p:txBody>
      </p:sp>
      <p:sp>
        <p:nvSpPr>
          <p:cNvPr id="2" name="Content Placeholder 2">
            <a:extLst>
              <a:ext uri="{FF2B5EF4-FFF2-40B4-BE49-F238E27FC236}">
                <a16:creationId xmlns:a16="http://schemas.microsoft.com/office/drawing/2014/main" id="{7E8E0C11-802A-DDF1-2CB7-64D68E2C9D91}"/>
              </a:ext>
            </a:extLst>
          </p:cNvPr>
          <p:cNvSpPr txBox="1">
            <a:spLocks/>
          </p:cNvSpPr>
          <p:nvPr/>
        </p:nvSpPr>
        <p:spPr bwMode="auto">
          <a:xfrm>
            <a:off x="3159727" y="1267000"/>
            <a:ext cx="8192146" cy="4087425"/>
          </a:xfrm>
          <a:prstGeom prst="rect">
            <a:avLst/>
          </a:prstGeom>
          <a:noFill/>
          <a:ln w="9525">
            <a:noFill/>
            <a:miter lim="800000"/>
            <a:headEnd/>
            <a:tailEnd/>
          </a:ln>
        </p:spPr>
        <p:txBody>
          <a:bodyPr/>
          <a:lstStyle/>
          <a:p>
            <a:pPr algn="just">
              <a:defRPr/>
            </a:pPr>
            <a:r>
              <a:rPr lang="en-US" sz="1200" b="1" dirty="0">
                <a:solidFill>
                  <a:srgbClr val="BB2121"/>
                </a:solidFill>
                <a:latin typeface="Roboto" panose="02000000000000000000" pitchFamily="2" charset="0"/>
                <a:ea typeface="Roboto" panose="02000000000000000000" pitchFamily="2" charset="0"/>
                <a:cs typeface="Roboto" panose="02000000000000000000" pitchFamily="2" charset="0"/>
              </a:rPr>
              <a:t>Professional Experience</a:t>
            </a:r>
          </a:p>
          <a:p>
            <a:pPr algn="just">
              <a:defRPr/>
            </a:pPr>
            <a:endParaRPr lang="en-US" sz="1200" b="1" dirty="0">
              <a:solidFill>
                <a:srgbClr val="BB2121"/>
              </a:solidFill>
              <a:latin typeface="Roboto" panose="02000000000000000000" pitchFamily="2" charset="0"/>
              <a:ea typeface="Roboto" panose="02000000000000000000" pitchFamily="2" charset="0"/>
              <a:cs typeface="Roboto" panose="02000000000000000000" pitchFamily="2" charset="0"/>
            </a:endParaRPr>
          </a:p>
          <a:p>
            <a:pPr algn="just">
              <a:spcBef>
                <a:spcPts val="0"/>
              </a:spcBef>
            </a:pPr>
            <a:r>
              <a:rPr lang="en-US" sz="1050" dirty="0">
                <a:solidFill>
                  <a:srgbClr val="000000"/>
                </a:solidFill>
                <a:latin typeface="Roboto"/>
                <a:ea typeface="Roboto"/>
                <a:cs typeface="Roboto"/>
              </a:rPr>
              <a:t>James has </a:t>
            </a:r>
            <a:r>
              <a:rPr lang="en-US" sz="1050" b="1" dirty="0">
                <a:solidFill>
                  <a:srgbClr val="000000"/>
                </a:solidFill>
                <a:latin typeface="Roboto"/>
                <a:ea typeface="Roboto"/>
                <a:cs typeface="Roboto"/>
              </a:rPr>
              <a:t>4 years of experience as a data protection professional</a:t>
            </a:r>
            <a:r>
              <a:rPr lang="en-US" sz="1050" dirty="0">
                <a:solidFill>
                  <a:srgbClr val="000000"/>
                </a:solidFill>
                <a:latin typeface="Roboto"/>
                <a:ea typeface="Roboto"/>
                <a:cs typeface="Roboto"/>
              </a:rPr>
              <a:t>, including </a:t>
            </a:r>
            <a:r>
              <a:rPr lang="en-US" sz="1050" b="1" dirty="0">
                <a:solidFill>
                  <a:srgbClr val="000000"/>
                </a:solidFill>
                <a:latin typeface="Roboto"/>
                <a:ea typeface="Roboto"/>
                <a:cs typeface="Roboto"/>
              </a:rPr>
              <a:t>more than 2 years specializing in IT governance, information security, and business continuity management</a:t>
            </a:r>
            <a:r>
              <a:rPr lang="en-US" sz="1050" dirty="0">
                <a:solidFill>
                  <a:srgbClr val="000000"/>
                </a:solidFill>
                <a:latin typeface="Roboto"/>
                <a:ea typeface="Roboto"/>
                <a:cs typeface="Roboto"/>
              </a:rPr>
              <a:t>. James's expertise extends to designing and implementing Privacy Information Management System (PIMS) and Information Security Management System (ISMS) frameworks to fortify data protection measures and effectively mitigate cybersecurity and data privacy risks.</a:t>
            </a:r>
            <a:endParaRPr lang="en-US" sz="900" dirty="0"/>
          </a:p>
          <a:p>
            <a:pPr algn="just">
              <a:spcBef>
                <a:spcPts val="0"/>
              </a:spcBef>
            </a:pPr>
            <a:endParaRPr lang="en-US" sz="1050" dirty="0">
              <a:solidFill>
                <a:srgbClr val="000000"/>
              </a:solidFill>
              <a:latin typeface="Roboto"/>
              <a:ea typeface="Roboto"/>
              <a:cs typeface="Roboto"/>
            </a:endParaRPr>
          </a:p>
          <a:p>
            <a:pPr algn="just">
              <a:spcBef>
                <a:spcPts val="0"/>
              </a:spcBef>
            </a:pPr>
            <a:r>
              <a:rPr lang="en-US" sz="1050" dirty="0">
                <a:solidFill>
                  <a:srgbClr val="000000"/>
                </a:solidFill>
                <a:latin typeface="Roboto"/>
                <a:ea typeface="Roboto"/>
                <a:cs typeface="Roboto"/>
              </a:rPr>
              <a:t>In his previous role as Deputy Data Protection Officer for a Singapore-based organization with operations in Malaysia, Indonesia, and Vietnam, James was pivotal in developing and </a:t>
            </a:r>
            <a:r>
              <a:rPr lang="en-US" sz="1050" b="1" dirty="0">
                <a:solidFill>
                  <a:srgbClr val="000000"/>
                </a:solidFill>
                <a:latin typeface="Roboto"/>
                <a:ea typeface="Roboto"/>
                <a:cs typeface="Roboto"/>
              </a:rPr>
              <a:t>implementing a comprehensive ISMS compliant with ISO/IEC 27001:2013 standards</a:t>
            </a:r>
            <a:r>
              <a:rPr lang="en-US" sz="1050" dirty="0">
                <a:solidFill>
                  <a:srgbClr val="000000"/>
                </a:solidFill>
                <a:latin typeface="Roboto"/>
                <a:ea typeface="Roboto"/>
                <a:cs typeface="Roboto"/>
              </a:rPr>
              <a:t>. He managed key areas such as risk management, incident response, and business continuity. His contributions significantly enhanced the organization’s IT security posture and operational resilience.</a:t>
            </a:r>
          </a:p>
          <a:p>
            <a:pPr algn="just">
              <a:spcBef>
                <a:spcPts val="0"/>
              </a:spcBef>
            </a:pPr>
            <a:endParaRPr lang="en-US" sz="1050" dirty="0">
              <a:solidFill>
                <a:srgbClr val="000000"/>
              </a:solidFill>
              <a:latin typeface="Roboto"/>
              <a:ea typeface="Roboto"/>
              <a:cs typeface="Roboto"/>
            </a:endParaRPr>
          </a:p>
          <a:p>
            <a:pPr algn="just"/>
            <a:r>
              <a:rPr lang="en-US" sz="1050" dirty="0">
                <a:solidFill>
                  <a:schemeClr val="dk1"/>
                </a:solidFill>
                <a:latin typeface="Roboto" panose="02000000000000000000" pitchFamily="2" charset="0"/>
                <a:ea typeface="Roboto" panose="02000000000000000000" pitchFamily="2" charset="0"/>
                <a:cs typeface="Roboto" panose="02000000000000000000" pitchFamily="2" charset="0"/>
              </a:rPr>
              <a:t>He has also been involved in public sector internal audits such as MUIS. </a:t>
            </a:r>
            <a:r>
              <a:rPr lang="en-US" sz="1050" dirty="0">
                <a:solidFill>
                  <a:srgbClr val="000000"/>
                </a:solidFill>
                <a:latin typeface="Roboto"/>
                <a:ea typeface="Roboto"/>
                <a:cs typeface="Roboto"/>
              </a:rPr>
              <a:t>James </a:t>
            </a:r>
            <a:r>
              <a:rPr lang="en-US" sz="1050" dirty="0">
                <a:solidFill>
                  <a:schemeClr val="dk1"/>
                </a:solidFill>
                <a:latin typeface="Roboto" panose="02000000000000000000" pitchFamily="2" charset="0"/>
                <a:ea typeface="Roboto" panose="02000000000000000000" pitchFamily="2" charset="0"/>
                <a:cs typeface="Roboto" panose="02000000000000000000" pitchFamily="2" charset="0"/>
              </a:rPr>
              <a:t>is also involved in internal audits for Charities and Institutions of Public Character like Sree Narayana Mission and Public Listed Companies like Old Marco Polo Marine Limited and Dyna-Mac Holdings Ltd.</a:t>
            </a:r>
          </a:p>
          <a:p>
            <a:pPr algn="just">
              <a:spcBef>
                <a:spcPts val="0"/>
              </a:spcBef>
            </a:pPr>
            <a:endParaRPr lang="en-US" sz="1050" dirty="0">
              <a:solidFill>
                <a:srgbClr val="000000"/>
              </a:solidFill>
              <a:latin typeface="Roboto"/>
              <a:ea typeface="Roboto"/>
              <a:cs typeface="Roboto"/>
            </a:endParaRPr>
          </a:p>
          <a:p>
            <a:pPr algn="just">
              <a:spcBef>
                <a:spcPts val="263"/>
              </a:spcBef>
              <a:defRPr/>
            </a:pPr>
            <a:r>
              <a:rPr lang="en-US" sz="1200" b="1" dirty="0">
                <a:solidFill>
                  <a:srgbClr val="BB2121"/>
                </a:solidFill>
                <a:latin typeface="Roboto" panose="02000000000000000000" pitchFamily="2" charset="0"/>
                <a:ea typeface="Roboto" panose="02000000000000000000" pitchFamily="2" charset="0"/>
                <a:cs typeface="Roboto" panose="02000000000000000000" pitchFamily="2" charset="0"/>
              </a:rPr>
              <a:t>Qualifications and Professional Memberships</a:t>
            </a:r>
          </a:p>
          <a:p>
            <a:pPr algn="just">
              <a:spcBef>
                <a:spcPts val="263"/>
              </a:spcBef>
              <a:defRPr/>
            </a:pPr>
            <a:endParaRPr lang="en-US" sz="1200" b="1" dirty="0">
              <a:solidFill>
                <a:srgbClr val="BB2121"/>
              </a:solidFill>
              <a:latin typeface="Roboto" panose="02000000000000000000" pitchFamily="2" charset="0"/>
              <a:ea typeface="Roboto" panose="02000000000000000000" pitchFamily="2" charset="0"/>
              <a:cs typeface="Roboto" panose="02000000000000000000" pitchFamily="2" charset="0"/>
            </a:endParaRPr>
          </a:p>
          <a:p>
            <a:pPr marL="139303" lvl="1" indent="-139303">
              <a:spcBef>
                <a:spcPts val="263"/>
              </a:spcBef>
              <a:buClr>
                <a:srgbClr val="4D1434"/>
              </a:buClr>
              <a:buFont typeface="Wingdings" pitchFamily="2" charset="2"/>
              <a:buChar char="§"/>
              <a:defRPr/>
            </a:pPr>
            <a:r>
              <a:rPr lang="en-US" sz="1050" b="1" dirty="0">
                <a:solidFill>
                  <a:prstClr val="black"/>
                </a:solidFill>
                <a:latin typeface="Roboto" panose="02000000000000000000" pitchFamily="2" charset="0"/>
                <a:ea typeface="Roboto" panose="02000000000000000000" pitchFamily="2" charset="0"/>
                <a:cs typeface="Roboto" panose="02000000000000000000" pitchFamily="2" charset="0"/>
              </a:rPr>
              <a:t>CC – Certified in Cybersecurity</a:t>
            </a:r>
          </a:p>
          <a:p>
            <a:pPr marL="139303" lvl="1" indent="-139303">
              <a:spcBef>
                <a:spcPts val="263"/>
              </a:spcBef>
              <a:buClr>
                <a:srgbClr val="4D1434"/>
              </a:buClr>
              <a:buFont typeface="Wingdings" pitchFamily="2" charset="2"/>
              <a:buChar char="§"/>
              <a:defRPr/>
            </a:pP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Diploma in Business IT (Temasek Polytechnic)</a:t>
            </a:r>
          </a:p>
          <a:p>
            <a:pPr marL="139303" lvl="1" indent="-139303">
              <a:spcBef>
                <a:spcPts val="263"/>
              </a:spcBef>
              <a:buClr>
                <a:srgbClr val="4D1434"/>
              </a:buClr>
              <a:buFont typeface="Wingdings" pitchFamily="2" charset="2"/>
              <a:buChar char="§"/>
              <a:defRPr/>
            </a:pPr>
            <a:r>
              <a:rPr lang="en-US" sz="1050" dirty="0">
                <a:latin typeface="Roboto" panose="02000000000000000000" pitchFamily="2" charset="0"/>
                <a:ea typeface="Roboto" panose="02000000000000000000" pitchFamily="2" charset="0"/>
                <a:cs typeface="Roboto" panose="02000000000000000000" pitchFamily="2" charset="0"/>
              </a:rPr>
              <a:t>ISO/IEC 27701 Provisional Implementer (PECB)</a:t>
            </a:r>
          </a:p>
          <a:p>
            <a:pPr marL="139303" lvl="1" indent="-139303">
              <a:spcBef>
                <a:spcPts val="263"/>
              </a:spcBef>
              <a:buClr>
                <a:srgbClr val="4D1434"/>
              </a:buClr>
              <a:buFont typeface="Wingdings" pitchFamily="2" charset="2"/>
              <a:buChar char="§"/>
              <a:defRPr/>
            </a:pPr>
            <a:r>
              <a:rPr lang="en-US" sz="1050" dirty="0">
                <a:latin typeface="Roboto" panose="02000000000000000000" pitchFamily="2" charset="0"/>
                <a:ea typeface="Roboto" panose="02000000000000000000" pitchFamily="2" charset="0"/>
                <a:cs typeface="Roboto" panose="02000000000000000000" pitchFamily="2" charset="0"/>
              </a:rPr>
              <a:t>Advanced Certificate in Data Protection Principles </a:t>
            </a: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sym typeface="Wingdings 2"/>
              </a:rPr>
              <a:t>(Singapore Management University)</a:t>
            </a:r>
            <a:endParaRPr lang="en-US" sz="1050" dirty="0">
              <a:solidFill>
                <a:prstClr val="black"/>
              </a:solidFill>
              <a:latin typeface="Roboto" panose="02000000000000000000" pitchFamily="2" charset="0"/>
              <a:ea typeface="Roboto" panose="02000000000000000000" pitchFamily="2" charset="0"/>
              <a:cs typeface="Roboto" panose="02000000000000000000" pitchFamily="2" charset="0"/>
            </a:endParaRPr>
          </a:p>
          <a:p>
            <a:pPr marL="0" lvl="1">
              <a:spcBef>
                <a:spcPts val="263"/>
              </a:spcBef>
              <a:buClr>
                <a:srgbClr val="4D1434"/>
              </a:buClr>
              <a:defRPr/>
            </a:pPr>
            <a:endParaRPr lang="en-US" sz="1050" dirty="0">
              <a:solidFill>
                <a:prstClr val="black"/>
              </a:solidFill>
              <a:latin typeface="Roboto" panose="02000000000000000000" pitchFamily="2" charset="0"/>
              <a:ea typeface="Roboto" panose="02000000000000000000" pitchFamily="2" charset="0"/>
              <a:cs typeface="Roboto" panose="02000000000000000000" pitchFamily="2" charset="0"/>
            </a:endParaRPr>
          </a:p>
          <a:p>
            <a:pPr marL="0" lvl="1">
              <a:spcBef>
                <a:spcPts val="263"/>
              </a:spcBef>
              <a:buClr>
                <a:srgbClr val="4D1434"/>
              </a:buClr>
              <a:defRPr/>
            </a:pPr>
            <a:endParaRPr lang="en-US" sz="1050" dirty="0">
              <a:solidFill>
                <a:prstClr val="black"/>
              </a:solidFill>
              <a:latin typeface="Roboto" panose="02000000000000000000" pitchFamily="2" charset="0"/>
              <a:ea typeface="Roboto" panose="02000000000000000000" pitchFamily="2" charset="0"/>
              <a:cs typeface="Roboto" panose="02000000000000000000" pitchFamily="2" charset="0"/>
              <a:sym typeface="Wingdings 2"/>
            </a:endParaRPr>
          </a:p>
        </p:txBody>
      </p:sp>
      <p:pic>
        <p:nvPicPr>
          <p:cNvPr id="6" name="Picture 5">
            <a:extLst>
              <a:ext uri="{FF2B5EF4-FFF2-40B4-BE49-F238E27FC236}">
                <a16:creationId xmlns:a16="http://schemas.microsoft.com/office/drawing/2014/main" id="{9B210390-66AD-066C-7D1C-F6FDD3983D7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93989" y="1435319"/>
            <a:ext cx="1529999" cy="1529999"/>
          </a:xfrm>
          <a:prstGeom prst="rect">
            <a:avLst/>
          </a:prstGeom>
        </p:spPr>
      </p:pic>
    </p:spTree>
    <p:extLst>
      <p:ext uri="{BB962C8B-B14F-4D97-AF65-F5344CB8AC3E}">
        <p14:creationId xmlns:p14="http://schemas.microsoft.com/office/powerpoint/2010/main" val="3334238386"/>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72522-60FC-29FA-92D0-14FCE5D71C03}"/>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21EDF8E-56B2-4782-8FF8-3862ECD362EE}"/>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EA0FE87-5170-B8EF-686B-2EFAE1015164}"/>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1874A982-F9F4-9F4C-E8A9-D3F997738F65}"/>
              </a:ext>
            </a:extLst>
          </p:cNvPr>
          <p:cNvSpPr txBox="1"/>
          <p:nvPr/>
        </p:nvSpPr>
        <p:spPr>
          <a:xfrm>
            <a:off x="605955" y="206524"/>
            <a:ext cx="7826913" cy="505462"/>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Your Service Team </a:t>
            </a:r>
          </a:p>
        </p:txBody>
      </p:sp>
      <p:pic>
        <p:nvPicPr>
          <p:cNvPr id="2" name="Picture 1">
            <a:extLst>
              <a:ext uri="{FF2B5EF4-FFF2-40B4-BE49-F238E27FC236}">
                <a16:creationId xmlns:a16="http://schemas.microsoft.com/office/drawing/2014/main" id="{7F5C5EA9-A395-29FB-F8A5-98D42EF65A0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9846" l="3500" r="90000">
                        <a14:foregroundMark x1="14333" y1="93077" x2="77333" y2="77077"/>
                        <a14:foregroundMark x1="10000" y1="97846" x2="46167" y2="94769"/>
                        <a14:foregroundMark x1="46167" y1="94769" x2="83167" y2="95846"/>
                        <a14:foregroundMark x1="84000" y1="97846" x2="87500" y2="99077"/>
                        <a14:foregroundMark x1="3500" y1="99846" x2="11500" y2="93846"/>
                        <a14:foregroundMark x1="46167" y1="16923" x2="60000" y2="10769"/>
                      </a14:backgroundRemoval>
                    </a14:imgEffect>
                  </a14:imgLayer>
                </a14:imgProps>
              </a:ext>
              <a:ext uri="{28A0092B-C50C-407E-A947-70E740481C1C}">
                <a14:useLocalDpi xmlns:a14="http://schemas.microsoft.com/office/drawing/2010/main" val="0"/>
              </a:ext>
            </a:extLst>
          </a:blip>
          <a:srcRect/>
          <a:stretch/>
        </p:blipFill>
        <p:spPr>
          <a:xfrm>
            <a:off x="775172" y="1246163"/>
            <a:ext cx="1434091" cy="1553599"/>
          </a:xfrm>
          <a:prstGeom prst="ellipse">
            <a:avLst/>
          </a:prstGeom>
          <a:solidFill>
            <a:srgbClr val="C4CCD9"/>
          </a:solidFill>
        </p:spPr>
      </p:pic>
      <p:sp>
        <p:nvSpPr>
          <p:cNvPr id="6" name="Content Placeholder 2">
            <a:extLst>
              <a:ext uri="{FF2B5EF4-FFF2-40B4-BE49-F238E27FC236}">
                <a16:creationId xmlns:a16="http://schemas.microsoft.com/office/drawing/2014/main" id="{0D5212B5-AB6D-C2BE-3001-71241F9B8E8B}"/>
              </a:ext>
            </a:extLst>
          </p:cNvPr>
          <p:cNvSpPr txBox="1">
            <a:spLocks/>
          </p:cNvSpPr>
          <p:nvPr/>
        </p:nvSpPr>
        <p:spPr bwMode="auto">
          <a:xfrm>
            <a:off x="729951" y="3152726"/>
            <a:ext cx="2352675" cy="1919288"/>
          </a:xfrm>
          <a:prstGeom prst="rect">
            <a:avLst/>
          </a:prstGeom>
          <a:noFill/>
          <a:ln w="9525">
            <a:noFill/>
            <a:miter lim="800000"/>
            <a:headEnd/>
            <a:tailEnd/>
          </a:ln>
        </p:spPr>
        <p:txBody>
          <a:bodyPr/>
          <a:lstStyle/>
          <a:p>
            <a:pPr>
              <a:defRPr/>
            </a:pPr>
            <a:r>
              <a:rPr lang="en-US" sz="1050" b="1" dirty="0">
                <a:solidFill>
                  <a:srgbClr val="113663"/>
                </a:solidFill>
                <a:latin typeface="Roboto" panose="02000000000000000000" pitchFamily="2" charset="0"/>
                <a:ea typeface="Roboto" panose="02000000000000000000" pitchFamily="2" charset="0"/>
                <a:cs typeface="Roboto" panose="02000000000000000000" pitchFamily="2" charset="0"/>
              </a:rPr>
              <a:t>Calvin Wong</a:t>
            </a:r>
          </a:p>
          <a:p>
            <a:pPr>
              <a:defRPr/>
            </a:pPr>
            <a:r>
              <a:rPr lang="en-US" sz="1050" dirty="0">
                <a:latin typeface="Roboto" panose="02000000000000000000" pitchFamily="2" charset="0"/>
                <a:ea typeface="Roboto" panose="02000000000000000000" pitchFamily="2" charset="0"/>
                <a:cs typeface="Roboto" panose="02000000000000000000" pitchFamily="2" charset="0"/>
              </a:rPr>
              <a:t>Assistant Manager</a:t>
            </a:r>
          </a:p>
          <a:p>
            <a:pPr>
              <a:defRPr/>
            </a:pPr>
            <a:endParaRPr lang="en-US" sz="1050" dirty="0">
              <a:solidFill>
                <a:srgbClr val="113663"/>
              </a:solidFill>
              <a:latin typeface="Roboto" panose="02000000000000000000" pitchFamily="2" charset="0"/>
              <a:ea typeface="Roboto" panose="02000000000000000000" pitchFamily="2" charset="0"/>
              <a:cs typeface="Roboto" panose="02000000000000000000" pitchFamily="2" charset="0"/>
            </a:endParaRPr>
          </a:p>
          <a:p>
            <a:pPr>
              <a:defRPr/>
            </a:pP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a:t>
            </a:r>
          </a:p>
        </p:txBody>
      </p:sp>
      <p:sp>
        <p:nvSpPr>
          <p:cNvPr id="7" name="Content Placeholder 2">
            <a:extLst>
              <a:ext uri="{FF2B5EF4-FFF2-40B4-BE49-F238E27FC236}">
                <a16:creationId xmlns:a16="http://schemas.microsoft.com/office/drawing/2014/main" id="{3BEB2AFD-23EF-7281-C402-38A9C254D973}"/>
              </a:ext>
            </a:extLst>
          </p:cNvPr>
          <p:cNvSpPr txBox="1">
            <a:spLocks/>
          </p:cNvSpPr>
          <p:nvPr/>
        </p:nvSpPr>
        <p:spPr bwMode="auto">
          <a:xfrm>
            <a:off x="3159727" y="1267000"/>
            <a:ext cx="8192146" cy="3805014"/>
          </a:xfrm>
          <a:prstGeom prst="rect">
            <a:avLst/>
          </a:prstGeom>
          <a:noFill/>
          <a:ln w="9525">
            <a:noFill/>
            <a:miter lim="800000"/>
            <a:headEnd/>
            <a:tailEnd/>
          </a:ln>
        </p:spPr>
        <p:txBody>
          <a:bodyPr/>
          <a:lstStyle/>
          <a:p>
            <a:pPr algn="just">
              <a:defRPr/>
            </a:pPr>
            <a:r>
              <a:rPr lang="en-US" sz="1200" b="1" dirty="0">
                <a:solidFill>
                  <a:srgbClr val="BB2121"/>
                </a:solidFill>
                <a:latin typeface="Roboto" panose="02000000000000000000" pitchFamily="2" charset="0"/>
                <a:ea typeface="Roboto" panose="02000000000000000000" pitchFamily="2" charset="0"/>
                <a:cs typeface="Roboto" panose="02000000000000000000" pitchFamily="2" charset="0"/>
              </a:rPr>
              <a:t>Professional Experience</a:t>
            </a:r>
          </a:p>
          <a:p>
            <a:pPr algn="just">
              <a:defRPr/>
            </a:pPr>
            <a:endParaRPr lang="en-US" sz="1050" b="1" dirty="0">
              <a:solidFill>
                <a:srgbClr val="4D1434"/>
              </a:solidFill>
              <a:latin typeface="Roboto" panose="02000000000000000000" pitchFamily="2" charset="0"/>
              <a:ea typeface="Roboto" panose="02000000000000000000" pitchFamily="2" charset="0"/>
              <a:cs typeface="Roboto" panose="02000000000000000000" pitchFamily="2" charset="0"/>
            </a:endParaRPr>
          </a:p>
          <a:p>
            <a:pPr algn="just"/>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Calvin has been in the </a:t>
            </a:r>
            <a:r>
              <a:rPr lang="en-US" sz="1050" b="1" dirty="0">
                <a:solidFill>
                  <a:prstClr val="black"/>
                </a:solidFill>
                <a:latin typeface="Roboto" panose="02000000000000000000" pitchFamily="2" charset="0"/>
                <a:ea typeface="Roboto" panose="02000000000000000000" pitchFamily="2" charset="0"/>
                <a:cs typeface="Roboto" panose="02000000000000000000" pitchFamily="2" charset="0"/>
              </a:rPr>
              <a:t>audit profession for over 4 years</a:t>
            </a: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Having started his career at PricewaterhouseCoopers LLP, Calvin led statutory audits across a diverse range of industries including F&amp;B, wholesale trade and software development. He was mainly involved in executing of the audit plan, determining task allocation for team members and ensuring completion of deliverables within tight audit deadlines. He also worked on audits of property development, manufacturing and investment holding companies, as well as agreed-upon procedures and IPO audits. Having worked with multiple stakeholders on cross-border and group engagements, Calvin possesses </a:t>
            </a:r>
            <a:r>
              <a:rPr lang="en-US" sz="1050" b="1" dirty="0">
                <a:solidFill>
                  <a:prstClr val="black"/>
                </a:solidFill>
                <a:latin typeface="Roboto" panose="02000000000000000000" pitchFamily="2" charset="0"/>
                <a:ea typeface="Roboto" panose="02000000000000000000" pitchFamily="2" charset="0"/>
                <a:cs typeface="Roboto" panose="02000000000000000000" pitchFamily="2" charset="0"/>
              </a:rPr>
              <a:t>strong stakeholder management</a:t>
            </a: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a:t>
            </a:r>
          </a:p>
          <a:p>
            <a:pPr algn="just"/>
            <a:endParaRPr lang="en-US" sz="1050" dirty="0">
              <a:solidFill>
                <a:prstClr val="black"/>
              </a:solidFill>
              <a:latin typeface="Roboto" panose="02000000000000000000" pitchFamily="2" charset="0"/>
              <a:ea typeface="Roboto" panose="02000000000000000000" pitchFamily="2" charset="0"/>
              <a:cs typeface="Roboto" panose="02000000000000000000" pitchFamily="2" charset="0"/>
            </a:endParaRPr>
          </a:p>
          <a:p>
            <a:pPr algn="just"/>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Coming from an external audit background, Calvin built a </a:t>
            </a:r>
            <a:r>
              <a:rPr lang="en-US" sz="1050" b="1" dirty="0">
                <a:solidFill>
                  <a:prstClr val="black"/>
                </a:solidFill>
                <a:latin typeface="Roboto" panose="02000000000000000000" pitchFamily="2" charset="0"/>
                <a:ea typeface="Roboto" panose="02000000000000000000" pitchFamily="2" charset="0"/>
                <a:cs typeface="Roboto" panose="02000000000000000000" pitchFamily="2" charset="0"/>
              </a:rPr>
              <a:t>strong internal audit foundation </a:t>
            </a: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by conducting walkthroughs and performing test of controls over key business processes, as well as reviewing of internal audit reports. Through relevant audit procedures, he identified control deficiencies and subsequently proposed internal controls recommendations to management.</a:t>
            </a:r>
          </a:p>
          <a:p>
            <a:pPr algn="just" defTabSz="301823" fontAlgn="auto">
              <a:spcBef>
                <a:spcPts val="0"/>
              </a:spcBef>
              <a:spcAft>
                <a:spcPts val="0"/>
              </a:spcAft>
              <a:defRPr/>
            </a:pPr>
            <a:endParaRPr lang="en-US" sz="1050" dirty="0">
              <a:latin typeface="Roboto" panose="02000000000000000000" pitchFamily="2" charset="0"/>
              <a:ea typeface="Roboto" panose="02000000000000000000" pitchFamily="2" charset="0"/>
              <a:cs typeface="Roboto" panose="02000000000000000000" pitchFamily="2" charset="0"/>
            </a:endParaRPr>
          </a:p>
          <a:p>
            <a:pPr algn="just" defTabSz="301823" fontAlgn="auto">
              <a:spcBef>
                <a:spcPts val="0"/>
              </a:spcBef>
              <a:spcAft>
                <a:spcPts val="0"/>
              </a:spcAft>
              <a:defRPr/>
            </a:pPr>
            <a:endParaRPr lang="en-US" sz="1050" b="1" dirty="0">
              <a:solidFill>
                <a:srgbClr val="4D1434"/>
              </a:solidFill>
              <a:latin typeface="Roboto" panose="02000000000000000000" pitchFamily="2" charset="0"/>
              <a:ea typeface="Roboto" panose="02000000000000000000" pitchFamily="2" charset="0"/>
              <a:cs typeface="Roboto" panose="02000000000000000000" pitchFamily="2" charset="0"/>
            </a:endParaRPr>
          </a:p>
          <a:p>
            <a:pPr algn="just">
              <a:spcBef>
                <a:spcPts val="263"/>
              </a:spcBef>
              <a:defRPr/>
            </a:pPr>
            <a:r>
              <a:rPr lang="en-US" sz="1200" b="1" dirty="0">
                <a:solidFill>
                  <a:srgbClr val="BB2121"/>
                </a:solidFill>
                <a:latin typeface="Roboto" panose="02000000000000000000" pitchFamily="2" charset="0"/>
                <a:ea typeface="Roboto" panose="02000000000000000000" pitchFamily="2" charset="0"/>
                <a:cs typeface="Roboto" panose="02000000000000000000" pitchFamily="2" charset="0"/>
              </a:rPr>
              <a:t>Qualifications and Professional Memberships</a:t>
            </a:r>
          </a:p>
          <a:p>
            <a:pPr algn="just">
              <a:spcBef>
                <a:spcPts val="263"/>
              </a:spcBef>
              <a:defRPr/>
            </a:pPr>
            <a:endParaRPr lang="en-US" sz="1200" b="1" dirty="0">
              <a:solidFill>
                <a:srgbClr val="BB2121"/>
              </a:solidFill>
              <a:latin typeface="Roboto" panose="02000000000000000000" pitchFamily="2" charset="0"/>
              <a:ea typeface="Roboto" panose="02000000000000000000" pitchFamily="2" charset="0"/>
              <a:cs typeface="Roboto" panose="02000000000000000000" pitchFamily="2" charset="0"/>
            </a:endParaRPr>
          </a:p>
          <a:p>
            <a:pPr marL="112713" lvl="1" indent="-112713">
              <a:spcBef>
                <a:spcPts val="300"/>
              </a:spcBef>
              <a:buClr>
                <a:srgbClr val="4D1434"/>
              </a:buClr>
              <a:buFont typeface="Wingdings" pitchFamily="2" charset="2"/>
              <a:buChar char="§"/>
              <a:defRPr/>
            </a:pPr>
            <a:r>
              <a:rPr lang="en-US" sz="1050" b="1" dirty="0">
                <a:latin typeface="Roboto" panose="02000000000000000000" pitchFamily="2" charset="0"/>
                <a:ea typeface="Roboto" panose="02000000000000000000" pitchFamily="2" charset="0"/>
                <a:cs typeface="Roboto" panose="02000000000000000000" pitchFamily="2" charset="0"/>
              </a:rPr>
              <a:t>Chartered Accountant, Singapore</a:t>
            </a:r>
          </a:p>
          <a:p>
            <a:pPr marL="112713" lvl="1" indent="-112713">
              <a:spcBef>
                <a:spcPts val="300"/>
              </a:spcBef>
              <a:buClr>
                <a:srgbClr val="4D1434"/>
              </a:buClr>
              <a:buFont typeface="Wingdings" pitchFamily="2" charset="2"/>
              <a:buChar char="§"/>
              <a:defRPr/>
            </a:pPr>
            <a:r>
              <a:rPr lang="en-US" sz="1050" dirty="0">
                <a:latin typeface="Roboto" panose="02000000000000000000" pitchFamily="2" charset="0"/>
                <a:ea typeface="Roboto" panose="02000000000000000000" pitchFamily="2" charset="0"/>
                <a:cs typeface="Roboto" panose="02000000000000000000" pitchFamily="2" charset="0"/>
              </a:rPr>
              <a:t>Bachelor of Accountancy (Singapore University of Social Sciences)</a:t>
            </a:r>
          </a:p>
          <a:p>
            <a:pPr marL="112713" lvl="1" indent="-112713">
              <a:spcBef>
                <a:spcPts val="300"/>
              </a:spcBef>
              <a:buClr>
                <a:srgbClr val="4D1434"/>
              </a:buClr>
              <a:buFont typeface="Wingdings" pitchFamily="2" charset="2"/>
              <a:buChar char="§"/>
              <a:defRPr/>
            </a:pPr>
            <a:r>
              <a:rPr lang="en-US" sz="1050" dirty="0">
                <a:latin typeface="Roboto" panose="02000000000000000000" pitchFamily="2" charset="0"/>
                <a:ea typeface="Roboto" panose="02000000000000000000" pitchFamily="2" charset="0"/>
                <a:cs typeface="Roboto" panose="02000000000000000000" pitchFamily="2" charset="0"/>
              </a:rPr>
              <a:t>Member, Institute of Singapore Chartered Accountants (ISCA)</a:t>
            </a:r>
          </a:p>
          <a:p>
            <a:pPr marL="139303" lvl="1" indent="-139303">
              <a:spcBef>
                <a:spcPts val="263"/>
              </a:spcBef>
              <a:buClr>
                <a:srgbClr val="4D1434"/>
              </a:buClr>
              <a:buFont typeface="Wingdings" pitchFamily="2" charset="2"/>
              <a:buChar char="§"/>
              <a:defRPr/>
            </a:pPr>
            <a:endParaRPr lang="en-US" sz="1050" dirty="0">
              <a:solidFill>
                <a:prstClr val="black"/>
              </a:solidFill>
              <a:latin typeface="Roboto" panose="02000000000000000000" pitchFamily="2" charset="0"/>
              <a:ea typeface="Roboto" panose="02000000000000000000" pitchFamily="2" charset="0"/>
              <a:cs typeface="Roboto" panose="02000000000000000000" pitchFamily="2" charset="0"/>
            </a:endParaRPr>
          </a:p>
        </p:txBody>
      </p:sp>
      <p:sp>
        <p:nvSpPr>
          <p:cNvPr id="8" name="Content Placeholder 2">
            <a:extLst>
              <a:ext uri="{FF2B5EF4-FFF2-40B4-BE49-F238E27FC236}">
                <a16:creationId xmlns:a16="http://schemas.microsoft.com/office/drawing/2014/main" id="{72F1A3F8-B3FB-7599-6B22-2F7935AEBBAB}"/>
              </a:ext>
            </a:extLst>
          </p:cNvPr>
          <p:cNvSpPr txBox="1">
            <a:spLocks/>
          </p:cNvSpPr>
          <p:nvPr/>
        </p:nvSpPr>
        <p:spPr bwMode="auto">
          <a:xfrm>
            <a:off x="693989" y="3692549"/>
            <a:ext cx="2169791" cy="1919288"/>
          </a:xfrm>
          <a:prstGeom prst="rect">
            <a:avLst/>
          </a:prstGeom>
          <a:noFill/>
          <a:ln w="9525">
            <a:noFill/>
            <a:miter lim="800000"/>
            <a:headEnd/>
            <a:tailEnd/>
          </a:ln>
        </p:spPr>
        <p:txBody>
          <a:bodyPr/>
          <a:lstStyle/>
          <a:p>
            <a:pPr>
              <a:defRPr/>
            </a:pP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a:t>
            </a:r>
            <a:r>
              <a:rPr lang="en-US" sz="1050" u="sng" dirty="0">
                <a:solidFill>
                  <a:prstClr val="black"/>
                </a:solidFill>
                <a:latin typeface="Roboto" panose="02000000000000000000" pitchFamily="2" charset="0"/>
                <a:ea typeface="Roboto" panose="02000000000000000000" pitchFamily="2" charset="0"/>
                <a:cs typeface="Roboto" panose="02000000000000000000" pitchFamily="2" charset="0"/>
              </a:rPr>
              <a:t>Email</a:t>
            </a:r>
          </a:p>
          <a:p>
            <a:pPr>
              <a:lnSpc>
                <a:spcPct val="150000"/>
              </a:lnSpc>
              <a:defRPr/>
            </a:pP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calvin.wong@incorp.asia</a:t>
            </a:r>
          </a:p>
          <a:p>
            <a:pPr>
              <a:defRPr/>
            </a:pPr>
            <a:r>
              <a:rPr lang="en-US" sz="1050" dirty="0">
                <a:solidFill>
                  <a:prstClr val="black"/>
                </a:solidFill>
                <a:latin typeface="Roboto" panose="02000000000000000000" pitchFamily="2" charset="0"/>
                <a:ea typeface="Roboto" panose="02000000000000000000" pitchFamily="2" charset="0"/>
                <a:cs typeface="Roboto" panose="02000000000000000000" pitchFamily="2" charset="0"/>
              </a:rPr>
              <a:t> </a:t>
            </a:r>
          </a:p>
        </p:txBody>
      </p:sp>
      <p:sp>
        <p:nvSpPr>
          <p:cNvPr id="9" name="Shape 2836">
            <a:extLst>
              <a:ext uri="{FF2B5EF4-FFF2-40B4-BE49-F238E27FC236}">
                <a16:creationId xmlns:a16="http://schemas.microsoft.com/office/drawing/2014/main" id="{421BAC76-4AD1-7D7D-ACAE-974F22968072}"/>
              </a:ext>
            </a:extLst>
          </p:cNvPr>
          <p:cNvSpPr>
            <a:spLocks noChangeAspect="1"/>
          </p:cNvSpPr>
          <p:nvPr/>
        </p:nvSpPr>
        <p:spPr>
          <a:xfrm>
            <a:off x="840127" y="3768085"/>
            <a:ext cx="205486" cy="149444"/>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tx1"/>
          </a:solidFill>
          <a:ln w="12700">
            <a:miter lim="400000"/>
          </a:ln>
        </p:spPr>
        <p:txBody>
          <a:bodyPr lIns="6728" tIns="6728" rIns="6728" bIns="6728" anchor="ctr"/>
          <a:lstStyle/>
          <a:p>
            <a:pPr defTabSz="80719">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530" b="1" dirty="0">
              <a:latin typeface="Open Sans Semibold" charset="0"/>
              <a:ea typeface="Open Sans Semibold" charset="0"/>
              <a:cs typeface="Open Sans Semibold" charset="0"/>
            </a:endParaRPr>
          </a:p>
        </p:txBody>
      </p:sp>
    </p:spTree>
    <p:extLst>
      <p:ext uri="{BB962C8B-B14F-4D97-AF65-F5344CB8AC3E}">
        <p14:creationId xmlns:p14="http://schemas.microsoft.com/office/powerpoint/2010/main" val="1584189360"/>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7157BD-6843-E674-9696-E8674CC5FBDD}"/>
              </a:ext>
            </a:extLst>
          </p:cNvPr>
          <p:cNvGrpSpPr/>
          <p:nvPr/>
        </p:nvGrpSpPr>
        <p:grpSpPr>
          <a:xfrm>
            <a:off x="650415" y="1372015"/>
            <a:ext cx="4858288" cy="4858288"/>
            <a:chOff x="3415423" y="748423"/>
            <a:chExt cx="5361153" cy="5361153"/>
          </a:xfrm>
        </p:grpSpPr>
        <p:sp>
          <p:nvSpPr>
            <p:cNvPr id="5" name="Oval 4">
              <a:extLst>
                <a:ext uri="{FF2B5EF4-FFF2-40B4-BE49-F238E27FC236}">
                  <a16:creationId xmlns:a16="http://schemas.microsoft.com/office/drawing/2014/main" id="{3F0D58C7-F113-0B5F-AB34-8ACAA72E3C3F}"/>
                </a:ext>
              </a:extLst>
            </p:cNvPr>
            <p:cNvSpPr/>
            <p:nvPr/>
          </p:nvSpPr>
          <p:spPr>
            <a:xfrm>
              <a:off x="3415423" y="748423"/>
              <a:ext cx="5361153" cy="5361153"/>
            </a:xfrm>
            <a:prstGeom prst="ellipse">
              <a:avLst/>
            </a:prstGeom>
            <a:blipFill>
              <a:blip r:embed="rId2"/>
              <a:stretch>
                <a:fillRect l="1042" r="-104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6" name="Group 5">
              <a:extLst>
                <a:ext uri="{FF2B5EF4-FFF2-40B4-BE49-F238E27FC236}">
                  <a16:creationId xmlns:a16="http://schemas.microsoft.com/office/drawing/2014/main" id="{B8A568BB-B5DE-B9F3-B0A7-2EA033F8255A}"/>
                </a:ext>
              </a:extLst>
            </p:cNvPr>
            <p:cNvGrpSpPr/>
            <p:nvPr/>
          </p:nvGrpSpPr>
          <p:grpSpPr>
            <a:xfrm>
              <a:off x="3595551" y="890338"/>
              <a:ext cx="5091249" cy="5078723"/>
              <a:chOff x="3595551" y="890338"/>
              <a:chExt cx="5091249" cy="5078723"/>
            </a:xfrm>
          </p:grpSpPr>
          <p:sp>
            <p:nvSpPr>
              <p:cNvPr id="7" name="Oval 6">
                <a:extLst>
                  <a:ext uri="{FF2B5EF4-FFF2-40B4-BE49-F238E27FC236}">
                    <a16:creationId xmlns:a16="http://schemas.microsoft.com/office/drawing/2014/main" id="{97018C85-1181-28FF-CB27-EE1680996151}"/>
                  </a:ext>
                </a:extLst>
              </p:cNvPr>
              <p:cNvSpPr/>
              <p:nvPr/>
            </p:nvSpPr>
            <p:spPr>
              <a:xfrm>
                <a:off x="3608076" y="890338"/>
                <a:ext cx="5078724" cy="5078723"/>
              </a:xfrm>
              <a:prstGeom prst="ellipse">
                <a:avLst/>
              </a:prstGeom>
              <a:solidFill>
                <a:srgbClr val="CC0000">
                  <a:alpha val="58000"/>
                </a:srgb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Title 4">
                <a:extLst>
                  <a:ext uri="{FF2B5EF4-FFF2-40B4-BE49-F238E27FC236}">
                    <a16:creationId xmlns:a16="http://schemas.microsoft.com/office/drawing/2014/main" id="{97C6FD05-3DCD-0FFF-CED8-677EEF19662A}"/>
                  </a:ext>
                </a:extLst>
              </p:cNvPr>
              <p:cNvSpPr txBox="1">
                <a:spLocks/>
              </p:cNvSpPr>
              <p:nvPr/>
            </p:nvSpPr>
            <p:spPr>
              <a:xfrm>
                <a:off x="3595551" y="2821302"/>
                <a:ext cx="5078723" cy="1325563"/>
              </a:xfrm>
              <a:prstGeom prst="rect">
                <a:avLst/>
              </a:prstGeom>
            </p:spPr>
            <p:txBody>
              <a:bodyPr anchor="ctr" anchorCtr="1">
                <a:noAutofit/>
              </a:bodyPr>
              <a:lstStyle>
                <a:lvl1pPr algn="l" defTabSz="914377" rtl="0" eaLnBrk="1" latinLnBrk="0" hangingPunct="1">
                  <a:lnSpc>
                    <a:spcPct val="90000"/>
                  </a:lnSpc>
                  <a:spcBef>
                    <a:spcPct val="0"/>
                  </a:spcBef>
                  <a:buNone/>
                  <a:defRPr sz="4000" b="1" kern="1200">
                    <a:solidFill>
                      <a:schemeClr val="tx1"/>
                    </a:solidFill>
                    <a:latin typeface="Roboto" panose="02000000000000000000" pitchFamily="2" charset="0"/>
                    <a:ea typeface="Roboto" panose="02000000000000000000" pitchFamily="2" charset="0"/>
                    <a:cs typeface="+mj-cs"/>
                  </a:defRPr>
                </a:lvl1pPr>
              </a:lstStyle>
              <a:p>
                <a:pPr algn="ctr"/>
                <a:r>
                  <a:rPr lang="en-US" sz="4400" dirty="0">
                    <a:solidFill>
                      <a:schemeClr val="bg1"/>
                    </a:solidFill>
                  </a:rPr>
                  <a:t>Internal Audit Services</a:t>
                </a:r>
              </a:p>
            </p:txBody>
          </p:sp>
        </p:grpSp>
      </p:grpSp>
    </p:spTree>
    <p:extLst>
      <p:ext uri="{BB962C8B-B14F-4D97-AF65-F5344CB8AC3E}">
        <p14:creationId xmlns:p14="http://schemas.microsoft.com/office/powerpoint/2010/main" val="290786718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4AEFF-A4F2-FCE3-F49B-969ACAA7BC05}"/>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F01CA36-0C36-904A-6E50-59EAD3C0D58C}"/>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6F964D68-2405-5F8F-A7D9-E74F5E072230}"/>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G" sz="3599"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Google Shape;190;p2">
            <a:extLst>
              <a:ext uri="{FF2B5EF4-FFF2-40B4-BE49-F238E27FC236}">
                <a16:creationId xmlns:a16="http://schemas.microsoft.com/office/drawing/2014/main" id="{678BF2BD-6B66-3CDD-EC6C-11B7F3056AEE}"/>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marL="0" marR="0" lvl="0" indent="0" algn="l" defTabSz="891317" rtl="0" eaLnBrk="1" fontAlgn="auto" latinLnBrk="0" hangingPunct="1">
              <a:lnSpc>
                <a:spcPct val="100000"/>
              </a:lnSpc>
              <a:spcBef>
                <a:spcPts val="0"/>
              </a:spcBef>
              <a:spcAft>
                <a:spcPts val="0"/>
              </a:spcAft>
              <a:buClr>
                <a:srgbClr val="000000"/>
              </a:buClr>
              <a:buSzTx/>
              <a:buFontTx/>
              <a:buNone/>
              <a:tabLst/>
              <a:defRPr/>
            </a:pPr>
            <a:r>
              <a:rPr kumimoji="0" lang="en-US" sz="2700" b="1" i="0" u="none" strike="noStrike" kern="0" cap="none" spc="0" normalizeH="0" baseline="0" noProof="0" dirty="0">
                <a:ln>
                  <a:noFill/>
                </a:ln>
                <a:solidFill>
                  <a:prstClr val="black">
                    <a:lumMod val="75000"/>
                    <a:lumOff val="25000"/>
                  </a:prstClr>
                </a:solidFill>
                <a:effectLst/>
                <a:highlight>
                  <a:srgbClr val="FFFF00"/>
                </a:highlight>
                <a:uLnTx/>
                <a:uFillTx/>
                <a:latin typeface="Roboto" panose="02000000000000000000" pitchFamily="2" charset="0"/>
                <a:ea typeface="Roboto" panose="02000000000000000000" pitchFamily="2" charset="0"/>
                <a:cs typeface="Roboto"/>
                <a:sym typeface="Roboto"/>
              </a:rPr>
              <a:t>Internal Audit Plan – Background Information </a:t>
            </a:r>
          </a:p>
        </p:txBody>
      </p:sp>
      <p:sp>
        <p:nvSpPr>
          <p:cNvPr id="7" name="TextBox 6">
            <a:extLst>
              <a:ext uri="{FF2B5EF4-FFF2-40B4-BE49-F238E27FC236}">
                <a16:creationId xmlns:a16="http://schemas.microsoft.com/office/drawing/2014/main" id="{1C2FF7EC-A739-33B4-071A-499DDEE0CAF4}"/>
              </a:ext>
            </a:extLst>
          </p:cNvPr>
          <p:cNvSpPr txBox="1"/>
          <p:nvPr/>
        </p:nvSpPr>
        <p:spPr>
          <a:xfrm>
            <a:off x="580451" y="1156576"/>
            <a:ext cx="11031097" cy="646331"/>
          </a:xfrm>
          <a:prstGeom prst="rect">
            <a:avLst/>
          </a:prstGeom>
          <a:noFill/>
        </p:spPr>
        <p:txBody>
          <a:bodyPr wrap="square">
            <a:spAutoFit/>
          </a:bodyPr>
          <a:lstStyle/>
          <a:p>
            <a:pPr algn="just"/>
            <a:r>
              <a:rPr lang="en-US" dirty="0">
                <a:latin typeface="Roboto" panose="02000000000000000000" pitchFamily="2" charset="0"/>
                <a:ea typeface="Roboto" panose="02000000000000000000" pitchFamily="2" charset="0"/>
                <a:cs typeface="Roboto" panose="02000000000000000000" pitchFamily="2" charset="0"/>
              </a:rPr>
              <a:t>We have performed a search on the Portal as at 7 November 2025:</a:t>
            </a:r>
          </a:p>
          <a:p>
            <a:pPr algn="just"/>
            <a:endParaRPr lang="en-US"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30340712"/>
      </p:ext>
    </p:extLst>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4BEC1-F9A4-E701-2A37-E4D1599F6F9B}"/>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9665D86-688B-6D92-C596-C63E2F6A59EB}"/>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041C0295-43B9-F9F9-F50B-FC546A985B38}"/>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1E8FDE17-03AA-B25A-0270-29C0E4C30CF2}"/>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 (3 Year Plan)</a:t>
            </a:r>
          </a:p>
        </p:txBody>
      </p:sp>
      <p:sp>
        <p:nvSpPr>
          <p:cNvPr id="44" name="Rectangle 43">
            <a:extLst>
              <a:ext uri="{FF2B5EF4-FFF2-40B4-BE49-F238E27FC236}">
                <a16:creationId xmlns:a16="http://schemas.microsoft.com/office/drawing/2014/main" id="{ACB9C4BC-7D68-DE12-C3B5-9959C6F26E50}"/>
              </a:ext>
            </a:extLst>
          </p:cNvPr>
          <p:cNvSpPr/>
          <p:nvPr/>
        </p:nvSpPr>
        <p:spPr>
          <a:xfrm>
            <a:off x="694898" y="1036792"/>
            <a:ext cx="10817727" cy="584775"/>
          </a:xfrm>
          <a:prstGeom prst="rect">
            <a:avLst/>
          </a:prstGeom>
          <a:ln w="19050">
            <a:solidFill>
              <a:srgbClr val="4D1434"/>
            </a:solidFill>
          </a:ln>
        </p:spPr>
        <p:txBody>
          <a:bodyPr wrap="square">
            <a:spAutoFit/>
          </a:body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The scope of the Internal Audit will </a:t>
            </a:r>
            <a:r>
              <a:rPr lang="en-US" sz="1600" b="1" kern="0" dirty="0">
                <a:solidFill>
                  <a:srgbClr val="C00000"/>
                </a:solidFill>
                <a:latin typeface="Roboto" panose="02000000000000000000" pitchFamily="2" charset="0"/>
                <a:ea typeface="Roboto" panose="02000000000000000000" pitchFamily="2" charset="0"/>
                <a:cs typeface="Roboto" panose="02000000000000000000" pitchFamily="2" charset="0"/>
              </a:rPr>
              <a:t>span across 3 years </a:t>
            </a:r>
            <a:r>
              <a:rPr lang="en-US" sz="1600" kern="0" dirty="0">
                <a:solidFill>
                  <a:prstClr val="black"/>
                </a:solidFill>
                <a:latin typeface="Roboto" panose="02000000000000000000" pitchFamily="2" charset="0"/>
                <a:ea typeface="Roboto" panose="02000000000000000000" pitchFamily="2" charset="0"/>
                <a:cs typeface="Roboto" panose="02000000000000000000" pitchFamily="2" charset="0"/>
              </a:rPr>
              <a:t>taking a </a:t>
            </a:r>
            <a:r>
              <a:rPr lang="en-US" sz="1600" b="1" kern="0" dirty="0">
                <a:solidFill>
                  <a:srgbClr val="C00000"/>
                </a:solidFill>
                <a:latin typeface="Roboto" panose="02000000000000000000" pitchFamily="2" charset="0"/>
                <a:ea typeface="Roboto" panose="02000000000000000000" pitchFamily="2" charset="0"/>
                <a:cs typeface="Roboto" panose="02000000000000000000" pitchFamily="2" charset="0"/>
              </a:rPr>
              <a:t>paced and phased approach </a:t>
            </a:r>
            <a:r>
              <a:rPr kumimoji="0" lang="en-US" sz="1600" b="0"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for the following processes/ records of ABC:</a:t>
            </a:r>
            <a:endParaRPr kumimoji="0" lang="en-US" sz="12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endParaRPr>
          </a:p>
        </p:txBody>
      </p:sp>
      <p:graphicFrame>
        <p:nvGraphicFramePr>
          <p:cNvPr id="2" name="Table 1048">
            <a:extLst>
              <a:ext uri="{FF2B5EF4-FFF2-40B4-BE49-F238E27FC236}">
                <a16:creationId xmlns:a16="http://schemas.microsoft.com/office/drawing/2014/main" id="{5767F1B1-6FDE-12BC-AA1B-0214533519A6}"/>
              </a:ext>
            </a:extLst>
          </p:cNvPr>
          <p:cNvGraphicFramePr>
            <a:graphicFrameLocks noGrp="1"/>
          </p:cNvGraphicFramePr>
          <p:nvPr>
            <p:extLst>
              <p:ext uri="{D42A27DB-BD31-4B8C-83A1-F6EECF244321}">
                <p14:modId xmlns:p14="http://schemas.microsoft.com/office/powerpoint/2010/main" val="3897409559"/>
              </p:ext>
            </p:extLst>
          </p:nvPr>
        </p:nvGraphicFramePr>
        <p:xfrm>
          <a:off x="694897" y="1711535"/>
          <a:ext cx="10817728" cy="3995201"/>
        </p:xfrm>
        <a:graphic>
          <a:graphicData uri="http://schemas.openxmlformats.org/drawingml/2006/table">
            <a:tbl>
              <a:tblPr firstRow="1" bandRow="1">
                <a:tableStyleId>{5940675A-B579-460E-94D1-54222C63F5DA}</a:tableStyleId>
              </a:tblPr>
              <a:tblGrid>
                <a:gridCol w="1015896">
                  <a:extLst>
                    <a:ext uri="{9D8B030D-6E8A-4147-A177-3AD203B41FA5}">
                      <a16:colId xmlns:a16="http://schemas.microsoft.com/office/drawing/2014/main" val="1008842004"/>
                    </a:ext>
                  </a:extLst>
                </a:gridCol>
                <a:gridCol w="3284365">
                  <a:extLst>
                    <a:ext uri="{9D8B030D-6E8A-4147-A177-3AD203B41FA5}">
                      <a16:colId xmlns:a16="http://schemas.microsoft.com/office/drawing/2014/main" val="4245980217"/>
                    </a:ext>
                  </a:extLst>
                </a:gridCol>
                <a:gridCol w="3113705">
                  <a:extLst>
                    <a:ext uri="{9D8B030D-6E8A-4147-A177-3AD203B41FA5}">
                      <a16:colId xmlns:a16="http://schemas.microsoft.com/office/drawing/2014/main" val="4172085506"/>
                    </a:ext>
                  </a:extLst>
                </a:gridCol>
                <a:gridCol w="3403762">
                  <a:extLst>
                    <a:ext uri="{9D8B030D-6E8A-4147-A177-3AD203B41FA5}">
                      <a16:colId xmlns:a16="http://schemas.microsoft.com/office/drawing/2014/main" val="3476146422"/>
                    </a:ext>
                  </a:extLst>
                </a:gridCol>
              </a:tblGrid>
              <a:tr h="411876">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lang="en-SG" sz="1400" b="1" dirty="0">
                          <a:solidFill>
                            <a:schemeClr val="bg1"/>
                          </a:solidFill>
                          <a:latin typeface="Roboto" panose="02000000000000000000" pitchFamily="2" charset="0"/>
                          <a:ea typeface="Roboto" panose="02000000000000000000" pitchFamily="2" charset="0"/>
                          <a:cs typeface="Roboto" panose="02000000000000000000" pitchFamily="2" charset="0"/>
                        </a:rPr>
                        <a:t>Year</a:t>
                      </a:r>
                    </a:p>
                  </a:txBody>
                  <a:tcPr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lang="en-SG" sz="1400" b="1" dirty="0">
                          <a:solidFill>
                            <a:schemeClr val="bg1"/>
                          </a:solidFill>
                          <a:latin typeface="Roboto" panose="02000000000000000000" pitchFamily="2" charset="0"/>
                          <a:ea typeface="Roboto" panose="02000000000000000000" pitchFamily="2" charset="0"/>
                          <a:cs typeface="Roboto" panose="02000000000000000000" pitchFamily="2" charset="0"/>
                        </a:rPr>
                        <a:t>Year 1</a:t>
                      </a:r>
                    </a:p>
                  </a:txBody>
                  <a:tcPr anchor="ctr">
                    <a:solidFill>
                      <a:srgbClr val="C0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400" b="1" dirty="0">
                          <a:solidFill>
                            <a:schemeClr val="bg1"/>
                          </a:solidFill>
                          <a:latin typeface="Roboto" panose="02000000000000000000" pitchFamily="2" charset="0"/>
                          <a:ea typeface="Roboto" panose="02000000000000000000" pitchFamily="2" charset="0"/>
                          <a:cs typeface="Roboto" panose="02000000000000000000" pitchFamily="2" charset="0"/>
                        </a:rPr>
                        <a:t>Year 2</a:t>
                      </a:r>
                    </a:p>
                  </a:txBody>
                  <a:tcPr anchor="ctr">
                    <a:solidFill>
                      <a:srgbClr val="C0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400" b="1" dirty="0">
                          <a:solidFill>
                            <a:schemeClr val="bg1"/>
                          </a:solidFill>
                          <a:latin typeface="Roboto" panose="02000000000000000000" pitchFamily="2" charset="0"/>
                          <a:ea typeface="Roboto" panose="02000000000000000000" pitchFamily="2" charset="0"/>
                          <a:cs typeface="Roboto" panose="02000000000000000000" pitchFamily="2" charset="0"/>
                        </a:rPr>
                        <a:t>Year 3</a:t>
                      </a:r>
                    </a:p>
                  </a:txBody>
                  <a:tcPr anchor="ctr">
                    <a:solidFill>
                      <a:srgbClr val="C00000"/>
                    </a:solidFill>
                  </a:tcPr>
                </a:tc>
                <a:extLst>
                  <a:ext uri="{0D108BD9-81ED-4DB2-BD59-A6C34878D82A}">
                    <a16:rowId xmlns:a16="http://schemas.microsoft.com/office/drawing/2014/main" val="195702224"/>
                  </a:ext>
                </a:extLst>
              </a:tr>
              <a:tr h="3583325">
                <a:tc>
                  <a:txBody>
                    <a:bodyPr/>
                    <a:lstStyle/>
                    <a:p>
                      <a:pPr marL="0" marR="0" lvl="0" indent="0" algn="ctr" defTabSz="742931" rtl="0" eaLnBrk="1" fontAlgn="auto" latinLnBrk="0" hangingPunct="1">
                        <a:lnSpc>
                          <a:spcPct val="100000"/>
                        </a:lnSpc>
                        <a:spcBef>
                          <a:spcPts val="0"/>
                        </a:spcBef>
                        <a:spcAft>
                          <a:spcPts val="0"/>
                        </a:spcAft>
                        <a:buClrTx/>
                        <a:buSzTx/>
                        <a:buFont typeface="+mj-lt"/>
                        <a:buNone/>
                        <a:tabLst/>
                        <a:defRPr/>
                      </a:pPr>
                      <a:r>
                        <a:rPr kumimoji="0" lang="en-US" sz="1400" b="1" i="0" u="none" strike="noStrike" kern="1200" cap="none" spc="0" normalizeH="0" baseline="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Scope of Work</a:t>
                      </a:r>
                    </a:p>
                  </a:txBody>
                  <a:tcPr anchor="ctr">
                    <a:noFill/>
                  </a:tcPr>
                </a:tc>
                <a:tc>
                  <a:txBody>
                    <a:bodyPr/>
                    <a:lstStyle/>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Compliance with Regulatory Framework and Governance Best Practices</a:t>
                      </a:r>
                    </a:p>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Procurement and Payments</a:t>
                      </a:r>
                    </a:p>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Human Resources and Payroll Processes</a:t>
                      </a:r>
                    </a:p>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Follow-up Review of Prior Report</a:t>
                      </a:r>
                    </a:p>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a:txBody>
                  <a:tcPr>
                    <a:noFill/>
                  </a:tcPr>
                </a:tc>
                <a:tc>
                  <a:txBody>
                    <a:bodyPr/>
                    <a:lstStyle/>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SG" sz="1400" b="0" i="0" u="none" strike="noStrike" kern="1200" cap="none" spc="0" normalizeH="0" baseline="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Receipts and Collections</a:t>
                      </a:r>
                    </a:p>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SG"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Management of Grants and Compliance with Funding Agreements</a:t>
                      </a:r>
                    </a:p>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SG"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Donations and Fundraising Procedures</a:t>
                      </a:r>
                    </a:p>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SG"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Follow-up Review of Prior Report</a:t>
                      </a:r>
                    </a:p>
                    <a:p>
                      <a:pPr marL="0" marR="0" lvl="0" indent="0" algn="l" defTabSz="742931"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SG"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a:p>
                      <a:pPr marL="0" marR="0" lvl="0" indent="0" algn="l" defTabSz="742931"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SG" sz="1400" b="0" i="0" u="sng"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Enterprise Risk Management</a:t>
                      </a:r>
                    </a:p>
                    <a:p>
                      <a:pPr marL="0" marR="0" lvl="0" indent="0" algn="l" defTabSz="742931"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SG"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Review existing risks and update Risk Registers and ERM Policy Manual</a:t>
                      </a:r>
                      <a:endParaRPr kumimoji="0" lang="en-US"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a:txBody>
                  <a:tcPr>
                    <a:noFill/>
                  </a:tcPr>
                </a:tc>
                <a:tc>
                  <a:txBody>
                    <a:bodyPr/>
                    <a:lstStyle/>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SG" sz="1400" b="0" i="0" u="none" strike="noStrike" kern="1200" cap="none" spc="0" normalizeH="0" baseline="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Review Compliance with Personal Data Protection Act</a:t>
                      </a:r>
                    </a:p>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SG"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Fixed Assets and Capital Expenditure Management</a:t>
                      </a:r>
                    </a:p>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SG"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Information Technology Process</a:t>
                      </a:r>
                      <a:endParaRPr kumimoji="0" lang="en-US"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Follow-up Review of Prior Report</a:t>
                      </a:r>
                    </a:p>
                    <a:p>
                      <a:pPr marL="285750" marR="0" lvl="0" indent="-285750" algn="l" defTabSz="742931"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a:txBody>
                  <a:tcPr>
                    <a:noFill/>
                  </a:tcPr>
                </a:tc>
                <a:extLst>
                  <a:ext uri="{0D108BD9-81ED-4DB2-BD59-A6C34878D82A}">
                    <a16:rowId xmlns:a16="http://schemas.microsoft.com/office/drawing/2014/main" val="1817208376"/>
                  </a:ext>
                </a:extLst>
              </a:tr>
            </a:tbl>
          </a:graphicData>
        </a:graphic>
      </p:graphicFrame>
    </p:spTree>
    <p:extLst>
      <p:ext uri="{BB962C8B-B14F-4D97-AF65-F5344CB8AC3E}">
        <p14:creationId xmlns:p14="http://schemas.microsoft.com/office/powerpoint/2010/main" val="1401888836"/>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G" sz="3599"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36B4A8DC-FEB5-F803-8788-1F790A5444A9}"/>
              </a:ext>
            </a:extLst>
          </p:cNvPr>
          <p:cNvSpPr txBox="1"/>
          <p:nvPr/>
        </p:nvSpPr>
        <p:spPr>
          <a:xfrm>
            <a:off x="605955" y="1004387"/>
            <a:ext cx="5440194" cy="5329664"/>
          </a:xfrm>
          <a:prstGeom prst="rect">
            <a:avLst/>
          </a:prstGeom>
          <a:noFill/>
          <a:ln w="19050">
            <a:solidFill>
              <a:sysClr val="windowText" lastClr="000000"/>
            </a:solid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0" cap="none" spc="0" normalizeH="0" baseline="0" noProof="0" dirty="0">
                <a:ln>
                  <a:noFill/>
                </a:ln>
                <a:solidFill>
                  <a:srgbClr val="44546A"/>
                </a:solidFill>
                <a:effectLst/>
                <a:uLnTx/>
                <a:uFillTx/>
                <a:latin typeface="Arial" charset="0"/>
                <a:ea typeface="+mn-ea"/>
                <a:cs typeface="Arial" charset="0"/>
              </a:rPr>
              <a:t>Our Audit Methodology</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just" defTabSz="914400" rtl="0" eaLnBrk="1" fontAlgn="base" latinLnBrk="0" hangingPunct="1">
              <a:lnSpc>
                <a:spcPct val="100000"/>
              </a:lnSpc>
              <a:spcBef>
                <a:spcPts val="400"/>
              </a:spcBef>
              <a:spcAft>
                <a:spcPct val="0"/>
              </a:spcAft>
              <a:buClr>
                <a:srgbClr val="ED7D31"/>
              </a:buClr>
              <a:buSzPct val="90000"/>
              <a:buFontTx/>
              <a:buNone/>
              <a:tabLst/>
              <a:defRPr/>
            </a:pPr>
            <a:r>
              <a:rPr kumimoji="0" lang="en-US" sz="1200" b="0" i="0" u="none" strike="noStrike" kern="0" cap="none" spc="0" normalizeH="0" baseline="0" noProof="0" dirty="0">
                <a:ln>
                  <a:noFill/>
                </a:ln>
                <a:solidFill>
                  <a:prstClr val="black"/>
                </a:solidFill>
                <a:effectLst/>
                <a:uLnTx/>
                <a:uFillTx/>
                <a:latin typeface="Arial" charset="0"/>
                <a:ea typeface="+mn-ea"/>
                <a:cs typeface="Arial" charset="0"/>
              </a:rPr>
              <a:t>The </a:t>
            </a:r>
            <a:r>
              <a:rPr kumimoji="0" lang="en-US" sz="1200" b="1" i="0" u="none" strike="noStrike" kern="0" cap="none" spc="0" normalizeH="0" baseline="0" noProof="0" dirty="0">
                <a:ln>
                  <a:noFill/>
                </a:ln>
                <a:solidFill>
                  <a:prstClr val="black"/>
                </a:solidFill>
                <a:effectLst/>
                <a:uLnTx/>
                <a:uFillTx/>
                <a:latin typeface="Arial" charset="0"/>
                <a:ea typeface="+mn-ea"/>
                <a:cs typeface="Arial" charset="0"/>
              </a:rPr>
              <a:t>International Professional Practices Framework® (IPPF®) </a:t>
            </a:r>
            <a:r>
              <a:rPr kumimoji="0" lang="en-US" sz="1200" b="0" i="0" u="none" strike="noStrike" kern="0" cap="none" spc="0" normalizeH="0" baseline="0" noProof="0" dirty="0">
                <a:ln>
                  <a:noFill/>
                </a:ln>
                <a:solidFill>
                  <a:prstClr val="black"/>
                </a:solidFill>
                <a:effectLst/>
                <a:uLnTx/>
                <a:uFillTx/>
                <a:latin typeface="Arial" charset="0"/>
                <a:ea typeface="+mn-ea"/>
                <a:cs typeface="Arial" charset="0"/>
              </a:rPr>
              <a:t>organises the authoritative body of knowledge promulgated by the IIA for the professional practice of internal auditing.</a:t>
            </a:r>
          </a:p>
          <a:p>
            <a:pPr marL="0" marR="0" lvl="0" indent="0" algn="just" defTabSz="914400" rtl="0" eaLnBrk="1" fontAlgn="base" latinLnBrk="0" hangingPunct="1">
              <a:lnSpc>
                <a:spcPct val="100000"/>
              </a:lnSpc>
              <a:spcBef>
                <a:spcPts val="400"/>
              </a:spcBef>
              <a:spcAft>
                <a:spcPct val="0"/>
              </a:spcAft>
              <a:buClr>
                <a:srgbClr val="ED7D31"/>
              </a:buClr>
              <a:buSzPct val="90000"/>
              <a:buFontTx/>
              <a:buNone/>
              <a:tabLst/>
              <a:defRPr/>
            </a:pPr>
            <a:endParaRPr kumimoji="0" lang="en-US" sz="1200" b="0"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just" defTabSz="914400" rtl="0" eaLnBrk="1" fontAlgn="base" latinLnBrk="0" hangingPunct="1">
              <a:lnSpc>
                <a:spcPct val="100000"/>
              </a:lnSpc>
              <a:spcBef>
                <a:spcPts val="400"/>
              </a:spcBef>
              <a:spcAft>
                <a:spcPct val="0"/>
              </a:spcAft>
              <a:buClr>
                <a:srgbClr val="ED7D31"/>
              </a:buClr>
              <a:buSzPct val="90000"/>
              <a:buFontTx/>
              <a:buNone/>
              <a:tabLst/>
              <a:defRPr/>
            </a:pPr>
            <a:endParaRPr kumimoji="0" lang="en-US" sz="1200" b="0"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just" defTabSz="914400" rtl="0" eaLnBrk="1" fontAlgn="base" latinLnBrk="0" hangingPunct="1">
              <a:lnSpc>
                <a:spcPct val="100000"/>
              </a:lnSpc>
              <a:spcBef>
                <a:spcPts val="400"/>
              </a:spcBef>
              <a:spcAft>
                <a:spcPct val="0"/>
              </a:spcAft>
              <a:buClr>
                <a:srgbClr val="ED7D31"/>
              </a:buClr>
              <a:buSzPct val="90000"/>
              <a:buFontTx/>
              <a:buNone/>
              <a:tabLst/>
              <a:defRPr/>
            </a:pPr>
            <a:endParaRPr kumimoji="0" lang="en-US" sz="1200" b="0"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just" defTabSz="914400" rtl="0" eaLnBrk="1" fontAlgn="base" latinLnBrk="0" hangingPunct="1">
              <a:lnSpc>
                <a:spcPct val="100000"/>
              </a:lnSpc>
              <a:spcBef>
                <a:spcPts val="400"/>
              </a:spcBef>
              <a:spcAft>
                <a:spcPct val="0"/>
              </a:spcAft>
              <a:buClr>
                <a:srgbClr val="ED7D31"/>
              </a:buClr>
              <a:buSzPct val="90000"/>
              <a:buFontTx/>
              <a:buNone/>
              <a:tabLst/>
              <a:defRPr/>
            </a:pPr>
            <a:endParaRPr kumimoji="0" lang="en-US" sz="1200" b="0" i="0" u="none" strike="noStrike" kern="0" cap="none" spc="0" normalizeH="0" baseline="0" noProof="0" dirty="0">
              <a:ln>
                <a:noFill/>
              </a:ln>
              <a:solidFill>
                <a:prstClr val="black"/>
              </a:solidFill>
              <a:effectLst/>
              <a:uLnTx/>
              <a:uFillTx/>
              <a:latin typeface="Arial" pitchFamily="34" charset="0"/>
              <a:ea typeface="+mn-ea"/>
              <a:cs typeface="Arial" pitchFamily="34" charset="0"/>
            </a:endParaRPr>
          </a:p>
          <a:p>
            <a:pPr marL="0" marR="0" lvl="0" indent="0" algn="just" defTabSz="914400" rtl="0" eaLnBrk="1" fontAlgn="base" latinLnBrk="0" hangingPunct="1">
              <a:lnSpc>
                <a:spcPct val="100000"/>
              </a:lnSpc>
              <a:spcBef>
                <a:spcPts val="400"/>
              </a:spcBef>
              <a:spcAft>
                <a:spcPct val="0"/>
              </a:spcAft>
              <a:buClr>
                <a:srgbClr val="ED7D31"/>
              </a:buClr>
              <a:buSzPct val="90000"/>
              <a:buFontTx/>
              <a:buNone/>
              <a:tabLst/>
              <a:defRPr/>
            </a:pPr>
            <a:endParaRPr kumimoji="0" lang="en-US" sz="1400" b="0" i="0" u="none" strike="noStrike" kern="0" cap="none" spc="0" normalizeH="0" baseline="0" noProof="0" dirty="0">
              <a:ln>
                <a:noFill/>
              </a:ln>
              <a:solidFill>
                <a:prstClr val="black"/>
              </a:solidFill>
              <a:effectLst/>
              <a:uLnTx/>
              <a:uFillTx/>
              <a:latin typeface="Arial" pitchFamily="34" charset="0"/>
              <a:ea typeface="+mn-ea"/>
              <a:cs typeface="Arial" pitchFamily="34" charset="0"/>
            </a:endParaRPr>
          </a:p>
          <a:p>
            <a:pPr marL="0" marR="0" lvl="0" indent="0" algn="just" defTabSz="914400" rtl="0" eaLnBrk="1" fontAlgn="base" latinLnBrk="0" hangingPunct="1">
              <a:lnSpc>
                <a:spcPct val="100000"/>
              </a:lnSpc>
              <a:spcBef>
                <a:spcPts val="400"/>
              </a:spcBef>
              <a:spcAft>
                <a:spcPct val="0"/>
              </a:spcAft>
              <a:buClr>
                <a:srgbClr val="ED7D31"/>
              </a:buClr>
              <a:buSzPct val="90000"/>
              <a:buFontTx/>
              <a:buNone/>
              <a:tabLst/>
              <a:defRPr/>
            </a:pPr>
            <a:endParaRPr kumimoji="0" lang="en-US" sz="1400" b="0" i="0" u="none" strike="noStrike" kern="0" cap="none" spc="0" normalizeH="0" baseline="0" noProof="0" dirty="0">
              <a:ln>
                <a:noFill/>
              </a:ln>
              <a:solidFill>
                <a:prstClr val="black"/>
              </a:solidFill>
              <a:effectLst/>
              <a:uLnTx/>
              <a:uFillTx/>
              <a:latin typeface="Arial" pitchFamily="34" charset="0"/>
              <a:ea typeface="+mn-ea"/>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charset="0"/>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charset="0"/>
              <a:ea typeface="+mn-ea"/>
              <a:cs typeface="Arial" charset="0"/>
            </a:endParaRPr>
          </a:p>
        </p:txBody>
      </p:sp>
      <p:pic>
        <p:nvPicPr>
          <p:cNvPr id="34" name="Picture 33">
            <a:extLst>
              <a:ext uri="{FF2B5EF4-FFF2-40B4-BE49-F238E27FC236}">
                <a16:creationId xmlns:a16="http://schemas.microsoft.com/office/drawing/2014/main" id="{346FFFDC-7F04-7D68-F842-0F5631F36F48}"/>
              </a:ext>
            </a:extLst>
          </p:cNvPr>
          <p:cNvPicPr>
            <a:picLocks noChangeAspect="1"/>
          </p:cNvPicPr>
          <p:nvPr/>
        </p:nvPicPr>
        <p:blipFill>
          <a:blip r:embed="rId2"/>
          <a:stretch>
            <a:fillRect/>
          </a:stretch>
        </p:blipFill>
        <p:spPr>
          <a:xfrm>
            <a:off x="1222843" y="2052224"/>
            <a:ext cx="4170039" cy="4213705"/>
          </a:xfrm>
          <a:prstGeom prst="rect">
            <a:avLst/>
          </a:prstGeom>
        </p:spPr>
      </p:pic>
      <p:pic>
        <p:nvPicPr>
          <p:cNvPr id="38" name="Picture 37">
            <a:extLst>
              <a:ext uri="{FF2B5EF4-FFF2-40B4-BE49-F238E27FC236}">
                <a16:creationId xmlns:a16="http://schemas.microsoft.com/office/drawing/2014/main" id="{F3CE2FD4-8D63-3065-64CC-B5A145C52C09}"/>
              </a:ext>
            </a:extLst>
          </p:cNvPr>
          <p:cNvPicPr>
            <a:picLocks noChangeAspect="1"/>
          </p:cNvPicPr>
          <p:nvPr/>
        </p:nvPicPr>
        <p:blipFill>
          <a:blip r:embed="rId3"/>
          <a:stretch>
            <a:fillRect/>
          </a:stretch>
        </p:blipFill>
        <p:spPr>
          <a:xfrm>
            <a:off x="6263022" y="1122503"/>
            <a:ext cx="1143099" cy="929721"/>
          </a:xfrm>
          <a:prstGeom prst="rect">
            <a:avLst/>
          </a:prstGeom>
        </p:spPr>
      </p:pic>
      <p:sp>
        <p:nvSpPr>
          <p:cNvPr id="40" name="TextBox 39">
            <a:extLst>
              <a:ext uri="{FF2B5EF4-FFF2-40B4-BE49-F238E27FC236}">
                <a16:creationId xmlns:a16="http://schemas.microsoft.com/office/drawing/2014/main" id="{DF33AA9F-B96E-D94A-D6AB-14947DF3BCFD}"/>
              </a:ext>
            </a:extLst>
          </p:cNvPr>
          <p:cNvSpPr txBox="1"/>
          <p:nvPr/>
        </p:nvSpPr>
        <p:spPr>
          <a:xfrm>
            <a:off x="7395730" y="1019755"/>
            <a:ext cx="4668115" cy="1323439"/>
          </a:xfrm>
          <a:prstGeom prst="rect">
            <a:avLst/>
          </a:prstGeom>
          <a:noFill/>
        </p:spPr>
        <p:txBody>
          <a:bodyPr wrap="square">
            <a:spAutoFit/>
          </a:bodyPr>
          <a:lstStyle/>
          <a:p>
            <a:pPr marL="269875" marR="0" lvl="0" indent="-269875" algn="just"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0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The Institute of Internal Auditors’ Global Internal Audit Standards guide the worldwide professional practice of internal auditing and serve as a basis for evaluating and elevating the quality of the internal audit function. </a:t>
            </a:r>
          </a:p>
          <a:p>
            <a:pPr marL="269875" marR="0" lvl="0" indent="-269875" algn="just"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0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At the heart of the Standards are </a:t>
            </a:r>
            <a:r>
              <a:rPr kumimoji="0" lang="en-US" sz="100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15 guiding principles </a:t>
            </a:r>
            <a:r>
              <a:rPr kumimoji="0" lang="en-US" sz="10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that enable effective internal auditing. </a:t>
            </a:r>
          </a:p>
          <a:p>
            <a:pPr marL="269875" marR="0" lvl="0" indent="-269875" algn="just"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0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Each principle is supported by standards that contain </a:t>
            </a:r>
            <a:r>
              <a:rPr kumimoji="0" lang="en-US" sz="100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requirements</a:t>
            </a:r>
            <a:r>
              <a:rPr kumimoji="0" lang="en-US" sz="10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 </a:t>
            </a:r>
            <a:r>
              <a:rPr kumimoji="0" lang="en-US" sz="100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considerations for implementation</a:t>
            </a:r>
            <a:r>
              <a:rPr kumimoji="0" lang="en-US" sz="10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 and examples of </a:t>
            </a:r>
            <a:r>
              <a:rPr kumimoji="0" lang="en-US" sz="100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evidence of conformance</a:t>
            </a:r>
            <a:r>
              <a:rPr kumimoji="0" lang="en-US" sz="10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 </a:t>
            </a:r>
            <a:endParaRPr kumimoji="0" lang="en-SG" sz="10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3" name="TextBox 42">
            <a:extLst>
              <a:ext uri="{FF2B5EF4-FFF2-40B4-BE49-F238E27FC236}">
                <a16:creationId xmlns:a16="http://schemas.microsoft.com/office/drawing/2014/main" id="{2FA58345-C5DF-FF68-49E3-B4C70F76F95B}"/>
              </a:ext>
            </a:extLst>
          </p:cNvPr>
          <p:cNvSpPr txBox="1"/>
          <p:nvPr/>
        </p:nvSpPr>
        <p:spPr>
          <a:xfrm>
            <a:off x="6801788" y="2420818"/>
            <a:ext cx="1548340" cy="646331"/>
          </a:xfrm>
          <a:prstGeom prst="rect">
            <a:avLst/>
          </a:prstGeom>
          <a:noFill/>
        </p:spPr>
        <p:txBody>
          <a:bodyPr wrap="square" rtlCol="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5" normalizeH="0" baseline="0" noProof="0" dirty="0">
                <a:ln>
                  <a:noFill/>
                </a:ln>
                <a:solidFill>
                  <a:srgbClr val="44546A"/>
                </a:solidFill>
                <a:effectLst/>
                <a:uLnTx/>
                <a:uFillTx/>
                <a:latin typeface="Roboto" panose="02000000000000000000" pitchFamily="2" charset="0"/>
                <a:ea typeface="Roboto" panose="02000000000000000000" pitchFamily="2" charset="0"/>
                <a:cs typeface="Roboto" panose="02000000000000000000" pitchFamily="2" charset="0"/>
              </a:rPr>
              <a:t>Domain I</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5" normalizeH="0" baseline="0" noProof="0" dirty="0">
                <a:ln>
                  <a:noFill/>
                </a:ln>
                <a:solidFill>
                  <a:srgbClr val="44546A"/>
                </a:solidFill>
                <a:effectLst/>
                <a:uLnTx/>
                <a:uFillTx/>
                <a:latin typeface="Roboto" panose="02000000000000000000" pitchFamily="2" charset="0"/>
                <a:ea typeface="Roboto" panose="02000000000000000000" pitchFamily="2" charset="0"/>
                <a:cs typeface="Roboto" panose="02000000000000000000" pitchFamily="2" charset="0"/>
              </a:rPr>
              <a:t>Purpose of Internal Auditing</a:t>
            </a:r>
          </a:p>
        </p:txBody>
      </p:sp>
      <p:sp>
        <p:nvSpPr>
          <p:cNvPr id="44" name="TextBox 43">
            <a:extLst>
              <a:ext uri="{FF2B5EF4-FFF2-40B4-BE49-F238E27FC236}">
                <a16:creationId xmlns:a16="http://schemas.microsoft.com/office/drawing/2014/main" id="{22D44AFA-BDBF-33F5-9358-004C67D3DEF1}"/>
              </a:ext>
            </a:extLst>
          </p:cNvPr>
          <p:cNvSpPr txBox="1"/>
          <p:nvPr/>
        </p:nvSpPr>
        <p:spPr>
          <a:xfrm>
            <a:off x="8498074" y="2462687"/>
            <a:ext cx="1548340" cy="646331"/>
          </a:xfrm>
          <a:prstGeom prst="rect">
            <a:avLst/>
          </a:prstGeom>
          <a:noFill/>
        </p:spPr>
        <p:txBody>
          <a:bodyPr wrap="square" rtlCol="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5" normalizeH="0" baseline="0" noProof="0" dirty="0">
                <a:ln>
                  <a:noFill/>
                </a:ln>
                <a:solidFill>
                  <a:srgbClr val="44546A"/>
                </a:solidFill>
                <a:effectLst/>
                <a:uLnTx/>
                <a:uFillTx/>
                <a:latin typeface="Roboto" panose="02000000000000000000" pitchFamily="2" charset="0"/>
                <a:ea typeface="Roboto" panose="02000000000000000000" pitchFamily="2" charset="0"/>
                <a:cs typeface="Roboto" panose="02000000000000000000" pitchFamily="2" charset="0"/>
              </a:rPr>
              <a:t>Domain II</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5" normalizeH="0" baseline="0" noProof="0" dirty="0">
                <a:ln>
                  <a:noFill/>
                </a:ln>
                <a:solidFill>
                  <a:srgbClr val="44546A"/>
                </a:solidFill>
                <a:effectLst/>
                <a:uLnTx/>
                <a:uFillTx/>
                <a:latin typeface="Roboto" panose="02000000000000000000" pitchFamily="2" charset="0"/>
                <a:ea typeface="Roboto" panose="02000000000000000000" pitchFamily="2" charset="0"/>
                <a:cs typeface="Roboto" panose="02000000000000000000" pitchFamily="2" charset="0"/>
              </a:rPr>
              <a:t>Ethics and Professionalism</a:t>
            </a:r>
          </a:p>
        </p:txBody>
      </p:sp>
      <p:sp>
        <p:nvSpPr>
          <p:cNvPr id="45" name="TextBox 44">
            <a:extLst>
              <a:ext uri="{FF2B5EF4-FFF2-40B4-BE49-F238E27FC236}">
                <a16:creationId xmlns:a16="http://schemas.microsoft.com/office/drawing/2014/main" id="{1FE482F8-5448-BE64-A45E-579EFCE4F4EE}"/>
              </a:ext>
            </a:extLst>
          </p:cNvPr>
          <p:cNvSpPr txBox="1"/>
          <p:nvPr/>
        </p:nvSpPr>
        <p:spPr>
          <a:xfrm>
            <a:off x="10133767" y="2443130"/>
            <a:ext cx="1670780" cy="646331"/>
          </a:xfrm>
          <a:prstGeom prst="rect">
            <a:avLst/>
          </a:prstGeom>
          <a:noFill/>
        </p:spPr>
        <p:txBody>
          <a:bodyPr wrap="square" rtlCol="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5" normalizeH="0" baseline="0" noProof="0" dirty="0">
                <a:ln>
                  <a:noFill/>
                </a:ln>
                <a:solidFill>
                  <a:srgbClr val="44546A"/>
                </a:solidFill>
                <a:effectLst/>
                <a:uLnTx/>
                <a:uFillTx/>
                <a:latin typeface="Roboto" panose="02000000000000000000" pitchFamily="2" charset="0"/>
                <a:ea typeface="Roboto" panose="02000000000000000000" pitchFamily="2" charset="0"/>
                <a:cs typeface="Roboto" panose="02000000000000000000" pitchFamily="2" charset="0"/>
              </a:rPr>
              <a:t>Domain III</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5" normalizeH="0" baseline="0" noProof="0" dirty="0">
                <a:ln>
                  <a:noFill/>
                </a:ln>
                <a:solidFill>
                  <a:srgbClr val="44546A"/>
                </a:solidFill>
                <a:effectLst/>
                <a:uLnTx/>
                <a:uFillTx/>
                <a:latin typeface="Roboto" panose="02000000000000000000" pitchFamily="2" charset="0"/>
                <a:ea typeface="Roboto" panose="02000000000000000000" pitchFamily="2" charset="0"/>
                <a:cs typeface="Roboto" panose="02000000000000000000" pitchFamily="2" charset="0"/>
              </a:rPr>
              <a:t>Governing the Internal Audit Function</a:t>
            </a:r>
          </a:p>
        </p:txBody>
      </p:sp>
      <p:sp>
        <p:nvSpPr>
          <p:cNvPr id="46" name="TextBox 45">
            <a:extLst>
              <a:ext uri="{FF2B5EF4-FFF2-40B4-BE49-F238E27FC236}">
                <a16:creationId xmlns:a16="http://schemas.microsoft.com/office/drawing/2014/main" id="{8821F979-BA23-BB79-3B26-69B07480DC31}"/>
              </a:ext>
            </a:extLst>
          </p:cNvPr>
          <p:cNvSpPr txBox="1"/>
          <p:nvPr/>
        </p:nvSpPr>
        <p:spPr>
          <a:xfrm>
            <a:off x="7637444" y="4446705"/>
            <a:ext cx="1670780" cy="646331"/>
          </a:xfrm>
          <a:prstGeom prst="rect">
            <a:avLst/>
          </a:prstGeom>
          <a:noFill/>
        </p:spPr>
        <p:txBody>
          <a:bodyPr wrap="square" rtlCol="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5" normalizeH="0" baseline="0" noProof="0" dirty="0">
                <a:ln>
                  <a:noFill/>
                </a:ln>
                <a:solidFill>
                  <a:srgbClr val="44546A"/>
                </a:solidFill>
                <a:effectLst/>
                <a:uLnTx/>
                <a:uFillTx/>
                <a:latin typeface="Roboto" panose="02000000000000000000" pitchFamily="2" charset="0"/>
                <a:ea typeface="Roboto" panose="02000000000000000000" pitchFamily="2" charset="0"/>
                <a:cs typeface="Roboto" panose="02000000000000000000" pitchFamily="2" charset="0"/>
              </a:rPr>
              <a:t>Domain IV</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5" normalizeH="0" baseline="0" noProof="0" dirty="0">
                <a:ln>
                  <a:noFill/>
                </a:ln>
                <a:solidFill>
                  <a:srgbClr val="44546A"/>
                </a:solidFill>
                <a:effectLst/>
                <a:uLnTx/>
                <a:uFillTx/>
                <a:latin typeface="Roboto" panose="02000000000000000000" pitchFamily="2" charset="0"/>
                <a:ea typeface="Roboto" panose="02000000000000000000" pitchFamily="2" charset="0"/>
                <a:cs typeface="Roboto" panose="02000000000000000000" pitchFamily="2" charset="0"/>
              </a:rPr>
              <a:t>Managing the Internal Audit Function</a:t>
            </a:r>
          </a:p>
        </p:txBody>
      </p:sp>
      <p:sp>
        <p:nvSpPr>
          <p:cNvPr id="47" name="TextBox 46">
            <a:extLst>
              <a:ext uri="{FF2B5EF4-FFF2-40B4-BE49-F238E27FC236}">
                <a16:creationId xmlns:a16="http://schemas.microsoft.com/office/drawing/2014/main" id="{3EA07A85-DE54-B887-0EEF-FF0591B34F4F}"/>
              </a:ext>
            </a:extLst>
          </p:cNvPr>
          <p:cNvSpPr txBox="1"/>
          <p:nvPr/>
        </p:nvSpPr>
        <p:spPr>
          <a:xfrm>
            <a:off x="9308224" y="4472292"/>
            <a:ext cx="1553125" cy="646331"/>
          </a:xfrm>
          <a:prstGeom prst="rect">
            <a:avLst/>
          </a:prstGeom>
          <a:noFill/>
        </p:spPr>
        <p:txBody>
          <a:bodyPr wrap="square" rtlCol="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5" normalizeH="0" baseline="0" noProof="0" dirty="0">
                <a:ln>
                  <a:noFill/>
                </a:ln>
                <a:solidFill>
                  <a:srgbClr val="44546A"/>
                </a:solidFill>
                <a:effectLst/>
                <a:uLnTx/>
                <a:uFillTx/>
                <a:latin typeface="Roboto" panose="02000000000000000000" pitchFamily="2" charset="0"/>
                <a:ea typeface="Roboto" panose="02000000000000000000" pitchFamily="2" charset="0"/>
                <a:cs typeface="Roboto" panose="02000000000000000000" pitchFamily="2" charset="0"/>
              </a:rPr>
              <a:t>Domain V</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5" normalizeH="0" baseline="0" noProof="0" dirty="0">
                <a:ln>
                  <a:noFill/>
                </a:ln>
                <a:solidFill>
                  <a:srgbClr val="44546A"/>
                </a:solidFill>
                <a:effectLst/>
                <a:uLnTx/>
                <a:uFillTx/>
                <a:latin typeface="Roboto" panose="02000000000000000000" pitchFamily="2" charset="0"/>
                <a:ea typeface="Roboto" panose="02000000000000000000" pitchFamily="2" charset="0"/>
                <a:cs typeface="Roboto" panose="02000000000000000000" pitchFamily="2" charset="0"/>
              </a:rPr>
              <a:t>Performing Internal Audit Services</a:t>
            </a:r>
          </a:p>
        </p:txBody>
      </p:sp>
      <p:grpSp>
        <p:nvGrpSpPr>
          <p:cNvPr id="68" name="Group 67">
            <a:extLst>
              <a:ext uri="{FF2B5EF4-FFF2-40B4-BE49-F238E27FC236}">
                <a16:creationId xmlns:a16="http://schemas.microsoft.com/office/drawing/2014/main" id="{09360C38-E8C7-E71F-222B-46D5B50399E3}"/>
              </a:ext>
            </a:extLst>
          </p:cNvPr>
          <p:cNvGrpSpPr/>
          <p:nvPr/>
        </p:nvGrpSpPr>
        <p:grpSpPr>
          <a:xfrm>
            <a:off x="6904805" y="3176495"/>
            <a:ext cx="1343648" cy="1170373"/>
            <a:chOff x="406896" y="2631752"/>
            <a:chExt cx="2145036" cy="1856649"/>
          </a:xfrm>
        </p:grpSpPr>
        <p:sp>
          <p:nvSpPr>
            <p:cNvPr id="41" name="Freeform 388">
              <a:extLst>
                <a:ext uri="{FF2B5EF4-FFF2-40B4-BE49-F238E27FC236}">
                  <a16:creationId xmlns:a16="http://schemas.microsoft.com/office/drawing/2014/main" id="{1270B8C3-43FF-F7D0-7CB2-16E356519164}"/>
                </a:ext>
              </a:extLst>
            </p:cNvPr>
            <p:cNvSpPr>
              <a:spLocks noChangeArrowheads="1"/>
            </p:cNvSpPr>
            <p:nvPr/>
          </p:nvSpPr>
          <p:spPr bwMode="auto">
            <a:xfrm>
              <a:off x="406896" y="2631752"/>
              <a:ext cx="2145036" cy="1856649"/>
            </a:xfrm>
            <a:custGeom>
              <a:avLst/>
              <a:gdLst>
                <a:gd name="T0" fmla="*/ 2193 w 3443"/>
                <a:gd name="T1" fmla="*/ 0 h 2980"/>
                <a:gd name="T2" fmla="*/ 1250 w 3443"/>
                <a:gd name="T3" fmla="*/ 0 h 2980"/>
                <a:gd name="T4" fmla="*/ 1250 w 3443"/>
                <a:gd name="T5" fmla="*/ 0 h 2980"/>
                <a:gd name="T6" fmla="*/ 586 w 3443"/>
                <a:gd name="T7" fmla="*/ 373 h 2980"/>
                <a:gd name="T8" fmla="*/ 152 w 3443"/>
                <a:gd name="T9" fmla="*/ 1085 h 2980"/>
                <a:gd name="T10" fmla="*/ 152 w 3443"/>
                <a:gd name="T11" fmla="*/ 1085 h 2980"/>
                <a:gd name="T12" fmla="*/ 152 w 3443"/>
                <a:gd name="T13" fmla="*/ 1895 h 2980"/>
                <a:gd name="T14" fmla="*/ 586 w 3443"/>
                <a:gd name="T15" fmla="*/ 2607 h 2980"/>
                <a:gd name="T16" fmla="*/ 586 w 3443"/>
                <a:gd name="T17" fmla="*/ 2607 h 2980"/>
                <a:gd name="T18" fmla="*/ 1250 w 3443"/>
                <a:gd name="T19" fmla="*/ 2979 h 2980"/>
                <a:gd name="T20" fmla="*/ 2193 w 3443"/>
                <a:gd name="T21" fmla="*/ 2979 h 2980"/>
                <a:gd name="T22" fmla="*/ 2193 w 3443"/>
                <a:gd name="T23" fmla="*/ 2979 h 2980"/>
                <a:gd name="T24" fmla="*/ 2857 w 3443"/>
                <a:gd name="T25" fmla="*/ 2607 h 2980"/>
                <a:gd name="T26" fmla="*/ 3291 w 3443"/>
                <a:gd name="T27" fmla="*/ 1895 h 2980"/>
                <a:gd name="T28" fmla="*/ 3291 w 3443"/>
                <a:gd name="T29" fmla="*/ 1895 h 2980"/>
                <a:gd name="T30" fmla="*/ 3291 w 3443"/>
                <a:gd name="T31" fmla="*/ 1085 h 2980"/>
                <a:gd name="T32" fmla="*/ 2857 w 3443"/>
                <a:gd name="T33" fmla="*/ 373 h 2980"/>
                <a:gd name="T34" fmla="*/ 2857 w 3443"/>
                <a:gd name="T35" fmla="*/ 373 h 2980"/>
                <a:gd name="T36" fmla="*/ 2193 w 3443"/>
                <a:gd name="T37" fmla="*/ 0 h 2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43" h="2980">
                  <a:moveTo>
                    <a:pt x="2193" y="0"/>
                  </a:moveTo>
                  <a:lnTo>
                    <a:pt x="1250" y="0"/>
                  </a:lnTo>
                  <a:lnTo>
                    <a:pt x="1250" y="0"/>
                  </a:lnTo>
                  <a:cubicBezTo>
                    <a:pt x="979" y="0"/>
                    <a:pt x="727" y="141"/>
                    <a:pt x="586" y="373"/>
                  </a:cubicBezTo>
                  <a:lnTo>
                    <a:pt x="152" y="1085"/>
                  </a:lnTo>
                  <a:lnTo>
                    <a:pt x="152" y="1085"/>
                  </a:lnTo>
                  <a:cubicBezTo>
                    <a:pt x="0" y="1334"/>
                    <a:pt x="0" y="1646"/>
                    <a:pt x="152" y="1895"/>
                  </a:cubicBezTo>
                  <a:lnTo>
                    <a:pt x="586" y="2607"/>
                  </a:lnTo>
                  <a:lnTo>
                    <a:pt x="586" y="2607"/>
                  </a:lnTo>
                  <a:cubicBezTo>
                    <a:pt x="727" y="2837"/>
                    <a:pt x="979" y="2979"/>
                    <a:pt x="1250" y="2979"/>
                  </a:cubicBezTo>
                  <a:lnTo>
                    <a:pt x="2193" y="2979"/>
                  </a:lnTo>
                  <a:lnTo>
                    <a:pt x="2193" y="2979"/>
                  </a:lnTo>
                  <a:cubicBezTo>
                    <a:pt x="2464" y="2979"/>
                    <a:pt x="2716" y="2837"/>
                    <a:pt x="2857" y="2607"/>
                  </a:cubicBezTo>
                  <a:lnTo>
                    <a:pt x="3291" y="1895"/>
                  </a:lnTo>
                  <a:lnTo>
                    <a:pt x="3291" y="1895"/>
                  </a:lnTo>
                  <a:cubicBezTo>
                    <a:pt x="3442" y="1646"/>
                    <a:pt x="3442" y="1334"/>
                    <a:pt x="3291" y="1085"/>
                  </a:cubicBezTo>
                  <a:lnTo>
                    <a:pt x="2857" y="373"/>
                  </a:lnTo>
                  <a:lnTo>
                    <a:pt x="2857" y="373"/>
                  </a:lnTo>
                  <a:cubicBezTo>
                    <a:pt x="2716" y="141"/>
                    <a:pt x="2464" y="0"/>
                    <a:pt x="2193" y="0"/>
                  </a:cubicBezTo>
                </a:path>
              </a:pathLst>
            </a:custGeom>
            <a:solidFill>
              <a:srgbClr val="13629C"/>
            </a:solidFill>
            <a:ln w="12700" cap="flat">
              <a:solidFill>
                <a:srgbClr val="13629C"/>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pitchFamily="2" charset="77"/>
                <a:ea typeface="+mn-ea"/>
                <a:cs typeface="+mn-cs"/>
              </a:endParaRPr>
            </a:p>
          </p:txBody>
        </p:sp>
        <p:sp>
          <p:nvSpPr>
            <p:cNvPr id="42" name="Freeform 26">
              <a:extLst>
                <a:ext uri="{FF2B5EF4-FFF2-40B4-BE49-F238E27FC236}">
                  <a16:creationId xmlns:a16="http://schemas.microsoft.com/office/drawing/2014/main" id="{2A9038C8-8569-179F-2930-9B7CC32B204A}"/>
                </a:ext>
              </a:extLst>
            </p:cNvPr>
            <p:cNvSpPr>
              <a:spLocks noChangeArrowheads="1"/>
            </p:cNvSpPr>
            <p:nvPr/>
          </p:nvSpPr>
          <p:spPr bwMode="auto">
            <a:xfrm>
              <a:off x="1091712" y="3216755"/>
              <a:ext cx="777485" cy="687771"/>
            </a:xfrm>
            <a:custGeom>
              <a:avLst/>
              <a:gdLst>
                <a:gd name="connsiteX0" fmla="*/ 1088759 w 1554970"/>
                <a:gd name="connsiteY0" fmla="*/ 1208483 h 1375541"/>
                <a:gd name="connsiteX1" fmla="*/ 1422088 w 1554970"/>
                <a:gd name="connsiteY1" fmla="*/ 1208483 h 1375541"/>
                <a:gd name="connsiteX2" fmla="*/ 1554420 w 1554970"/>
                <a:gd name="connsiteY2" fmla="*/ 1351019 h 1375541"/>
                <a:gd name="connsiteX3" fmla="*/ 1540687 w 1554970"/>
                <a:gd name="connsiteY3" fmla="*/ 1374985 h 1375541"/>
                <a:gd name="connsiteX4" fmla="*/ 1535694 w 1554970"/>
                <a:gd name="connsiteY4" fmla="*/ 1374985 h 1375541"/>
                <a:gd name="connsiteX5" fmla="*/ 1516967 w 1554970"/>
                <a:gd name="connsiteY5" fmla="*/ 1361110 h 1375541"/>
                <a:gd name="connsiteX6" fmla="*/ 1422088 w 1554970"/>
                <a:gd name="connsiteY6" fmla="*/ 1247586 h 1375541"/>
                <a:gd name="connsiteX7" fmla="*/ 1088759 w 1554970"/>
                <a:gd name="connsiteY7" fmla="*/ 1247586 h 1375541"/>
                <a:gd name="connsiteX8" fmla="*/ 993880 w 1554970"/>
                <a:gd name="connsiteY8" fmla="*/ 1361110 h 1375541"/>
                <a:gd name="connsiteX9" fmla="*/ 970160 w 1554970"/>
                <a:gd name="connsiteY9" fmla="*/ 1374985 h 1375541"/>
                <a:gd name="connsiteX10" fmla="*/ 956427 w 1554970"/>
                <a:gd name="connsiteY10" fmla="*/ 1351019 h 1375541"/>
                <a:gd name="connsiteX11" fmla="*/ 1088759 w 1554970"/>
                <a:gd name="connsiteY11" fmla="*/ 1208483 h 1375541"/>
                <a:gd name="connsiteX12" fmla="*/ 132968 w 1554970"/>
                <a:gd name="connsiteY12" fmla="*/ 1208483 h 1375541"/>
                <a:gd name="connsiteX13" fmla="*/ 465048 w 1554970"/>
                <a:gd name="connsiteY13" fmla="*/ 1208483 h 1375541"/>
                <a:gd name="connsiteX14" fmla="*/ 597380 w 1554970"/>
                <a:gd name="connsiteY14" fmla="*/ 1351019 h 1375541"/>
                <a:gd name="connsiteX15" fmla="*/ 584896 w 1554970"/>
                <a:gd name="connsiteY15" fmla="*/ 1374985 h 1375541"/>
                <a:gd name="connsiteX16" fmla="*/ 579902 w 1554970"/>
                <a:gd name="connsiteY16" fmla="*/ 1374985 h 1375541"/>
                <a:gd name="connsiteX17" fmla="*/ 561176 w 1554970"/>
                <a:gd name="connsiteY17" fmla="*/ 1361110 h 1375541"/>
                <a:gd name="connsiteX18" fmla="*/ 465048 w 1554970"/>
                <a:gd name="connsiteY18" fmla="*/ 1247586 h 1375541"/>
                <a:gd name="connsiteX19" fmla="*/ 132968 w 1554970"/>
                <a:gd name="connsiteY19" fmla="*/ 1247586 h 1375541"/>
                <a:gd name="connsiteX20" fmla="*/ 36840 w 1554970"/>
                <a:gd name="connsiteY20" fmla="*/ 1361110 h 1375541"/>
                <a:gd name="connsiteX21" fmla="*/ 13120 w 1554970"/>
                <a:gd name="connsiteY21" fmla="*/ 1374985 h 1375541"/>
                <a:gd name="connsiteX22" fmla="*/ 636 w 1554970"/>
                <a:gd name="connsiteY22" fmla="*/ 1351019 h 1375541"/>
                <a:gd name="connsiteX23" fmla="*/ 132968 w 1554970"/>
                <a:gd name="connsiteY23" fmla="*/ 1208483 h 1375541"/>
                <a:gd name="connsiteX24" fmla="*/ 940194 w 1554970"/>
                <a:gd name="connsiteY24" fmla="*/ 1065664 h 1375541"/>
                <a:gd name="connsiteX25" fmla="*/ 958217 w 1554970"/>
                <a:gd name="connsiteY25" fmla="*/ 1084203 h 1375541"/>
                <a:gd name="connsiteX26" fmla="*/ 958217 w 1554970"/>
                <a:gd name="connsiteY26" fmla="*/ 1144763 h 1375541"/>
                <a:gd name="connsiteX27" fmla="*/ 940194 w 1554970"/>
                <a:gd name="connsiteY27" fmla="*/ 1163302 h 1375541"/>
                <a:gd name="connsiteX28" fmla="*/ 920969 w 1554970"/>
                <a:gd name="connsiteY28" fmla="*/ 1144763 h 1375541"/>
                <a:gd name="connsiteX29" fmla="*/ 920969 w 1554970"/>
                <a:gd name="connsiteY29" fmla="*/ 1084203 h 1375541"/>
                <a:gd name="connsiteX30" fmla="*/ 940194 w 1554970"/>
                <a:gd name="connsiteY30" fmla="*/ 1065664 h 1375541"/>
                <a:gd name="connsiteX31" fmla="*/ 605118 w 1554970"/>
                <a:gd name="connsiteY31" fmla="*/ 1065664 h 1375541"/>
                <a:gd name="connsiteX32" fmla="*/ 623143 w 1554970"/>
                <a:gd name="connsiteY32" fmla="*/ 1084203 h 1375541"/>
                <a:gd name="connsiteX33" fmla="*/ 623143 w 1554970"/>
                <a:gd name="connsiteY33" fmla="*/ 1144763 h 1375541"/>
                <a:gd name="connsiteX34" fmla="*/ 605118 w 1554970"/>
                <a:gd name="connsiteY34" fmla="*/ 1163302 h 1375541"/>
                <a:gd name="connsiteX35" fmla="*/ 585892 w 1554970"/>
                <a:gd name="connsiteY35" fmla="*/ 1144763 h 1375541"/>
                <a:gd name="connsiteX36" fmla="*/ 585892 w 1554970"/>
                <a:gd name="connsiteY36" fmla="*/ 1084203 h 1375541"/>
                <a:gd name="connsiteX37" fmla="*/ 605118 w 1554970"/>
                <a:gd name="connsiteY37" fmla="*/ 1065664 h 1375541"/>
                <a:gd name="connsiteX38" fmla="*/ 1249923 w 1554970"/>
                <a:gd name="connsiteY38" fmla="*/ 923315 h 1375541"/>
                <a:gd name="connsiteX39" fmla="*/ 1135667 w 1554970"/>
                <a:gd name="connsiteY39" fmla="*/ 1037571 h 1375541"/>
                <a:gd name="connsiteX40" fmla="*/ 1249923 w 1554970"/>
                <a:gd name="connsiteY40" fmla="*/ 1153082 h 1375541"/>
                <a:gd name="connsiteX41" fmla="*/ 1364178 w 1554970"/>
                <a:gd name="connsiteY41" fmla="*/ 1037571 h 1375541"/>
                <a:gd name="connsiteX42" fmla="*/ 1249923 w 1554970"/>
                <a:gd name="connsiteY42" fmla="*/ 923315 h 1375541"/>
                <a:gd name="connsiteX43" fmla="*/ 299002 w 1554970"/>
                <a:gd name="connsiteY43" fmla="*/ 923315 h 1375541"/>
                <a:gd name="connsiteX44" fmla="*/ 185211 w 1554970"/>
                <a:gd name="connsiteY44" fmla="*/ 1037571 h 1375541"/>
                <a:gd name="connsiteX45" fmla="*/ 299002 w 1554970"/>
                <a:gd name="connsiteY45" fmla="*/ 1153082 h 1375541"/>
                <a:gd name="connsiteX46" fmla="*/ 414043 w 1554970"/>
                <a:gd name="connsiteY46" fmla="*/ 1037571 h 1375541"/>
                <a:gd name="connsiteX47" fmla="*/ 299002 w 1554970"/>
                <a:gd name="connsiteY47" fmla="*/ 923315 h 1375541"/>
                <a:gd name="connsiteX48" fmla="*/ 608751 w 1554970"/>
                <a:gd name="connsiteY48" fmla="*/ 895380 h 1375541"/>
                <a:gd name="connsiteX49" fmla="*/ 939050 w 1554970"/>
                <a:gd name="connsiteY49" fmla="*/ 895380 h 1375541"/>
                <a:gd name="connsiteX50" fmla="*/ 1070673 w 1554970"/>
                <a:gd name="connsiteY50" fmla="*/ 1036845 h 1375541"/>
                <a:gd name="connsiteX51" fmla="*/ 1094266 w 1554970"/>
                <a:gd name="connsiteY51" fmla="*/ 1138248 h 1375541"/>
                <a:gd name="connsiteX52" fmla="*/ 1079365 w 1554970"/>
                <a:gd name="connsiteY52" fmla="*/ 1162034 h 1375541"/>
                <a:gd name="connsiteX53" fmla="*/ 1055772 w 1554970"/>
                <a:gd name="connsiteY53" fmla="*/ 1147012 h 1375541"/>
                <a:gd name="connsiteX54" fmla="*/ 1033421 w 1554970"/>
                <a:gd name="connsiteY54" fmla="*/ 1045608 h 1375541"/>
                <a:gd name="connsiteX55" fmla="*/ 939050 w 1554970"/>
                <a:gd name="connsiteY55" fmla="*/ 934189 h 1375541"/>
                <a:gd name="connsiteX56" fmla="*/ 608751 w 1554970"/>
                <a:gd name="connsiteY56" fmla="*/ 934189 h 1375541"/>
                <a:gd name="connsiteX57" fmla="*/ 514380 w 1554970"/>
                <a:gd name="connsiteY57" fmla="*/ 1046860 h 1375541"/>
                <a:gd name="connsiteX58" fmla="*/ 488304 w 1554970"/>
                <a:gd name="connsiteY58" fmla="*/ 1148264 h 1375541"/>
                <a:gd name="connsiteX59" fmla="*/ 469678 w 1554970"/>
                <a:gd name="connsiteY59" fmla="*/ 1162034 h 1375541"/>
                <a:gd name="connsiteX60" fmla="*/ 464711 w 1554970"/>
                <a:gd name="connsiteY60" fmla="*/ 1162034 h 1375541"/>
                <a:gd name="connsiteX61" fmla="*/ 451052 w 1554970"/>
                <a:gd name="connsiteY61" fmla="*/ 1136996 h 1375541"/>
                <a:gd name="connsiteX62" fmla="*/ 477129 w 1554970"/>
                <a:gd name="connsiteY62" fmla="*/ 1036845 h 1375541"/>
                <a:gd name="connsiteX63" fmla="*/ 608751 w 1554970"/>
                <a:gd name="connsiteY63" fmla="*/ 895380 h 1375541"/>
                <a:gd name="connsiteX64" fmla="*/ 1249923 w 1554970"/>
                <a:gd name="connsiteY64" fmla="*/ 884393 h 1375541"/>
                <a:gd name="connsiteX65" fmla="*/ 1403101 w 1554970"/>
                <a:gd name="connsiteY65" fmla="*/ 1037571 h 1375541"/>
                <a:gd name="connsiteX66" fmla="*/ 1249923 w 1554970"/>
                <a:gd name="connsiteY66" fmla="*/ 1190749 h 1375541"/>
                <a:gd name="connsiteX67" fmla="*/ 1096745 w 1554970"/>
                <a:gd name="connsiteY67" fmla="*/ 1037571 h 1375541"/>
                <a:gd name="connsiteX68" fmla="*/ 1249923 w 1554970"/>
                <a:gd name="connsiteY68" fmla="*/ 884393 h 1375541"/>
                <a:gd name="connsiteX69" fmla="*/ 299002 w 1554970"/>
                <a:gd name="connsiteY69" fmla="*/ 884393 h 1375541"/>
                <a:gd name="connsiteX70" fmla="*/ 452807 w 1554970"/>
                <a:gd name="connsiteY70" fmla="*/ 1037571 h 1375541"/>
                <a:gd name="connsiteX71" fmla="*/ 299002 w 1554970"/>
                <a:gd name="connsiteY71" fmla="*/ 1190749 h 1375541"/>
                <a:gd name="connsiteX72" fmla="*/ 146447 w 1554970"/>
                <a:gd name="connsiteY72" fmla="*/ 1037571 h 1375541"/>
                <a:gd name="connsiteX73" fmla="*/ 299002 w 1554970"/>
                <a:gd name="connsiteY73" fmla="*/ 884393 h 1375541"/>
                <a:gd name="connsiteX74" fmla="*/ 453991 w 1554970"/>
                <a:gd name="connsiteY74" fmla="*/ 734172 h 1375541"/>
                <a:gd name="connsiteX75" fmla="*/ 477771 w 1554970"/>
                <a:gd name="connsiteY75" fmla="*/ 747307 h 1375541"/>
                <a:gd name="connsiteX76" fmla="*/ 464004 w 1554970"/>
                <a:gd name="connsiteY76" fmla="*/ 769996 h 1375541"/>
                <a:gd name="connsiteX77" fmla="*/ 408935 w 1554970"/>
                <a:gd name="connsiteY77" fmla="*/ 783131 h 1375541"/>
                <a:gd name="connsiteX78" fmla="*/ 403929 w 1554970"/>
                <a:gd name="connsiteY78" fmla="*/ 784325 h 1375541"/>
                <a:gd name="connsiteX79" fmla="*/ 385155 w 1554970"/>
                <a:gd name="connsiteY79" fmla="*/ 769996 h 1375541"/>
                <a:gd name="connsiteX80" fmla="*/ 398922 w 1554970"/>
                <a:gd name="connsiteY80" fmla="*/ 747307 h 1375541"/>
                <a:gd name="connsiteX81" fmla="*/ 481366 w 1554970"/>
                <a:gd name="connsiteY81" fmla="*/ 678180 h 1375541"/>
                <a:gd name="connsiteX82" fmla="*/ 505221 w 1554970"/>
                <a:gd name="connsiteY82" fmla="*/ 692047 h 1375541"/>
                <a:gd name="connsiteX83" fmla="*/ 491410 w 1554970"/>
                <a:gd name="connsiteY83" fmla="*/ 716000 h 1375541"/>
                <a:gd name="connsiteX84" fmla="*/ 359577 w 1554970"/>
                <a:gd name="connsiteY84" fmla="*/ 751300 h 1375541"/>
                <a:gd name="connsiteX85" fmla="*/ 354554 w 1554970"/>
                <a:gd name="connsiteY85" fmla="*/ 751300 h 1375541"/>
                <a:gd name="connsiteX86" fmla="*/ 335721 w 1554970"/>
                <a:gd name="connsiteY86" fmla="*/ 737432 h 1375541"/>
                <a:gd name="connsiteX87" fmla="*/ 349532 w 1554970"/>
                <a:gd name="connsiteY87" fmla="*/ 713479 h 1375541"/>
                <a:gd name="connsiteX88" fmla="*/ 1079134 w 1554970"/>
                <a:gd name="connsiteY88" fmla="*/ 656151 h 1375541"/>
                <a:gd name="connsiteX89" fmla="*/ 1150602 w 1554970"/>
                <a:gd name="connsiteY89" fmla="*/ 674648 h 1375541"/>
                <a:gd name="connsiteX90" fmla="*/ 1163140 w 1554970"/>
                <a:gd name="connsiteY90" fmla="*/ 699309 h 1375541"/>
                <a:gd name="connsiteX91" fmla="*/ 1145586 w 1554970"/>
                <a:gd name="connsiteY91" fmla="*/ 712873 h 1375541"/>
                <a:gd name="connsiteX92" fmla="*/ 1139317 w 1554970"/>
                <a:gd name="connsiteY92" fmla="*/ 712873 h 1375541"/>
                <a:gd name="connsiteX93" fmla="*/ 1069104 w 1554970"/>
                <a:gd name="connsiteY93" fmla="*/ 693144 h 1375541"/>
                <a:gd name="connsiteX94" fmla="*/ 1055312 w 1554970"/>
                <a:gd name="connsiteY94" fmla="*/ 669715 h 1375541"/>
                <a:gd name="connsiteX95" fmla="*/ 1079134 w 1554970"/>
                <a:gd name="connsiteY95" fmla="*/ 656151 h 1375541"/>
                <a:gd name="connsiteX96" fmla="*/ 463935 w 1554970"/>
                <a:gd name="connsiteY96" fmla="*/ 623725 h 1375541"/>
                <a:gd name="connsiteX97" fmla="*/ 337703 w 1554970"/>
                <a:gd name="connsiteY97" fmla="*/ 657432 h 1375541"/>
                <a:gd name="connsiteX98" fmla="*/ 341453 w 1554970"/>
                <a:gd name="connsiteY98" fmla="*/ 667419 h 1375541"/>
                <a:gd name="connsiteX99" fmla="*/ 466435 w 1554970"/>
                <a:gd name="connsiteY99" fmla="*/ 633712 h 1375541"/>
                <a:gd name="connsiteX100" fmla="*/ 773282 w 1554970"/>
                <a:gd name="connsiteY100" fmla="*/ 610052 h 1375541"/>
                <a:gd name="connsiteX101" fmla="*/ 657771 w 1554970"/>
                <a:gd name="connsiteY101" fmla="*/ 723843 h 1375541"/>
                <a:gd name="connsiteX102" fmla="*/ 773282 w 1554970"/>
                <a:gd name="connsiteY102" fmla="*/ 838885 h 1375541"/>
                <a:gd name="connsiteX103" fmla="*/ 887538 w 1554970"/>
                <a:gd name="connsiteY103" fmla="*/ 723843 h 1375541"/>
                <a:gd name="connsiteX104" fmla="*/ 773282 w 1554970"/>
                <a:gd name="connsiteY104" fmla="*/ 610052 h 1375541"/>
                <a:gd name="connsiteX105" fmla="*/ 1046306 w 1554970"/>
                <a:gd name="connsiteY105" fmla="*/ 583547 h 1375541"/>
                <a:gd name="connsiteX106" fmla="*/ 1216428 w 1554970"/>
                <a:gd name="connsiteY106" fmla="*/ 630676 h 1375541"/>
                <a:gd name="connsiteX107" fmla="*/ 1230290 w 1554970"/>
                <a:gd name="connsiteY107" fmla="*/ 654877 h 1375541"/>
                <a:gd name="connsiteX108" fmla="*/ 1211387 w 1554970"/>
                <a:gd name="connsiteY108" fmla="*/ 668888 h 1375541"/>
                <a:gd name="connsiteX109" fmla="*/ 1206347 w 1554970"/>
                <a:gd name="connsiteY109" fmla="*/ 668888 h 1375541"/>
                <a:gd name="connsiteX110" fmla="*/ 1036225 w 1554970"/>
                <a:gd name="connsiteY110" fmla="*/ 621760 h 1375541"/>
                <a:gd name="connsiteX111" fmla="*/ 1022363 w 1554970"/>
                <a:gd name="connsiteY111" fmla="*/ 598832 h 1375541"/>
                <a:gd name="connsiteX112" fmla="*/ 1046306 w 1554970"/>
                <a:gd name="connsiteY112" fmla="*/ 583547 h 1375541"/>
                <a:gd name="connsiteX113" fmla="*/ 773282 w 1554970"/>
                <a:gd name="connsiteY113" fmla="*/ 571288 h 1375541"/>
                <a:gd name="connsiteX114" fmla="*/ 925205 w 1554970"/>
                <a:gd name="connsiteY114" fmla="*/ 723843 h 1375541"/>
                <a:gd name="connsiteX115" fmla="*/ 773282 w 1554970"/>
                <a:gd name="connsiteY115" fmla="*/ 877649 h 1375541"/>
                <a:gd name="connsiteX116" fmla="*/ 618849 w 1554970"/>
                <a:gd name="connsiteY116" fmla="*/ 723843 h 1375541"/>
                <a:gd name="connsiteX117" fmla="*/ 773282 w 1554970"/>
                <a:gd name="connsiteY117" fmla="*/ 571288 h 1375541"/>
                <a:gd name="connsiteX118" fmla="*/ 1066384 w 1554970"/>
                <a:gd name="connsiteY118" fmla="*/ 504035 h 1375541"/>
                <a:gd name="connsiteX119" fmla="*/ 1060176 w 1554970"/>
                <a:gd name="connsiteY119" fmla="*/ 526525 h 1375541"/>
                <a:gd name="connsiteX120" fmla="*/ 1060176 w 1554970"/>
                <a:gd name="connsiteY120" fmla="*/ 529023 h 1375541"/>
                <a:gd name="connsiteX121" fmla="*/ 1061417 w 1554970"/>
                <a:gd name="connsiteY121" fmla="*/ 529023 h 1375541"/>
                <a:gd name="connsiteX122" fmla="*/ 1230273 w 1554970"/>
                <a:gd name="connsiteY122" fmla="*/ 574002 h 1375541"/>
                <a:gd name="connsiteX123" fmla="*/ 1231514 w 1554970"/>
                <a:gd name="connsiteY123" fmla="*/ 574002 h 1375541"/>
                <a:gd name="connsiteX124" fmla="*/ 1237722 w 1554970"/>
                <a:gd name="connsiteY124" fmla="*/ 550263 h 1375541"/>
                <a:gd name="connsiteX125" fmla="*/ 340615 w 1554970"/>
                <a:gd name="connsiteY125" fmla="*/ 282134 h 1375541"/>
                <a:gd name="connsiteX126" fmla="*/ 437278 w 1554970"/>
                <a:gd name="connsiteY126" fmla="*/ 314396 h 1375541"/>
                <a:gd name="connsiteX127" fmla="*/ 441041 w 1554970"/>
                <a:gd name="connsiteY127" fmla="*/ 342594 h 1375541"/>
                <a:gd name="connsiteX128" fmla="*/ 425989 w 1554970"/>
                <a:gd name="connsiteY128" fmla="*/ 350284 h 1375541"/>
                <a:gd name="connsiteX129" fmla="*/ 413445 w 1554970"/>
                <a:gd name="connsiteY129" fmla="*/ 346439 h 1375541"/>
                <a:gd name="connsiteX130" fmla="*/ 315607 w 1554970"/>
                <a:gd name="connsiteY130" fmla="*/ 324650 h 1375541"/>
                <a:gd name="connsiteX131" fmla="*/ 293029 w 1554970"/>
                <a:gd name="connsiteY131" fmla="*/ 311833 h 1375541"/>
                <a:gd name="connsiteX132" fmla="*/ 305572 w 1554970"/>
                <a:gd name="connsiteY132" fmla="*/ 287481 h 1375541"/>
                <a:gd name="connsiteX133" fmla="*/ 340615 w 1554970"/>
                <a:gd name="connsiteY133" fmla="*/ 282134 h 1375541"/>
                <a:gd name="connsiteX134" fmla="*/ 345202 w 1554970"/>
                <a:gd name="connsiteY134" fmla="*/ 260434 h 1375541"/>
                <a:gd name="connsiteX135" fmla="*/ 292710 w 1554970"/>
                <a:gd name="connsiteY135" fmla="*/ 267925 h 1375541"/>
                <a:gd name="connsiteX136" fmla="*/ 180226 w 1554970"/>
                <a:gd name="connsiteY136" fmla="*/ 465175 h 1375541"/>
                <a:gd name="connsiteX137" fmla="*/ 298959 w 1554970"/>
                <a:gd name="connsiteY137" fmla="*/ 588769 h 1375541"/>
                <a:gd name="connsiteX138" fmla="*/ 327705 w 1554970"/>
                <a:gd name="connsiteY138" fmla="*/ 618731 h 1375541"/>
                <a:gd name="connsiteX139" fmla="*/ 327705 w 1554970"/>
                <a:gd name="connsiteY139" fmla="*/ 619979 h 1375541"/>
                <a:gd name="connsiteX140" fmla="*/ 453937 w 1554970"/>
                <a:gd name="connsiteY140" fmla="*/ 586272 h 1375541"/>
                <a:gd name="connsiteX141" fmla="*/ 453937 w 1554970"/>
                <a:gd name="connsiteY141" fmla="*/ 585024 h 1375541"/>
                <a:gd name="connsiteX142" fmla="*/ 463935 w 1554970"/>
                <a:gd name="connsiteY142" fmla="*/ 545074 h 1375541"/>
                <a:gd name="connsiteX143" fmla="*/ 506429 w 1554970"/>
                <a:gd name="connsiteY143" fmla="*/ 384028 h 1375541"/>
                <a:gd name="connsiteX144" fmla="*/ 425191 w 1554970"/>
                <a:gd name="connsiteY144" fmla="*/ 280409 h 1375541"/>
                <a:gd name="connsiteX145" fmla="*/ 345202 w 1554970"/>
                <a:gd name="connsiteY145" fmla="*/ 260434 h 1375541"/>
                <a:gd name="connsiteX146" fmla="*/ 364106 w 1554970"/>
                <a:gd name="connsiteY146" fmla="*/ 222357 h 1375541"/>
                <a:gd name="connsiteX147" fmla="*/ 443938 w 1554970"/>
                <a:gd name="connsiteY147" fmla="*/ 246702 h 1375541"/>
                <a:gd name="connsiteX148" fmla="*/ 543924 w 1554970"/>
                <a:gd name="connsiteY148" fmla="*/ 375289 h 1375541"/>
                <a:gd name="connsiteX149" fmla="*/ 492681 w 1554970"/>
                <a:gd name="connsiteY149" fmla="*/ 572540 h 1375541"/>
                <a:gd name="connsiteX150" fmla="*/ 491431 w 1554970"/>
                <a:gd name="connsiteY150" fmla="*/ 575036 h 1375541"/>
                <a:gd name="connsiteX151" fmla="*/ 505179 w 1554970"/>
                <a:gd name="connsiteY151" fmla="*/ 626222 h 1375541"/>
                <a:gd name="connsiteX152" fmla="*/ 480183 w 1554970"/>
                <a:gd name="connsiteY152" fmla="*/ 671165 h 1375541"/>
                <a:gd name="connsiteX153" fmla="*/ 347702 w 1554970"/>
                <a:gd name="connsiteY153" fmla="*/ 706120 h 1375541"/>
                <a:gd name="connsiteX154" fmla="*/ 338953 w 1554970"/>
                <a:gd name="connsiteY154" fmla="*/ 707369 h 1375541"/>
                <a:gd name="connsiteX155" fmla="*/ 303958 w 1554970"/>
                <a:gd name="connsiteY155" fmla="*/ 681152 h 1375541"/>
                <a:gd name="connsiteX156" fmla="*/ 290210 w 1554970"/>
                <a:gd name="connsiteY156" fmla="*/ 629967 h 1375541"/>
                <a:gd name="connsiteX157" fmla="*/ 287711 w 1554970"/>
                <a:gd name="connsiteY157" fmla="*/ 626222 h 1375541"/>
                <a:gd name="connsiteX158" fmla="*/ 142731 w 1554970"/>
                <a:gd name="connsiteY158" fmla="*/ 475162 h 1375541"/>
                <a:gd name="connsiteX159" fmla="*/ 281461 w 1554970"/>
                <a:gd name="connsiteY159" fmla="*/ 231721 h 1375541"/>
                <a:gd name="connsiteX160" fmla="*/ 364106 w 1554970"/>
                <a:gd name="connsiteY160" fmla="*/ 222357 h 1375541"/>
                <a:gd name="connsiteX161" fmla="*/ 1270896 w 1554970"/>
                <a:gd name="connsiteY161" fmla="*/ 79419 h 1375541"/>
                <a:gd name="connsiteX162" fmla="*/ 1393940 w 1554970"/>
                <a:gd name="connsiteY162" fmla="*/ 190918 h 1375541"/>
                <a:gd name="connsiteX163" fmla="*/ 1382866 w 1554970"/>
                <a:gd name="connsiteY163" fmla="*/ 217227 h 1375541"/>
                <a:gd name="connsiteX164" fmla="*/ 1376713 w 1554970"/>
                <a:gd name="connsiteY164" fmla="*/ 218480 h 1375541"/>
                <a:gd name="connsiteX165" fmla="*/ 1358257 w 1554970"/>
                <a:gd name="connsiteY165" fmla="*/ 205952 h 1375541"/>
                <a:gd name="connsiteX166" fmla="*/ 1261053 w 1554970"/>
                <a:gd name="connsiteY166" fmla="*/ 117003 h 1375541"/>
                <a:gd name="connsiteX167" fmla="*/ 1247518 w 1554970"/>
                <a:gd name="connsiteY167" fmla="*/ 93200 h 1375541"/>
                <a:gd name="connsiteX168" fmla="*/ 1270896 w 1554970"/>
                <a:gd name="connsiteY168" fmla="*/ 79419 h 1375541"/>
                <a:gd name="connsiteX169" fmla="*/ 1224065 w 1554970"/>
                <a:gd name="connsiteY169" fmla="*/ 39259 h 1375541"/>
                <a:gd name="connsiteX170" fmla="*/ 1012996 w 1554970"/>
                <a:gd name="connsiteY170" fmla="*/ 195434 h 1375541"/>
                <a:gd name="connsiteX171" fmla="*/ 1066384 w 1554970"/>
                <a:gd name="connsiteY171" fmla="*/ 414079 h 1375541"/>
                <a:gd name="connsiteX172" fmla="*/ 1077558 w 1554970"/>
                <a:gd name="connsiteY172" fmla="*/ 460306 h 1375541"/>
                <a:gd name="connsiteX173" fmla="*/ 1076316 w 1554970"/>
                <a:gd name="connsiteY173" fmla="*/ 466553 h 1375541"/>
                <a:gd name="connsiteX174" fmla="*/ 1247655 w 1554970"/>
                <a:gd name="connsiteY174" fmla="*/ 512781 h 1375541"/>
                <a:gd name="connsiteX175" fmla="*/ 1248897 w 1554970"/>
                <a:gd name="connsiteY175" fmla="*/ 506534 h 1375541"/>
                <a:gd name="connsiteX176" fmla="*/ 1282419 w 1554970"/>
                <a:gd name="connsiteY176" fmla="*/ 472800 h 1375541"/>
                <a:gd name="connsiteX177" fmla="*/ 1435134 w 1554970"/>
                <a:gd name="connsiteY177" fmla="*/ 316626 h 1375541"/>
                <a:gd name="connsiteX178" fmla="*/ 1411544 w 1554970"/>
                <a:gd name="connsiteY178" fmla="*/ 145458 h 1375541"/>
                <a:gd name="connsiteX179" fmla="*/ 1270004 w 1554970"/>
                <a:gd name="connsiteY179" fmla="*/ 44257 h 1375541"/>
                <a:gd name="connsiteX180" fmla="*/ 1224065 w 1554970"/>
                <a:gd name="connsiteY180" fmla="*/ 39259 h 1375541"/>
                <a:gd name="connsiteX181" fmla="*/ 1229521 w 1554970"/>
                <a:gd name="connsiteY181" fmla="*/ 33 h 1375541"/>
                <a:gd name="connsiteX182" fmla="*/ 1278695 w 1554970"/>
                <a:gd name="connsiteY182" fmla="*/ 5526 h 1375541"/>
                <a:gd name="connsiteX183" fmla="*/ 1443825 w 1554970"/>
                <a:gd name="connsiteY183" fmla="*/ 125468 h 1375541"/>
                <a:gd name="connsiteX184" fmla="*/ 1472382 w 1554970"/>
                <a:gd name="connsiteY184" fmla="*/ 327870 h 1375541"/>
                <a:gd name="connsiteX185" fmla="*/ 1472382 w 1554970"/>
                <a:gd name="connsiteY185" fmla="*/ 326621 h 1375541"/>
                <a:gd name="connsiteX186" fmla="*/ 1292352 w 1554970"/>
                <a:gd name="connsiteY186" fmla="*/ 510282 h 1375541"/>
                <a:gd name="connsiteX187" fmla="*/ 1286144 w 1554970"/>
                <a:gd name="connsiteY187" fmla="*/ 516529 h 1375541"/>
                <a:gd name="connsiteX188" fmla="*/ 1268762 w 1554970"/>
                <a:gd name="connsiteY188" fmla="*/ 583997 h 1375541"/>
                <a:gd name="connsiteX189" fmla="*/ 1250138 w 1554970"/>
                <a:gd name="connsiteY189" fmla="*/ 607736 h 1375541"/>
                <a:gd name="connsiteX190" fmla="*/ 1230273 w 1554970"/>
                <a:gd name="connsiteY190" fmla="*/ 613983 h 1375541"/>
                <a:gd name="connsiteX191" fmla="*/ 1219099 w 1554970"/>
                <a:gd name="connsiteY191" fmla="*/ 611484 h 1375541"/>
                <a:gd name="connsiteX192" fmla="*/ 1051485 w 1554970"/>
                <a:gd name="connsiteY192" fmla="*/ 566505 h 1375541"/>
                <a:gd name="connsiteX193" fmla="*/ 1026653 w 1554970"/>
                <a:gd name="connsiteY193" fmla="*/ 547764 h 1375541"/>
                <a:gd name="connsiteX194" fmla="*/ 1022928 w 1554970"/>
                <a:gd name="connsiteY194" fmla="*/ 516529 h 1375541"/>
                <a:gd name="connsiteX195" fmla="*/ 1040310 w 1554970"/>
                <a:gd name="connsiteY195" fmla="*/ 450311 h 1375541"/>
                <a:gd name="connsiteX196" fmla="*/ 1039069 w 1554970"/>
                <a:gd name="connsiteY196" fmla="*/ 441565 h 1375541"/>
                <a:gd name="connsiteX197" fmla="*/ 975748 w 1554970"/>
                <a:gd name="connsiteY197" fmla="*/ 184189 h 1375541"/>
                <a:gd name="connsiteX198" fmla="*/ 1229521 w 1554970"/>
                <a:gd name="connsiteY198" fmla="*/ 33 h 1375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554970" h="1375541">
                  <a:moveTo>
                    <a:pt x="1088759" y="1208483"/>
                  </a:moveTo>
                  <a:lnTo>
                    <a:pt x="1422088" y="1208483"/>
                  </a:lnTo>
                  <a:cubicBezTo>
                    <a:pt x="1503235" y="1208483"/>
                    <a:pt x="1523209" y="1240018"/>
                    <a:pt x="1554420" y="1351019"/>
                  </a:cubicBezTo>
                  <a:cubicBezTo>
                    <a:pt x="1556917" y="1361110"/>
                    <a:pt x="1550675" y="1371201"/>
                    <a:pt x="1540687" y="1374985"/>
                  </a:cubicBezTo>
                  <a:cubicBezTo>
                    <a:pt x="1539439" y="1374985"/>
                    <a:pt x="1536942" y="1374985"/>
                    <a:pt x="1535694" y="1374985"/>
                  </a:cubicBezTo>
                  <a:cubicBezTo>
                    <a:pt x="1526955" y="1374985"/>
                    <a:pt x="1519464" y="1369940"/>
                    <a:pt x="1516967" y="1361110"/>
                  </a:cubicBezTo>
                  <a:cubicBezTo>
                    <a:pt x="1485757" y="1247586"/>
                    <a:pt x="1470776" y="1247586"/>
                    <a:pt x="1422088" y="1247586"/>
                  </a:cubicBezTo>
                  <a:lnTo>
                    <a:pt x="1088759" y="1247586"/>
                  </a:lnTo>
                  <a:cubicBezTo>
                    <a:pt x="1040071" y="1247586"/>
                    <a:pt x="1025090" y="1247586"/>
                    <a:pt x="993880" y="1361110"/>
                  </a:cubicBezTo>
                  <a:cubicBezTo>
                    <a:pt x="991383" y="1371201"/>
                    <a:pt x="980147" y="1377508"/>
                    <a:pt x="970160" y="1374985"/>
                  </a:cubicBezTo>
                  <a:cubicBezTo>
                    <a:pt x="960172" y="1371201"/>
                    <a:pt x="953930" y="1361110"/>
                    <a:pt x="956427" y="1351019"/>
                  </a:cubicBezTo>
                  <a:cubicBezTo>
                    <a:pt x="987637" y="1240018"/>
                    <a:pt x="1008861" y="1208483"/>
                    <a:pt x="1088759" y="1208483"/>
                  </a:cubicBezTo>
                  <a:close/>
                  <a:moveTo>
                    <a:pt x="132968" y="1208483"/>
                  </a:moveTo>
                  <a:lnTo>
                    <a:pt x="465048" y="1208483"/>
                  </a:lnTo>
                  <a:cubicBezTo>
                    <a:pt x="544947" y="1208483"/>
                    <a:pt x="567418" y="1240018"/>
                    <a:pt x="597380" y="1351019"/>
                  </a:cubicBezTo>
                  <a:cubicBezTo>
                    <a:pt x="601125" y="1361110"/>
                    <a:pt x="594883" y="1371201"/>
                    <a:pt x="584896" y="1374985"/>
                  </a:cubicBezTo>
                  <a:cubicBezTo>
                    <a:pt x="582399" y="1374985"/>
                    <a:pt x="581151" y="1374985"/>
                    <a:pt x="579902" y="1374985"/>
                  </a:cubicBezTo>
                  <a:cubicBezTo>
                    <a:pt x="571163" y="1374985"/>
                    <a:pt x="563673" y="1369940"/>
                    <a:pt x="561176" y="1361110"/>
                  </a:cubicBezTo>
                  <a:cubicBezTo>
                    <a:pt x="528717" y="1247586"/>
                    <a:pt x="514984" y="1247586"/>
                    <a:pt x="465048" y="1247586"/>
                  </a:cubicBezTo>
                  <a:lnTo>
                    <a:pt x="132968" y="1247586"/>
                  </a:lnTo>
                  <a:cubicBezTo>
                    <a:pt x="84280" y="1247586"/>
                    <a:pt x="69299" y="1247586"/>
                    <a:pt x="36840" y="1361110"/>
                  </a:cubicBezTo>
                  <a:cubicBezTo>
                    <a:pt x="34343" y="1371201"/>
                    <a:pt x="24356" y="1377508"/>
                    <a:pt x="13120" y="1374985"/>
                  </a:cubicBezTo>
                  <a:cubicBezTo>
                    <a:pt x="3133" y="1371201"/>
                    <a:pt x="-1861" y="1361110"/>
                    <a:pt x="636" y="1351019"/>
                  </a:cubicBezTo>
                  <a:cubicBezTo>
                    <a:pt x="30598" y="1240018"/>
                    <a:pt x="51821" y="1208483"/>
                    <a:pt x="132968" y="1208483"/>
                  </a:cubicBezTo>
                  <a:close/>
                  <a:moveTo>
                    <a:pt x="940194" y="1065664"/>
                  </a:moveTo>
                  <a:cubicBezTo>
                    <a:pt x="949806" y="1065664"/>
                    <a:pt x="958217" y="1073080"/>
                    <a:pt x="958217" y="1084203"/>
                  </a:cubicBezTo>
                  <a:lnTo>
                    <a:pt x="958217" y="1144763"/>
                  </a:lnTo>
                  <a:cubicBezTo>
                    <a:pt x="958217" y="1154651"/>
                    <a:pt x="949806" y="1163302"/>
                    <a:pt x="940194" y="1163302"/>
                  </a:cubicBezTo>
                  <a:cubicBezTo>
                    <a:pt x="929380" y="1163302"/>
                    <a:pt x="920969" y="1154651"/>
                    <a:pt x="920969" y="1144763"/>
                  </a:cubicBezTo>
                  <a:lnTo>
                    <a:pt x="920969" y="1084203"/>
                  </a:lnTo>
                  <a:cubicBezTo>
                    <a:pt x="920969" y="1073080"/>
                    <a:pt x="929380" y="1065664"/>
                    <a:pt x="940194" y="1065664"/>
                  </a:cubicBezTo>
                  <a:close/>
                  <a:moveTo>
                    <a:pt x="605118" y="1065664"/>
                  </a:moveTo>
                  <a:cubicBezTo>
                    <a:pt x="615933" y="1065664"/>
                    <a:pt x="623143" y="1073080"/>
                    <a:pt x="623143" y="1084203"/>
                  </a:cubicBezTo>
                  <a:lnTo>
                    <a:pt x="623143" y="1144763"/>
                  </a:lnTo>
                  <a:cubicBezTo>
                    <a:pt x="623143" y="1154651"/>
                    <a:pt x="615933" y="1163302"/>
                    <a:pt x="605118" y="1163302"/>
                  </a:cubicBezTo>
                  <a:cubicBezTo>
                    <a:pt x="594303" y="1163302"/>
                    <a:pt x="585892" y="1154651"/>
                    <a:pt x="585892" y="1144763"/>
                  </a:cubicBezTo>
                  <a:lnTo>
                    <a:pt x="585892" y="1084203"/>
                  </a:lnTo>
                  <a:cubicBezTo>
                    <a:pt x="585892" y="1073080"/>
                    <a:pt x="594303" y="1065664"/>
                    <a:pt x="605118" y="1065664"/>
                  </a:cubicBezTo>
                  <a:close/>
                  <a:moveTo>
                    <a:pt x="1249923" y="923315"/>
                  </a:moveTo>
                  <a:cubicBezTo>
                    <a:pt x="1187145" y="923315"/>
                    <a:pt x="1135667" y="974793"/>
                    <a:pt x="1135667" y="1037571"/>
                  </a:cubicBezTo>
                  <a:cubicBezTo>
                    <a:pt x="1135667" y="1101604"/>
                    <a:pt x="1187145" y="1153082"/>
                    <a:pt x="1249923" y="1153082"/>
                  </a:cubicBezTo>
                  <a:cubicBezTo>
                    <a:pt x="1312701" y="1153082"/>
                    <a:pt x="1364178" y="1101604"/>
                    <a:pt x="1364178" y="1037571"/>
                  </a:cubicBezTo>
                  <a:cubicBezTo>
                    <a:pt x="1364178" y="974793"/>
                    <a:pt x="1312701" y="923315"/>
                    <a:pt x="1249923" y="923315"/>
                  </a:cubicBezTo>
                  <a:close/>
                  <a:moveTo>
                    <a:pt x="299002" y="923315"/>
                  </a:moveTo>
                  <a:cubicBezTo>
                    <a:pt x="236479" y="923315"/>
                    <a:pt x="185211" y="974793"/>
                    <a:pt x="185211" y="1037571"/>
                  </a:cubicBezTo>
                  <a:cubicBezTo>
                    <a:pt x="185211" y="1101604"/>
                    <a:pt x="236479" y="1153082"/>
                    <a:pt x="299002" y="1153082"/>
                  </a:cubicBezTo>
                  <a:cubicBezTo>
                    <a:pt x="362775" y="1153082"/>
                    <a:pt x="414043" y="1101604"/>
                    <a:pt x="414043" y="1037571"/>
                  </a:cubicBezTo>
                  <a:cubicBezTo>
                    <a:pt x="414043" y="974793"/>
                    <a:pt x="362775" y="923315"/>
                    <a:pt x="299002" y="923315"/>
                  </a:cubicBezTo>
                  <a:close/>
                  <a:moveTo>
                    <a:pt x="608751" y="895380"/>
                  </a:moveTo>
                  <a:lnTo>
                    <a:pt x="939050" y="895380"/>
                  </a:lnTo>
                  <a:cubicBezTo>
                    <a:pt x="1019762" y="895380"/>
                    <a:pt x="1040872" y="926678"/>
                    <a:pt x="1070673" y="1036845"/>
                  </a:cubicBezTo>
                  <a:lnTo>
                    <a:pt x="1094266" y="1138248"/>
                  </a:lnTo>
                  <a:cubicBezTo>
                    <a:pt x="1095507" y="1149515"/>
                    <a:pt x="1089299" y="1159531"/>
                    <a:pt x="1079365" y="1162034"/>
                  </a:cubicBezTo>
                  <a:cubicBezTo>
                    <a:pt x="1068190" y="1163286"/>
                    <a:pt x="1058256" y="1157027"/>
                    <a:pt x="1055772" y="1147012"/>
                  </a:cubicBezTo>
                  <a:lnTo>
                    <a:pt x="1033421" y="1045608"/>
                  </a:lnTo>
                  <a:cubicBezTo>
                    <a:pt x="1002378" y="934189"/>
                    <a:pt x="987477" y="934189"/>
                    <a:pt x="939050" y="934189"/>
                  </a:cubicBezTo>
                  <a:lnTo>
                    <a:pt x="608751" y="934189"/>
                  </a:lnTo>
                  <a:cubicBezTo>
                    <a:pt x="560324" y="934189"/>
                    <a:pt x="545423" y="934189"/>
                    <a:pt x="514380" y="1046860"/>
                  </a:cubicBezTo>
                  <a:lnTo>
                    <a:pt x="488304" y="1148264"/>
                  </a:lnTo>
                  <a:cubicBezTo>
                    <a:pt x="485821" y="1155775"/>
                    <a:pt x="478370" y="1162034"/>
                    <a:pt x="469678" y="1162034"/>
                  </a:cubicBezTo>
                  <a:cubicBezTo>
                    <a:pt x="467195" y="1162034"/>
                    <a:pt x="465953" y="1162034"/>
                    <a:pt x="464711" y="1162034"/>
                  </a:cubicBezTo>
                  <a:cubicBezTo>
                    <a:pt x="453536" y="1159531"/>
                    <a:pt x="448569" y="1148264"/>
                    <a:pt x="451052" y="1136996"/>
                  </a:cubicBezTo>
                  <a:lnTo>
                    <a:pt x="477129" y="1036845"/>
                  </a:lnTo>
                  <a:cubicBezTo>
                    <a:pt x="506930" y="926678"/>
                    <a:pt x="529281" y="895380"/>
                    <a:pt x="608751" y="895380"/>
                  </a:cubicBezTo>
                  <a:close/>
                  <a:moveTo>
                    <a:pt x="1249923" y="884393"/>
                  </a:moveTo>
                  <a:cubicBezTo>
                    <a:pt x="1334045" y="884393"/>
                    <a:pt x="1403101" y="952193"/>
                    <a:pt x="1403101" y="1037571"/>
                  </a:cubicBezTo>
                  <a:cubicBezTo>
                    <a:pt x="1403101" y="1122949"/>
                    <a:pt x="1334045" y="1190749"/>
                    <a:pt x="1249923" y="1190749"/>
                  </a:cubicBezTo>
                  <a:cubicBezTo>
                    <a:pt x="1164545" y="1190749"/>
                    <a:pt x="1096745" y="1122949"/>
                    <a:pt x="1096745" y="1037571"/>
                  </a:cubicBezTo>
                  <a:cubicBezTo>
                    <a:pt x="1096745" y="952193"/>
                    <a:pt x="1164545" y="884393"/>
                    <a:pt x="1249923" y="884393"/>
                  </a:cubicBezTo>
                  <a:close/>
                  <a:moveTo>
                    <a:pt x="299002" y="884393"/>
                  </a:moveTo>
                  <a:cubicBezTo>
                    <a:pt x="384033" y="884393"/>
                    <a:pt x="452807" y="952193"/>
                    <a:pt x="452807" y="1037571"/>
                  </a:cubicBezTo>
                  <a:cubicBezTo>
                    <a:pt x="452807" y="1122949"/>
                    <a:pt x="384033" y="1190749"/>
                    <a:pt x="299002" y="1190749"/>
                  </a:cubicBezTo>
                  <a:cubicBezTo>
                    <a:pt x="215222" y="1190749"/>
                    <a:pt x="146447" y="1122949"/>
                    <a:pt x="146447" y="1037571"/>
                  </a:cubicBezTo>
                  <a:cubicBezTo>
                    <a:pt x="146447" y="952193"/>
                    <a:pt x="215222" y="884393"/>
                    <a:pt x="299002" y="884393"/>
                  </a:cubicBezTo>
                  <a:close/>
                  <a:moveTo>
                    <a:pt x="453991" y="734172"/>
                  </a:moveTo>
                  <a:cubicBezTo>
                    <a:pt x="464004" y="730589"/>
                    <a:pt x="475268" y="736560"/>
                    <a:pt x="477771" y="747307"/>
                  </a:cubicBezTo>
                  <a:cubicBezTo>
                    <a:pt x="480274" y="756860"/>
                    <a:pt x="474016" y="766413"/>
                    <a:pt x="464004" y="769996"/>
                  </a:cubicBezTo>
                  <a:lnTo>
                    <a:pt x="408935" y="783131"/>
                  </a:lnTo>
                  <a:cubicBezTo>
                    <a:pt x="407683" y="783131"/>
                    <a:pt x="405180" y="784325"/>
                    <a:pt x="403929" y="784325"/>
                  </a:cubicBezTo>
                  <a:cubicBezTo>
                    <a:pt x="395168" y="784325"/>
                    <a:pt x="387658" y="778354"/>
                    <a:pt x="385155" y="769996"/>
                  </a:cubicBezTo>
                  <a:cubicBezTo>
                    <a:pt x="382652" y="761637"/>
                    <a:pt x="388910" y="750889"/>
                    <a:pt x="398922" y="747307"/>
                  </a:cubicBezTo>
                  <a:close/>
                  <a:moveTo>
                    <a:pt x="481366" y="678180"/>
                  </a:moveTo>
                  <a:cubicBezTo>
                    <a:pt x="491410" y="675658"/>
                    <a:pt x="502710" y="681962"/>
                    <a:pt x="505221" y="692047"/>
                  </a:cubicBezTo>
                  <a:cubicBezTo>
                    <a:pt x="507732" y="702133"/>
                    <a:pt x="501455" y="713479"/>
                    <a:pt x="491410" y="716000"/>
                  </a:cubicBezTo>
                  <a:lnTo>
                    <a:pt x="359577" y="751300"/>
                  </a:lnTo>
                  <a:cubicBezTo>
                    <a:pt x="358321" y="751300"/>
                    <a:pt x="357065" y="751300"/>
                    <a:pt x="354554" y="751300"/>
                  </a:cubicBezTo>
                  <a:cubicBezTo>
                    <a:pt x="345765" y="751300"/>
                    <a:pt x="338232" y="746257"/>
                    <a:pt x="335721" y="737432"/>
                  </a:cubicBezTo>
                  <a:cubicBezTo>
                    <a:pt x="333210" y="727346"/>
                    <a:pt x="339488" y="716000"/>
                    <a:pt x="349532" y="713479"/>
                  </a:cubicBezTo>
                  <a:close/>
                  <a:moveTo>
                    <a:pt x="1079134" y="656151"/>
                  </a:moveTo>
                  <a:lnTo>
                    <a:pt x="1150602" y="674648"/>
                  </a:lnTo>
                  <a:cubicBezTo>
                    <a:pt x="1160632" y="677114"/>
                    <a:pt x="1166901" y="688212"/>
                    <a:pt x="1163140" y="699309"/>
                  </a:cubicBezTo>
                  <a:cubicBezTo>
                    <a:pt x="1160632" y="706708"/>
                    <a:pt x="1153109" y="712873"/>
                    <a:pt x="1145586" y="712873"/>
                  </a:cubicBezTo>
                  <a:cubicBezTo>
                    <a:pt x="1143079" y="712873"/>
                    <a:pt x="1141825" y="712873"/>
                    <a:pt x="1139317" y="712873"/>
                  </a:cubicBezTo>
                  <a:lnTo>
                    <a:pt x="1069104" y="693144"/>
                  </a:lnTo>
                  <a:cubicBezTo>
                    <a:pt x="1059073" y="690678"/>
                    <a:pt x="1052804" y="679580"/>
                    <a:pt x="1055312" y="669715"/>
                  </a:cubicBezTo>
                  <a:cubicBezTo>
                    <a:pt x="1059073" y="659851"/>
                    <a:pt x="1069104" y="653685"/>
                    <a:pt x="1079134" y="656151"/>
                  </a:cubicBezTo>
                  <a:close/>
                  <a:moveTo>
                    <a:pt x="463935" y="623725"/>
                  </a:moveTo>
                  <a:lnTo>
                    <a:pt x="337703" y="657432"/>
                  </a:lnTo>
                  <a:lnTo>
                    <a:pt x="341453" y="667419"/>
                  </a:lnTo>
                  <a:lnTo>
                    <a:pt x="466435" y="633712"/>
                  </a:lnTo>
                  <a:close/>
                  <a:moveTo>
                    <a:pt x="773282" y="610052"/>
                  </a:moveTo>
                  <a:cubicBezTo>
                    <a:pt x="709249" y="610052"/>
                    <a:pt x="657771" y="661321"/>
                    <a:pt x="657771" y="723843"/>
                  </a:cubicBezTo>
                  <a:cubicBezTo>
                    <a:pt x="657771" y="786366"/>
                    <a:pt x="709249" y="838885"/>
                    <a:pt x="773282" y="838885"/>
                  </a:cubicBezTo>
                  <a:cubicBezTo>
                    <a:pt x="836060" y="838885"/>
                    <a:pt x="887538" y="786366"/>
                    <a:pt x="887538" y="723843"/>
                  </a:cubicBezTo>
                  <a:cubicBezTo>
                    <a:pt x="887538" y="661321"/>
                    <a:pt x="836060" y="610052"/>
                    <a:pt x="773282" y="610052"/>
                  </a:cubicBezTo>
                  <a:close/>
                  <a:moveTo>
                    <a:pt x="1046306" y="583547"/>
                  </a:moveTo>
                  <a:lnTo>
                    <a:pt x="1216428" y="630676"/>
                  </a:lnTo>
                  <a:cubicBezTo>
                    <a:pt x="1226509" y="633223"/>
                    <a:pt x="1232810" y="643413"/>
                    <a:pt x="1230290" y="654877"/>
                  </a:cubicBezTo>
                  <a:cubicBezTo>
                    <a:pt x="1227769" y="662520"/>
                    <a:pt x="1220208" y="668888"/>
                    <a:pt x="1211387" y="668888"/>
                  </a:cubicBezTo>
                  <a:cubicBezTo>
                    <a:pt x="1210127" y="668888"/>
                    <a:pt x="1207607" y="668888"/>
                    <a:pt x="1206347" y="668888"/>
                  </a:cubicBezTo>
                  <a:lnTo>
                    <a:pt x="1036225" y="621760"/>
                  </a:lnTo>
                  <a:cubicBezTo>
                    <a:pt x="1026144" y="619212"/>
                    <a:pt x="1019843" y="607748"/>
                    <a:pt x="1022363" y="598832"/>
                  </a:cubicBezTo>
                  <a:cubicBezTo>
                    <a:pt x="1026144" y="588642"/>
                    <a:pt x="1036225" y="582273"/>
                    <a:pt x="1046306" y="583547"/>
                  </a:cubicBezTo>
                  <a:close/>
                  <a:moveTo>
                    <a:pt x="773282" y="571288"/>
                  </a:moveTo>
                  <a:cubicBezTo>
                    <a:pt x="857405" y="571288"/>
                    <a:pt x="925205" y="640063"/>
                    <a:pt x="925205" y="723843"/>
                  </a:cubicBezTo>
                  <a:cubicBezTo>
                    <a:pt x="925205" y="808874"/>
                    <a:pt x="857405" y="877649"/>
                    <a:pt x="773282" y="877649"/>
                  </a:cubicBezTo>
                  <a:cubicBezTo>
                    <a:pt x="687905" y="877649"/>
                    <a:pt x="618849" y="808874"/>
                    <a:pt x="618849" y="723843"/>
                  </a:cubicBezTo>
                  <a:cubicBezTo>
                    <a:pt x="618849" y="640063"/>
                    <a:pt x="687905" y="571288"/>
                    <a:pt x="773282" y="571288"/>
                  </a:cubicBezTo>
                  <a:close/>
                  <a:moveTo>
                    <a:pt x="1066384" y="504035"/>
                  </a:moveTo>
                  <a:lnTo>
                    <a:pt x="1060176" y="526525"/>
                  </a:lnTo>
                  <a:cubicBezTo>
                    <a:pt x="1060176" y="526525"/>
                    <a:pt x="1060176" y="527774"/>
                    <a:pt x="1060176" y="529023"/>
                  </a:cubicBezTo>
                  <a:lnTo>
                    <a:pt x="1061417" y="529023"/>
                  </a:lnTo>
                  <a:lnTo>
                    <a:pt x="1230273" y="574002"/>
                  </a:lnTo>
                  <a:cubicBezTo>
                    <a:pt x="1230273" y="575251"/>
                    <a:pt x="1230273" y="574002"/>
                    <a:pt x="1231514" y="574002"/>
                  </a:cubicBezTo>
                  <a:lnTo>
                    <a:pt x="1237722" y="550263"/>
                  </a:lnTo>
                  <a:close/>
                  <a:moveTo>
                    <a:pt x="340615" y="282134"/>
                  </a:moveTo>
                  <a:cubicBezTo>
                    <a:pt x="375659" y="280992"/>
                    <a:pt x="409996" y="292287"/>
                    <a:pt x="437278" y="314396"/>
                  </a:cubicBezTo>
                  <a:cubicBezTo>
                    <a:pt x="446058" y="322087"/>
                    <a:pt x="447313" y="333622"/>
                    <a:pt x="441041" y="342594"/>
                  </a:cubicBezTo>
                  <a:cubicBezTo>
                    <a:pt x="437278" y="347721"/>
                    <a:pt x="431006" y="350284"/>
                    <a:pt x="425989" y="350284"/>
                  </a:cubicBezTo>
                  <a:cubicBezTo>
                    <a:pt x="420971" y="350284"/>
                    <a:pt x="417208" y="349002"/>
                    <a:pt x="413445" y="346439"/>
                  </a:cubicBezTo>
                  <a:cubicBezTo>
                    <a:pt x="385850" y="323368"/>
                    <a:pt x="350728" y="315678"/>
                    <a:pt x="315607" y="324650"/>
                  </a:cubicBezTo>
                  <a:cubicBezTo>
                    <a:pt x="305572" y="328495"/>
                    <a:pt x="294283" y="322087"/>
                    <a:pt x="293029" y="311833"/>
                  </a:cubicBezTo>
                  <a:cubicBezTo>
                    <a:pt x="289266" y="300298"/>
                    <a:pt x="295538" y="290044"/>
                    <a:pt x="305572" y="287481"/>
                  </a:cubicBezTo>
                  <a:cubicBezTo>
                    <a:pt x="317175" y="284277"/>
                    <a:pt x="328934" y="282514"/>
                    <a:pt x="340615" y="282134"/>
                  </a:cubicBezTo>
                  <a:close/>
                  <a:moveTo>
                    <a:pt x="345202" y="260434"/>
                  </a:moveTo>
                  <a:cubicBezTo>
                    <a:pt x="327705" y="260434"/>
                    <a:pt x="308958" y="262931"/>
                    <a:pt x="292710" y="267925"/>
                  </a:cubicBezTo>
                  <a:cubicBezTo>
                    <a:pt x="210222" y="294142"/>
                    <a:pt x="160229" y="381531"/>
                    <a:pt x="180226" y="465175"/>
                  </a:cubicBezTo>
                  <a:cubicBezTo>
                    <a:pt x="193974" y="526348"/>
                    <a:pt x="238968" y="573788"/>
                    <a:pt x="298959" y="588769"/>
                  </a:cubicBezTo>
                  <a:cubicBezTo>
                    <a:pt x="312707" y="593763"/>
                    <a:pt x="323955" y="604998"/>
                    <a:pt x="327705" y="618731"/>
                  </a:cubicBezTo>
                  <a:lnTo>
                    <a:pt x="327705" y="619979"/>
                  </a:lnTo>
                  <a:lnTo>
                    <a:pt x="453937" y="586272"/>
                  </a:lnTo>
                  <a:lnTo>
                    <a:pt x="453937" y="585024"/>
                  </a:lnTo>
                  <a:cubicBezTo>
                    <a:pt x="450187" y="571291"/>
                    <a:pt x="453937" y="555061"/>
                    <a:pt x="463935" y="545074"/>
                  </a:cubicBezTo>
                  <a:cubicBezTo>
                    <a:pt x="506429" y="502628"/>
                    <a:pt x="522677" y="441455"/>
                    <a:pt x="506429" y="384028"/>
                  </a:cubicBezTo>
                  <a:cubicBezTo>
                    <a:pt x="495181" y="339085"/>
                    <a:pt x="465185" y="302881"/>
                    <a:pt x="425191" y="280409"/>
                  </a:cubicBezTo>
                  <a:cubicBezTo>
                    <a:pt x="400194" y="266676"/>
                    <a:pt x="372698" y="260434"/>
                    <a:pt x="345202" y="260434"/>
                  </a:cubicBezTo>
                  <a:close/>
                  <a:moveTo>
                    <a:pt x="364106" y="222357"/>
                  </a:moveTo>
                  <a:cubicBezTo>
                    <a:pt x="391758" y="224854"/>
                    <a:pt x="418942" y="232969"/>
                    <a:pt x="443938" y="246702"/>
                  </a:cubicBezTo>
                  <a:cubicBezTo>
                    <a:pt x="492681" y="274167"/>
                    <a:pt x="528926" y="319110"/>
                    <a:pt x="543924" y="375289"/>
                  </a:cubicBezTo>
                  <a:cubicBezTo>
                    <a:pt x="562671" y="443952"/>
                    <a:pt x="542674" y="520105"/>
                    <a:pt x="492681" y="572540"/>
                  </a:cubicBezTo>
                  <a:cubicBezTo>
                    <a:pt x="491431" y="573788"/>
                    <a:pt x="490181" y="573788"/>
                    <a:pt x="491431" y="575036"/>
                  </a:cubicBezTo>
                  <a:lnTo>
                    <a:pt x="505179" y="626222"/>
                  </a:lnTo>
                  <a:cubicBezTo>
                    <a:pt x="510179" y="646196"/>
                    <a:pt x="498930" y="666171"/>
                    <a:pt x="480183" y="671165"/>
                  </a:cubicBezTo>
                  <a:lnTo>
                    <a:pt x="347702" y="706120"/>
                  </a:lnTo>
                  <a:cubicBezTo>
                    <a:pt x="345202" y="706120"/>
                    <a:pt x="341453" y="707369"/>
                    <a:pt x="338953" y="707369"/>
                  </a:cubicBezTo>
                  <a:cubicBezTo>
                    <a:pt x="323955" y="707369"/>
                    <a:pt x="308958" y="697381"/>
                    <a:pt x="303958" y="681152"/>
                  </a:cubicBezTo>
                  <a:lnTo>
                    <a:pt x="290210" y="629967"/>
                  </a:lnTo>
                  <a:cubicBezTo>
                    <a:pt x="290210" y="628718"/>
                    <a:pt x="288960" y="626222"/>
                    <a:pt x="287711" y="626222"/>
                  </a:cubicBezTo>
                  <a:cubicBezTo>
                    <a:pt x="215221" y="606247"/>
                    <a:pt x="160229" y="547571"/>
                    <a:pt x="142731" y="475162"/>
                  </a:cubicBezTo>
                  <a:cubicBezTo>
                    <a:pt x="118985" y="370295"/>
                    <a:pt x="180226" y="264180"/>
                    <a:pt x="281461" y="231721"/>
                  </a:cubicBezTo>
                  <a:cubicBezTo>
                    <a:pt x="308333" y="222982"/>
                    <a:pt x="336454" y="219861"/>
                    <a:pt x="364106" y="222357"/>
                  </a:cubicBezTo>
                  <a:close/>
                  <a:moveTo>
                    <a:pt x="1270896" y="79419"/>
                  </a:moveTo>
                  <a:cubicBezTo>
                    <a:pt x="1326266" y="94453"/>
                    <a:pt x="1373022" y="137048"/>
                    <a:pt x="1393940" y="190918"/>
                  </a:cubicBezTo>
                  <a:cubicBezTo>
                    <a:pt x="1397631" y="200941"/>
                    <a:pt x="1392709" y="212216"/>
                    <a:pt x="1382866" y="217227"/>
                  </a:cubicBezTo>
                  <a:cubicBezTo>
                    <a:pt x="1380405" y="217227"/>
                    <a:pt x="1379174" y="218480"/>
                    <a:pt x="1376713" y="218480"/>
                  </a:cubicBezTo>
                  <a:cubicBezTo>
                    <a:pt x="1369331" y="218480"/>
                    <a:pt x="1360718" y="213469"/>
                    <a:pt x="1358257" y="205952"/>
                  </a:cubicBezTo>
                  <a:cubicBezTo>
                    <a:pt x="1341031" y="162104"/>
                    <a:pt x="1305348" y="129531"/>
                    <a:pt x="1261053" y="117003"/>
                  </a:cubicBezTo>
                  <a:cubicBezTo>
                    <a:pt x="1251209" y="114498"/>
                    <a:pt x="1245057" y="104475"/>
                    <a:pt x="1247518" y="93200"/>
                  </a:cubicBezTo>
                  <a:cubicBezTo>
                    <a:pt x="1249979" y="83178"/>
                    <a:pt x="1261053" y="76914"/>
                    <a:pt x="1270896" y="79419"/>
                  </a:cubicBezTo>
                  <a:close/>
                  <a:moveTo>
                    <a:pt x="1224065" y="39259"/>
                  </a:moveTo>
                  <a:cubicBezTo>
                    <a:pt x="1128463" y="39259"/>
                    <a:pt x="1041552" y="101729"/>
                    <a:pt x="1012996" y="195434"/>
                  </a:cubicBezTo>
                  <a:cubicBezTo>
                    <a:pt x="989405" y="272897"/>
                    <a:pt x="1010512" y="356606"/>
                    <a:pt x="1066384" y="414079"/>
                  </a:cubicBezTo>
                  <a:cubicBezTo>
                    <a:pt x="1077558" y="426573"/>
                    <a:pt x="1082524" y="444064"/>
                    <a:pt x="1077558" y="460306"/>
                  </a:cubicBezTo>
                  <a:lnTo>
                    <a:pt x="1076316" y="466553"/>
                  </a:lnTo>
                  <a:lnTo>
                    <a:pt x="1247655" y="512781"/>
                  </a:lnTo>
                  <a:lnTo>
                    <a:pt x="1248897" y="506534"/>
                  </a:lnTo>
                  <a:cubicBezTo>
                    <a:pt x="1253863" y="490292"/>
                    <a:pt x="1267520" y="477798"/>
                    <a:pt x="1282419" y="472800"/>
                  </a:cubicBezTo>
                  <a:cubicBezTo>
                    <a:pt x="1356915" y="451561"/>
                    <a:pt x="1415269" y="391590"/>
                    <a:pt x="1435134" y="316626"/>
                  </a:cubicBezTo>
                  <a:cubicBezTo>
                    <a:pt x="1451275" y="257904"/>
                    <a:pt x="1442584" y="196683"/>
                    <a:pt x="1411544" y="145458"/>
                  </a:cubicBezTo>
                  <a:cubicBezTo>
                    <a:pt x="1379263" y="92983"/>
                    <a:pt x="1329600" y="56751"/>
                    <a:pt x="1270004" y="44257"/>
                  </a:cubicBezTo>
                  <a:cubicBezTo>
                    <a:pt x="1255105" y="40509"/>
                    <a:pt x="1238964" y="39259"/>
                    <a:pt x="1224065" y="39259"/>
                  </a:cubicBezTo>
                  <a:close/>
                  <a:moveTo>
                    <a:pt x="1229521" y="33"/>
                  </a:moveTo>
                  <a:cubicBezTo>
                    <a:pt x="1245793" y="294"/>
                    <a:pt x="1262244" y="2090"/>
                    <a:pt x="1278695" y="5526"/>
                  </a:cubicBezTo>
                  <a:cubicBezTo>
                    <a:pt x="1348223" y="21768"/>
                    <a:pt x="1406578" y="64247"/>
                    <a:pt x="1443825" y="125468"/>
                  </a:cubicBezTo>
                  <a:cubicBezTo>
                    <a:pt x="1481073" y="186688"/>
                    <a:pt x="1491006" y="257904"/>
                    <a:pt x="1472382" y="327870"/>
                  </a:cubicBezTo>
                  <a:lnTo>
                    <a:pt x="1472382" y="326621"/>
                  </a:lnTo>
                  <a:cubicBezTo>
                    <a:pt x="1448792" y="415328"/>
                    <a:pt x="1380505" y="485294"/>
                    <a:pt x="1292352" y="510282"/>
                  </a:cubicBezTo>
                  <a:cubicBezTo>
                    <a:pt x="1289869" y="511532"/>
                    <a:pt x="1287386" y="512781"/>
                    <a:pt x="1286144" y="516529"/>
                  </a:cubicBezTo>
                  <a:lnTo>
                    <a:pt x="1268762" y="583997"/>
                  </a:lnTo>
                  <a:cubicBezTo>
                    <a:pt x="1266279" y="593992"/>
                    <a:pt x="1258829" y="602738"/>
                    <a:pt x="1250138" y="607736"/>
                  </a:cubicBezTo>
                  <a:cubicBezTo>
                    <a:pt x="1243930" y="611484"/>
                    <a:pt x="1237722" y="613983"/>
                    <a:pt x="1230273" y="613983"/>
                  </a:cubicBezTo>
                  <a:cubicBezTo>
                    <a:pt x="1226548" y="613983"/>
                    <a:pt x="1222823" y="612733"/>
                    <a:pt x="1219099" y="611484"/>
                  </a:cubicBezTo>
                  <a:lnTo>
                    <a:pt x="1051485" y="566505"/>
                  </a:lnTo>
                  <a:cubicBezTo>
                    <a:pt x="1041552" y="564006"/>
                    <a:pt x="1032861" y="556510"/>
                    <a:pt x="1026653" y="547764"/>
                  </a:cubicBezTo>
                  <a:cubicBezTo>
                    <a:pt x="1021687" y="539019"/>
                    <a:pt x="1020445" y="527774"/>
                    <a:pt x="1022928" y="516529"/>
                  </a:cubicBezTo>
                  <a:lnTo>
                    <a:pt x="1040310" y="450311"/>
                  </a:lnTo>
                  <a:cubicBezTo>
                    <a:pt x="1041552" y="447812"/>
                    <a:pt x="1040310" y="444064"/>
                    <a:pt x="1039069" y="441565"/>
                  </a:cubicBezTo>
                  <a:cubicBezTo>
                    <a:pt x="973265" y="372849"/>
                    <a:pt x="948433" y="275395"/>
                    <a:pt x="975748" y="184189"/>
                  </a:cubicBezTo>
                  <a:cubicBezTo>
                    <a:pt x="1010512" y="71587"/>
                    <a:pt x="1115620" y="-1795"/>
                    <a:pt x="1229521" y="33"/>
                  </a:cubicBezTo>
                  <a:close/>
                </a:path>
              </a:pathLst>
            </a:custGeom>
            <a:solidFill>
              <a:schemeClr val="bg1"/>
            </a:solidFill>
            <a:ln>
              <a:noFill/>
            </a:ln>
            <a:effectLst/>
          </p:spPr>
          <p:txBody>
            <a:bodyPr wrap="square"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pitchFamily="2" charset="77"/>
                <a:ea typeface="+mn-ea"/>
                <a:cs typeface="+mn-cs"/>
              </a:endParaRPr>
            </a:p>
          </p:txBody>
        </p:sp>
        <p:sp>
          <p:nvSpPr>
            <p:cNvPr id="48" name="Freeform 387">
              <a:extLst>
                <a:ext uri="{FF2B5EF4-FFF2-40B4-BE49-F238E27FC236}">
                  <a16:creationId xmlns:a16="http://schemas.microsoft.com/office/drawing/2014/main" id="{278C62BE-A7B4-D878-4F88-CE07309040C1}"/>
                </a:ext>
              </a:extLst>
            </p:cNvPr>
            <p:cNvSpPr>
              <a:spLocks noChangeArrowheads="1"/>
            </p:cNvSpPr>
            <p:nvPr/>
          </p:nvSpPr>
          <p:spPr bwMode="auto">
            <a:xfrm>
              <a:off x="538730" y="2744358"/>
              <a:ext cx="1884115" cy="1628689"/>
            </a:xfrm>
            <a:custGeom>
              <a:avLst/>
              <a:gdLst>
                <a:gd name="T0" fmla="*/ 1925 w 3023"/>
                <a:gd name="T1" fmla="*/ 0 h 2617"/>
                <a:gd name="T2" fmla="*/ 1097 w 3023"/>
                <a:gd name="T3" fmla="*/ 0 h 2617"/>
                <a:gd name="T4" fmla="*/ 1097 w 3023"/>
                <a:gd name="T5" fmla="*/ 0 h 2617"/>
                <a:gd name="T6" fmla="*/ 514 w 3023"/>
                <a:gd name="T7" fmla="*/ 328 h 2617"/>
                <a:gd name="T8" fmla="*/ 133 w 3023"/>
                <a:gd name="T9" fmla="*/ 952 h 2617"/>
                <a:gd name="T10" fmla="*/ 133 w 3023"/>
                <a:gd name="T11" fmla="*/ 952 h 2617"/>
                <a:gd name="T12" fmla="*/ 133 w 3023"/>
                <a:gd name="T13" fmla="*/ 1663 h 2617"/>
                <a:gd name="T14" fmla="*/ 514 w 3023"/>
                <a:gd name="T15" fmla="*/ 2289 h 2617"/>
                <a:gd name="T16" fmla="*/ 514 w 3023"/>
                <a:gd name="T17" fmla="*/ 2289 h 2617"/>
                <a:gd name="T18" fmla="*/ 1097 w 3023"/>
                <a:gd name="T19" fmla="*/ 2616 h 2617"/>
                <a:gd name="T20" fmla="*/ 1925 w 3023"/>
                <a:gd name="T21" fmla="*/ 2616 h 2617"/>
                <a:gd name="T22" fmla="*/ 1925 w 3023"/>
                <a:gd name="T23" fmla="*/ 2616 h 2617"/>
                <a:gd name="T24" fmla="*/ 2508 w 3023"/>
                <a:gd name="T25" fmla="*/ 2289 h 2617"/>
                <a:gd name="T26" fmla="*/ 2889 w 3023"/>
                <a:gd name="T27" fmla="*/ 1663 h 2617"/>
                <a:gd name="T28" fmla="*/ 2889 w 3023"/>
                <a:gd name="T29" fmla="*/ 1663 h 2617"/>
                <a:gd name="T30" fmla="*/ 2889 w 3023"/>
                <a:gd name="T31" fmla="*/ 952 h 2617"/>
                <a:gd name="T32" fmla="*/ 2508 w 3023"/>
                <a:gd name="T33" fmla="*/ 328 h 2617"/>
                <a:gd name="T34" fmla="*/ 2508 w 3023"/>
                <a:gd name="T35" fmla="*/ 328 h 2617"/>
                <a:gd name="T36" fmla="*/ 1925 w 3023"/>
                <a:gd name="T37" fmla="*/ 0 h 2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23" h="2617">
                  <a:moveTo>
                    <a:pt x="1925" y="0"/>
                  </a:moveTo>
                  <a:lnTo>
                    <a:pt x="1097" y="0"/>
                  </a:lnTo>
                  <a:lnTo>
                    <a:pt x="1097" y="0"/>
                  </a:lnTo>
                  <a:cubicBezTo>
                    <a:pt x="859" y="0"/>
                    <a:pt x="638" y="124"/>
                    <a:pt x="514" y="328"/>
                  </a:cubicBezTo>
                  <a:lnTo>
                    <a:pt x="133" y="952"/>
                  </a:lnTo>
                  <a:lnTo>
                    <a:pt x="133" y="952"/>
                  </a:lnTo>
                  <a:cubicBezTo>
                    <a:pt x="0" y="1171"/>
                    <a:pt x="0" y="1445"/>
                    <a:pt x="133" y="1663"/>
                  </a:cubicBezTo>
                  <a:lnTo>
                    <a:pt x="514" y="2289"/>
                  </a:lnTo>
                  <a:lnTo>
                    <a:pt x="514" y="2289"/>
                  </a:lnTo>
                  <a:cubicBezTo>
                    <a:pt x="638" y="2492"/>
                    <a:pt x="859" y="2616"/>
                    <a:pt x="1097" y="2616"/>
                  </a:cubicBezTo>
                  <a:lnTo>
                    <a:pt x="1925" y="2616"/>
                  </a:lnTo>
                  <a:lnTo>
                    <a:pt x="1925" y="2616"/>
                  </a:lnTo>
                  <a:cubicBezTo>
                    <a:pt x="2163" y="2616"/>
                    <a:pt x="2384" y="2492"/>
                    <a:pt x="2508" y="2289"/>
                  </a:cubicBezTo>
                  <a:lnTo>
                    <a:pt x="2889" y="1663"/>
                  </a:lnTo>
                  <a:lnTo>
                    <a:pt x="2889" y="1663"/>
                  </a:lnTo>
                  <a:cubicBezTo>
                    <a:pt x="3022" y="1445"/>
                    <a:pt x="3022" y="1171"/>
                    <a:pt x="2889" y="952"/>
                  </a:cubicBezTo>
                  <a:lnTo>
                    <a:pt x="2508" y="328"/>
                  </a:lnTo>
                  <a:lnTo>
                    <a:pt x="2508" y="328"/>
                  </a:lnTo>
                  <a:cubicBezTo>
                    <a:pt x="2384" y="124"/>
                    <a:pt x="2163" y="0"/>
                    <a:pt x="1925" y="0"/>
                  </a:cubicBezTo>
                </a:path>
              </a:pathLst>
            </a:custGeom>
            <a:solidFill>
              <a:schemeClr val="bg1"/>
            </a:solidFill>
            <a:ln>
              <a:solidFill>
                <a:srgbClr val="13629C"/>
              </a:solidFill>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pitchFamily="2" charset="77"/>
                <a:ea typeface="+mn-ea"/>
                <a:cs typeface="+mn-cs"/>
              </a:endParaRPr>
            </a:p>
          </p:txBody>
        </p:sp>
        <p:pic>
          <p:nvPicPr>
            <p:cNvPr id="49" name="Picture 2" descr="Aiming for success hit the bulls eye">
              <a:extLst>
                <a:ext uri="{FF2B5EF4-FFF2-40B4-BE49-F238E27FC236}">
                  <a16:creationId xmlns:a16="http://schemas.microsoft.com/office/drawing/2014/main" id="{3CBC4939-B91B-FE78-620C-E46ADA2C2A58}"/>
                </a:ext>
              </a:extLst>
            </p:cNvPr>
            <p:cNvPicPr>
              <a:picLocks noChangeAspect="1" noChangeArrowheads="1"/>
            </p:cNvPicPr>
            <p:nvPr/>
          </p:nvPicPr>
          <p:blipFill rotWithShape="1">
            <a:blip r:embed="rId4" cstate="email">
              <a:extLst>
                <a:ext uri="{28A0092B-C50C-407E-A947-70E740481C1C}">
                  <a14:useLocalDpi xmlns:a14="http://schemas.microsoft.com/office/drawing/2010/main" val="0"/>
                </a:ext>
              </a:extLst>
            </a:blip>
            <a:srcRect l="7271" t="7476" r="8589" b="7059"/>
            <a:stretch/>
          </p:blipFill>
          <p:spPr bwMode="auto">
            <a:xfrm>
              <a:off x="897699" y="2971801"/>
              <a:ext cx="1161289" cy="117957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C84CF824-AC24-7165-1272-349D0C7753F7}"/>
              </a:ext>
            </a:extLst>
          </p:cNvPr>
          <p:cNvGrpSpPr/>
          <p:nvPr/>
        </p:nvGrpSpPr>
        <p:grpSpPr>
          <a:xfrm>
            <a:off x="8592684" y="3181734"/>
            <a:ext cx="1337887" cy="1170373"/>
            <a:chOff x="5263317" y="6433510"/>
            <a:chExt cx="4290071" cy="3713298"/>
          </a:xfrm>
        </p:grpSpPr>
        <p:sp>
          <p:nvSpPr>
            <p:cNvPr id="51" name="Freeform 390">
              <a:extLst>
                <a:ext uri="{FF2B5EF4-FFF2-40B4-BE49-F238E27FC236}">
                  <a16:creationId xmlns:a16="http://schemas.microsoft.com/office/drawing/2014/main" id="{311129DC-9326-F839-B86E-CC1118252964}"/>
                </a:ext>
              </a:extLst>
            </p:cNvPr>
            <p:cNvSpPr>
              <a:spLocks noChangeArrowheads="1"/>
            </p:cNvSpPr>
            <p:nvPr/>
          </p:nvSpPr>
          <p:spPr bwMode="auto">
            <a:xfrm>
              <a:off x="5263317" y="6433510"/>
              <a:ext cx="4290071" cy="3713298"/>
            </a:xfrm>
            <a:custGeom>
              <a:avLst/>
              <a:gdLst>
                <a:gd name="T0" fmla="*/ 2193 w 3443"/>
                <a:gd name="T1" fmla="*/ 0 h 2979"/>
                <a:gd name="T2" fmla="*/ 1249 w 3443"/>
                <a:gd name="T3" fmla="*/ 0 h 2979"/>
                <a:gd name="T4" fmla="*/ 1249 w 3443"/>
                <a:gd name="T5" fmla="*/ 0 h 2979"/>
                <a:gd name="T6" fmla="*/ 585 w 3443"/>
                <a:gd name="T7" fmla="*/ 372 h 2979"/>
                <a:gd name="T8" fmla="*/ 151 w 3443"/>
                <a:gd name="T9" fmla="*/ 1085 h 2979"/>
                <a:gd name="T10" fmla="*/ 151 w 3443"/>
                <a:gd name="T11" fmla="*/ 1085 h 2979"/>
                <a:gd name="T12" fmla="*/ 151 w 3443"/>
                <a:gd name="T13" fmla="*/ 1893 h 2979"/>
                <a:gd name="T14" fmla="*/ 585 w 3443"/>
                <a:gd name="T15" fmla="*/ 2605 h 2979"/>
                <a:gd name="T16" fmla="*/ 585 w 3443"/>
                <a:gd name="T17" fmla="*/ 2605 h 2979"/>
                <a:gd name="T18" fmla="*/ 1249 w 3443"/>
                <a:gd name="T19" fmla="*/ 2978 h 2979"/>
                <a:gd name="T20" fmla="*/ 2193 w 3443"/>
                <a:gd name="T21" fmla="*/ 2978 h 2979"/>
                <a:gd name="T22" fmla="*/ 2193 w 3443"/>
                <a:gd name="T23" fmla="*/ 2978 h 2979"/>
                <a:gd name="T24" fmla="*/ 2856 w 3443"/>
                <a:gd name="T25" fmla="*/ 2605 h 2979"/>
                <a:gd name="T26" fmla="*/ 3290 w 3443"/>
                <a:gd name="T27" fmla="*/ 1893 h 2979"/>
                <a:gd name="T28" fmla="*/ 3290 w 3443"/>
                <a:gd name="T29" fmla="*/ 1893 h 2979"/>
                <a:gd name="T30" fmla="*/ 3290 w 3443"/>
                <a:gd name="T31" fmla="*/ 1085 h 2979"/>
                <a:gd name="T32" fmla="*/ 2856 w 3443"/>
                <a:gd name="T33" fmla="*/ 372 h 2979"/>
                <a:gd name="T34" fmla="*/ 2856 w 3443"/>
                <a:gd name="T35" fmla="*/ 372 h 2979"/>
                <a:gd name="T36" fmla="*/ 2193 w 3443"/>
                <a:gd name="T37" fmla="*/ 0 h 2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43" h="2979">
                  <a:moveTo>
                    <a:pt x="2193" y="0"/>
                  </a:moveTo>
                  <a:lnTo>
                    <a:pt x="1249" y="0"/>
                  </a:lnTo>
                  <a:lnTo>
                    <a:pt x="1249" y="0"/>
                  </a:lnTo>
                  <a:cubicBezTo>
                    <a:pt x="978" y="0"/>
                    <a:pt x="727" y="141"/>
                    <a:pt x="585" y="372"/>
                  </a:cubicBezTo>
                  <a:lnTo>
                    <a:pt x="151" y="1085"/>
                  </a:lnTo>
                  <a:lnTo>
                    <a:pt x="151" y="1085"/>
                  </a:lnTo>
                  <a:cubicBezTo>
                    <a:pt x="0" y="1333"/>
                    <a:pt x="0" y="1644"/>
                    <a:pt x="151" y="1893"/>
                  </a:cubicBezTo>
                  <a:lnTo>
                    <a:pt x="585" y="2605"/>
                  </a:lnTo>
                  <a:lnTo>
                    <a:pt x="585" y="2605"/>
                  </a:lnTo>
                  <a:cubicBezTo>
                    <a:pt x="727" y="2837"/>
                    <a:pt x="978" y="2978"/>
                    <a:pt x="1249" y="2978"/>
                  </a:cubicBezTo>
                  <a:lnTo>
                    <a:pt x="2193" y="2978"/>
                  </a:lnTo>
                  <a:lnTo>
                    <a:pt x="2193" y="2978"/>
                  </a:lnTo>
                  <a:cubicBezTo>
                    <a:pt x="2463" y="2978"/>
                    <a:pt x="2715" y="2837"/>
                    <a:pt x="2856" y="2605"/>
                  </a:cubicBezTo>
                  <a:lnTo>
                    <a:pt x="3290" y="1893"/>
                  </a:lnTo>
                  <a:lnTo>
                    <a:pt x="3290" y="1893"/>
                  </a:lnTo>
                  <a:cubicBezTo>
                    <a:pt x="3442" y="1644"/>
                    <a:pt x="3442" y="1333"/>
                    <a:pt x="3290" y="1085"/>
                  </a:cubicBezTo>
                  <a:lnTo>
                    <a:pt x="2856" y="372"/>
                  </a:lnTo>
                  <a:lnTo>
                    <a:pt x="2856" y="372"/>
                  </a:lnTo>
                  <a:cubicBezTo>
                    <a:pt x="2715" y="141"/>
                    <a:pt x="2463" y="0"/>
                    <a:pt x="2193" y="0"/>
                  </a:cubicBezTo>
                </a:path>
              </a:pathLst>
            </a:custGeom>
            <a:solidFill>
              <a:srgbClr val="94C83D"/>
            </a:solidFill>
            <a:ln w="12700" cap="flat">
              <a:solidFill>
                <a:srgbClr val="94C83D"/>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pitchFamily="2" charset="77"/>
                <a:ea typeface="+mn-ea"/>
                <a:cs typeface="+mn-cs"/>
              </a:endParaRPr>
            </a:p>
          </p:txBody>
        </p:sp>
        <p:sp>
          <p:nvSpPr>
            <p:cNvPr id="52" name="Freeform 389">
              <a:extLst>
                <a:ext uri="{FF2B5EF4-FFF2-40B4-BE49-F238E27FC236}">
                  <a16:creationId xmlns:a16="http://schemas.microsoft.com/office/drawing/2014/main" id="{AC76BD14-9E97-34F2-D097-2D796A7EC404}"/>
                </a:ext>
              </a:extLst>
            </p:cNvPr>
            <p:cNvSpPr>
              <a:spLocks noChangeArrowheads="1"/>
            </p:cNvSpPr>
            <p:nvPr/>
          </p:nvSpPr>
          <p:spPr bwMode="auto">
            <a:xfrm>
              <a:off x="5526985" y="6658722"/>
              <a:ext cx="3768229" cy="3257378"/>
            </a:xfrm>
            <a:custGeom>
              <a:avLst/>
              <a:gdLst>
                <a:gd name="T0" fmla="*/ 1925 w 3023"/>
                <a:gd name="T1" fmla="*/ 0 h 2616"/>
                <a:gd name="T2" fmla="*/ 1097 w 3023"/>
                <a:gd name="T3" fmla="*/ 0 h 2616"/>
                <a:gd name="T4" fmla="*/ 1097 w 3023"/>
                <a:gd name="T5" fmla="*/ 0 h 2616"/>
                <a:gd name="T6" fmla="*/ 514 w 3023"/>
                <a:gd name="T7" fmla="*/ 327 h 2616"/>
                <a:gd name="T8" fmla="*/ 133 w 3023"/>
                <a:gd name="T9" fmla="*/ 953 h 2616"/>
                <a:gd name="T10" fmla="*/ 133 w 3023"/>
                <a:gd name="T11" fmla="*/ 953 h 2616"/>
                <a:gd name="T12" fmla="*/ 133 w 3023"/>
                <a:gd name="T13" fmla="*/ 1663 h 2616"/>
                <a:gd name="T14" fmla="*/ 514 w 3023"/>
                <a:gd name="T15" fmla="*/ 2288 h 2616"/>
                <a:gd name="T16" fmla="*/ 514 w 3023"/>
                <a:gd name="T17" fmla="*/ 2288 h 2616"/>
                <a:gd name="T18" fmla="*/ 1097 w 3023"/>
                <a:gd name="T19" fmla="*/ 2615 h 2616"/>
                <a:gd name="T20" fmla="*/ 1925 w 3023"/>
                <a:gd name="T21" fmla="*/ 2615 h 2616"/>
                <a:gd name="T22" fmla="*/ 1925 w 3023"/>
                <a:gd name="T23" fmla="*/ 2615 h 2616"/>
                <a:gd name="T24" fmla="*/ 2507 w 3023"/>
                <a:gd name="T25" fmla="*/ 2288 h 2616"/>
                <a:gd name="T26" fmla="*/ 2889 w 3023"/>
                <a:gd name="T27" fmla="*/ 1663 h 2616"/>
                <a:gd name="T28" fmla="*/ 2889 w 3023"/>
                <a:gd name="T29" fmla="*/ 1663 h 2616"/>
                <a:gd name="T30" fmla="*/ 2889 w 3023"/>
                <a:gd name="T31" fmla="*/ 953 h 2616"/>
                <a:gd name="T32" fmla="*/ 2507 w 3023"/>
                <a:gd name="T33" fmla="*/ 327 h 2616"/>
                <a:gd name="T34" fmla="*/ 2507 w 3023"/>
                <a:gd name="T35" fmla="*/ 327 h 2616"/>
                <a:gd name="T36" fmla="*/ 1925 w 3023"/>
                <a:gd name="T37" fmla="*/ 0 h 2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23" h="2616">
                  <a:moveTo>
                    <a:pt x="1925" y="0"/>
                  </a:moveTo>
                  <a:lnTo>
                    <a:pt x="1097" y="0"/>
                  </a:lnTo>
                  <a:lnTo>
                    <a:pt x="1097" y="0"/>
                  </a:lnTo>
                  <a:cubicBezTo>
                    <a:pt x="858" y="0"/>
                    <a:pt x="638" y="125"/>
                    <a:pt x="514" y="327"/>
                  </a:cubicBezTo>
                  <a:lnTo>
                    <a:pt x="133" y="953"/>
                  </a:lnTo>
                  <a:lnTo>
                    <a:pt x="133" y="953"/>
                  </a:lnTo>
                  <a:cubicBezTo>
                    <a:pt x="0" y="1171"/>
                    <a:pt x="0" y="1445"/>
                    <a:pt x="133" y="1663"/>
                  </a:cubicBezTo>
                  <a:lnTo>
                    <a:pt x="514" y="2288"/>
                  </a:lnTo>
                  <a:lnTo>
                    <a:pt x="514" y="2288"/>
                  </a:lnTo>
                  <a:cubicBezTo>
                    <a:pt x="638" y="2491"/>
                    <a:pt x="858" y="2615"/>
                    <a:pt x="1097" y="2615"/>
                  </a:cubicBezTo>
                  <a:lnTo>
                    <a:pt x="1925" y="2615"/>
                  </a:lnTo>
                  <a:lnTo>
                    <a:pt x="1925" y="2615"/>
                  </a:lnTo>
                  <a:cubicBezTo>
                    <a:pt x="2163" y="2615"/>
                    <a:pt x="2384" y="2491"/>
                    <a:pt x="2507" y="2288"/>
                  </a:cubicBezTo>
                  <a:lnTo>
                    <a:pt x="2889" y="1663"/>
                  </a:lnTo>
                  <a:lnTo>
                    <a:pt x="2889" y="1663"/>
                  </a:lnTo>
                  <a:cubicBezTo>
                    <a:pt x="3022" y="1445"/>
                    <a:pt x="3022" y="1171"/>
                    <a:pt x="2889" y="953"/>
                  </a:cubicBezTo>
                  <a:lnTo>
                    <a:pt x="2507" y="327"/>
                  </a:lnTo>
                  <a:lnTo>
                    <a:pt x="2507" y="327"/>
                  </a:lnTo>
                  <a:cubicBezTo>
                    <a:pt x="2384" y="125"/>
                    <a:pt x="2163" y="0"/>
                    <a:pt x="1925" y="0"/>
                  </a:cubicBezTo>
                </a:path>
              </a:pathLst>
            </a:custGeom>
            <a:solidFill>
              <a:schemeClr val="bg1"/>
            </a:solidFill>
            <a:ln>
              <a:solidFill>
                <a:srgbClr val="94C83D"/>
              </a:solidFill>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pitchFamily="2" charset="77"/>
                <a:ea typeface="+mn-ea"/>
                <a:cs typeface="+mn-cs"/>
              </a:endParaRPr>
            </a:p>
          </p:txBody>
        </p:sp>
        <p:pic>
          <p:nvPicPr>
            <p:cNvPr id="53" name="Picture 52">
              <a:extLst>
                <a:ext uri="{FF2B5EF4-FFF2-40B4-BE49-F238E27FC236}">
                  <a16:creationId xmlns:a16="http://schemas.microsoft.com/office/drawing/2014/main" id="{DCBD4D22-310A-C6F9-C080-A9BC79D80CB2}"/>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6257719" y="7177898"/>
              <a:ext cx="2319354" cy="2319354"/>
            </a:xfrm>
            <a:prstGeom prst="rect">
              <a:avLst/>
            </a:prstGeom>
          </p:spPr>
        </p:pic>
      </p:grpSp>
      <p:grpSp>
        <p:nvGrpSpPr>
          <p:cNvPr id="54" name="Group 53">
            <a:extLst>
              <a:ext uri="{FF2B5EF4-FFF2-40B4-BE49-F238E27FC236}">
                <a16:creationId xmlns:a16="http://schemas.microsoft.com/office/drawing/2014/main" id="{570CFC3F-7905-C84B-216D-57BE73F2C445}"/>
              </a:ext>
            </a:extLst>
          </p:cNvPr>
          <p:cNvGrpSpPr/>
          <p:nvPr/>
        </p:nvGrpSpPr>
        <p:grpSpPr>
          <a:xfrm>
            <a:off x="10263793" y="3198727"/>
            <a:ext cx="1337887" cy="1170373"/>
            <a:chOff x="9734657" y="6433510"/>
            <a:chExt cx="4290071" cy="3713298"/>
          </a:xfrm>
        </p:grpSpPr>
        <p:sp>
          <p:nvSpPr>
            <p:cNvPr id="55" name="Freeform 392">
              <a:extLst>
                <a:ext uri="{FF2B5EF4-FFF2-40B4-BE49-F238E27FC236}">
                  <a16:creationId xmlns:a16="http://schemas.microsoft.com/office/drawing/2014/main" id="{93A3D59B-79E1-C1DB-DF34-1E5EC5809D87}"/>
                </a:ext>
              </a:extLst>
            </p:cNvPr>
            <p:cNvSpPr>
              <a:spLocks noChangeArrowheads="1"/>
            </p:cNvSpPr>
            <p:nvPr/>
          </p:nvSpPr>
          <p:spPr bwMode="auto">
            <a:xfrm>
              <a:off x="9734657" y="6433510"/>
              <a:ext cx="4290071" cy="3713298"/>
            </a:xfrm>
            <a:custGeom>
              <a:avLst/>
              <a:gdLst>
                <a:gd name="T0" fmla="*/ 2192 w 3442"/>
                <a:gd name="T1" fmla="*/ 0 h 2979"/>
                <a:gd name="T2" fmla="*/ 1250 w 3442"/>
                <a:gd name="T3" fmla="*/ 0 h 2979"/>
                <a:gd name="T4" fmla="*/ 1250 w 3442"/>
                <a:gd name="T5" fmla="*/ 0 h 2979"/>
                <a:gd name="T6" fmla="*/ 586 w 3442"/>
                <a:gd name="T7" fmla="*/ 372 h 2979"/>
                <a:gd name="T8" fmla="*/ 152 w 3442"/>
                <a:gd name="T9" fmla="*/ 1085 h 2979"/>
                <a:gd name="T10" fmla="*/ 152 w 3442"/>
                <a:gd name="T11" fmla="*/ 1085 h 2979"/>
                <a:gd name="T12" fmla="*/ 152 w 3442"/>
                <a:gd name="T13" fmla="*/ 1893 h 2979"/>
                <a:gd name="T14" fmla="*/ 586 w 3442"/>
                <a:gd name="T15" fmla="*/ 2605 h 2979"/>
                <a:gd name="T16" fmla="*/ 586 w 3442"/>
                <a:gd name="T17" fmla="*/ 2605 h 2979"/>
                <a:gd name="T18" fmla="*/ 1250 w 3442"/>
                <a:gd name="T19" fmla="*/ 2978 h 2979"/>
                <a:gd name="T20" fmla="*/ 2192 w 3442"/>
                <a:gd name="T21" fmla="*/ 2978 h 2979"/>
                <a:gd name="T22" fmla="*/ 2192 w 3442"/>
                <a:gd name="T23" fmla="*/ 2978 h 2979"/>
                <a:gd name="T24" fmla="*/ 2856 w 3442"/>
                <a:gd name="T25" fmla="*/ 2605 h 2979"/>
                <a:gd name="T26" fmla="*/ 3290 w 3442"/>
                <a:gd name="T27" fmla="*/ 1893 h 2979"/>
                <a:gd name="T28" fmla="*/ 3290 w 3442"/>
                <a:gd name="T29" fmla="*/ 1893 h 2979"/>
                <a:gd name="T30" fmla="*/ 3290 w 3442"/>
                <a:gd name="T31" fmla="*/ 1085 h 2979"/>
                <a:gd name="T32" fmla="*/ 2856 w 3442"/>
                <a:gd name="T33" fmla="*/ 372 h 2979"/>
                <a:gd name="T34" fmla="*/ 2856 w 3442"/>
                <a:gd name="T35" fmla="*/ 372 h 2979"/>
                <a:gd name="T36" fmla="*/ 2192 w 3442"/>
                <a:gd name="T37" fmla="*/ 0 h 2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42" h="2979">
                  <a:moveTo>
                    <a:pt x="2192" y="0"/>
                  </a:moveTo>
                  <a:lnTo>
                    <a:pt x="1250" y="0"/>
                  </a:lnTo>
                  <a:lnTo>
                    <a:pt x="1250" y="0"/>
                  </a:lnTo>
                  <a:cubicBezTo>
                    <a:pt x="979" y="0"/>
                    <a:pt x="727" y="141"/>
                    <a:pt x="586" y="372"/>
                  </a:cubicBezTo>
                  <a:lnTo>
                    <a:pt x="152" y="1085"/>
                  </a:lnTo>
                  <a:lnTo>
                    <a:pt x="152" y="1085"/>
                  </a:lnTo>
                  <a:cubicBezTo>
                    <a:pt x="0" y="1332"/>
                    <a:pt x="0" y="1645"/>
                    <a:pt x="152" y="1893"/>
                  </a:cubicBezTo>
                  <a:lnTo>
                    <a:pt x="586" y="2605"/>
                  </a:lnTo>
                  <a:lnTo>
                    <a:pt x="586" y="2605"/>
                  </a:lnTo>
                  <a:cubicBezTo>
                    <a:pt x="727" y="2836"/>
                    <a:pt x="979" y="2978"/>
                    <a:pt x="1250" y="2978"/>
                  </a:cubicBezTo>
                  <a:lnTo>
                    <a:pt x="2192" y="2978"/>
                  </a:lnTo>
                  <a:lnTo>
                    <a:pt x="2192" y="2978"/>
                  </a:lnTo>
                  <a:cubicBezTo>
                    <a:pt x="2463" y="2978"/>
                    <a:pt x="2715" y="2836"/>
                    <a:pt x="2856" y="2605"/>
                  </a:cubicBezTo>
                  <a:lnTo>
                    <a:pt x="3290" y="1893"/>
                  </a:lnTo>
                  <a:lnTo>
                    <a:pt x="3290" y="1893"/>
                  </a:lnTo>
                  <a:cubicBezTo>
                    <a:pt x="3441" y="1645"/>
                    <a:pt x="3441" y="1332"/>
                    <a:pt x="3290" y="1085"/>
                  </a:cubicBezTo>
                  <a:lnTo>
                    <a:pt x="2856" y="372"/>
                  </a:lnTo>
                  <a:lnTo>
                    <a:pt x="2856" y="372"/>
                  </a:lnTo>
                  <a:cubicBezTo>
                    <a:pt x="2715" y="141"/>
                    <a:pt x="2463" y="0"/>
                    <a:pt x="2192" y="0"/>
                  </a:cubicBezTo>
                </a:path>
              </a:pathLst>
            </a:custGeom>
            <a:solidFill>
              <a:srgbClr val="13629C"/>
            </a:solidFill>
            <a:ln w="12700" cap="flat">
              <a:solidFill>
                <a:srgbClr val="13629C"/>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pitchFamily="2" charset="77"/>
                <a:ea typeface="+mn-ea"/>
                <a:cs typeface="+mn-cs"/>
              </a:endParaRPr>
            </a:p>
          </p:txBody>
        </p:sp>
        <p:sp>
          <p:nvSpPr>
            <p:cNvPr id="56" name="Freeform 391">
              <a:extLst>
                <a:ext uri="{FF2B5EF4-FFF2-40B4-BE49-F238E27FC236}">
                  <a16:creationId xmlns:a16="http://schemas.microsoft.com/office/drawing/2014/main" id="{A65BB448-2B2A-EF0C-00D2-8A923D857628}"/>
                </a:ext>
              </a:extLst>
            </p:cNvPr>
            <p:cNvSpPr>
              <a:spLocks noChangeArrowheads="1"/>
            </p:cNvSpPr>
            <p:nvPr/>
          </p:nvSpPr>
          <p:spPr bwMode="auto">
            <a:xfrm>
              <a:off x="9992834" y="6664219"/>
              <a:ext cx="3762735" cy="3257378"/>
            </a:xfrm>
            <a:custGeom>
              <a:avLst/>
              <a:gdLst>
                <a:gd name="T0" fmla="*/ 1924 w 3022"/>
                <a:gd name="T1" fmla="*/ 0 h 2615"/>
                <a:gd name="T2" fmla="*/ 1097 w 3022"/>
                <a:gd name="T3" fmla="*/ 0 h 2615"/>
                <a:gd name="T4" fmla="*/ 1097 w 3022"/>
                <a:gd name="T5" fmla="*/ 0 h 2615"/>
                <a:gd name="T6" fmla="*/ 514 w 3022"/>
                <a:gd name="T7" fmla="*/ 327 h 2615"/>
                <a:gd name="T8" fmla="*/ 133 w 3022"/>
                <a:gd name="T9" fmla="*/ 953 h 2615"/>
                <a:gd name="T10" fmla="*/ 133 w 3022"/>
                <a:gd name="T11" fmla="*/ 953 h 2615"/>
                <a:gd name="T12" fmla="*/ 133 w 3022"/>
                <a:gd name="T13" fmla="*/ 1661 h 2615"/>
                <a:gd name="T14" fmla="*/ 514 w 3022"/>
                <a:gd name="T15" fmla="*/ 2287 h 2615"/>
                <a:gd name="T16" fmla="*/ 514 w 3022"/>
                <a:gd name="T17" fmla="*/ 2287 h 2615"/>
                <a:gd name="T18" fmla="*/ 1097 w 3022"/>
                <a:gd name="T19" fmla="*/ 2614 h 2615"/>
                <a:gd name="T20" fmla="*/ 1924 w 3022"/>
                <a:gd name="T21" fmla="*/ 2614 h 2615"/>
                <a:gd name="T22" fmla="*/ 1924 w 3022"/>
                <a:gd name="T23" fmla="*/ 2614 h 2615"/>
                <a:gd name="T24" fmla="*/ 2507 w 3022"/>
                <a:gd name="T25" fmla="*/ 2287 h 2615"/>
                <a:gd name="T26" fmla="*/ 2888 w 3022"/>
                <a:gd name="T27" fmla="*/ 1661 h 2615"/>
                <a:gd name="T28" fmla="*/ 2888 w 3022"/>
                <a:gd name="T29" fmla="*/ 1661 h 2615"/>
                <a:gd name="T30" fmla="*/ 2888 w 3022"/>
                <a:gd name="T31" fmla="*/ 953 h 2615"/>
                <a:gd name="T32" fmla="*/ 2507 w 3022"/>
                <a:gd name="T33" fmla="*/ 327 h 2615"/>
                <a:gd name="T34" fmla="*/ 2507 w 3022"/>
                <a:gd name="T35" fmla="*/ 327 h 2615"/>
                <a:gd name="T36" fmla="*/ 1924 w 3022"/>
                <a:gd name="T37" fmla="*/ 0 h 2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22" h="2615">
                  <a:moveTo>
                    <a:pt x="1924" y="0"/>
                  </a:moveTo>
                  <a:lnTo>
                    <a:pt x="1097" y="0"/>
                  </a:lnTo>
                  <a:lnTo>
                    <a:pt x="1097" y="0"/>
                  </a:lnTo>
                  <a:cubicBezTo>
                    <a:pt x="859" y="0"/>
                    <a:pt x="639" y="124"/>
                    <a:pt x="514" y="327"/>
                  </a:cubicBezTo>
                  <a:lnTo>
                    <a:pt x="133" y="953"/>
                  </a:lnTo>
                  <a:lnTo>
                    <a:pt x="133" y="953"/>
                  </a:lnTo>
                  <a:cubicBezTo>
                    <a:pt x="0" y="1169"/>
                    <a:pt x="0" y="1444"/>
                    <a:pt x="133" y="1661"/>
                  </a:cubicBezTo>
                  <a:lnTo>
                    <a:pt x="514" y="2287"/>
                  </a:lnTo>
                  <a:lnTo>
                    <a:pt x="514" y="2287"/>
                  </a:lnTo>
                  <a:cubicBezTo>
                    <a:pt x="639" y="2490"/>
                    <a:pt x="859" y="2614"/>
                    <a:pt x="1097" y="2614"/>
                  </a:cubicBezTo>
                  <a:lnTo>
                    <a:pt x="1924" y="2614"/>
                  </a:lnTo>
                  <a:lnTo>
                    <a:pt x="1924" y="2614"/>
                  </a:lnTo>
                  <a:cubicBezTo>
                    <a:pt x="2162" y="2614"/>
                    <a:pt x="2383" y="2490"/>
                    <a:pt x="2507" y="2287"/>
                  </a:cubicBezTo>
                  <a:lnTo>
                    <a:pt x="2888" y="1661"/>
                  </a:lnTo>
                  <a:lnTo>
                    <a:pt x="2888" y="1661"/>
                  </a:lnTo>
                  <a:cubicBezTo>
                    <a:pt x="3021" y="1444"/>
                    <a:pt x="3021" y="1169"/>
                    <a:pt x="2888" y="953"/>
                  </a:cubicBezTo>
                  <a:lnTo>
                    <a:pt x="2507" y="327"/>
                  </a:lnTo>
                  <a:lnTo>
                    <a:pt x="2507" y="327"/>
                  </a:lnTo>
                  <a:cubicBezTo>
                    <a:pt x="2383" y="124"/>
                    <a:pt x="2162" y="0"/>
                    <a:pt x="1924" y="0"/>
                  </a:cubicBezTo>
                </a:path>
              </a:pathLst>
            </a:custGeom>
            <a:solidFill>
              <a:schemeClr val="bg1"/>
            </a:solidFill>
            <a:ln>
              <a:solidFill>
                <a:srgbClr val="13629C"/>
              </a:solidFill>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pitchFamily="2" charset="77"/>
                <a:ea typeface="+mn-ea"/>
                <a:cs typeface="+mn-cs"/>
              </a:endParaRPr>
            </a:p>
          </p:txBody>
        </p:sp>
        <p:pic>
          <p:nvPicPr>
            <p:cNvPr id="57" name="Picture 56">
              <a:extLst>
                <a:ext uri="{FF2B5EF4-FFF2-40B4-BE49-F238E27FC236}">
                  <a16:creationId xmlns:a16="http://schemas.microsoft.com/office/drawing/2014/main" id="{36FFC297-127C-8DBB-28D3-65053EE99823}"/>
                </a:ext>
              </a:extLst>
            </p:cNvPr>
            <p:cNvPicPr>
              <a:picLocks noChangeAspect="1"/>
            </p:cNvPicPr>
            <p:nvPr/>
          </p:nvPicPr>
          <p:blipFill rotWithShape="1">
            <a:blip r:embed="rId6" cstate="email">
              <a:extLst>
                <a:ext uri="{28A0092B-C50C-407E-A947-70E740481C1C}">
                  <a14:useLocalDpi xmlns:a14="http://schemas.microsoft.com/office/drawing/2010/main" val="0"/>
                </a:ext>
              </a:extLst>
            </a:blip>
            <a:srcRect l="19394" t="21466" r="19659" b="19466"/>
            <a:stretch/>
          </p:blipFill>
          <p:spPr>
            <a:xfrm>
              <a:off x="10661589" y="7159610"/>
              <a:ext cx="2392651" cy="2319354"/>
            </a:xfrm>
            <a:prstGeom prst="rect">
              <a:avLst/>
            </a:prstGeom>
          </p:spPr>
        </p:pic>
      </p:grpSp>
      <p:grpSp>
        <p:nvGrpSpPr>
          <p:cNvPr id="58" name="Group 57">
            <a:extLst>
              <a:ext uri="{FF2B5EF4-FFF2-40B4-BE49-F238E27FC236}">
                <a16:creationId xmlns:a16="http://schemas.microsoft.com/office/drawing/2014/main" id="{F78A0173-24A8-EEAC-6FEC-6B123CD5C9B1}"/>
              </a:ext>
            </a:extLst>
          </p:cNvPr>
          <p:cNvGrpSpPr/>
          <p:nvPr/>
        </p:nvGrpSpPr>
        <p:grpSpPr>
          <a:xfrm>
            <a:off x="7803891" y="5180626"/>
            <a:ext cx="1337886" cy="1170373"/>
            <a:chOff x="14200508" y="6433510"/>
            <a:chExt cx="4290067" cy="3713298"/>
          </a:xfrm>
        </p:grpSpPr>
        <p:grpSp>
          <p:nvGrpSpPr>
            <p:cNvPr id="59" name="Group 58">
              <a:extLst>
                <a:ext uri="{FF2B5EF4-FFF2-40B4-BE49-F238E27FC236}">
                  <a16:creationId xmlns:a16="http://schemas.microsoft.com/office/drawing/2014/main" id="{2400DE00-89DD-2B34-A8BF-CFBAB4F64159}"/>
                </a:ext>
              </a:extLst>
            </p:cNvPr>
            <p:cNvGrpSpPr/>
            <p:nvPr/>
          </p:nvGrpSpPr>
          <p:grpSpPr>
            <a:xfrm>
              <a:off x="14200508" y="6433510"/>
              <a:ext cx="4290067" cy="3713298"/>
              <a:chOff x="14200508" y="6433510"/>
              <a:chExt cx="4290067" cy="3713298"/>
            </a:xfrm>
          </p:grpSpPr>
          <p:sp>
            <p:nvSpPr>
              <p:cNvPr id="61" name="Freeform 394">
                <a:extLst>
                  <a:ext uri="{FF2B5EF4-FFF2-40B4-BE49-F238E27FC236}">
                    <a16:creationId xmlns:a16="http://schemas.microsoft.com/office/drawing/2014/main" id="{C17FA0D3-DE52-D418-C687-8A373CA54F12}"/>
                  </a:ext>
                </a:extLst>
              </p:cNvPr>
              <p:cNvSpPr>
                <a:spLocks noChangeArrowheads="1"/>
              </p:cNvSpPr>
              <p:nvPr/>
            </p:nvSpPr>
            <p:spPr bwMode="auto">
              <a:xfrm>
                <a:off x="14200508" y="6433510"/>
                <a:ext cx="4290067" cy="3713298"/>
              </a:xfrm>
              <a:custGeom>
                <a:avLst/>
                <a:gdLst>
                  <a:gd name="T0" fmla="*/ 2193 w 3444"/>
                  <a:gd name="T1" fmla="*/ 0 h 2979"/>
                  <a:gd name="T2" fmla="*/ 1250 w 3444"/>
                  <a:gd name="T3" fmla="*/ 0 h 2979"/>
                  <a:gd name="T4" fmla="*/ 1250 w 3444"/>
                  <a:gd name="T5" fmla="*/ 0 h 2979"/>
                  <a:gd name="T6" fmla="*/ 586 w 3444"/>
                  <a:gd name="T7" fmla="*/ 372 h 2979"/>
                  <a:gd name="T8" fmla="*/ 152 w 3444"/>
                  <a:gd name="T9" fmla="*/ 1085 h 2979"/>
                  <a:gd name="T10" fmla="*/ 152 w 3444"/>
                  <a:gd name="T11" fmla="*/ 1085 h 2979"/>
                  <a:gd name="T12" fmla="*/ 152 w 3444"/>
                  <a:gd name="T13" fmla="*/ 1893 h 2979"/>
                  <a:gd name="T14" fmla="*/ 586 w 3444"/>
                  <a:gd name="T15" fmla="*/ 2605 h 2979"/>
                  <a:gd name="T16" fmla="*/ 586 w 3444"/>
                  <a:gd name="T17" fmla="*/ 2605 h 2979"/>
                  <a:gd name="T18" fmla="*/ 1250 w 3444"/>
                  <a:gd name="T19" fmla="*/ 2978 h 2979"/>
                  <a:gd name="T20" fmla="*/ 2193 w 3444"/>
                  <a:gd name="T21" fmla="*/ 2978 h 2979"/>
                  <a:gd name="T22" fmla="*/ 2193 w 3444"/>
                  <a:gd name="T23" fmla="*/ 2978 h 2979"/>
                  <a:gd name="T24" fmla="*/ 2857 w 3444"/>
                  <a:gd name="T25" fmla="*/ 2605 h 2979"/>
                  <a:gd name="T26" fmla="*/ 3291 w 3444"/>
                  <a:gd name="T27" fmla="*/ 1893 h 2979"/>
                  <a:gd name="T28" fmla="*/ 3291 w 3444"/>
                  <a:gd name="T29" fmla="*/ 1893 h 2979"/>
                  <a:gd name="T30" fmla="*/ 3291 w 3444"/>
                  <a:gd name="T31" fmla="*/ 1085 h 2979"/>
                  <a:gd name="T32" fmla="*/ 2857 w 3444"/>
                  <a:gd name="T33" fmla="*/ 372 h 2979"/>
                  <a:gd name="T34" fmla="*/ 2857 w 3444"/>
                  <a:gd name="T35" fmla="*/ 372 h 2979"/>
                  <a:gd name="T36" fmla="*/ 2193 w 3444"/>
                  <a:gd name="T37" fmla="*/ 0 h 2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44" h="2979">
                    <a:moveTo>
                      <a:pt x="2193" y="0"/>
                    </a:moveTo>
                    <a:lnTo>
                      <a:pt x="1250" y="0"/>
                    </a:lnTo>
                    <a:lnTo>
                      <a:pt x="1250" y="0"/>
                    </a:lnTo>
                    <a:cubicBezTo>
                      <a:pt x="979" y="0"/>
                      <a:pt x="728" y="141"/>
                      <a:pt x="586" y="372"/>
                    </a:cubicBezTo>
                    <a:lnTo>
                      <a:pt x="152" y="1085"/>
                    </a:lnTo>
                    <a:lnTo>
                      <a:pt x="152" y="1085"/>
                    </a:lnTo>
                    <a:cubicBezTo>
                      <a:pt x="0" y="1333"/>
                      <a:pt x="0" y="1644"/>
                      <a:pt x="152" y="1893"/>
                    </a:cubicBezTo>
                    <a:lnTo>
                      <a:pt x="586" y="2605"/>
                    </a:lnTo>
                    <a:lnTo>
                      <a:pt x="586" y="2605"/>
                    </a:lnTo>
                    <a:cubicBezTo>
                      <a:pt x="728" y="2837"/>
                      <a:pt x="979" y="2978"/>
                      <a:pt x="1250" y="2978"/>
                    </a:cubicBezTo>
                    <a:lnTo>
                      <a:pt x="2193" y="2978"/>
                    </a:lnTo>
                    <a:lnTo>
                      <a:pt x="2193" y="2978"/>
                    </a:lnTo>
                    <a:cubicBezTo>
                      <a:pt x="2464" y="2978"/>
                      <a:pt x="2716" y="2837"/>
                      <a:pt x="2857" y="2605"/>
                    </a:cubicBezTo>
                    <a:lnTo>
                      <a:pt x="3291" y="1893"/>
                    </a:lnTo>
                    <a:lnTo>
                      <a:pt x="3291" y="1893"/>
                    </a:lnTo>
                    <a:cubicBezTo>
                      <a:pt x="3443" y="1644"/>
                      <a:pt x="3443" y="1333"/>
                      <a:pt x="3291" y="1085"/>
                    </a:cubicBezTo>
                    <a:lnTo>
                      <a:pt x="2857" y="372"/>
                    </a:lnTo>
                    <a:lnTo>
                      <a:pt x="2857" y="372"/>
                    </a:lnTo>
                    <a:cubicBezTo>
                      <a:pt x="2716" y="141"/>
                      <a:pt x="2464" y="0"/>
                      <a:pt x="2193" y="0"/>
                    </a:cubicBezTo>
                  </a:path>
                </a:pathLst>
              </a:custGeom>
              <a:solidFill>
                <a:srgbClr val="94C83D"/>
              </a:solidFill>
              <a:ln w="12700" cap="flat">
                <a:solidFill>
                  <a:srgbClr val="94C83D"/>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pitchFamily="2" charset="77"/>
                  <a:ea typeface="+mn-ea"/>
                  <a:cs typeface="+mn-cs"/>
                </a:endParaRPr>
              </a:p>
            </p:txBody>
          </p:sp>
          <p:sp>
            <p:nvSpPr>
              <p:cNvPr id="62" name="Freeform 393">
                <a:extLst>
                  <a:ext uri="{FF2B5EF4-FFF2-40B4-BE49-F238E27FC236}">
                    <a16:creationId xmlns:a16="http://schemas.microsoft.com/office/drawing/2014/main" id="{B060BF55-3CF2-7FB7-0874-4D13B6944F17}"/>
                  </a:ext>
                </a:extLst>
              </p:cNvPr>
              <p:cNvSpPr>
                <a:spLocks noChangeArrowheads="1"/>
              </p:cNvSpPr>
              <p:nvPr/>
            </p:nvSpPr>
            <p:spPr bwMode="auto">
              <a:xfrm>
                <a:off x="14464173" y="6658722"/>
                <a:ext cx="3762735" cy="3257378"/>
              </a:xfrm>
              <a:custGeom>
                <a:avLst/>
                <a:gdLst>
                  <a:gd name="T0" fmla="*/ 1925 w 3022"/>
                  <a:gd name="T1" fmla="*/ 0 h 2616"/>
                  <a:gd name="T2" fmla="*/ 1097 w 3022"/>
                  <a:gd name="T3" fmla="*/ 0 h 2616"/>
                  <a:gd name="T4" fmla="*/ 1097 w 3022"/>
                  <a:gd name="T5" fmla="*/ 0 h 2616"/>
                  <a:gd name="T6" fmla="*/ 514 w 3022"/>
                  <a:gd name="T7" fmla="*/ 327 h 2616"/>
                  <a:gd name="T8" fmla="*/ 132 w 3022"/>
                  <a:gd name="T9" fmla="*/ 953 h 2616"/>
                  <a:gd name="T10" fmla="*/ 132 w 3022"/>
                  <a:gd name="T11" fmla="*/ 953 h 2616"/>
                  <a:gd name="T12" fmla="*/ 132 w 3022"/>
                  <a:gd name="T13" fmla="*/ 1663 h 2616"/>
                  <a:gd name="T14" fmla="*/ 514 w 3022"/>
                  <a:gd name="T15" fmla="*/ 2288 h 2616"/>
                  <a:gd name="T16" fmla="*/ 514 w 3022"/>
                  <a:gd name="T17" fmla="*/ 2288 h 2616"/>
                  <a:gd name="T18" fmla="*/ 1097 w 3022"/>
                  <a:gd name="T19" fmla="*/ 2615 h 2616"/>
                  <a:gd name="T20" fmla="*/ 1925 w 3022"/>
                  <a:gd name="T21" fmla="*/ 2615 h 2616"/>
                  <a:gd name="T22" fmla="*/ 1925 w 3022"/>
                  <a:gd name="T23" fmla="*/ 2615 h 2616"/>
                  <a:gd name="T24" fmla="*/ 2508 w 3022"/>
                  <a:gd name="T25" fmla="*/ 2288 h 2616"/>
                  <a:gd name="T26" fmla="*/ 2889 w 3022"/>
                  <a:gd name="T27" fmla="*/ 1663 h 2616"/>
                  <a:gd name="T28" fmla="*/ 2889 w 3022"/>
                  <a:gd name="T29" fmla="*/ 1663 h 2616"/>
                  <a:gd name="T30" fmla="*/ 2889 w 3022"/>
                  <a:gd name="T31" fmla="*/ 953 h 2616"/>
                  <a:gd name="T32" fmla="*/ 2508 w 3022"/>
                  <a:gd name="T33" fmla="*/ 327 h 2616"/>
                  <a:gd name="T34" fmla="*/ 2508 w 3022"/>
                  <a:gd name="T35" fmla="*/ 327 h 2616"/>
                  <a:gd name="T36" fmla="*/ 1925 w 3022"/>
                  <a:gd name="T37" fmla="*/ 0 h 2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22" h="2616">
                    <a:moveTo>
                      <a:pt x="1925" y="0"/>
                    </a:moveTo>
                    <a:lnTo>
                      <a:pt x="1097" y="0"/>
                    </a:lnTo>
                    <a:lnTo>
                      <a:pt x="1097" y="0"/>
                    </a:lnTo>
                    <a:cubicBezTo>
                      <a:pt x="858" y="0"/>
                      <a:pt x="638" y="125"/>
                      <a:pt x="514" y="327"/>
                    </a:cubicBezTo>
                    <a:lnTo>
                      <a:pt x="132" y="953"/>
                    </a:lnTo>
                    <a:lnTo>
                      <a:pt x="132" y="953"/>
                    </a:lnTo>
                    <a:cubicBezTo>
                      <a:pt x="0" y="1171"/>
                      <a:pt x="0" y="1445"/>
                      <a:pt x="132" y="1663"/>
                    </a:cubicBezTo>
                    <a:lnTo>
                      <a:pt x="514" y="2288"/>
                    </a:lnTo>
                    <a:lnTo>
                      <a:pt x="514" y="2288"/>
                    </a:lnTo>
                    <a:cubicBezTo>
                      <a:pt x="638" y="2491"/>
                      <a:pt x="858" y="2615"/>
                      <a:pt x="1097" y="2615"/>
                    </a:cubicBezTo>
                    <a:lnTo>
                      <a:pt x="1925" y="2615"/>
                    </a:lnTo>
                    <a:lnTo>
                      <a:pt x="1925" y="2615"/>
                    </a:lnTo>
                    <a:cubicBezTo>
                      <a:pt x="2163" y="2615"/>
                      <a:pt x="2384" y="2491"/>
                      <a:pt x="2508" y="2288"/>
                    </a:cubicBezTo>
                    <a:lnTo>
                      <a:pt x="2889" y="1663"/>
                    </a:lnTo>
                    <a:lnTo>
                      <a:pt x="2889" y="1663"/>
                    </a:lnTo>
                    <a:cubicBezTo>
                      <a:pt x="3021" y="1445"/>
                      <a:pt x="3021" y="1171"/>
                      <a:pt x="2889" y="953"/>
                    </a:cubicBezTo>
                    <a:lnTo>
                      <a:pt x="2508" y="327"/>
                    </a:lnTo>
                    <a:lnTo>
                      <a:pt x="2508" y="327"/>
                    </a:lnTo>
                    <a:cubicBezTo>
                      <a:pt x="2384" y="125"/>
                      <a:pt x="2163" y="0"/>
                      <a:pt x="1925" y="0"/>
                    </a:cubicBezTo>
                  </a:path>
                </a:pathLst>
              </a:custGeom>
              <a:solidFill>
                <a:schemeClr val="bg1"/>
              </a:solidFill>
              <a:ln>
                <a:solidFill>
                  <a:srgbClr val="94C83D"/>
                </a:solidFill>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pitchFamily="2" charset="77"/>
                  <a:ea typeface="+mn-ea"/>
                  <a:cs typeface="+mn-cs"/>
                </a:endParaRPr>
              </a:p>
            </p:txBody>
          </p:sp>
        </p:grpSp>
        <p:pic>
          <p:nvPicPr>
            <p:cNvPr id="60" name="Picture 59">
              <a:extLst>
                <a:ext uri="{FF2B5EF4-FFF2-40B4-BE49-F238E27FC236}">
                  <a16:creationId xmlns:a16="http://schemas.microsoft.com/office/drawing/2014/main" id="{CEA95428-0DFC-581E-339F-D4C8CF1D88BB}"/>
                </a:ext>
              </a:extLst>
            </p:cNvPr>
            <p:cNvPicPr>
              <a:picLocks noChangeAspect="1"/>
            </p:cNvPicPr>
            <p:nvPr/>
          </p:nvPicPr>
          <p:blipFill rotWithShape="1">
            <a:blip r:embed="rId7"/>
            <a:srcRect l="12043" r="14512" b="9106"/>
            <a:stretch/>
          </p:blipFill>
          <p:spPr>
            <a:xfrm>
              <a:off x="15337364" y="7056372"/>
              <a:ext cx="1984248" cy="2440880"/>
            </a:xfrm>
            <a:prstGeom prst="rect">
              <a:avLst/>
            </a:prstGeom>
          </p:spPr>
        </p:pic>
      </p:grpSp>
      <p:grpSp>
        <p:nvGrpSpPr>
          <p:cNvPr id="63" name="Group 62">
            <a:extLst>
              <a:ext uri="{FF2B5EF4-FFF2-40B4-BE49-F238E27FC236}">
                <a16:creationId xmlns:a16="http://schemas.microsoft.com/office/drawing/2014/main" id="{36219772-F3FA-30F2-803B-CEC1A771271B}"/>
              </a:ext>
            </a:extLst>
          </p:cNvPr>
          <p:cNvGrpSpPr/>
          <p:nvPr/>
        </p:nvGrpSpPr>
        <p:grpSpPr>
          <a:xfrm>
            <a:off x="9505400" y="5180627"/>
            <a:ext cx="1256733" cy="1170372"/>
            <a:chOff x="18754240" y="6433510"/>
            <a:chExt cx="4290071" cy="3713298"/>
          </a:xfrm>
        </p:grpSpPr>
        <p:grpSp>
          <p:nvGrpSpPr>
            <p:cNvPr id="64" name="Group 63">
              <a:extLst>
                <a:ext uri="{FF2B5EF4-FFF2-40B4-BE49-F238E27FC236}">
                  <a16:creationId xmlns:a16="http://schemas.microsoft.com/office/drawing/2014/main" id="{AA43C661-F178-7C5C-4232-39A4089962B3}"/>
                </a:ext>
              </a:extLst>
            </p:cNvPr>
            <p:cNvGrpSpPr/>
            <p:nvPr/>
          </p:nvGrpSpPr>
          <p:grpSpPr>
            <a:xfrm>
              <a:off x="18754240" y="6433510"/>
              <a:ext cx="4290071" cy="3713298"/>
              <a:chOff x="18754240" y="6433510"/>
              <a:chExt cx="4290071" cy="3713298"/>
            </a:xfrm>
          </p:grpSpPr>
          <p:sp>
            <p:nvSpPr>
              <p:cNvPr id="66" name="Freeform 396">
                <a:extLst>
                  <a:ext uri="{FF2B5EF4-FFF2-40B4-BE49-F238E27FC236}">
                    <a16:creationId xmlns:a16="http://schemas.microsoft.com/office/drawing/2014/main" id="{57F1C941-A64D-63E1-6BBC-165179889893}"/>
                  </a:ext>
                </a:extLst>
              </p:cNvPr>
              <p:cNvSpPr>
                <a:spLocks noChangeArrowheads="1"/>
              </p:cNvSpPr>
              <p:nvPr/>
            </p:nvSpPr>
            <p:spPr bwMode="auto">
              <a:xfrm>
                <a:off x="18754240" y="6433510"/>
                <a:ext cx="4290071" cy="3713298"/>
              </a:xfrm>
              <a:custGeom>
                <a:avLst/>
                <a:gdLst>
                  <a:gd name="T0" fmla="*/ 2193 w 3443"/>
                  <a:gd name="T1" fmla="*/ 0 h 2980"/>
                  <a:gd name="T2" fmla="*/ 1250 w 3443"/>
                  <a:gd name="T3" fmla="*/ 0 h 2980"/>
                  <a:gd name="T4" fmla="*/ 1250 w 3443"/>
                  <a:gd name="T5" fmla="*/ 0 h 2980"/>
                  <a:gd name="T6" fmla="*/ 586 w 3443"/>
                  <a:gd name="T7" fmla="*/ 373 h 2980"/>
                  <a:gd name="T8" fmla="*/ 152 w 3443"/>
                  <a:gd name="T9" fmla="*/ 1085 h 2980"/>
                  <a:gd name="T10" fmla="*/ 152 w 3443"/>
                  <a:gd name="T11" fmla="*/ 1085 h 2980"/>
                  <a:gd name="T12" fmla="*/ 152 w 3443"/>
                  <a:gd name="T13" fmla="*/ 1895 h 2980"/>
                  <a:gd name="T14" fmla="*/ 586 w 3443"/>
                  <a:gd name="T15" fmla="*/ 2607 h 2980"/>
                  <a:gd name="T16" fmla="*/ 586 w 3443"/>
                  <a:gd name="T17" fmla="*/ 2607 h 2980"/>
                  <a:gd name="T18" fmla="*/ 1250 w 3443"/>
                  <a:gd name="T19" fmla="*/ 2979 h 2980"/>
                  <a:gd name="T20" fmla="*/ 2193 w 3443"/>
                  <a:gd name="T21" fmla="*/ 2979 h 2980"/>
                  <a:gd name="T22" fmla="*/ 2193 w 3443"/>
                  <a:gd name="T23" fmla="*/ 2979 h 2980"/>
                  <a:gd name="T24" fmla="*/ 2857 w 3443"/>
                  <a:gd name="T25" fmla="*/ 2607 h 2980"/>
                  <a:gd name="T26" fmla="*/ 3291 w 3443"/>
                  <a:gd name="T27" fmla="*/ 1895 h 2980"/>
                  <a:gd name="T28" fmla="*/ 3291 w 3443"/>
                  <a:gd name="T29" fmla="*/ 1895 h 2980"/>
                  <a:gd name="T30" fmla="*/ 3291 w 3443"/>
                  <a:gd name="T31" fmla="*/ 1085 h 2980"/>
                  <a:gd name="T32" fmla="*/ 2857 w 3443"/>
                  <a:gd name="T33" fmla="*/ 373 h 2980"/>
                  <a:gd name="T34" fmla="*/ 2857 w 3443"/>
                  <a:gd name="T35" fmla="*/ 373 h 2980"/>
                  <a:gd name="T36" fmla="*/ 2193 w 3443"/>
                  <a:gd name="T37" fmla="*/ 0 h 2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43" h="2980">
                    <a:moveTo>
                      <a:pt x="2193" y="0"/>
                    </a:moveTo>
                    <a:lnTo>
                      <a:pt x="1250" y="0"/>
                    </a:lnTo>
                    <a:lnTo>
                      <a:pt x="1250" y="0"/>
                    </a:lnTo>
                    <a:cubicBezTo>
                      <a:pt x="979" y="0"/>
                      <a:pt x="727" y="141"/>
                      <a:pt x="586" y="373"/>
                    </a:cubicBezTo>
                    <a:lnTo>
                      <a:pt x="152" y="1085"/>
                    </a:lnTo>
                    <a:lnTo>
                      <a:pt x="152" y="1085"/>
                    </a:lnTo>
                    <a:cubicBezTo>
                      <a:pt x="0" y="1334"/>
                      <a:pt x="0" y="1646"/>
                      <a:pt x="152" y="1895"/>
                    </a:cubicBezTo>
                    <a:lnTo>
                      <a:pt x="586" y="2607"/>
                    </a:lnTo>
                    <a:lnTo>
                      <a:pt x="586" y="2607"/>
                    </a:lnTo>
                    <a:cubicBezTo>
                      <a:pt x="727" y="2837"/>
                      <a:pt x="979" y="2979"/>
                      <a:pt x="1250" y="2979"/>
                    </a:cubicBezTo>
                    <a:lnTo>
                      <a:pt x="2193" y="2979"/>
                    </a:lnTo>
                    <a:lnTo>
                      <a:pt x="2193" y="2979"/>
                    </a:lnTo>
                    <a:cubicBezTo>
                      <a:pt x="2464" y="2979"/>
                      <a:pt x="2716" y="2837"/>
                      <a:pt x="2857" y="2607"/>
                    </a:cubicBezTo>
                    <a:lnTo>
                      <a:pt x="3291" y="1895"/>
                    </a:lnTo>
                    <a:lnTo>
                      <a:pt x="3291" y="1895"/>
                    </a:lnTo>
                    <a:cubicBezTo>
                      <a:pt x="3442" y="1646"/>
                      <a:pt x="3442" y="1334"/>
                      <a:pt x="3291" y="1085"/>
                    </a:cubicBezTo>
                    <a:lnTo>
                      <a:pt x="2857" y="373"/>
                    </a:lnTo>
                    <a:lnTo>
                      <a:pt x="2857" y="373"/>
                    </a:lnTo>
                    <a:cubicBezTo>
                      <a:pt x="2716" y="141"/>
                      <a:pt x="2464" y="0"/>
                      <a:pt x="2193" y="0"/>
                    </a:cubicBezTo>
                  </a:path>
                </a:pathLst>
              </a:custGeom>
              <a:solidFill>
                <a:srgbClr val="13629C"/>
              </a:solidFill>
              <a:ln w="12700" cap="flat">
                <a:solidFill>
                  <a:srgbClr val="13629C"/>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pitchFamily="2" charset="77"/>
                  <a:ea typeface="+mn-ea"/>
                  <a:cs typeface="+mn-cs"/>
                </a:endParaRPr>
              </a:p>
            </p:txBody>
          </p:sp>
          <p:sp>
            <p:nvSpPr>
              <p:cNvPr id="67" name="Freeform 395">
                <a:extLst>
                  <a:ext uri="{FF2B5EF4-FFF2-40B4-BE49-F238E27FC236}">
                    <a16:creationId xmlns:a16="http://schemas.microsoft.com/office/drawing/2014/main" id="{7ABF19D7-04E6-003F-15B5-6D0C4321253F}"/>
                  </a:ext>
                </a:extLst>
              </p:cNvPr>
              <p:cNvSpPr>
                <a:spLocks noChangeArrowheads="1"/>
              </p:cNvSpPr>
              <p:nvPr/>
            </p:nvSpPr>
            <p:spPr bwMode="auto">
              <a:xfrm>
                <a:off x="19017909" y="6658722"/>
                <a:ext cx="3768229" cy="3257378"/>
              </a:xfrm>
              <a:custGeom>
                <a:avLst/>
                <a:gdLst>
                  <a:gd name="T0" fmla="*/ 1925 w 3023"/>
                  <a:gd name="T1" fmla="*/ 0 h 2617"/>
                  <a:gd name="T2" fmla="*/ 1097 w 3023"/>
                  <a:gd name="T3" fmla="*/ 0 h 2617"/>
                  <a:gd name="T4" fmla="*/ 1097 w 3023"/>
                  <a:gd name="T5" fmla="*/ 0 h 2617"/>
                  <a:gd name="T6" fmla="*/ 514 w 3023"/>
                  <a:gd name="T7" fmla="*/ 328 h 2617"/>
                  <a:gd name="T8" fmla="*/ 133 w 3023"/>
                  <a:gd name="T9" fmla="*/ 952 h 2617"/>
                  <a:gd name="T10" fmla="*/ 133 w 3023"/>
                  <a:gd name="T11" fmla="*/ 952 h 2617"/>
                  <a:gd name="T12" fmla="*/ 133 w 3023"/>
                  <a:gd name="T13" fmla="*/ 1663 h 2617"/>
                  <a:gd name="T14" fmla="*/ 514 w 3023"/>
                  <a:gd name="T15" fmla="*/ 2289 h 2617"/>
                  <a:gd name="T16" fmla="*/ 514 w 3023"/>
                  <a:gd name="T17" fmla="*/ 2289 h 2617"/>
                  <a:gd name="T18" fmla="*/ 1097 w 3023"/>
                  <a:gd name="T19" fmla="*/ 2616 h 2617"/>
                  <a:gd name="T20" fmla="*/ 1925 w 3023"/>
                  <a:gd name="T21" fmla="*/ 2616 h 2617"/>
                  <a:gd name="T22" fmla="*/ 1925 w 3023"/>
                  <a:gd name="T23" fmla="*/ 2616 h 2617"/>
                  <a:gd name="T24" fmla="*/ 2508 w 3023"/>
                  <a:gd name="T25" fmla="*/ 2289 h 2617"/>
                  <a:gd name="T26" fmla="*/ 2889 w 3023"/>
                  <a:gd name="T27" fmla="*/ 1663 h 2617"/>
                  <a:gd name="T28" fmla="*/ 2889 w 3023"/>
                  <a:gd name="T29" fmla="*/ 1663 h 2617"/>
                  <a:gd name="T30" fmla="*/ 2889 w 3023"/>
                  <a:gd name="T31" fmla="*/ 952 h 2617"/>
                  <a:gd name="T32" fmla="*/ 2508 w 3023"/>
                  <a:gd name="T33" fmla="*/ 328 h 2617"/>
                  <a:gd name="T34" fmla="*/ 2508 w 3023"/>
                  <a:gd name="T35" fmla="*/ 328 h 2617"/>
                  <a:gd name="T36" fmla="*/ 1925 w 3023"/>
                  <a:gd name="T37" fmla="*/ 0 h 2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23" h="2617">
                    <a:moveTo>
                      <a:pt x="1925" y="0"/>
                    </a:moveTo>
                    <a:lnTo>
                      <a:pt x="1097" y="0"/>
                    </a:lnTo>
                    <a:lnTo>
                      <a:pt x="1097" y="0"/>
                    </a:lnTo>
                    <a:cubicBezTo>
                      <a:pt x="859" y="0"/>
                      <a:pt x="639" y="124"/>
                      <a:pt x="514" y="328"/>
                    </a:cubicBezTo>
                    <a:lnTo>
                      <a:pt x="133" y="952"/>
                    </a:lnTo>
                    <a:lnTo>
                      <a:pt x="133" y="952"/>
                    </a:lnTo>
                    <a:cubicBezTo>
                      <a:pt x="0" y="1171"/>
                      <a:pt x="0" y="1445"/>
                      <a:pt x="133" y="1663"/>
                    </a:cubicBezTo>
                    <a:lnTo>
                      <a:pt x="514" y="2289"/>
                    </a:lnTo>
                    <a:lnTo>
                      <a:pt x="514" y="2289"/>
                    </a:lnTo>
                    <a:cubicBezTo>
                      <a:pt x="639" y="2492"/>
                      <a:pt x="859" y="2616"/>
                      <a:pt x="1097" y="2616"/>
                    </a:cubicBezTo>
                    <a:lnTo>
                      <a:pt x="1925" y="2616"/>
                    </a:lnTo>
                    <a:lnTo>
                      <a:pt x="1925" y="2616"/>
                    </a:lnTo>
                    <a:cubicBezTo>
                      <a:pt x="2163" y="2616"/>
                      <a:pt x="2384" y="2492"/>
                      <a:pt x="2508" y="2289"/>
                    </a:cubicBezTo>
                    <a:lnTo>
                      <a:pt x="2889" y="1663"/>
                    </a:lnTo>
                    <a:lnTo>
                      <a:pt x="2889" y="1663"/>
                    </a:lnTo>
                    <a:cubicBezTo>
                      <a:pt x="3022" y="1445"/>
                      <a:pt x="3022" y="1171"/>
                      <a:pt x="2889" y="952"/>
                    </a:cubicBezTo>
                    <a:lnTo>
                      <a:pt x="2508" y="328"/>
                    </a:lnTo>
                    <a:lnTo>
                      <a:pt x="2508" y="328"/>
                    </a:lnTo>
                    <a:cubicBezTo>
                      <a:pt x="2384" y="124"/>
                      <a:pt x="2163" y="0"/>
                      <a:pt x="1925" y="0"/>
                    </a:cubicBezTo>
                  </a:path>
                </a:pathLst>
              </a:custGeom>
              <a:solidFill>
                <a:schemeClr val="bg1"/>
              </a:solidFill>
              <a:ln>
                <a:solidFill>
                  <a:srgbClr val="13629C"/>
                </a:solidFill>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Poppins" pitchFamily="2" charset="77"/>
                  <a:ea typeface="+mn-ea"/>
                  <a:cs typeface="+mn-cs"/>
                </a:endParaRPr>
              </a:p>
            </p:txBody>
          </p:sp>
        </p:grpSp>
        <p:pic>
          <p:nvPicPr>
            <p:cNvPr id="65" name="Picture 64">
              <a:extLst>
                <a:ext uri="{FF2B5EF4-FFF2-40B4-BE49-F238E27FC236}">
                  <a16:creationId xmlns:a16="http://schemas.microsoft.com/office/drawing/2014/main" id="{8593CBC6-4FC4-B37C-B32D-84975BDC0115}"/>
                </a:ext>
              </a:extLst>
            </p:cNvPr>
            <p:cNvPicPr>
              <a:picLocks noChangeAspect="1"/>
            </p:cNvPicPr>
            <p:nvPr/>
          </p:nvPicPr>
          <p:blipFill rotWithShape="1">
            <a:blip r:embed="rId8"/>
            <a:srcRect l="6395" t="5988" r="5466" b="10795"/>
            <a:stretch/>
          </p:blipFill>
          <p:spPr>
            <a:xfrm>
              <a:off x="19850099" y="7056371"/>
              <a:ext cx="2209801" cy="2259079"/>
            </a:xfrm>
            <a:prstGeom prst="rect">
              <a:avLst/>
            </a:prstGeom>
          </p:spPr>
        </p:pic>
      </p:grpSp>
      <p:sp>
        <p:nvSpPr>
          <p:cNvPr id="6" name="Google Shape;190;p2">
            <a:extLst>
              <a:ext uri="{FF2B5EF4-FFF2-40B4-BE49-F238E27FC236}">
                <a16:creationId xmlns:a16="http://schemas.microsoft.com/office/drawing/2014/main" id="{42F364BC-EF49-0351-52ED-2CF31EA96F2E}"/>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lvl="0"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Internal Audit</a:t>
            </a:r>
            <a:r>
              <a:rPr kumimoji="0" lang="en-US" sz="27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 Methodology and Approach</a:t>
            </a:r>
          </a:p>
        </p:txBody>
      </p:sp>
    </p:spTree>
    <p:extLst>
      <p:ext uri="{BB962C8B-B14F-4D97-AF65-F5344CB8AC3E}">
        <p14:creationId xmlns:p14="http://schemas.microsoft.com/office/powerpoint/2010/main" val="1781628867"/>
      </p:ext>
    </p:extLst>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2" name="Google Shape;190;p2">
            <a:extLst>
              <a:ext uri="{FF2B5EF4-FFF2-40B4-BE49-F238E27FC236}">
                <a16:creationId xmlns:a16="http://schemas.microsoft.com/office/drawing/2014/main" id="{A783DEBF-4C68-0EF2-9CE9-29395C81775F}"/>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Internal Audit Methodology and Approach</a:t>
            </a:r>
          </a:p>
        </p:txBody>
      </p:sp>
      <p:sp>
        <p:nvSpPr>
          <p:cNvPr id="5" name="TextBox 4">
            <a:extLst>
              <a:ext uri="{FF2B5EF4-FFF2-40B4-BE49-F238E27FC236}">
                <a16:creationId xmlns:a16="http://schemas.microsoft.com/office/drawing/2014/main" id="{58496854-E7FE-B3E8-0E17-C862EAE66D07}"/>
              </a:ext>
            </a:extLst>
          </p:cNvPr>
          <p:cNvSpPr txBox="1"/>
          <p:nvPr/>
        </p:nvSpPr>
        <p:spPr>
          <a:xfrm>
            <a:off x="214140" y="1204957"/>
            <a:ext cx="6753340" cy="369332"/>
          </a:xfrm>
          <a:prstGeom prst="rect">
            <a:avLst/>
          </a:prstGeom>
          <a:solidFill>
            <a:sysClr val="window" lastClr="FFFFFF"/>
          </a:solidFill>
          <a:ln w="12700" cap="flat" cmpd="sng" algn="ctr">
            <a:noFill/>
            <a:prstDash val="solid"/>
            <a:miter lim="800000"/>
          </a:ln>
          <a:effectLst/>
        </p:spPr>
        <p:txBody>
          <a:bodyPr wrap="square" rtlCol="0">
            <a:spAutoFit/>
          </a:bodyPr>
          <a:lstStyle/>
          <a:p>
            <a:pPr algn="ctr" defTabSz="914400" fontAlgn="base">
              <a:spcBef>
                <a:spcPct val="0"/>
              </a:spcBef>
              <a:spcAft>
                <a:spcPct val="0"/>
              </a:spcAft>
              <a:defRPr/>
            </a:pPr>
            <a:r>
              <a:rPr lang="en-US" b="1" kern="0" dirty="0">
                <a:solidFill>
                  <a:prstClr val="black"/>
                </a:solidFill>
                <a:latin typeface="Roboto" panose="02000000000000000000" pitchFamily="2" charset="0"/>
                <a:ea typeface="Roboto" panose="02000000000000000000" pitchFamily="2" charset="0"/>
                <a:cs typeface="Roboto" panose="02000000000000000000" pitchFamily="2" charset="0"/>
              </a:rPr>
              <a:t>OUR APPROACH TO INTERNAL AUDIT</a:t>
            </a:r>
          </a:p>
        </p:txBody>
      </p:sp>
      <p:grpSp>
        <p:nvGrpSpPr>
          <p:cNvPr id="6" name="Group 5">
            <a:extLst>
              <a:ext uri="{FF2B5EF4-FFF2-40B4-BE49-F238E27FC236}">
                <a16:creationId xmlns:a16="http://schemas.microsoft.com/office/drawing/2014/main" id="{E15F135E-5105-9BF3-A6ED-07DD5D771F41}"/>
              </a:ext>
            </a:extLst>
          </p:cNvPr>
          <p:cNvGrpSpPr/>
          <p:nvPr/>
        </p:nvGrpSpPr>
        <p:grpSpPr>
          <a:xfrm>
            <a:off x="588711" y="1709597"/>
            <a:ext cx="6665205" cy="4180908"/>
            <a:chOff x="2158145" y="2010884"/>
            <a:chExt cx="4834690" cy="3740069"/>
          </a:xfrm>
        </p:grpSpPr>
        <p:sp>
          <p:nvSpPr>
            <p:cNvPr id="7" name="Round Same Side Corner Rectangle 24">
              <a:extLst>
                <a:ext uri="{FF2B5EF4-FFF2-40B4-BE49-F238E27FC236}">
                  <a16:creationId xmlns:a16="http://schemas.microsoft.com/office/drawing/2014/main" id="{8256EDEC-C225-5946-E1B5-67649C8A1B71}"/>
                </a:ext>
              </a:extLst>
            </p:cNvPr>
            <p:cNvSpPr/>
            <p:nvPr/>
          </p:nvSpPr>
          <p:spPr>
            <a:xfrm rot="5400000">
              <a:off x="4216796" y="112081"/>
              <a:ext cx="871722" cy="4669329"/>
            </a:xfrm>
            <a:prstGeom prst="round2SameRect">
              <a:avLst>
                <a:gd name="adj1" fmla="val 50000"/>
                <a:gd name="adj2" fmla="val 0"/>
              </a:avLst>
            </a:prstGeom>
            <a:solidFill>
              <a:sysClr val="window" lastClr="FFFFFF"/>
            </a:solidFill>
            <a:ln w="12700" cap="flat" cmpd="sng" algn="ctr">
              <a:solidFill>
                <a:sysClr val="window" lastClr="FFFFFF">
                  <a:lumMod val="50000"/>
                </a:sysClr>
              </a:solidFill>
              <a:prstDash val="solid"/>
              <a:miter lim="800000"/>
            </a:ln>
            <a:effectLst/>
          </p:spPr>
          <p:txBody>
            <a:bodyPr rtlCol="0" anchor="ctr"/>
            <a:lstStyle/>
            <a:p>
              <a:pPr algn="ctr" defTabSz="914400" fontAlgn="base">
                <a:spcBef>
                  <a:spcPct val="0"/>
                </a:spcBef>
                <a:spcAft>
                  <a:spcPct val="0"/>
                </a:spcAft>
                <a:defRPr/>
              </a:pPr>
              <a:endParaRPr lang="en-US" sz="900"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sp>
          <p:nvSpPr>
            <p:cNvPr id="8" name="Freeform 224">
              <a:extLst>
                <a:ext uri="{FF2B5EF4-FFF2-40B4-BE49-F238E27FC236}">
                  <a16:creationId xmlns:a16="http://schemas.microsoft.com/office/drawing/2014/main" id="{E6C89D7E-1ADF-2EF7-B17F-A4445E244059}"/>
                </a:ext>
              </a:extLst>
            </p:cNvPr>
            <p:cNvSpPr>
              <a:spLocks noChangeArrowheads="1"/>
            </p:cNvSpPr>
            <p:nvPr/>
          </p:nvSpPr>
          <p:spPr bwMode="auto">
            <a:xfrm>
              <a:off x="2158145" y="2010884"/>
              <a:ext cx="159848" cy="871723"/>
            </a:xfrm>
            <a:custGeom>
              <a:avLst/>
              <a:gdLst>
                <a:gd name="T0" fmla="*/ 300 w 301"/>
                <a:gd name="T1" fmla="*/ 2049 h 2050"/>
                <a:gd name="T2" fmla="*/ 0 w 301"/>
                <a:gd name="T3" fmla="*/ 2049 h 2050"/>
                <a:gd name="T4" fmla="*/ 0 w 301"/>
                <a:gd name="T5" fmla="*/ 0 h 2050"/>
                <a:gd name="T6" fmla="*/ 300 w 301"/>
                <a:gd name="T7" fmla="*/ 0 h 2050"/>
                <a:gd name="T8" fmla="*/ 300 w 301"/>
                <a:gd name="T9" fmla="*/ 2049 h 2050"/>
              </a:gdLst>
              <a:ahLst/>
              <a:cxnLst>
                <a:cxn ang="0">
                  <a:pos x="T0" y="T1"/>
                </a:cxn>
                <a:cxn ang="0">
                  <a:pos x="T2" y="T3"/>
                </a:cxn>
                <a:cxn ang="0">
                  <a:pos x="T4" y="T5"/>
                </a:cxn>
                <a:cxn ang="0">
                  <a:pos x="T6" y="T7"/>
                </a:cxn>
                <a:cxn ang="0">
                  <a:pos x="T8" y="T9"/>
                </a:cxn>
              </a:cxnLst>
              <a:rect l="0" t="0" r="r" b="b"/>
              <a:pathLst>
                <a:path w="301" h="2050">
                  <a:moveTo>
                    <a:pt x="300" y="2049"/>
                  </a:moveTo>
                  <a:lnTo>
                    <a:pt x="0" y="2049"/>
                  </a:lnTo>
                  <a:lnTo>
                    <a:pt x="0" y="0"/>
                  </a:lnTo>
                  <a:lnTo>
                    <a:pt x="300" y="0"/>
                  </a:lnTo>
                  <a:lnTo>
                    <a:pt x="300" y="2049"/>
                  </a:lnTo>
                </a:path>
              </a:pathLst>
            </a:custGeom>
            <a:solidFill>
              <a:srgbClr val="C00000"/>
            </a:solidFill>
            <a:ln>
              <a:noFill/>
            </a:ln>
            <a:effectLst/>
          </p:spPr>
          <p:txBody>
            <a:bodyPr wrap="none" anchor="ctr"/>
            <a:lstStyle/>
            <a:p>
              <a:pPr defTabSz="914400" fontAlgn="base">
                <a:spcBef>
                  <a:spcPct val="0"/>
                </a:spcBef>
                <a:spcAft>
                  <a:spcPct val="0"/>
                </a:spcAft>
              </a:pPr>
              <a:endParaRPr lang="en-US" sz="2400" dirty="0">
                <a:solidFill>
                  <a:prstClr val="black"/>
                </a:solidFill>
                <a:latin typeface="Roboto" panose="02000000000000000000" pitchFamily="2" charset="0"/>
                <a:ea typeface="Roboto" panose="02000000000000000000" pitchFamily="2" charset="0"/>
                <a:cs typeface="Roboto" panose="02000000000000000000" pitchFamily="2" charset="0"/>
              </a:endParaRPr>
            </a:p>
          </p:txBody>
        </p:sp>
        <p:sp>
          <p:nvSpPr>
            <p:cNvPr id="9" name="TextBox 8">
              <a:extLst>
                <a:ext uri="{FF2B5EF4-FFF2-40B4-BE49-F238E27FC236}">
                  <a16:creationId xmlns:a16="http://schemas.microsoft.com/office/drawing/2014/main" id="{84A85ED2-D115-8785-F247-D05DB7F6744F}"/>
                </a:ext>
              </a:extLst>
            </p:cNvPr>
            <p:cNvSpPr txBox="1"/>
            <p:nvPr/>
          </p:nvSpPr>
          <p:spPr>
            <a:xfrm>
              <a:off x="2399985" y="2195118"/>
              <a:ext cx="3623792" cy="495584"/>
            </a:xfrm>
            <a:prstGeom prst="rect">
              <a:avLst/>
            </a:prstGeom>
            <a:noFill/>
          </p:spPr>
          <p:txBody>
            <a:bodyPr wrap="square" rtlCol="0" anchor="ctr" anchorCtr="0">
              <a:spAutoFit/>
            </a:bodyPr>
            <a:lstStyle/>
            <a:p>
              <a:pPr algn="just" defTabSz="742950" fontAlgn="base">
                <a:spcBef>
                  <a:spcPct val="0"/>
                </a:spcBef>
                <a:spcAft>
                  <a:spcPct val="0"/>
                </a:spcAft>
                <a:defRPr/>
              </a:pPr>
              <a:r>
                <a:rPr lang="en-US" sz="1500" dirty="0">
                  <a:solidFill>
                    <a:prstClr val="black"/>
                  </a:solidFill>
                  <a:latin typeface="Roboto" panose="02000000000000000000" pitchFamily="2" charset="0"/>
                  <a:ea typeface="Roboto" panose="02000000000000000000" pitchFamily="2" charset="0"/>
                  <a:cs typeface="Roboto" panose="02000000000000000000" pitchFamily="2" charset="0"/>
                </a:rPr>
                <a:t>Review and evaluate the </a:t>
              </a:r>
              <a:r>
                <a:rPr lang="en-US" sz="1500" b="1" dirty="0">
                  <a:solidFill>
                    <a:prstClr val="black"/>
                  </a:solidFill>
                  <a:latin typeface="Roboto" panose="02000000000000000000" pitchFamily="2" charset="0"/>
                  <a:ea typeface="Roboto" panose="02000000000000000000" pitchFamily="2" charset="0"/>
                  <a:cs typeface="Roboto" panose="02000000000000000000" pitchFamily="2" charset="0"/>
                </a:rPr>
                <a:t>adequacy and effectiveness </a:t>
              </a:r>
              <a:r>
                <a:rPr lang="en-US" sz="1500" dirty="0">
                  <a:solidFill>
                    <a:prstClr val="black"/>
                  </a:solidFill>
                  <a:latin typeface="Roboto" panose="02000000000000000000" pitchFamily="2" charset="0"/>
                  <a:ea typeface="Roboto" panose="02000000000000000000" pitchFamily="2" charset="0"/>
                  <a:cs typeface="Roboto" panose="02000000000000000000" pitchFamily="2" charset="0"/>
                </a:rPr>
                <a:t>of internal controls in the identified process.</a:t>
              </a:r>
            </a:p>
          </p:txBody>
        </p:sp>
        <p:sp>
          <p:nvSpPr>
            <p:cNvPr id="10" name="Round Same Side Corner Rectangle 24">
              <a:extLst>
                <a:ext uri="{FF2B5EF4-FFF2-40B4-BE49-F238E27FC236}">
                  <a16:creationId xmlns:a16="http://schemas.microsoft.com/office/drawing/2014/main" id="{0052A90D-5127-190D-BB74-AAF22A30A1DB}"/>
                </a:ext>
              </a:extLst>
            </p:cNvPr>
            <p:cNvSpPr/>
            <p:nvPr/>
          </p:nvSpPr>
          <p:spPr>
            <a:xfrm rot="5400000">
              <a:off x="4216797" y="1068198"/>
              <a:ext cx="871722" cy="4669329"/>
            </a:xfrm>
            <a:prstGeom prst="round2SameRect">
              <a:avLst>
                <a:gd name="adj1" fmla="val 50000"/>
                <a:gd name="adj2" fmla="val 0"/>
              </a:avLst>
            </a:prstGeom>
            <a:solidFill>
              <a:sysClr val="window" lastClr="FFFFFF"/>
            </a:solidFill>
            <a:ln w="12700" cap="flat" cmpd="sng" algn="ctr">
              <a:solidFill>
                <a:sysClr val="window" lastClr="FFFFFF">
                  <a:lumMod val="50000"/>
                </a:sysClr>
              </a:solidFill>
              <a:prstDash val="solid"/>
              <a:miter lim="800000"/>
            </a:ln>
            <a:effectLst/>
          </p:spPr>
          <p:txBody>
            <a:bodyPr rtlCol="0" anchor="ctr"/>
            <a:lstStyle/>
            <a:p>
              <a:pPr algn="ctr" defTabSz="914400" fontAlgn="base">
                <a:spcBef>
                  <a:spcPct val="0"/>
                </a:spcBef>
                <a:spcAft>
                  <a:spcPct val="0"/>
                </a:spcAft>
                <a:defRPr/>
              </a:pPr>
              <a:endParaRPr lang="en-US" sz="900"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sp>
          <p:nvSpPr>
            <p:cNvPr id="11" name="Freeform 224">
              <a:extLst>
                <a:ext uri="{FF2B5EF4-FFF2-40B4-BE49-F238E27FC236}">
                  <a16:creationId xmlns:a16="http://schemas.microsoft.com/office/drawing/2014/main" id="{20973110-6351-B8D6-B4B0-3E53BCECBE75}"/>
                </a:ext>
              </a:extLst>
            </p:cNvPr>
            <p:cNvSpPr>
              <a:spLocks noChangeArrowheads="1"/>
            </p:cNvSpPr>
            <p:nvPr/>
          </p:nvSpPr>
          <p:spPr bwMode="auto">
            <a:xfrm>
              <a:off x="2158145" y="2967000"/>
              <a:ext cx="159848" cy="871723"/>
            </a:xfrm>
            <a:custGeom>
              <a:avLst/>
              <a:gdLst>
                <a:gd name="T0" fmla="*/ 300 w 301"/>
                <a:gd name="T1" fmla="*/ 2049 h 2050"/>
                <a:gd name="T2" fmla="*/ 0 w 301"/>
                <a:gd name="T3" fmla="*/ 2049 h 2050"/>
                <a:gd name="T4" fmla="*/ 0 w 301"/>
                <a:gd name="T5" fmla="*/ 0 h 2050"/>
                <a:gd name="T6" fmla="*/ 300 w 301"/>
                <a:gd name="T7" fmla="*/ 0 h 2050"/>
                <a:gd name="T8" fmla="*/ 300 w 301"/>
                <a:gd name="T9" fmla="*/ 2049 h 2050"/>
              </a:gdLst>
              <a:ahLst/>
              <a:cxnLst>
                <a:cxn ang="0">
                  <a:pos x="T0" y="T1"/>
                </a:cxn>
                <a:cxn ang="0">
                  <a:pos x="T2" y="T3"/>
                </a:cxn>
                <a:cxn ang="0">
                  <a:pos x="T4" y="T5"/>
                </a:cxn>
                <a:cxn ang="0">
                  <a:pos x="T6" y="T7"/>
                </a:cxn>
                <a:cxn ang="0">
                  <a:pos x="T8" y="T9"/>
                </a:cxn>
              </a:cxnLst>
              <a:rect l="0" t="0" r="r" b="b"/>
              <a:pathLst>
                <a:path w="301" h="2050">
                  <a:moveTo>
                    <a:pt x="300" y="2049"/>
                  </a:moveTo>
                  <a:lnTo>
                    <a:pt x="0" y="2049"/>
                  </a:lnTo>
                  <a:lnTo>
                    <a:pt x="0" y="0"/>
                  </a:lnTo>
                  <a:lnTo>
                    <a:pt x="300" y="0"/>
                  </a:lnTo>
                  <a:lnTo>
                    <a:pt x="300" y="2049"/>
                  </a:lnTo>
                </a:path>
              </a:pathLst>
            </a:custGeom>
            <a:solidFill>
              <a:srgbClr val="C00000"/>
            </a:solidFill>
            <a:ln>
              <a:noFill/>
            </a:ln>
            <a:effectLst/>
          </p:spPr>
          <p:txBody>
            <a:bodyPr wrap="none" anchor="ctr"/>
            <a:lstStyle/>
            <a:p>
              <a:pPr defTabSz="914400" fontAlgn="base">
                <a:spcBef>
                  <a:spcPct val="0"/>
                </a:spcBef>
                <a:spcAft>
                  <a:spcPct val="0"/>
                </a:spcAft>
              </a:pPr>
              <a:endParaRPr lang="en-US" sz="2400" dirty="0">
                <a:solidFill>
                  <a:prstClr val="black"/>
                </a:solidFill>
                <a:latin typeface="Roboto" panose="02000000000000000000" pitchFamily="2" charset="0"/>
                <a:ea typeface="Roboto" panose="02000000000000000000" pitchFamily="2" charset="0"/>
                <a:cs typeface="Roboto" panose="02000000000000000000" pitchFamily="2" charset="0"/>
              </a:endParaRPr>
            </a:p>
          </p:txBody>
        </p:sp>
        <p:sp>
          <p:nvSpPr>
            <p:cNvPr id="12" name="Round Same Side Corner Rectangle 24">
              <a:extLst>
                <a:ext uri="{FF2B5EF4-FFF2-40B4-BE49-F238E27FC236}">
                  <a16:creationId xmlns:a16="http://schemas.microsoft.com/office/drawing/2014/main" id="{20327265-A957-6D6D-E8A2-3F66DDF25EE7}"/>
                </a:ext>
              </a:extLst>
            </p:cNvPr>
            <p:cNvSpPr/>
            <p:nvPr/>
          </p:nvSpPr>
          <p:spPr>
            <a:xfrm rot="5400000">
              <a:off x="4222309" y="2024313"/>
              <a:ext cx="871722" cy="4669329"/>
            </a:xfrm>
            <a:prstGeom prst="round2SameRect">
              <a:avLst>
                <a:gd name="adj1" fmla="val 50000"/>
                <a:gd name="adj2" fmla="val 0"/>
              </a:avLst>
            </a:prstGeom>
            <a:solidFill>
              <a:sysClr val="window" lastClr="FFFFFF"/>
            </a:solidFill>
            <a:ln w="12700" cap="flat" cmpd="sng" algn="ctr">
              <a:solidFill>
                <a:sysClr val="window" lastClr="FFFFFF">
                  <a:lumMod val="50000"/>
                </a:sysClr>
              </a:solidFill>
              <a:prstDash val="solid"/>
              <a:miter lim="800000"/>
            </a:ln>
            <a:effectLst/>
          </p:spPr>
          <p:txBody>
            <a:bodyPr rtlCol="0" anchor="ctr"/>
            <a:lstStyle/>
            <a:p>
              <a:pPr algn="ctr" defTabSz="914400" fontAlgn="base">
                <a:spcBef>
                  <a:spcPct val="0"/>
                </a:spcBef>
                <a:spcAft>
                  <a:spcPct val="0"/>
                </a:spcAft>
                <a:defRPr/>
              </a:pPr>
              <a:endParaRPr lang="en-US" sz="900"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sp>
          <p:nvSpPr>
            <p:cNvPr id="13" name="Freeform 224">
              <a:extLst>
                <a:ext uri="{FF2B5EF4-FFF2-40B4-BE49-F238E27FC236}">
                  <a16:creationId xmlns:a16="http://schemas.microsoft.com/office/drawing/2014/main" id="{510F14CC-3BD7-AFC1-7039-713802AB86A0}"/>
                </a:ext>
              </a:extLst>
            </p:cNvPr>
            <p:cNvSpPr>
              <a:spLocks noChangeArrowheads="1"/>
            </p:cNvSpPr>
            <p:nvPr/>
          </p:nvSpPr>
          <p:spPr bwMode="auto">
            <a:xfrm>
              <a:off x="2163658" y="3923115"/>
              <a:ext cx="159848" cy="871723"/>
            </a:xfrm>
            <a:custGeom>
              <a:avLst/>
              <a:gdLst>
                <a:gd name="T0" fmla="*/ 300 w 301"/>
                <a:gd name="T1" fmla="*/ 2049 h 2050"/>
                <a:gd name="T2" fmla="*/ 0 w 301"/>
                <a:gd name="T3" fmla="*/ 2049 h 2050"/>
                <a:gd name="T4" fmla="*/ 0 w 301"/>
                <a:gd name="T5" fmla="*/ 0 h 2050"/>
                <a:gd name="T6" fmla="*/ 300 w 301"/>
                <a:gd name="T7" fmla="*/ 0 h 2050"/>
                <a:gd name="T8" fmla="*/ 300 w 301"/>
                <a:gd name="T9" fmla="*/ 2049 h 2050"/>
              </a:gdLst>
              <a:ahLst/>
              <a:cxnLst>
                <a:cxn ang="0">
                  <a:pos x="T0" y="T1"/>
                </a:cxn>
                <a:cxn ang="0">
                  <a:pos x="T2" y="T3"/>
                </a:cxn>
                <a:cxn ang="0">
                  <a:pos x="T4" y="T5"/>
                </a:cxn>
                <a:cxn ang="0">
                  <a:pos x="T6" y="T7"/>
                </a:cxn>
                <a:cxn ang="0">
                  <a:pos x="T8" y="T9"/>
                </a:cxn>
              </a:cxnLst>
              <a:rect l="0" t="0" r="r" b="b"/>
              <a:pathLst>
                <a:path w="301" h="2050">
                  <a:moveTo>
                    <a:pt x="300" y="2049"/>
                  </a:moveTo>
                  <a:lnTo>
                    <a:pt x="0" y="2049"/>
                  </a:lnTo>
                  <a:lnTo>
                    <a:pt x="0" y="0"/>
                  </a:lnTo>
                  <a:lnTo>
                    <a:pt x="300" y="0"/>
                  </a:lnTo>
                  <a:lnTo>
                    <a:pt x="300" y="2049"/>
                  </a:lnTo>
                </a:path>
              </a:pathLst>
            </a:custGeom>
            <a:solidFill>
              <a:srgbClr val="C00000"/>
            </a:solidFill>
            <a:ln>
              <a:noFill/>
            </a:ln>
            <a:effectLst/>
          </p:spPr>
          <p:txBody>
            <a:bodyPr wrap="none" anchor="ctr"/>
            <a:lstStyle/>
            <a:p>
              <a:pPr defTabSz="914400" fontAlgn="base">
                <a:spcBef>
                  <a:spcPct val="0"/>
                </a:spcBef>
                <a:spcAft>
                  <a:spcPct val="0"/>
                </a:spcAft>
              </a:pPr>
              <a:endParaRPr lang="en-US" sz="2400" dirty="0">
                <a:solidFill>
                  <a:prstClr val="black"/>
                </a:solidFill>
                <a:latin typeface="Roboto" panose="02000000000000000000" pitchFamily="2" charset="0"/>
                <a:ea typeface="Roboto" panose="02000000000000000000" pitchFamily="2" charset="0"/>
                <a:cs typeface="Roboto" panose="02000000000000000000" pitchFamily="2" charset="0"/>
              </a:endParaRPr>
            </a:p>
          </p:txBody>
        </p:sp>
        <p:sp>
          <p:nvSpPr>
            <p:cNvPr id="14" name="Round Same Side Corner Rectangle 24">
              <a:extLst>
                <a:ext uri="{FF2B5EF4-FFF2-40B4-BE49-F238E27FC236}">
                  <a16:creationId xmlns:a16="http://schemas.microsoft.com/office/drawing/2014/main" id="{4A402326-A6CE-E42D-E9E5-DB158F670992}"/>
                </a:ext>
              </a:extLst>
            </p:cNvPr>
            <p:cNvSpPr/>
            <p:nvPr/>
          </p:nvSpPr>
          <p:spPr>
            <a:xfrm rot="5400000">
              <a:off x="4222310" y="2980427"/>
              <a:ext cx="871722" cy="4669329"/>
            </a:xfrm>
            <a:prstGeom prst="round2SameRect">
              <a:avLst>
                <a:gd name="adj1" fmla="val 50000"/>
                <a:gd name="adj2" fmla="val 0"/>
              </a:avLst>
            </a:prstGeom>
            <a:solidFill>
              <a:sysClr val="window" lastClr="FFFFFF"/>
            </a:solidFill>
            <a:ln w="12700" cap="flat" cmpd="sng" algn="ctr">
              <a:solidFill>
                <a:sysClr val="window" lastClr="FFFFFF">
                  <a:lumMod val="50000"/>
                </a:sysClr>
              </a:solidFill>
              <a:prstDash val="solid"/>
              <a:miter lim="800000"/>
            </a:ln>
            <a:effectLst/>
          </p:spPr>
          <p:txBody>
            <a:bodyPr rtlCol="0" anchor="ctr"/>
            <a:lstStyle/>
            <a:p>
              <a:pPr algn="ctr" defTabSz="914400" fontAlgn="base">
                <a:spcBef>
                  <a:spcPct val="0"/>
                </a:spcBef>
                <a:spcAft>
                  <a:spcPct val="0"/>
                </a:spcAft>
                <a:defRPr/>
              </a:pPr>
              <a:endParaRPr lang="en-US" sz="900"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sp>
          <p:nvSpPr>
            <p:cNvPr id="15" name="Freeform 224">
              <a:extLst>
                <a:ext uri="{FF2B5EF4-FFF2-40B4-BE49-F238E27FC236}">
                  <a16:creationId xmlns:a16="http://schemas.microsoft.com/office/drawing/2014/main" id="{E9ACB1C9-A8DE-012B-44E6-D4F1F5D69EC9}"/>
                </a:ext>
              </a:extLst>
            </p:cNvPr>
            <p:cNvSpPr>
              <a:spLocks noChangeArrowheads="1"/>
            </p:cNvSpPr>
            <p:nvPr/>
          </p:nvSpPr>
          <p:spPr bwMode="auto">
            <a:xfrm>
              <a:off x="2163659" y="4879229"/>
              <a:ext cx="159848" cy="871723"/>
            </a:xfrm>
            <a:custGeom>
              <a:avLst/>
              <a:gdLst>
                <a:gd name="T0" fmla="*/ 300 w 301"/>
                <a:gd name="T1" fmla="*/ 2049 h 2050"/>
                <a:gd name="T2" fmla="*/ 0 w 301"/>
                <a:gd name="T3" fmla="*/ 2049 h 2050"/>
                <a:gd name="T4" fmla="*/ 0 w 301"/>
                <a:gd name="T5" fmla="*/ 0 h 2050"/>
                <a:gd name="T6" fmla="*/ 300 w 301"/>
                <a:gd name="T7" fmla="*/ 0 h 2050"/>
                <a:gd name="T8" fmla="*/ 300 w 301"/>
                <a:gd name="T9" fmla="*/ 2049 h 2050"/>
              </a:gdLst>
              <a:ahLst/>
              <a:cxnLst>
                <a:cxn ang="0">
                  <a:pos x="T0" y="T1"/>
                </a:cxn>
                <a:cxn ang="0">
                  <a:pos x="T2" y="T3"/>
                </a:cxn>
                <a:cxn ang="0">
                  <a:pos x="T4" y="T5"/>
                </a:cxn>
                <a:cxn ang="0">
                  <a:pos x="T6" y="T7"/>
                </a:cxn>
                <a:cxn ang="0">
                  <a:pos x="T8" y="T9"/>
                </a:cxn>
              </a:cxnLst>
              <a:rect l="0" t="0" r="r" b="b"/>
              <a:pathLst>
                <a:path w="301" h="2050">
                  <a:moveTo>
                    <a:pt x="300" y="2049"/>
                  </a:moveTo>
                  <a:lnTo>
                    <a:pt x="0" y="2049"/>
                  </a:lnTo>
                  <a:lnTo>
                    <a:pt x="0" y="0"/>
                  </a:lnTo>
                  <a:lnTo>
                    <a:pt x="300" y="0"/>
                  </a:lnTo>
                  <a:lnTo>
                    <a:pt x="300" y="2049"/>
                  </a:lnTo>
                </a:path>
              </a:pathLst>
            </a:custGeom>
            <a:solidFill>
              <a:srgbClr val="C00000"/>
            </a:solidFill>
            <a:ln>
              <a:noFill/>
            </a:ln>
            <a:effectLst/>
          </p:spPr>
          <p:txBody>
            <a:bodyPr wrap="none" anchor="ctr"/>
            <a:lstStyle/>
            <a:p>
              <a:pPr defTabSz="914400" fontAlgn="base">
                <a:spcBef>
                  <a:spcPct val="0"/>
                </a:spcBef>
                <a:spcAft>
                  <a:spcPct val="0"/>
                </a:spcAft>
              </a:pPr>
              <a:endParaRPr lang="en-US" sz="2400" dirty="0">
                <a:solidFill>
                  <a:prstClr val="black"/>
                </a:solidFill>
                <a:latin typeface="Roboto" panose="02000000000000000000" pitchFamily="2" charset="0"/>
                <a:ea typeface="Roboto" panose="02000000000000000000" pitchFamily="2" charset="0"/>
                <a:cs typeface="Roboto" panose="02000000000000000000" pitchFamily="2" charset="0"/>
              </a:endParaRPr>
            </a:p>
          </p:txBody>
        </p:sp>
        <p:sp>
          <p:nvSpPr>
            <p:cNvPr id="16" name="TextBox 15">
              <a:extLst>
                <a:ext uri="{FF2B5EF4-FFF2-40B4-BE49-F238E27FC236}">
                  <a16:creationId xmlns:a16="http://schemas.microsoft.com/office/drawing/2014/main" id="{B6D64BD1-26BD-BF7B-C3C9-6E9D21FA23E2}"/>
                </a:ext>
              </a:extLst>
            </p:cNvPr>
            <p:cNvSpPr txBox="1"/>
            <p:nvPr/>
          </p:nvSpPr>
          <p:spPr>
            <a:xfrm>
              <a:off x="2394074" y="3155071"/>
              <a:ext cx="3585321" cy="495584"/>
            </a:xfrm>
            <a:prstGeom prst="rect">
              <a:avLst/>
            </a:prstGeom>
            <a:noFill/>
            <a:ln w="12700">
              <a:noFill/>
            </a:ln>
          </p:spPr>
          <p:txBody>
            <a:bodyPr wrap="square" rtlCol="0" anchor="ctr" anchorCtr="0">
              <a:spAutoFit/>
            </a:bodyPr>
            <a:lstStyle/>
            <a:p>
              <a:pPr algn="just" defTabSz="742950" fontAlgn="base">
                <a:spcBef>
                  <a:spcPct val="0"/>
                </a:spcBef>
                <a:spcAft>
                  <a:spcPct val="0"/>
                </a:spcAft>
                <a:defRPr/>
              </a:pPr>
              <a:r>
                <a:rPr lang="en-US" sz="1500" dirty="0">
                  <a:solidFill>
                    <a:prstClr val="black"/>
                  </a:solidFill>
                  <a:latin typeface="Roboto" panose="02000000000000000000" pitchFamily="2" charset="0"/>
                  <a:ea typeface="Roboto" panose="02000000000000000000" pitchFamily="2" charset="0"/>
                  <a:cs typeface="Roboto" panose="02000000000000000000" pitchFamily="2" charset="0"/>
                </a:rPr>
                <a:t>Identify </a:t>
              </a:r>
              <a:r>
                <a:rPr lang="en-US" sz="1500" b="1" dirty="0">
                  <a:solidFill>
                    <a:prstClr val="black"/>
                  </a:solidFill>
                  <a:latin typeface="Roboto" panose="02000000000000000000" pitchFamily="2" charset="0"/>
                  <a:ea typeface="Roboto" panose="02000000000000000000" pitchFamily="2" charset="0"/>
                  <a:cs typeface="Roboto" panose="02000000000000000000" pitchFamily="2" charset="0"/>
                </a:rPr>
                <a:t>non-conformance, gaps, risks </a:t>
              </a:r>
              <a:r>
                <a:rPr lang="en-US" sz="1500" dirty="0">
                  <a:solidFill>
                    <a:prstClr val="black"/>
                  </a:solidFill>
                  <a:latin typeface="Roboto" panose="02000000000000000000" pitchFamily="2" charset="0"/>
                  <a:ea typeface="Roboto" panose="02000000000000000000" pitchFamily="2" charset="0"/>
                  <a:cs typeface="Roboto" panose="02000000000000000000" pitchFamily="2" charset="0"/>
                </a:rPr>
                <a:t>and potential implications in the process.</a:t>
              </a:r>
            </a:p>
          </p:txBody>
        </p:sp>
        <p:sp>
          <p:nvSpPr>
            <p:cNvPr id="17" name="Rectangle 16">
              <a:extLst>
                <a:ext uri="{FF2B5EF4-FFF2-40B4-BE49-F238E27FC236}">
                  <a16:creationId xmlns:a16="http://schemas.microsoft.com/office/drawing/2014/main" id="{BE62A6CA-93F5-F261-DB30-9461933B10DD}"/>
                </a:ext>
              </a:extLst>
            </p:cNvPr>
            <p:cNvSpPr/>
            <p:nvPr/>
          </p:nvSpPr>
          <p:spPr>
            <a:xfrm>
              <a:off x="2399984" y="4085361"/>
              <a:ext cx="3579412" cy="495584"/>
            </a:xfrm>
            <a:prstGeom prst="rect">
              <a:avLst/>
            </a:prstGeom>
          </p:spPr>
          <p:txBody>
            <a:bodyPr wrap="square">
              <a:spAutoFit/>
            </a:bodyPr>
            <a:lstStyle/>
            <a:p>
              <a:pPr algn="just" defTabSz="742950" fontAlgn="base">
                <a:spcBef>
                  <a:spcPct val="0"/>
                </a:spcBef>
                <a:spcAft>
                  <a:spcPct val="0"/>
                </a:spcAft>
                <a:defRPr/>
              </a:pPr>
              <a:r>
                <a:rPr lang="en-US" sz="1500" dirty="0">
                  <a:solidFill>
                    <a:prstClr val="black"/>
                  </a:solidFill>
                  <a:latin typeface="Roboto" panose="02000000000000000000" pitchFamily="2" charset="0"/>
                  <a:ea typeface="Roboto" panose="02000000000000000000" pitchFamily="2" charset="0"/>
                  <a:cs typeface="Roboto" panose="02000000000000000000" pitchFamily="2" charset="0"/>
                </a:rPr>
                <a:t>Make </a:t>
              </a:r>
              <a:r>
                <a:rPr lang="en-US" sz="1500" b="1" dirty="0">
                  <a:solidFill>
                    <a:prstClr val="black"/>
                  </a:solidFill>
                  <a:latin typeface="Roboto" panose="02000000000000000000" pitchFamily="2" charset="0"/>
                  <a:ea typeface="Roboto" panose="02000000000000000000" pitchFamily="2" charset="0"/>
                  <a:cs typeface="Roboto" panose="02000000000000000000" pitchFamily="2" charset="0"/>
                </a:rPr>
                <a:t>recommendations</a:t>
              </a:r>
              <a:r>
                <a:rPr lang="en-US" sz="1500" dirty="0">
                  <a:solidFill>
                    <a:prstClr val="black"/>
                  </a:solidFill>
                  <a:latin typeface="Roboto" panose="02000000000000000000" pitchFamily="2" charset="0"/>
                  <a:ea typeface="Roboto" panose="02000000000000000000" pitchFamily="2" charset="0"/>
                  <a:cs typeface="Roboto" panose="02000000000000000000" pitchFamily="2" charset="0"/>
                </a:rPr>
                <a:t> to improve internal controls for the identified areas of inadequacies or weakness.</a:t>
              </a:r>
            </a:p>
          </p:txBody>
        </p:sp>
        <p:sp>
          <p:nvSpPr>
            <p:cNvPr id="18" name="Rectangle 17">
              <a:extLst>
                <a:ext uri="{FF2B5EF4-FFF2-40B4-BE49-F238E27FC236}">
                  <a16:creationId xmlns:a16="http://schemas.microsoft.com/office/drawing/2014/main" id="{6A4D9D66-1EBC-98B8-EE3A-1E5CFE9D3E6B}"/>
                </a:ext>
              </a:extLst>
            </p:cNvPr>
            <p:cNvSpPr/>
            <p:nvPr/>
          </p:nvSpPr>
          <p:spPr>
            <a:xfrm>
              <a:off x="2388647" y="4957084"/>
              <a:ext cx="3590748" cy="702077"/>
            </a:xfrm>
            <a:prstGeom prst="rect">
              <a:avLst/>
            </a:prstGeom>
            <a:ln w="12700">
              <a:noFill/>
            </a:ln>
          </p:spPr>
          <p:txBody>
            <a:bodyPr wrap="square">
              <a:spAutoFit/>
            </a:bodyPr>
            <a:lstStyle/>
            <a:p>
              <a:pPr algn="just" defTabSz="742950" fontAlgn="base">
                <a:spcBef>
                  <a:spcPct val="0"/>
                </a:spcBef>
                <a:spcAft>
                  <a:spcPct val="0"/>
                </a:spcAft>
                <a:defRPr/>
              </a:pPr>
              <a:r>
                <a:rPr lang="en-US" sz="1500" dirty="0">
                  <a:solidFill>
                    <a:prstClr val="black"/>
                  </a:solidFill>
                  <a:latin typeface="Roboto" panose="02000000000000000000" pitchFamily="2" charset="0"/>
                  <a:ea typeface="Roboto" panose="02000000000000000000" pitchFamily="2" charset="0"/>
                  <a:cs typeface="Roboto" panose="02000000000000000000" pitchFamily="2" charset="0"/>
                </a:rPr>
                <a:t>Identify areas of improvement in terms of </a:t>
              </a:r>
              <a:r>
                <a:rPr lang="en-US" sz="1500" b="1" dirty="0">
                  <a:solidFill>
                    <a:prstClr val="black"/>
                  </a:solidFill>
                  <a:latin typeface="Roboto" panose="02000000000000000000" pitchFamily="2" charset="0"/>
                  <a:ea typeface="Roboto" panose="02000000000000000000" pitchFamily="2" charset="0"/>
                  <a:cs typeface="Roboto" panose="02000000000000000000" pitchFamily="2" charset="0"/>
                </a:rPr>
                <a:t>efficiency, economy and effectiveness </a:t>
              </a:r>
              <a:r>
                <a:rPr lang="en-US" sz="1500" dirty="0">
                  <a:solidFill>
                    <a:prstClr val="black"/>
                  </a:solidFill>
                  <a:latin typeface="Roboto" panose="02000000000000000000" pitchFamily="2" charset="0"/>
                  <a:ea typeface="Roboto" panose="02000000000000000000" pitchFamily="2" charset="0"/>
                  <a:cs typeface="Roboto" panose="02000000000000000000" pitchFamily="2" charset="0"/>
                </a:rPr>
                <a:t>and provide reasonable and practical recommendations.</a:t>
              </a:r>
            </a:p>
          </p:txBody>
        </p:sp>
      </p:grpSp>
      <p:pic>
        <p:nvPicPr>
          <p:cNvPr id="19" name="Picture 18">
            <a:extLst>
              <a:ext uri="{FF2B5EF4-FFF2-40B4-BE49-F238E27FC236}">
                <a16:creationId xmlns:a16="http://schemas.microsoft.com/office/drawing/2014/main" id="{0DFE9F13-C9A9-DCA3-A563-1220D8A85F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6769" y="1551931"/>
            <a:ext cx="1389546" cy="1389546"/>
          </a:xfrm>
          <a:prstGeom prst="rect">
            <a:avLst/>
          </a:prstGeom>
        </p:spPr>
      </p:pic>
      <p:pic>
        <p:nvPicPr>
          <p:cNvPr id="20" name="Picture 19">
            <a:extLst>
              <a:ext uri="{FF2B5EF4-FFF2-40B4-BE49-F238E27FC236}">
                <a16:creationId xmlns:a16="http://schemas.microsoft.com/office/drawing/2014/main" id="{CFDE23AD-4992-CB9E-3DF4-80ADF8AB0A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4689" y="2812343"/>
            <a:ext cx="1313705" cy="905153"/>
          </a:xfrm>
          <a:prstGeom prst="rect">
            <a:avLst/>
          </a:prstGeom>
        </p:spPr>
      </p:pic>
      <p:pic>
        <p:nvPicPr>
          <p:cNvPr id="21" name="Picture 20">
            <a:extLst>
              <a:ext uri="{FF2B5EF4-FFF2-40B4-BE49-F238E27FC236}">
                <a16:creationId xmlns:a16="http://schemas.microsoft.com/office/drawing/2014/main" id="{2005DF1B-494C-7553-7330-18DEEDBFF7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0236" y="3576606"/>
            <a:ext cx="1542609" cy="1542609"/>
          </a:xfrm>
          <a:prstGeom prst="rect">
            <a:avLst/>
          </a:prstGeom>
        </p:spPr>
      </p:pic>
      <p:pic>
        <p:nvPicPr>
          <p:cNvPr id="22" name="Picture 21">
            <a:extLst>
              <a:ext uri="{FF2B5EF4-FFF2-40B4-BE49-F238E27FC236}">
                <a16:creationId xmlns:a16="http://schemas.microsoft.com/office/drawing/2014/main" id="{6B0D4CFC-75A2-EFC0-807B-43FC2F0FD6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70409" y="2631650"/>
            <a:ext cx="4232880" cy="1960319"/>
          </a:xfrm>
          <a:prstGeom prst="rect">
            <a:avLst/>
          </a:prstGeom>
        </p:spPr>
      </p:pic>
      <p:pic>
        <p:nvPicPr>
          <p:cNvPr id="23" name="Picture 22">
            <a:extLst>
              <a:ext uri="{FF2B5EF4-FFF2-40B4-BE49-F238E27FC236}">
                <a16:creationId xmlns:a16="http://schemas.microsoft.com/office/drawing/2014/main" id="{F703C223-A757-F0BF-A0B5-930085B6DB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17952" y="4933493"/>
            <a:ext cx="1203763" cy="957012"/>
          </a:xfrm>
          <a:prstGeom prst="rect">
            <a:avLst/>
          </a:prstGeom>
        </p:spPr>
      </p:pic>
    </p:spTree>
    <p:extLst>
      <p:ext uri="{BB962C8B-B14F-4D97-AF65-F5344CB8AC3E}">
        <p14:creationId xmlns:p14="http://schemas.microsoft.com/office/powerpoint/2010/main" val="767213775"/>
      </p:ext>
    </p:extLst>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2" name="Google Shape;190;p2">
            <a:extLst>
              <a:ext uri="{FF2B5EF4-FFF2-40B4-BE49-F238E27FC236}">
                <a16:creationId xmlns:a16="http://schemas.microsoft.com/office/drawing/2014/main" id="{A783DEBF-4C68-0EF2-9CE9-29395C81775F}"/>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Internal Audit Plan at a Glance</a:t>
            </a:r>
          </a:p>
        </p:txBody>
      </p:sp>
      <p:grpSp>
        <p:nvGrpSpPr>
          <p:cNvPr id="52" name="Group 51">
            <a:extLst>
              <a:ext uri="{FF2B5EF4-FFF2-40B4-BE49-F238E27FC236}">
                <a16:creationId xmlns:a16="http://schemas.microsoft.com/office/drawing/2014/main" id="{D49442BF-C4B8-C812-2766-E6A27290C448}"/>
              </a:ext>
            </a:extLst>
          </p:cNvPr>
          <p:cNvGrpSpPr/>
          <p:nvPr/>
        </p:nvGrpSpPr>
        <p:grpSpPr>
          <a:xfrm>
            <a:off x="834264" y="1508447"/>
            <a:ext cx="2366190" cy="4070501"/>
            <a:chOff x="990582" y="1550165"/>
            <a:chExt cx="2366190" cy="4070501"/>
          </a:xfrm>
        </p:grpSpPr>
        <p:sp>
          <p:nvSpPr>
            <p:cNvPr id="5" name="Freeform 1">
              <a:extLst>
                <a:ext uri="{FF2B5EF4-FFF2-40B4-BE49-F238E27FC236}">
                  <a16:creationId xmlns:a16="http://schemas.microsoft.com/office/drawing/2014/main" id="{6F896BA0-6057-8B61-2C98-7D75BC7CE748}"/>
                </a:ext>
              </a:extLst>
            </p:cNvPr>
            <p:cNvSpPr>
              <a:spLocks noChangeArrowheads="1"/>
            </p:cNvSpPr>
            <p:nvPr/>
          </p:nvSpPr>
          <p:spPr bwMode="auto">
            <a:xfrm>
              <a:off x="1953033" y="5370069"/>
              <a:ext cx="436297" cy="250597"/>
            </a:xfrm>
            <a:custGeom>
              <a:avLst/>
              <a:gdLst>
                <a:gd name="T0" fmla="*/ 964 w 1928"/>
                <a:gd name="T1" fmla="*/ 1107 h 1108"/>
                <a:gd name="T2" fmla="*/ 964 w 1928"/>
                <a:gd name="T3" fmla="*/ 1107 h 1108"/>
                <a:gd name="T4" fmla="*/ 964 w 1928"/>
                <a:gd name="T5" fmla="*/ 1107 h 1108"/>
                <a:gd name="T6" fmla="*/ 0 w 1928"/>
                <a:gd name="T7" fmla="*/ 144 h 1108"/>
                <a:gd name="T8" fmla="*/ 0 w 1928"/>
                <a:gd name="T9" fmla="*/ 0 h 1108"/>
                <a:gd name="T10" fmla="*/ 1927 w 1928"/>
                <a:gd name="T11" fmla="*/ 0 h 1108"/>
                <a:gd name="T12" fmla="*/ 1927 w 1928"/>
                <a:gd name="T13" fmla="*/ 144 h 1108"/>
                <a:gd name="T14" fmla="*/ 1927 w 1928"/>
                <a:gd name="T15" fmla="*/ 144 h 1108"/>
                <a:gd name="T16" fmla="*/ 964 w 1928"/>
                <a:gd name="T17" fmla="*/ 1107 h 1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28" h="1108">
                  <a:moveTo>
                    <a:pt x="964" y="1107"/>
                  </a:moveTo>
                  <a:lnTo>
                    <a:pt x="964" y="1107"/>
                  </a:lnTo>
                  <a:lnTo>
                    <a:pt x="964" y="1107"/>
                  </a:lnTo>
                  <a:cubicBezTo>
                    <a:pt x="432" y="1107"/>
                    <a:pt x="0" y="676"/>
                    <a:pt x="0" y="144"/>
                  </a:cubicBezTo>
                  <a:lnTo>
                    <a:pt x="0" y="0"/>
                  </a:lnTo>
                  <a:lnTo>
                    <a:pt x="1927" y="0"/>
                  </a:lnTo>
                  <a:lnTo>
                    <a:pt x="1927" y="144"/>
                  </a:lnTo>
                  <a:lnTo>
                    <a:pt x="1927" y="144"/>
                  </a:lnTo>
                  <a:cubicBezTo>
                    <a:pt x="1927" y="676"/>
                    <a:pt x="1496" y="1107"/>
                    <a:pt x="964" y="1107"/>
                  </a:cubicBezTo>
                </a:path>
              </a:pathLst>
            </a:custGeom>
            <a:solidFill>
              <a:sysClr val="windowText" lastClr="000000"/>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6" name="Freeform 2">
              <a:extLst>
                <a:ext uri="{FF2B5EF4-FFF2-40B4-BE49-F238E27FC236}">
                  <a16:creationId xmlns:a16="http://schemas.microsoft.com/office/drawing/2014/main" id="{9795E9F7-E86D-63FD-F061-CE32229197AA}"/>
                </a:ext>
              </a:extLst>
            </p:cNvPr>
            <p:cNvSpPr>
              <a:spLocks noChangeArrowheads="1"/>
            </p:cNvSpPr>
            <p:nvPr/>
          </p:nvSpPr>
          <p:spPr bwMode="auto">
            <a:xfrm>
              <a:off x="1679473" y="5136445"/>
              <a:ext cx="983416" cy="273560"/>
            </a:xfrm>
            <a:custGeom>
              <a:avLst/>
              <a:gdLst>
                <a:gd name="T0" fmla="*/ 3740 w 4344"/>
                <a:gd name="T1" fmla="*/ 1207 h 1208"/>
                <a:gd name="T2" fmla="*/ 604 w 4344"/>
                <a:gd name="T3" fmla="*/ 1207 h 1208"/>
                <a:gd name="T4" fmla="*/ 604 w 4344"/>
                <a:gd name="T5" fmla="*/ 1207 h 1208"/>
                <a:gd name="T6" fmla="*/ 0 w 4344"/>
                <a:gd name="T7" fmla="*/ 604 h 1208"/>
                <a:gd name="T8" fmla="*/ 0 w 4344"/>
                <a:gd name="T9" fmla="*/ 604 h 1208"/>
                <a:gd name="T10" fmla="*/ 604 w 4344"/>
                <a:gd name="T11" fmla="*/ 0 h 1208"/>
                <a:gd name="T12" fmla="*/ 3740 w 4344"/>
                <a:gd name="T13" fmla="*/ 0 h 1208"/>
                <a:gd name="T14" fmla="*/ 3740 w 4344"/>
                <a:gd name="T15" fmla="*/ 0 h 1208"/>
                <a:gd name="T16" fmla="*/ 4343 w 4344"/>
                <a:gd name="T17" fmla="*/ 604 h 1208"/>
                <a:gd name="T18" fmla="*/ 4343 w 4344"/>
                <a:gd name="T19" fmla="*/ 604 h 1208"/>
                <a:gd name="T20" fmla="*/ 3740 w 4344"/>
                <a:gd name="T21" fmla="*/ 1207 h 1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44" h="1208">
                  <a:moveTo>
                    <a:pt x="3740" y="1207"/>
                  </a:moveTo>
                  <a:lnTo>
                    <a:pt x="604" y="1207"/>
                  </a:lnTo>
                  <a:lnTo>
                    <a:pt x="604" y="1207"/>
                  </a:lnTo>
                  <a:cubicBezTo>
                    <a:pt x="271" y="1207"/>
                    <a:pt x="0" y="937"/>
                    <a:pt x="0" y="604"/>
                  </a:cubicBezTo>
                  <a:lnTo>
                    <a:pt x="0" y="604"/>
                  </a:lnTo>
                  <a:cubicBezTo>
                    <a:pt x="0" y="271"/>
                    <a:pt x="271" y="0"/>
                    <a:pt x="604" y="0"/>
                  </a:cubicBezTo>
                  <a:lnTo>
                    <a:pt x="3740" y="0"/>
                  </a:lnTo>
                  <a:lnTo>
                    <a:pt x="3740" y="0"/>
                  </a:lnTo>
                  <a:cubicBezTo>
                    <a:pt x="4073" y="0"/>
                    <a:pt x="4343" y="271"/>
                    <a:pt x="4343" y="604"/>
                  </a:cubicBezTo>
                  <a:lnTo>
                    <a:pt x="4343" y="604"/>
                  </a:lnTo>
                  <a:cubicBezTo>
                    <a:pt x="4343" y="937"/>
                    <a:pt x="4073" y="1207"/>
                    <a:pt x="3740" y="1207"/>
                  </a:cubicBezTo>
                </a:path>
              </a:pathLst>
            </a:custGeom>
            <a:solidFill>
              <a:sysClr val="windowText" lastClr="000000"/>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7" name="Freeform 3">
              <a:extLst>
                <a:ext uri="{FF2B5EF4-FFF2-40B4-BE49-F238E27FC236}">
                  <a16:creationId xmlns:a16="http://schemas.microsoft.com/office/drawing/2014/main" id="{91F190C6-69A7-F0F0-516C-2FFB57E6412E}"/>
                </a:ext>
              </a:extLst>
            </p:cNvPr>
            <p:cNvSpPr>
              <a:spLocks noChangeArrowheads="1"/>
            </p:cNvSpPr>
            <p:nvPr/>
          </p:nvSpPr>
          <p:spPr bwMode="auto">
            <a:xfrm>
              <a:off x="1576638" y="4999666"/>
              <a:ext cx="1191083" cy="273560"/>
            </a:xfrm>
            <a:custGeom>
              <a:avLst/>
              <a:gdLst>
                <a:gd name="T0" fmla="*/ 4655 w 5260"/>
                <a:gd name="T1" fmla="*/ 1207 h 1208"/>
                <a:gd name="T2" fmla="*/ 604 w 5260"/>
                <a:gd name="T3" fmla="*/ 1207 h 1208"/>
                <a:gd name="T4" fmla="*/ 604 w 5260"/>
                <a:gd name="T5" fmla="*/ 1207 h 1208"/>
                <a:gd name="T6" fmla="*/ 0 w 5260"/>
                <a:gd name="T7" fmla="*/ 603 h 1208"/>
                <a:gd name="T8" fmla="*/ 0 w 5260"/>
                <a:gd name="T9" fmla="*/ 603 h 1208"/>
                <a:gd name="T10" fmla="*/ 604 w 5260"/>
                <a:gd name="T11" fmla="*/ 0 h 1208"/>
                <a:gd name="T12" fmla="*/ 4655 w 5260"/>
                <a:gd name="T13" fmla="*/ 0 h 1208"/>
                <a:gd name="T14" fmla="*/ 4655 w 5260"/>
                <a:gd name="T15" fmla="*/ 0 h 1208"/>
                <a:gd name="T16" fmla="*/ 5259 w 5260"/>
                <a:gd name="T17" fmla="*/ 603 h 1208"/>
                <a:gd name="T18" fmla="*/ 5259 w 5260"/>
                <a:gd name="T19" fmla="*/ 603 h 1208"/>
                <a:gd name="T20" fmla="*/ 4655 w 5260"/>
                <a:gd name="T21" fmla="*/ 1207 h 1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60" h="1208">
                  <a:moveTo>
                    <a:pt x="4655" y="1207"/>
                  </a:moveTo>
                  <a:lnTo>
                    <a:pt x="604" y="1207"/>
                  </a:lnTo>
                  <a:lnTo>
                    <a:pt x="604" y="1207"/>
                  </a:lnTo>
                  <a:cubicBezTo>
                    <a:pt x="271" y="1207"/>
                    <a:pt x="0" y="937"/>
                    <a:pt x="0" y="603"/>
                  </a:cubicBezTo>
                  <a:lnTo>
                    <a:pt x="0" y="603"/>
                  </a:lnTo>
                  <a:cubicBezTo>
                    <a:pt x="0" y="270"/>
                    <a:pt x="271" y="0"/>
                    <a:pt x="604" y="0"/>
                  </a:cubicBezTo>
                  <a:lnTo>
                    <a:pt x="4655" y="0"/>
                  </a:lnTo>
                  <a:lnTo>
                    <a:pt x="4655" y="0"/>
                  </a:lnTo>
                  <a:cubicBezTo>
                    <a:pt x="4988" y="0"/>
                    <a:pt x="5259" y="270"/>
                    <a:pt x="5259" y="603"/>
                  </a:cubicBezTo>
                  <a:lnTo>
                    <a:pt x="5259" y="603"/>
                  </a:lnTo>
                  <a:cubicBezTo>
                    <a:pt x="5259" y="937"/>
                    <a:pt x="4988" y="1207"/>
                    <a:pt x="4655" y="1207"/>
                  </a:cubicBezTo>
                </a:path>
              </a:pathLst>
            </a:custGeom>
            <a:solidFill>
              <a:sysClr val="windowText" lastClr="000000"/>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8" name="Freeform 4">
              <a:extLst>
                <a:ext uri="{FF2B5EF4-FFF2-40B4-BE49-F238E27FC236}">
                  <a16:creationId xmlns:a16="http://schemas.microsoft.com/office/drawing/2014/main" id="{178FBF73-61F1-B5C4-EC1B-6C37FB56C0BA}"/>
                </a:ext>
              </a:extLst>
            </p:cNvPr>
            <p:cNvSpPr>
              <a:spLocks noChangeArrowheads="1"/>
            </p:cNvSpPr>
            <p:nvPr/>
          </p:nvSpPr>
          <p:spPr bwMode="auto">
            <a:xfrm>
              <a:off x="2206624" y="2667366"/>
              <a:ext cx="1150148" cy="1054302"/>
            </a:xfrm>
            <a:custGeom>
              <a:avLst/>
              <a:gdLst>
                <a:gd name="T0" fmla="*/ 0 w 5078"/>
                <a:gd name="T1" fmla="*/ 4656 h 4657"/>
                <a:gd name="T2" fmla="*/ 0 w 5078"/>
                <a:gd name="T3" fmla="*/ 0 h 4657"/>
                <a:gd name="T4" fmla="*/ 5069 w 5078"/>
                <a:gd name="T5" fmla="*/ 0 h 4657"/>
                <a:gd name="T6" fmla="*/ 5069 w 5078"/>
                <a:gd name="T7" fmla="*/ 0 h 4657"/>
                <a:gd name="T8" fmla="*/ 5077 w 5078"/>
                <a:gd name="T9" fmla="*/ 293 h 4657"/>
                <a:gd name="T10" fmla="*/ 5077 w 5078"/>
                <a:gd name="T11" fmla="*/ 293 h 4657"/>
                <a:gd name="T12" fmla="*/ 4044 w 5078"/>
                <a:gd name="T13" fmla="*/ 3416 h 4657"/>
                <a:gd name="T14" fmla="*/ 4044 w 5078"/>
                <a:gd name="T15" fmla="*/ 3416 h 4657"/>
                <a:gd name="T16" fmla="*/ 3298 w 5078"/>
                <a:gd name="T17" fmla="*/ 4656 h 4657"/>
                <a:gd name="T18" fmla="*/ 0 w 5078"/>
                <a:gd name="T19" fmla="*/ 4656 h 4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78" h="4657">
                  <a:moveTo>
                    <a:pt x="0" y="4656"/>
                  </a:moveTo>
                  <a:lnTo>
                    <a:pt x="0" y="0"/>
                  </a:lnTo>
                  <a:lnTo>
                    <a:pt x="5069" y="0"/>
                  </a:lnTo>
                  <a:lnTo>
                    <a:pt x="5069" y="0"/>
                  </a:lnTo>
                  <a:cubicBezTo>
                    <a:pt x="5075" y="99"/>
                    <a:pt x="5077" y="197"/>
                    <a:pt x="5077" y="293"/>
                  </a:cubicBezTo>
                  <a:lnTo>
                    <a:pt x="5077" y="293"/>
                  </a:lnTo>
                  <a:cubicBezTo>
                    <a:pt x="5077" y="1428"/>
                    <a:pt x="4720" y="2508"/>
                    <a:pt x="4044" y="3416"/>
                  </a:cubicBezTo>
                  <a:lnTo>
                    <a:pt x="4044" y="3416"/>
                  </a:lnTo>
                  <a:cubicBezTo>
                    <a:pt x="3755" y="3802"/>
                    <a:pt x="3505" y="4219"/>
                    <a:pt x="3298" y="4656"/>
                  </a:cubicBezTo>
                  <a:lnTo>
                    <a:pt x="0" y="4656"/>
                  </a:lnTo>
                </a:path>
              </a:pathLst>
            </a:custGeom>
            <a:solidFill>
              <a:srgbClr val="1B587C"/>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9" name="Freeform 5">
              <a:extLst>
                <a:ext uri="{FF2B5EF4-FFF2-40B4-BE49-F238E27FC236}">
                  <a16:creationId xmlns:a16="http://schemas.microsoft.com/office/drawing/2014/main" id="{9E4ECBCC-3C2B-B17F-ABFB-62B5B94E2630}"/>
                </a:ext>
              </a:extLst>
            </p:cNvPr>
            <p:cNvSpPr>
              <a:spLocks noChangeArrowheads="1"/>
            </p:cNvSpPr>
            <p:nvPr/>
          </p:nvSpPr>
          <p:spPr bwMode="auto">
            <a:xfrm>
              <a:off x="2206625" y="1550165"/>
              <a:ext cx="1143159" cy="1054302"/>
            </a:xfrm>
            <a:custGeom>
              <a:avLst/>
              <a:gdLst>
                <a:gd name="T0" fmla="*/ 0 w 5047"/>
                <a:gd name="T1" fmla="*/ 4654 h 4655"/>
                <a:gd name="T2" fmla="*/ 0 w 5047"/>
                <a:gd name="T3" fmla="*/ 0 h 4655"/>
                <a:gd name="T4" fmla="*/ 0 w 5047"/>
                <a:gd name="T5" fmla="*/ 0 h 4655"/>
                <a:gd name="T6" fmla="*/ 3407 w 5047"/>
                <a:gd name="T7" fmla="*/ 1397 h 4655"/>
                <a:gd name="T8" fmla="*/ 3407 w 5047"/>
                <a:gd name="T9" fmla="*/ 1397 h 4655"/>
                <a:gd name="T10" fmla="*/ 5046 w 5047"/>
                <a:gd name="T11" fmla="*/ 4654 h 4655"/>
                <a:gd name="T12" fmla="*/ 0 w 5047"/>
                <a:gd name="T13" fmla="*/ 4654 h 4655"/>
              </a:gdLst>
              <a:ahLst/>
              <a:cxnLst>
                <a:cxn ang="0">
                  <a:pos x="T0" y="T1"/>
                </a:cxn>
                <a:cxn ang="0">
                  <a:pos x="T2" y="T3"/>
                </a:cxn>
                <a:cxn ang="0">
                  <a:pos x="T4" y="T5"/>
                </a:cxn>
                <a:cxn ang="0">
                  <a:pos x="T6" y="T7"/>
                </a:cxn>
                <a:cxn ang="0">
                  <a:pos x="T8" y="T9"/>
                </a:cxn>
                <a:cxn ang="0">
                  <a:pos x="T10" y="T11"/>
                </a:cxn>
                <a:cxn ang="0">
                  <a:pos x="T12" y="T13"/>
                </a:cxn>
              </a:cxnLst>
              <a:rect l="0" t="0" r="r" b="b"/>
              <a:pathLst>
                <a:path w="5047" h="4655">
                  <a:moveTo>
                    <a:pt x="0" y="4654"/>
                  </a:moveTo>
                  <a:lnTo>
                    <a:pt x="0" y="0"/>
                  </a:lnTo>
                  <a:lnTo>
                    <a:pt x="0" y="0"/>
                  </a:lnTo>
                  <a:cubicBezTo>
                    <a:pt x="1271" y="37"/>
                    <a:pt x="2475" y="530"/>
                    <a:pt x="3407" y="1397"/>
                  </a:cubicBezTo>
                  <a:lnTo>
                    <a:pt x="3407" y="1397"/>
                  </a:lnTo>
                  <a:cubicBezTo>
                    <a:pt x="4331" y="2257"/>
                    <a:pt x="4909" y="3408"/>
                    <a:pt x="5046" y="4654"/>
                  </a:cubicBezTo>
                  <a:lnTo>
                    <a:pt x="0" y="4654"/>
                  </a:lnTo>
                </a:path>
              </a:pathLst>
            </a:custGeom>
            <a:solidFill>
              <a:srgbClr val="9F2936"/>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10" name="Freeform 6">
              <a:extLst>
                <a:ext uri="{FF2B5EF4-FFF2-40B4-BE49-F238E27FC236}">
                  <a16:creationId xmlns:a16="http://schemas.microsoft.com/office/drawing/2014/main" id="{797F1F3D-0C3A-44CD-4EF7-33657E251694}"/>
                </a:ext>
              </a:extLst>
            </p:cNvPr>
            <p:cNvSpPr>
              <a:spLocks noChangeArrowheads="1"/>
            </p:cNvSpPr>
            <p:nvPr/>
          </p:nvSpPr>
          <p:spPr bwMode="auto">
            <a:xfrm>
              <a:off x="1424883" y="3792554"/>
              <a:ext cx="1496591" cy="1028344"/>
            </a:xfrm>
            <a:custGeom>
              <a:avLst/>
              <a:gdLst>
                <a:gd name="T0" fmla="*/ 1335 w 6611"/>
                <a:gd name="T1" fmla="*/ 4541 h 4542"/>
                <a:gd name="T2" fmla="*/ 1335 w 6611"/>
                <a:gd name="T3" fmla="*/ 4541 h 4542"/>
                <a:gd name="T4" fmla="*/ 557 w 6611"/>
                <a:gd name="T5" fmla="*/ 3763 h 4542"/>
                <a:gd name="T6" fmla="*/ 557 w 6611"/>
                <a:gd name="T7" fmla="*/ 2782 h 4542"/>
                <a:gd name="T8" fmla="*/ 557 w 6611"/>
                <a:gd name="T9" fmla="*/ 2782 h 4542"/>
                <a:gd name="T10" fmla="*/ 0 w 6611"/>
                <a:gd name="T11" fmla="*/ 0 h 4542"/>
                <a:gd name="T12" fmla="*/ 6610 w 6611"/>
                <a:gd name="T13" fmla="*/ 0 h 4542"/>
                <a:gd name="T14" fmla="*/ 6610 w 6611"/>
                <a:gd name="T15" fmla="*/ 0 h 4542"/>
                <a:gd name="T16" fmla="*/ 6052 w 6611"/>
                <a:gd name="T17" fmla="*/ 2782 h 4542"/>
                <a:gd name="T18" fmla="*/ 6052 w 6611"/>
                <a:gd name="T19" fmla="*/ 3763 h 4542"/>
                <a:gd name="T20" fmla="*/ 6052 w 6611"/>
                <a:gd name="T21" fmla="*/ 3763 h 4542"/>
                <a:gd name="T22" fmla="*/ 5274 w 6611"/>
                <a:gd name="T23" fmla="*/ 4541 h 4542"/>
                <a:gd name="T24" fmla="*/ 1335 w 6611"/>
                <a:gd name="T25" fmla="*/ 4541 h 4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11" h="4542">
                  <a:moveTo>
                    <a:pt x="1335" y="4541"/>
                  </a:moveTo>
                  <a:lnTo>
                    <a:pt x="1335" y="4541"/>
                  </a:lnTo>
                  <a:cubicBezTo>
                    <a:pt x="906" y="4541"/>
                    <a:pt x="557" y="4192"/>
                    <a:pt x="557" y="3763"/>
                  </a:cubicBezTo>
                  <a:lnTo>
                    <a:pt x="557" y="2782"/>
                  </a:lnTo>
                  <a:lnTo>
                    <a:pt x="557" y="2782"/>
                  </a:lnTo>
                  <a:cubicBezTo>
                    <a:pt x="557" y="1821"/>
                    <a:pt x="370" y="886"/>
                    <a:pt x="0" y="0"/>
                  </a:cubicBezTo>
                  <a:lnTo>
                    <a:pt x="6610" y="0"/>
                  </a:lnTo>
                  <a:lnTo>
                    <a:pt x="6610" y="0"/>
                  </a:lnTo>
                  <a:cubicBezTo>
                    <a:pt x="6240" y="886"/>
                    <a:pt x="6052" y="1821"/>
                    <a:pt x="6052" y="2782"/>
                  </a:cubicBezTo>
                  <a:lnTo>
                    <a:pt x="6052" y="3763"/>
                  </a:lnTo>
                  <a:lnTo>
                    <a:pt x="6052" y="3763"/>
                  </a:lnTo>
                  <a:cubicBezTo>
                    <a:pt x="6052" y="4192"/>
                    <a:pt x="5704" y="4541"/>
                    <a:pt x="5274" y="4541"/>
                  </a:cubicBezTo>
                  <a:lnTo>
                    <a:pt x="1335" y="4541"/>
                  </a:lnTo>
                </a:path>
              </a:pathLst>
            </a:custGeom>
            <a:solidFill>
              <a:srgbClr val="604878"/>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11" name="Freeform 7">
              <a:extLst>
                <a:ext uri="{FF2B5EF4-FFF2-40B4-BE49-F238E27FC236}">
                  <a16:creationId xmlns:a16="http://schemas.microsoft.com/office/drawing/2014/main" id="{EEBBEFDC-117F-A0D4-4F7A-53F8B3EE2F64}"/>
                </a:ext>
              </a:extLst>
            </p:cNvPr>
            <p:cNvSpPr>
              <a:spLocks noChangeArrowheads="1"/>
            </p:cNvSpPr>
            <p:nvPr/>
          </p:nvSpPr>
          <p:spPr bwMode="auto">
            <a:xfrm>
              <a:off x="990582" y="2667366"/>
              <a:ext cx="1150148" cy="1054302"/>
            </a:xfrm>
            <a:custGeom>
              <a:avLst/>
              <a:gdLst>
                <a:gd name="T0" fmla="*/ 1779 w 5078"/>
                <a:gd name="T1" fmla="*/ 4656 h 4657"/>
                <a:gd name="T2" fmla="*/ 1779 w 5078"/>
                <a:gd name="T3" fmla="*/ 4656 h 4657"/>
                <a:gd name="T4" fmla="*/ 1034 w 5078"/>
                <a:gd name="T5" fmla="*/ 3416 h 4657"/>
                <a:gd name="T6" fmla="*/ 1034 w 5078"/>
                <a:gd name="T7" fmla="*/ 3416 h 4657"/>
                <a:gd name="T8" fmla="*/ 0 w 5078"/>
                <a:gd name="T9" fmla="*/ 293 h 4657"/>
                <a:gd name="T10" fmla="*/ 0 w 5078"/>
                <a:gd name="T11" fmla="*/ 293 h 4657"/>
                <a:gd name="T12" fmla="*/ 8 w 5078"/>
                <a:gd name="T13" fmla="*/ 0 h 4657"/>
                <a:gd name="T14" fmla="*/ 5077 w 5078"/>
                <a:gd name="T15" fmla="*/ 0 h 4657"/>
                <a:gd name="T16" fmla="*/ 5077 w 5078"/>
                <a:gd name="T17" fmla="*/ 4656 h 4657"/>
                <a:gd name="T18" fmla="*/ 1779 w 5078"/>
                <a:gd name="T19" fmla="*/ 4656 h 4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78" h="4657">
                  <a:moveTo>
                    <a:pt x="1779" y="4656"/>
                  </a:moveTo>
                  <a:lnTo>
                    <a:pt x="1779" y="4656"/>
                  </a:lnTo>
                  <a:cubicBezTo>
                    <a:pt x="1572" y="4219"/>
                    <a:pt x="1322" y="3802"/>
                    <a:pt x="1034" y="3416"/>
                  </a:cubicBezTo>
                  <a:lnTo>
                    <a:pt x="1034" y="3416"/>
                  </a:lnTo>
                  <a:cubicBezTo>
                    <a:pt x="357" y="2508"/>
                    <a:pt x="0" y="1428"/>
                    <a:pt x="0" y="293"/>
                  </a:cubicBezTo>
                  <a:lnTo>
                    <a:pt x="0" y="293"/>
                  </a:lnTo>
                  <a:cubicBezTo>
                    <a:pt x="0" y="197"/>
                    <a:pt x="3" y="99"/>
                    <a:pt x="8" y="0"/>
                  </a:cubicBezTo>
                  <a:lnTo>
                    <a:pt x="5077" y="0"/>
                  </a:lnTo>
                  <a:lnTo>
                    <a:pt x="5077" y="4656"/>
                  </a:lnTo>
                  <a:lnTo>
                    <a:pt x="1779" y="4656"/>
                  </a:lnTo>
                </a:path>
              </a:pathLst>
            </a:custGeom>
            <a:solidFill>
              <a:srgbClr val="4E8542"/>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12" name="Freeform 8">
              <a:extLst>
                <a:ext uri="{FF2B5EF4-FFF2-40B4-BE49-F238E27FC236}">
                  <a16:creationId xmlns:a16="http://schemas.microsoft.com/office/drawing/2014/main" id="{931553DD-4390-287A-B17F-42D3F9C4D8BE}"/>
                </a:ext>
              </a:extLst>
            </p:cNvPr>
            <p:cNvSpPr>
              <a:spLocks noChangeArrowheads="1"/>
            </p:cNvSpPr>
            <p:nvPr/>
          </p:nvSpPr>
          <p:spPr bwMode="auto">
            <a:xfrm>
              <a:off x="997571" y="1550165"/>
              <a:ext cx="1143159" cy="1054302"/>
            </a:xfrm>
            <a:custGeom>
              <a:avLst/>
              <a:gdLst>
                <a:gd name="T0" fmla="*/ 0 w 5047"/>
                <a:gd name="T1" fmla="*/ 4654 h 4655"/>
                <a:gd name="T2" fmla="*/ 0 w 5047"/>
                <a:gd name="T3" fmla="*/ 4654 h 4655"/>
                <a:gd name="T4" fmla="*/ 1639 w 5047"/>
                <a:gd name="T5" fmla="*/ 1397 h 4655"/>
                <a:gd name="T6" fmla="*/ 1639 w 5047"/>
                <a:gd name="T7" fmla="*/ 1397 h 4655"/>
                <a:gd name="T8" fmla="*/ 5046 w 5047"/>
                <a:gd name="T9" fmla="*/ 0 h 4655"/>
                <a:gd name="T10" fmla="*/ 5046 w 5047"/>
                <a:gd name="T11" fmla="*/ 4654 h 4655"/>
                <a:gd name="T12" fmla="*/ 0 w 5047"/>
                <a:gd name="T13" fmla="*/ 4654 h 4655"/>
              </a:gdLst>
              <a:ahLst/>
              <a:cxnLst>
                <a:cxn ang="0">
                  <a:pos x="T0" y="T1"/>
                </a:cxn>
                <a:cxn ang="0">
                  <a:pos x="T2" y="T3"/>
                </a:cxn>
                <a:cxn ang="0">
                  <a:pos x="T4" y="T5"/>
                </a:cxn>
                <a:cxn ang="0">
                  <a:pos x="T6" y="T7"/>
                </a:cxn>
                <a:cxn ang="0">
                  <a:pos x="T8" y="T9"/>
                </a:cxn>
                <a:cxn ang="0">
                  <a:pos x="T10" y="T11"/>
                </a:cxn>
                <a:cxn ang="0">
                  <a:pos x="T12" y="T13"/>
                </a:cxn>
              </a:cxnLst>
              <a:rect l="0" t="0" r="r" b="b"/>
              <a:pathLst>
                <a:path w="5047" h="4655">
                  <a:moveTo>
                    <a:pt x="0" y="4654"/>
                  </a:moveTo>
                  <a:lnTo>
                    <a:pt x="0" y="4654"/>
                  </a:lnTo>
                  <a:cubicBezTo>
                    <a:pt x="137" y="3408"/>
                    <a:pt x="715" y="2257"/>
                    <a:pt x="1639" y="1397"/>
                  </a:cubicBezTo>
                  <a:lnTo>
                    <a:pt x="1639" y="1397"/>
                  </a:lnTo>
                  <a:cubicBezTo>
                    <a:pt x="2572" y="530"/>
                    <a:pt x="3777" y="37"/>
                    <a:pt x="5046" y="0"/>
                  </a:cubicBezTo>
                  <a:lnTo>
                    <a:pt x="5046" y="4654"/>
                  </a:lnTo>
                  <a:lnTo>
                    <a:pt x="0" y="4654"/>
                  </a:lnTo>
                </a:path>
              </a:pathLst>
            </a:custGeom>
            <a:solidFill>
              <a:srgbClr val="F07F09"/>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13" name="Freeform 9">
              <a:extLst>
                <a:ext uri="{FF2B5EF4-FFF2-40B4-BE49-F238E27FC236}">
                  <a16:creationId xmlns:a16="http://schemas.microsoft.com/office/drawing/2014/main" id="{02BB2FCB-F3BD-8E47-83CE-305583704A02}"/>
                </a:ext>
              </a:extLst>
            </p:cNvPr>
            <p:cNvSpPr>
              <a:spLocks noChangeArrowheads="1"/>
            </p:cNvSpPr>
            <p:nvPr/>
          </p:nvSpPr>
          <p:spPr bwMode="auto">
            <a:xfrm>
              <a:off x="1472806" y="4862886"/>
              <a:ext cx="1397749" cy="273560"/>
            </a:xfrm>
            <a:custGeom>
              <a:avLst/>
              <a:gdLst>
                <a:gd name="T0" fmla="*/ 5570 w 6174"/>
                <a:gd name="T1" fmla="*/ 1207 h 1208"/>
                <a:gd name="T2" fmla="*/ 604 w 6174"/>
                <a:gd name="T3" fmla="*/ 1207 h 1208"/>
                <a:gd name="T4" fmla="*/ 604 w 6174"/>
                <a:gd name="T5" fmla="*/ 1207 h 1208"/>
                <a:gd name="T6" fmla="*/ 0 w 6174"/>
                <a:gd name="T7" fmla="*/ 604 h 1208"/>
                <a:gd name="T8" fmla="*/ 0 w 6174"/>
                <a:gd name="T9" fmla="*/ 604 h 1208"/>
                <a:gd name="T10" fmla="*/ 604 w 6174"/>
                <a:gd name="T11" fmla="*/ 0 h 1208"/>
                <a:gd name="T12" fmla="*/ 5570 w 6174"/>
                <a:gd name="T13" fmla="*/ 0 h 1208"/>
                <a:gd name="T14" fmla="*/ 5570 w 6174"/>
                <a:gd name="T15" fmla="*/ 0 h 1208"/>
                <a:gd name="T16" fmla="*/ 6173 w 6174"/>
                <a:gd name="T17" fmla="*/ 604 h 1208"/>
                <a:gd name="T18" fmla="*/ 6173 w 6174"/>
                <a:gd name="T19" fmla="*/ 604 h 1208"/>
                <a:gd name="T20" fmla="*/ 5570 w 6174"/>
                <a:gd name="T21" fmla="*/ 1207 h 1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74" h="1208">
                  <a:moveTo>
                    <a:pt x="5570" y="1207"/>
                  </a:moveTo>
                  <a:lnTo>
                    <a:pt x="604" y="1207"/>
                  </a:lnTo>
                  <a:lnTo>
                    <a:pt x="604" y="1207"/>
                  </a:lnTo>
                  <a:cubicBezTo>
                    <a:pt x="270" y="1207"/>
                    <a:pt x="0" y="937"/>
                    <a:pt x="0" y="604"/>
                  </a:cubicBezTo>
                  <a:lnTo>
                    <a:pt x="0" y="604"/>
                  </a:lnTo>
                  <a:cubicBezTo>
                    <a:pt x="0" y="270"/>
                    <a:pt x="270" y="0"/>
                    <a:pt x="604" y="0"/>
                  </a:cubicBezTo>
                  <a:lnTo>
                    <a:pt x="5570" y="0"/>
                  </a:lnTo>
                  <a:lnTo>
                    <a:pt x="5570" y="0"/>
                  </a:lnTo>
                  <a:cubicBezTo>
                    <a:pt x="5903" y="0"/>
                    <a:pt x="6173" y="270"/>
                    <a:pt x="6173" y="604"/>
                  </a:cubicBezTo>
                  <a:lnTo>
                    <a:pt x="6173" y="604"/>
                  </a:lnTo>
                  <a:cubicBezTo>
                    <a:pt x="6173" y="937"/>
                    <a:pt x="5903" y="1207"/>
                    <a:pt x="5570" y="1207"/>
                  </a:cubicBezTo>
                </a:path>
              </a:pathLst>
            </a:custGeom>
            <a:solidFill>
              <a:sysClr val="windowText" lastClr="000000"/>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14" name="Freeform 10">
              <a:extLst>
                <a:ext uri="{FF2B5EF4-FFF2-40B4-BE49-F238E27FC236}">
                  <a16:creationId xmlns:a16="http://schemas.microsoft.com/office/drawing/2014/main" id="{69D2A87E-737A-6F22-7FF3-EB42E22C6E0E}"/>
                </a:ext>
              </a:extLst>
            </p:cNvPr>
            <p:cNvSpPr>
              <a:spLocks noChangeArrowheads="1"/>
            </p:cNvSpPr>
            <p:nvPr/>
          </p:nvSpPr>
          <p:spPr bwMode="auto">
            <a:xfrm>
              <a:off x="1956027" y="1800762"/>
              <a:ext cx="431306" cy="432304"/>
            </a:xfrm>
            <a:custGeom>
              <a:avLst/>
              <a:gdLst>
                <a:gd name="T0" fmla="*/ 1906 w 1907"/>
                <a:gd name="T1" fmla="*/ 954 h 1908"/>
                <a:gd name="T2" fmla="*/ 1906 w 1907"/>
                <a:gd name="T3" fmla="*/ 954 h 1908"/>
                <a:gd name="T4" fmla="*/ 953 w 1907"/>
                <a:gd name="T5" fmla="*/ 1907 h 1908"/>
                <a:gd name="T6" fmla="*/ 953 w 1907"/>
                <a:gd name="T7" fmla="*/ 1907 h 1908"/>
                <a:gd name="T8" fmla="*/ 0 w 1907"/>
                <a:gd name="T9" fmla="*/ 954 h 1908"/>
                <a:gd name="T10" fmla="*/ 0 w 1907"/>
                <a:gd name="T11" fmla="*/ 954 h 1908"/>
                <a:gd name="T12" fmla="*/ 953 w 1907"/>
                <a:gd name="T13" fmla="*/ 0 h 1908"/>
                <a:gd name="T14" fmla="*/ 953 w 1907"/>
                <a:gd name="T15" fmla="*/ 0 h 1908"/>
                <a:gd name="T16" fmla="*/ 1906 w 1907"/>
                <a:gd name="T17" fmla="*/ 954 h 19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07" h="1908">
                  <a:moveTo>
                    <a:pt x="1906" y="954"/>
                  </a:moveTo>
                  <a:lnTo>
                    <a:pt x="1906" y="954"/>
                  </a:lnTo>
                  <a:cubicBezTo>
                    <a:pt x="1906" y="1480"/>
                    <a:pt x="1479" y="1907"/>
                    <a:pt x="953" y="1907"/>
                  </a:cubicBezTo>
                  <a:lnTo>
                    <a:pt x="953" y="1907"/>
                  </a:lnTo>
                  <a:cubicBezTo>
                    <a:pt x="427" y="1907"/>
                    <a:pt x="0" y="1480"/>
                    <a:pt x="0" y="954"/>
                  </a:cubicBezTo>
                  <a:lnTo>
                    <a:pt x="0" y="954"/>
                  </a:lnTo>
                  <a:cubicBezTo>
                    <a:pt x="0" y="427"/>
                    <a:pt x="427" y="0"/>
                    <a:pt x="953" y="0"/>
                  </a:cubicBezTo>
                  <a:lnTo>
                    <a:pt x="953" y="0"/>
                  </a:lnTo>
                  <a:cubicBezTo>
                    <a:pt x="1479" y="0"/>
                    <a:pt x="1906" y="427"/>
                    <a:pt x="1906" y="954"/>
                  </a:cubicBezTo>
                </a:path>
              </a:pathLst>
            </a:custGeom>
            <a:solidFill>
              <a:srgbClr val="F07F09"/>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15" name="Freeform 11">
              <a:extLst>
                <a:ext uri="{FF2B5EF4-FFF2-40B4-BE49-F238E27FC236}">
                  <a16:creationId xmlns:a16="http://schemas.microsoft.com/office/drawing/2014/main" id="{037F59E7-67AC-7222-5577-C0D97583D409}"/>
                </a:ext>
              </a:extLst>
            </p:cNvPr>
            <p:cNvSpPr>
              <a:spLocks noChangeArrowheads="1"/>
            </p:cNvSpPr>
            <p:nvPr/>
          </p:nvSpPr>
          <p:spPr bwMode="auto">
            <a:xfrm>
              <a:off x="2551069" y="2416770"/>
              <a:ext cx="432304" cy="432304"/>
            </a:xfrm>
            <a:custGeom>
              <a:avLst/>
              <a:gdLst>
                <a:gd name="T0" fmla="*/ 1908 w 1909"/>
                <a:gd name="T1" fmla="*/ 953 h 1908"/>
                <a:gd name="T2" fmla="*/ 1908 w 1909"/>
                <a:gd name="T3" fmla="*/ 953 h 1908"/>
                <a:gd name="T4" fmla="*/ 954 w 1909"/>
                <a:gd name="T5" fmla="*/ 1907 h 1908"/>
                <a:gd name="T6" fmla="*/ 954 w 1909"/>
                <a:gd name="T7" fmla="*/ 1907 h 1908"/>
                <a:gd name="T8" fmla="*/ 0 w 1909"/>
                <a:gd name="T9" fmla="*/ 953 h 1908"/>
                <a:gd name="T10" fmla="*/ 0 w 1909"/>
                <a:gd name="T11" fmla="*/ 953 h 1908"/>
                <a:gd name="T12" fmla="*/ 954 w 1909"/>
                <a:gd name="T13" fmla="*/ 0 h 1908"/>
                <a:gd name="T14" fmla="*/ 954 w 1909"/>
                <a:gd name="T15" fmla="*/ 0 h 1908"/>
                <a:gd name="T16" fmla="*/ 1908 w 1909"/>
                <a:gd name="T17" fmla="*/ 953 h 19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09" h="1908">
                  <a:moveTo>
                    <a:pt x="1908" y="953"/>
                  </a:moveTo>
                  <a:lnTo>
                    <a:pt x="1908" y="953"/>
                  </a:lnTo>
                  <a:cubicBezTo>
                    <a:pt x="1908" y="1480"/>
                    <a:pt x="1481" y="1907"/>
                    <a:pt x="954" y="1907"/>
                  </a:cubicBezTo>
                  <a:lnTo>
                    <a:pt x="954" y="1907"/>
                  </a:lnTo>
                  <a:cubicBezTo>
                    <a:pt x="427" y="1907"/>
                    <a:pt x="0" y="1480"/>
                    <a:pt x="0" y="953"/>
                  </a:cubicBezTo>
                  <a:lnTo>
                    <a:pt x="0" y="953"/>
                  </a:lnTo>
                  <a:cubicBezTo>
                    <a:pt x="0" y="427"/>
                    <a:pt x="427" y="0"/>
                    <a:pt x="954" y="0"/>
                  </a:cubicBezTo>
                  <a:lnTo>
                    <a:pt x="954" y="0"/>
                  </a:lnTo>
                  <a:cubicBezTo>
                    <a:pt x="1481" y="0"/>
                    <a:pt x="1908" y="427"/>
                    <a:pt x="1908" y="953"/>
                  </a:cubicBezTo>
                </a:path>
              </a:pathLst>
            </a:custGeom>
            <a:solidFill>
              <a:srgbClr val="9F2936"/>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16" name="Freeform 13">
              <a:extLst>
                <a:ext uri="{FF2B5EF4-FFF2-40B4-BE49-F238E27FC236}">
                  <a16:creationId xmlns:a16="http://schemas.microsoft.com/office/drawing/2014/main" id="{5937C776-1F2F-37B9-67FB-7C911A54FE14}"/>
                </a:ext>
              </a:extLst>
            </p:cNvPr>
            <p:cNvSpPr>
              <a:spLocks noChangeArrowheads="1"/>
            </p:cNvSpPr>
            <p:nvPr/>
          </p:nvSpPr>
          <p:spPr bwMode="auto">
            <a:xfrm>
              <a:off x="2421278" y="3540959"/>
              <a:ext cx="432304" cy="432304"/>
            </a:xfrm>
            <a:custGeom>
              <a:avLst/>
              <a:gdLst>
                <a:gd name="T0" fmla="*/ 1908 w 1909"/>
                <a:gd name="T1" fmla="*/ 954 h 1909"/>
                <a:gd name="T2" fmla="*/ 1908 w 1909"/>
                <a:gd name="T3" fmla="*/ 954 h 1909"/>
                <a:gd name="T4" fmla="*/ 954 w 1909"/>
                <a:gd name="T5" fmla="*/ 1908 h 1909"/>
                <a:gd name="T6" fmla="*/ 954 w 1909"/>
                <a:gd name="T7" fmla="*/ 1908 h 1909"/>
                <a:gd name="T8" fmla="*/ 0 w 1909"/>
                <a:gd name="T9" fmla="*/ 954 h 1909"/>
                <a:gd name="T10" fmla="*/ 0 w 1909"/>
                <a:gd name="T11" fmla="*/ 954 h 1909"/>
                <a:gd name="T12" fmla="*/ 954 w 1909"/>
                <a:gd name="T13" fmla="*/ 0 h 1909"/>
                <a:gd name="T14" fmla="*/ 954 w 1909"/>
                <a:gd name="T15" fmla="*/ 0 h 1909"/>
                <a:gd name="T16" fmla="*/ 1908 w 1909"/>
                <a:gd name="T17" fmla="*/ 954 h 1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09" h="1909">
                  <a:moveTo>
                    <a:pt x="1908" y="954"/>
                  </a:moveTo>
                  <a:lnTo>
                    <a:pt x="1908" y="954"/>
                  </a:lnTo>
                  <a:cubicBezTo>
                    <a:pt x="1908" y="1481"/>
                    <a:pt x="1481" y="1908"/>
                    <a:pt x="954" y="1908"/>
                  </a:cubicBezTo>
                  <a:lnTo>
                    <a:pt x="954" y="1908"/>
                  </a:lnTo>
                  <a:cubicBezTo>
                    <a:pt x="427" y="1908"/>
                    <a:pt x="0" y="1481"/>
                    <a:pt x="0" y="954"/>
                  </a:cubicBezTo>
                  <a:lnTo>
                    <a:pt x="0" y="954"/>
                  </a:lnTo>
                  <a:cubicBezTo>
                    <a:pt x="0" y="427"/>
                    <a:pt x="427" y="0"/>
                    <a:pt x="954" y="0"/>
                  </a:cubicBezTo>
                  <a:lnTo>
                    <a:pt x="954" y="0"/>
                  </a:lnTo>
                  <a:cubicBezTo>
                    <a:pt x="1481" y="0"/>
                    <a:pt x="1908" y="427"/>
                    <a:pt x="1908" y="954"/>
                  </a:cubicBezTo>
                </a:path>
              </a:pathLst>
            </a:custGeom>
            <a:solidFill>
              <a:srgbClr val="1B587C"/>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17" name="Freeform 14">
              <a:extLst>
                <a:ext uri="{FF2B5EF4-FFF2-40B4-BE49-F238E27FC236}">
                  <a16:creationId xmlns:a16="http://schemas.microsoft.com/office/drawing/2014/main" id="{05B2CC88-057C-D7D1-7824-169698244135}"/>
                </a:ext>
              </a:extLst>
            </p:cNvPr>
            <p:cNvSpPr>
              <a:spLocks noChangeArrowheads="1"/>
            </p:cNvSpPr>
            <p:nvPr/>
          </p:nvSpPr>
          <p:spPr bwMode="auto">
            <a:xfrm>
              <a:off x="1547685" y="3540959"/>
              <a:ext cx="432304" cy="432304"/>
            </a:xfrm>
            <a:custGeom>
              <a:avLst/>
              <a:gdLst>
                <a:gd name="T0" fmla="*/ 1908 w 1909"/>
                <a:gd name="T1" fmla="*/ 954 h 1909"/>
                <a:gd name="T2" fmla="*/ 1908 w 1909"/>
                <a:gd name="T3" fmla="*/ 954 h 1909"/>
                <a:gd name="T4" fmla="*/ 954 w 1909"/>
                <a:gd name="T5" fmla="*/ 1908 h 1909"/>
                <a:gd name="T6" fmla="*/ 954 w 1909"/>
                <a:gd name="T7" fmla="*/ 1908 h 1909"/>
                <a:gd name="T8" fmla="*/ 0 w 1909"/>
                <a:gd name="T9" fmla="*/ 954 h 1909"/>
                <a:gd name="T10" fmla="*/ 0 w 1909"/>
                <a:gd name="T11" fmla="*/ 954 h 1909"/>
                <a:gd name="T12" fmla="*/ 954 w 1909"/>
                <a:gd name="T13" fmla="*/ 0 h 1909"/>
                <a:gd name="T14" fmla="*/ 954 w 1909"/>
                <a:gd name="T15" fmla="*/ 0 h 1909"/>
                <a:gd name="T16" fmla="*/ 1908 w 1909"/>
                <a:gd name="T17" fmla="*/ 954 h 1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09" h="1909">
                  <a:moveTo>
                    <a:pt x="1908" y="954"/>
                  </a:moveTo>
                  <a:lnTo>
                    <a:pt x="1908" y="954"/>
                  </a:lnTo>
                  <a:cubicBezTo>
                    <a:pt x="1908" y="1481"/>
                    <a:pt x="1481" y="1908"/>
                    <a:pt x="954" y="1908"/>
                  </a:cubicBezTo>
                  <a:lnTo>
                    <a:pt x="954" y="1908"/>
                  </a:lnTo>
                  <a:cubicBezTo>
                    <a:pt x="427" y="1908"/>
                    <a:pt x="0" y="1481"/>
                    <a:pt x="0" y="954"/>
                  </a:cubicBezTo>
                  <a:lnTo>
                    <a:pt x="0" y="954"/>
                  </a:lnTo>
                  <a:cubicBezTo>
                    <a:pt x="0" y="427"/>
                    <a:pt x="427" y="0"/>
                    <a:pt x="954" y="0"/>
                  </a:cubicBezTo>
                  <a:lnTo>
                    <a:pt x="954" y="0"/>
                  </a:lnTo>
                  <a:cubicBezTo>
                    <a:pt x="1481" y="0"/>
                    <a:pt x="1908" y="427"/>
                    <a:pt x="1908" y="954"/>
                  </a:cubicBezTo>
                </a:path>
              </a:pathLst>
            </a:custGeom>
            <a:solidFill>
              <a:srgbClr val="604878"/>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18" name="Freeform 15">
              <a:extLst>
                <a:ext uri="{FF2B5EF4-FFF2-40B4-BE49-F238E27FC236}">
                  <a16:creationId xmlns:a16="http://schemas.microsoft.com/office/drawing/2014/main" id="{92182076-F399-2DF4-484B-90F7F9F7100C}"/>
                </a:ext>
              </a:extLst>
            </p:cNvPr>
            <p:cNvSpPr>
              <a:spLocks noChangeArrowheads="1"/>
            </p:cNvSpPr>
            <p:nvPr/>
          </p:nvSpPr>
          <p:spPr bwMode="auto">
            <a:xfrm>
              <a:off x="1359987" y="2416770"/>
              <a:ext cx="432304" cy="432304"/>
            </a:xfrm>
            <a:custGeom>
              <a:avLst/>
              <a:gdLst>
                <a:gd name="T0" fmla="*/ 1907 w 1908"/>
                <a:gd name="T1" fmla="*/ 953 h 1908"/>
                <a:gd name="T2" fmla="*/ 1907 w 1908"/>
                <a:gd name="T3" fmla="*/ 953 h 1908"/>
                <a:gd name="T4" fmla="*/ 953 w 1908"/>
                <a:gd name="T5" fmla="*/ 1907 h 1908"/>
                <a:gd name="T6" fmla="*/ 953 w 1908"/>
                <a:gd name="T7" fmla="*/ 1907 h 1908"/>
                <a:gd name="T8" fmla="*/ 0 w 1908"/>
                <a:gd name="T9" fmla="*/ 953 h 1908"/>
                <a:gd name="T10" fmla="*/ 0 w 1908"/>
                <a:gd name="T11" fmla="*/ 953 h 1908"/>
                <a:gd name="T12" fmla="*/ 953 w 1908"/>
                <a:gd name="T13" fmla="*/ 0 h 1908"/>
                <a:gd name="T14" fmla="*/ 953 w 1908"/>
                <a:gd name="T15" fmla="*/ 0 h 1908"/>
                <a:gd name="T16" fmla="*/ 1907 w 1908"/>
                <a:gd name="T17" fmla="*/ 953 h 19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08" h="1908">
                  <a:moveTo>
                    <a:pt x="1907" y="953"/>
                  </a:moveTo>
                  <a:lnTo>
                    <a:pt x="1907" y="953"/>
                  </a:lnTo>
                  <a:cubicBezTo>
                    <a:pt x="1907" y="1480"/>
                    <a:pt x="1480" y="1907"/>
                    <a:pt x="953" y="1907"/>
                  </a:cubicBezTo>
                  <a:lnTo>
                    <a:pt x="953" y="1907"/>
                  </a:lnTo>
                  <a:cubicBezTo>
                    <a:pt x="427" y="1907"/>
                    <a:pt x="0" y="1480"/>
                    <a:pt x="0" y="953"/>
                  </a:cubicBezTo>
                  <a:lnTo>
                    <a:pt x="0" y="953"/>
                  </a:lnTo>
                  <a:cubicBezTo>
                    <a:pt x="0" y="427"/>
                    <a:pt x="427" y="0"/>
                    <a:pt x="953" y="0"/>
                  </a:cubicBezTo>
                  <a:lnTo>
                    <a:pt x="953" y="0"/>
                  </a:lnTo>
                  <a:cubicBezTo>
                    <a:pt x="1480" y="0"/>
                    <a:pt x="1907" y="427"/>
                    <a:pt x="1907" y="953"/>
                  </a:cubicBezTo>
                </a:path>
              </a:pathLst>
            </a:custGeom>
            <a:solidFill>
              <a:srgbClr val="4E8542"/>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19" name="Freeform 9">
              <a:extLst>
                <a:ext uri="{FF2B5EF4-FFF2-40B4-BE49-F238E27FC236}">
                  <a16:creationId xmlns:a16="http://schemas.microsoft.com/office/drawing/2014/main" id="{637ADD74-D62E-3AD4-01D8-BE57841DFDF9}"/>
                </a:ext>
              </a:extLst>
            </p:cNvPr>
            <p:cNvSpPr>
              <a:spLocks noChangeArrowheads="1"/>
            </p:cNvSpPr>
            <p:nvPr/>
          </p:nvSpPr>
          <p:spPr bwMode="auto">
            <a:xfrm>
              <a:off x="1359987" y="4668190"/>
              <a:ext cx="1623387" cy="273560"/>
            </a:xfrm>
            <a:custGeom>
              <a:avLst/>
              <a:gdLst>
                <a:gd name="T0" fmla="*/ 5570 w 6174"/>
                <a:gd name="T1" fmla="*/ 1207 h 1208"/>
                <a:gd name="T2" fmla="*/ 604 w 6174"/>
                <a:gd name="T3" fmla="*/ 1207 h 1208"/>
                <a:gd name="T4" fmla="*/ 604 w 6174"/>
                <a:gd name="T5" fmla="*/ 1207 h 1208"/>
                <a:gd name="T6" fmla="*/ 0 w 6174"/>
                <a:gd name="T7" fmla="*/ 604 h 1208"/>
                <a:gd name="T8" fmla="*/ 0 w 6174"/>
                <a:gd name="T9" fmla="*/ 604 h 1208"/>
                <a:gd name="T10" fmla="*/ 604 w 6174"/>
                <a:gd name="T11" fmla="*/ 0 h 1208"/>
                <a:gd name="T12" fmla="*/ 5570 w 6174"/>
                <a:gd name="T13" fmla="*/ 0 h 1208"/>
                <a:gd name="T14" fmla="*/ 5570 w 6174"/>
                <a:gd name="T15" fmla="*/ 0 h 1208"/>
                <a:gd name="T16" fmla="*/ 6173 w 6174"/>
                <a:gd name="T17" fmla="*/ 604 h 1208"/>
                <a:gd name="T18" fmla="*/ 6173 w 6174"/>
                <a:gd name="T19" fmla="*/ 604 h 1208"/>
                <a:gd name="T20" fmla="*/ 5570 w 6174"/>
                <a:gd name="T21" fmla="*/ 1207 h 1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74" h="1208">
                  <a:moveTo>
                    <a:pt x="5570" y="1207"/>
                  </a:moveTo>
                  <a:lnTo>
                    <a:pt x="604" y="1207"/>
                  </a:lnTo>
                  <a:lnTo>
                    <a:pt x="604" y="1207"/>
                  </a:lnTo>
                  <a:cubicBezTo>
                    <a:pt x="270" y="1207"/>
                    <a:pt x="0" y="937"/>
                    <a:pt x="0" y="604"/>
                  </a:cubicBezTo>
                  <a:lnTo>
                    <a:pt x="0" y="604"/>
                  </a:lnTo>
                  <a:cubicBezTo>
                    <a:pt x="0" y="270"/>
                    <a:pt x="270" y="0"/>
                    <a:pt x="604" y="0"/>
                  </a:cubicBezTo>
                  <a:lnTo>
                    <a:pt x="5570" y="0"/>
                  </a:lnTo>
                  <a:lnTo>
                    <a:pt x="5570" y="0"/>
                  </a:lnTo>
                  <a:cubicBezTo>
                    <a:pt x="5903" y="0"/>
                    <a:pt x="6173" y="270"/>
                    <a:pt x="6173" y="604"/>
                  </a:cubicBezTo>
                  <a:lnTo>
                    <a:pt x="6173" y="604"/>
                  </a:lnTo>
                  <a:cubicBezTo>
                    <a:pt x="6173" y="937"/>
                    <a:pt x="5903" y="1207"/>
                    <a:pt x="5570" y="1207"/>
                  </a:cubicBezTo>
                </a:path>
              </a:pathLst>
            </a:custGeom>
            <a:solidFill>
              <a:sysClr val="windowText" lastClr="000000"/>
            </a:solidFill>
            <a:ln>
              <a:noFill/>
            </a:ln>
            <a:effectLst/>
          </p:spPr>
          <p:txBody>
            <a:bodyPr wrap="none" anchor="ctr"/>
            <a:lstStyle/>
            <a:p>
              <a:pPr defTabSz="914400">
                <a:defRPr/>
              </a:pPr>
              <a:endParaRPr lang="en-US" sz="1050" kern="0" dirty="0">
                <a:solidFill>
                  <a:prstClr val="black"/>
                </a:solidFill>
                <a:latin typeface="Lato Light" panose="020F0502020204030203" pitchFamily="34" charset="0"/>
              </a:endParaRPr>
            </a:p>
          </p:txBody>
        </p:sp>
        <p:sp>
          <p:nvSpPr>
            <p:cNvPr id="20" name="TextBox 19">
              <a:extLst>
                <a:ext uri="{FF2B5EF4-FFF2-40B4-BE49-F238E27FC236}">
                  <a16:creationId xmlns:a16="http://schemas.microsoft.com/office/drawing/2014/main" id="{8306163C-CB89-9C80-3B81-924DCAB40D33}"/>
                </a:ext>
              </a:extLst>
            </p:cNvPr>
            <p:cNvSpPr txBox="1"/>
            <p:nvPr/>
          </p:nvSpPr>
          <p:spPr>
            <a:xfrm>
              <a:off x="1471817" y="4899499"/>
              <a:ext cx="1404552" cy="253916"/>
            </a:xfrm>
            <a:prstGeom prst="rect">
              <a:avLst/>
            </a:prstGeom>
            <a:noFill/>
          </p:spPr>
          <p:txBody>
            <a:bodyPr wrap="none" rtlCol="0" anchor="ctr" anchorCtr="0">
              <a:spAutoFit/>
            </a:bodyPr>
            <a:lstStyle/>
            <a:p>
              <a:pPr algn="ctr">
                <a:defRPr/>
              </a:pPr>
              <a:r>
                <a:rPr lang="en-US" sz="1050" b="1" dirty="0">
                  <a:solidFill>
                    <a:prstClr val="white"/>
                  </a:solidFill>
                  <a:latin typeface="Poppins" pitchFamily="2" charset="77"/>
                  <a:ea typeface="League Spartan" charset="0"/>
                  <a:cs typeface="Poppins" pitchFamily="2" charset="77"/>
                </a:rPr>
                <a:t>COMMUNICATION</a:t>
              </a:r>
            </a:p>
          </p:txBody>
        </p:sp>
        <p:sp>
          <p:nvSpPr>
            <p:cNvPr id="21" name="TextBox 20">
              <a:extLst>
                <a:ext uri="{FF2B5EF4-FFF2-40B4-BE49-F238E27FC236}">
                  <a16:creationId xmlns:a16="http://schemas.microsoft.com/office/drawing/2014/main" id="{4933CBA4-DA75-3F7B-F342-7F16AC6655AD}"/>
                </a:ext>
              </a:extLst>
            </p:cNvPr>
            <p:cNvSpPr txBox="1"/>
            <p:nvPr/>
          </p:nvSpPr>
          <p:spPr>
            <a:xfrm>
              <a:off x="2054894" y="1886107"/>
              <a:ext cx="237566" cy="261610"/>
            </a:xfrm>
            <a:prstGeom prst="rect">
              <a:avLst/>
            </a:prstGeom>
            <a:noFill/>
          </p:spPr>
          <p:txBody>
            <a:bodyPr wrap="none" rtlCol="0" anchor="ctr">
              <a:spAutoFit/>
            </a:bodyPr>
            <a:lstStyle/>
            <a:p>
              <a:pPr algn="ctr">
                <a:defRPr/>
              </a:pPr>
              <a:r>
                <a:rPr lang="en-US" sz="1050" b="1" dirty="0">
                  <a:solidFill>
                    <a:prstClr val="white"/>
                  </a:solidFill>
                  <a:latin typeface="Poppins" pitchFamily="2" charset="77"/>
                  <a:cs typeface="Poppins" pitchFamily="2" charset="77"/>
                </a:rPr>
                <a:t>1</a:t>
              </a:r>
            </a:p>
          </p:txBody>
        </p:sp>
        <p:sp>
          <p:nvSpPr>
            <p:cNvPr id="22" name="TextBox 21">
              <a:extLst>
                <a:ext uri="{FF2B5EF4-FFF2-40B4-BE49-F238E27FC236}">
                  <a16:creationId xmlns:a16="http://schemas.microsoft.com/office/drawing/2014/main" id="{E9C3CB55-FF01-B28F-EF2D-10076C6FAA38}"/>
                </a:ext>
              </a:extLst>
            </p:cNvPr>
            <p:cNvSpPr txBox="1"/>
            <p:nvPr/>
          </p:nvSpPr>
          <p:spPr>
            <a:xfrm>
              <a:off x="2645796" y="2504049"/>
              <a:ext cx="264816" cy="261610"/>
            </a:xfrm>
            <a:prstGeom prst="rect">
              <a:avLst/>
            </a:prstGeom>
            <a:noFill/>
          </p:spPr>
          <p:txBody>
            <a:bodyPr wrap="none" rtlCol="0" anchor="ctr">
              <a:spAutoFit/>
            </a:bodyPr>
            <a:lstStyle/>
            <a:p>
              <a:pPr algn="ctr">
                <a:defRPr/>
              </a:pPr>
              <a:r>
                <a:rPr lang="en-US" sz="1050" b="1" dirty="0">
                  <a:solidFill>
                    <a:prstClr val="white"/>
                  </a:solidFill>
                  <a:latin typeface="Poppins" pitchFamily="2" charset="77"/>
                  <a:cs typeface="Poppins" pitchFamily="2" charset="77"/>
                </a:rPr>
                <a:t>2</a:t>
              </a:r>
            </a:p>
          </p:txBody>
        </p:sp>
        <p:sp>
          <p:nvSpPr>
            <p:cNvPr id="23" name="TextBox 22">
              <a:extLst>
                <a:ext uri="{FF2B5EF4-FFF2-40B4-BE49-F238E27FC236}">
                  <a16:creationId xmlns:a16="http://schemas.microsoft.com/office/drawing/2014/main" id="{3CEC3DA1-EA89-14D1-E6F2-947333E00623}"/>
                </a:ext>
              </a:extLst>
            </p:cNvPr>
            <p:cNvSpPr txBox="1"/>
            <p:nvPr/>
          </p:nvSpPr>
          <p:spPr>
            <a:xfrm>
              <a:off x="2502617" y="3626305"/>
              <a:ext cx="269626" cy="261610"/>
            </a:xfrm>
            <a:prstGeom prst="rect">
              <a:avLst/>
            </a:prstGeom>
            <a:noFill/>
          </p:spPr>
          <p:txBody>
            <a:bodyPr wrap="none" rtlCol="0" anchor="ctr">
              <a:spAutoFit/>
            </a:bodyPr>
            <a:lstStyle/>
            <a:p>
              <a:pPr algn="ctr">
                <a:defRPr/>
              </a:pPr>
              <a:r>
                <a:rPr lang="en-US" sz="1050" b="1" dirty="0">
                  <a:solidFill>
                    <a:prstClr val="white"/>
                  </a:solidFill>
                  <a:latin typeface="Poppins" pitchFamily="2" charset="77"/>
                  <a:cs typeface="Poppins" pitchFamily="2" charset="77"/>
                </a:rPr>
                <a:t>3</a:t>
              </a:r>
            </a:p>
          </p:txBody>
        </p:sp>
        <p:sp>
          <p:nvSpPr>
            <p:cNvPr id="24" name="TextBox 23">
              <a:extLst>
                <a:ext uri="{FF2B5EF4-FFF2-40B4-BE49-F238E27FC236}">
                  <a16:creationId xmlns:a16="http://schemas.microsoft.com/office/drawing/2014/main" id="{E2896BD0-E457-482F-451B-B41D261671FA}"/>
                </a:ext>
              </a:extLst>
            </p:cNvPr>
            <p:cNvSpPr txBox="1"/>
            <p:nvPr/>
          </p:nvSpPr>
          <p:spPr>
            <a:xfrm>
              <a:off x="1624886" y="3626305"/>
              <a:ext cx="280847" cy="261610"/>
            </a:xfrm>
            <a:prstGeom prst="rect">
              <a:avLst/>
            </a:prstGeom>
            <a:noFill/>
          </p:spPr>
          <p:txBody>
            <a:bodyPr wrap="none" rtlCol="0" anchor="ctr">
              <a:spAutoFit/>
            </a:bodyPr>
            <a:lstStyle/>
            <a:p>
              <a:pPr algn="ctr">
                <a:defRPr/>
              </a:pPr>
              <a:r>
                <a:rPr lang="en-US" sz="1050" b="1" dirty="0">
                  <a:solidFill>
                    <a:prstClr val="white"/>
                  </a:solidFill>
                  <a:latin typeface="Poppins" pitchFamily="2" charset="77"/>
                  <a:cs typeface="Poppins" pitchFamily="2" charset="77"/>
                </a:rPr>
                <a:t>4</a:t>
              </a:r>
            </a:p>
          </p:txBody>
        </p:sp>
        <p:sp>
          <p:nvSpPr>
            <p:cNvPr id="25" name="TextBox 24">
              <a:extLst>
                <a:ext uri="{FF2B5EF4-FFF2-40B4-BE49-F238E27FC236}">
                  <a16:creationId xmlns:a16="http://schemas.microsoft.com/office/drawing/2014/main" id="{F4AF9AFA-526B-37F3-724A-945D2632FDC6}"/>
                </a:ext>
              </a:extLst>
            </p:cNvPr>
            <p:cNvSpPr txBox="1"/>
            <p:nvPr/>
          </p:nvSpPr>
          <p:spPr>
            <a:xfrm>
              <a:off x="1436718" y="2503865"/>
              <a:ext cx="276038" cy="261610"/>
            </a:xfrm>
            <a:prstGeom prst="rect">
              <a:avLst/>
            </a:prstGeom>
            <a:noFill/>
          </p:spPr>
          <p:txBody>
            <a:bodyPr wrap="none" rtlCol="0" anchor="ctr">
              <a:spAutoFit/>
            </a:bodyPr>
            <a:lstStyle/>
            <a:p>
              <a:pPr algn="ctr">
                <a:defRPr/>
              </a:pPr>
              <a:r>
                <a:rPr lang="en-US" sz="1050" b="1" dirty="0">
                  <a:solidFill>
                    <a:prstClr val="white"/>
                  </a:solidFill>
                  <a:latin typeface="Poppins" pitchFamily="2" charset="77"/>
                  <a:cs typeface="Poppins" pitchFamily="2" charset="77"/>
                </a:rPr>
                <a:t>5</a:t>
              </a:r>
            </a:p>
          </p:txBody>
        </p:sp>
        <p:sp>
          <p:nvSpPr>
            <p:cNvPr id="26" name="TextBox 25">
              <a:extLst>
                <a:ext uri="{FF2B5EF4-FFF2-40B4-BE49-F238E27FC236}">
                  <a16:creationId xmlns:a16="http://schemas.microsoft.com/office/drawing/2014/main" id="{572F715D-F079-8FF5-7F63-79C0CC16FA00}"/>
                </a:ext>
              </a:extLst>
            </p:cNvPr>
            <p:cNvSpPr txBox="1"/>
            <p:nvPr/>
          </p:nvSpPr>
          <p:spPr>
            <a:xfrm>
              <a:off x="2341341" y="3066537"/>
              <a:ext cx="774571" cy="253916"/>
            </a:xfrm>
            <a:prstGeom prst="rect">
              <a:avLst/>
            </a:prstGeom>
            <a:noFill/>
          </p:spPr>
          <p:txBody>
            <a:bodyPr wrap="none" rtlCol="0" anchor="ctr" anchorCtr="0">
              <a:spAutoFit/>
            </a:bodyPr>
            <a:lstStyle/>
            <a:p>
              <a:pPr algn="ctr">
                <a:defRPr/>
              </a:pPr>
              <a:r>
                <a:rPr lang="en-US" sz="1050" b="1" dirty="0">
                  <a:solidFill>
                    <a:prstClr val="white"/>
                  </a:solidFill>
                  <a:latin typeface="Poppins" pitchFamily="2" charset="77"/>
                  <a:ea typeface="League Spartan" charset="0"/>
                  <a:cs typeface="Poppins" pitchFamily="2" charset="77"/>
                </a:rPr>
                <a:t>EXECUTE</a:t>
              </a:r>
            </a:p>
          </p:txBody>
        </p:sp>
        <p:sp>
          <p:nvSpPr>
            <p:cNvPr id="27" name="TextBox 26">
              <a:extLst>
                <a:ext uri="{FF2B5EF4-FFF2-40B4-BE49-F238E27FC236}">
                  <a16:creationId xmlns:a16="http://schemas.microsoft.com/office/drawing/2014/main" id="{059DA317-80BE-95E9-5AEF-656B9052F41E}"/>
                </a:ext>
              </a:extLst>
            </p:cNvPr>
            <p:cNvSpPr txBox="1"/>
            <p:nvPr/>
          </p:nvSpPr>
          <p:spPr>
            <a:xfrm>
              <a:off x="1759851" y="4149474"/>
              <a:ext cx="822662" cy="261610"/>
            </a:xfrm>
            <a:prstGeom prst="rect">
              <a:avLst/>
            </a:prstGeom>
            <a:noFill/>
          </p:spPr>
          <p:txBody>
            <a:bodyPr wrap="square" rtlCol="0" anchor="ctr" anchorCtr="0">
              <a:spAutoFit/>
            </a:bodyPr>
            <a:lstStyle/>
            <a:p>
              <a:pPr algn="ctr">
                <a:defRPr/>
              </a:pPr>
              <a:r>
                <a:rPr lang="en-US" sz="1050" b="1" dirty="0">
                  <a:solidFill>
                    <a:prstClr val="white"/>
                  </a:solidFill>
                  <a:latin typeface="Poppins" pitchFamily="2" charset="77"/>
                  <a:ea typeface="League Spartan" charset="0"/>
                  <a:cs typeface="Poppins" pitchFamily="2" charset="77"/>
                </a:rPr>
                <a:t>FINALISE</a:t>
              </a:r>
            </a:p>
          </p:txBody>
        </p:sp>
        <p:sp>
          <p:nvSpPr>
            <p:cNvPr id="28" name="TextBox 27">
              <a:extLst>
                <a:ext uri="{FF2B5EF4-FFF2-40B4-BE49-F238E27FC236}">
                  <a16:creationId xmlns:a16="http://schemas.microsoft.com/office/drawing/2014/main" id="{5AECD93B-C5A7-98EE-87E4-FFAEFD079787}"/>
                </a:ext>
              </a:extLst>
            </p:cNvPr>
            <p:cNvSpPr txBox="1"/>
            <p:nvPr/>
          </p:nvSpPr>
          <p:spPr>
            <a:xfrm>
              <a:off x="1150544" y="2025435"/>
              <a:ext cx="1023037" cy="261610"/>
            </a:xfrm>
            <a:prstGeom prst="rect">
              <a:avLst/>
            </a:prstGeom>
            <a:noFill/>
          </p:spPr>
          <p:txBody>
            <a:bodyPr wrap="none" rtlCol="0" anchor="ctr" anchorCtr="0">
              <a:spAutoFit/>
            </a:bodyPr>
            <a:lstStyle/>
            <a:p>
              <a:pPr algn="ctr">
                <a:defRPr/>
              </a:pPr>
              <a:r>
                <a:rPr lang="en-US" sz="1050" b="1" dirty="0">
                  <a:solidFill>
                    <a:prstClr val="white"/>
                  </a:solidFill>
                  <a:latin typeface="Poppins" pitchFamily="2" charset="77"/>
                  <a:ea typeface="League Spartan" charset="0"/>
                  <a:cs typeface="Poppins" pitchFamily="2" charset="77"/>
                </a:rPr>
                <a:t>STRATEGISE</a:t>
              </a:r>
            </a:p>
          </p:txBody>
        </p:sp>
        <p:sp>
          <p:nvSpPr>
            <p:cNvPr id="29" name="TextBox 28">
              <a:extLst>
                <a:ext uri="{FF2B5EF4-FFF2-40B4-BE49-F238E27FC236}">
                  <a16:creationId xmlns:a16="http://schemas.microsoft.com/office/drawing/2014/main" id="{3B908E4C-323F-D919-F439-6C0D1543BA30}"/>
                </a:ext>
              </a:extLst>
            </p:cNvPr>
            <p:cNvSpPr txBox="1"/>
            <p:nvPr/>
          </p:nvSpPr>
          <p:spPr>
            <a:xfrm>
              <a:off x="2255654" y="2042875"/>
              <a:ext cx="945943" cy="261610"/>
            </a:xfrm>
            <a:prstGeom prst="rect">
              <a:avLst/>
            </a:prstGeom>
            <a:noFill/>
          </p:spPr>
          <p:txBody>
            <a:bodyPr wrap="square" rtlCol="0" anchor="ctr" anchorCtr="0">
              <a:spAutoFit/>
            </a:bodyPr>
            <a:lstStyle/>
            <a:p>
              <a:pPr algn="ctr">
                <a:defRPr/>
              </a:pPr>
              <a:r>
                <a:rPr lang="en-US" sz="1050" b="1" dirty="0">
                  <a:solidFill>
                    <a:prstClr val="white"/>
                  </a:solidFill>
                  <a:latin typeface="Poppins" pitchFamily="2" charset="77"/>
                  <a:ea typeface="League Spartan" charset="0"/>
                  <a:cs typeface="Poppins" pitchFamily="2" charset="77"/>
                </a:rPr>
                <a:t>PLAN</a:t>
              </a:r>
            </a:p>
          </p:txBody>
        </p:sp>
        <p:sp>
          <p:nvSpPr>
            <p:cNvPr id="30" name="TextBox 29">
              <a:extLst>
                <a:ext uri="{FF2B5EF4-FFF2-40B4-BE49-F238E27FC236}">
                  <a16:creationId xmlns:a16="http://schemas.microsoft.com/office/drawing/2014/main" id="{CEFE2A1D-B7E2-716F-19F4-F3E73FE8E4EF}"/>
                </a:ext>
              </a:extLst>
            </p:cNvPr>
            <p:cNvSpPr txBox="1"/>
            <p:nvPr/>
          </p:nvSpPr>
          <p:spPr>
            <a:xfrm>
              <a:off x="1075075" y="2950251"/>
              <a:ext cx="1062498" cy="430887"/>
            </a:xfrm>
            <a:prstGeom prst="rect">
              <a:avLst/>
            </a:prstGeom>
            <a:noFill/>
          </p:spPr>
          <p:txBody>
            <a:bodyPr wrap="square" rtlCol="0" anchor="ctr" anchorCtr="0">
              <a:spAutoFit/>
            </a:bodyPr>
            <a:lstStyle/>
            <a:p>
              <a:pPr algn="ctr">
                <a:defRPr/>
              </a:pPr>
              <a:r>
                <a:rPr lang="en-US" sz="1050" b="1" dirty="0">
                  <a:solidFill>
                    <a:prstClr val="white"/>
                  </a:solidFill>
                  <a:latin typeface="Poppins" pitchFamily="2" charset="77"/>
                  <a:ea typeface="League Spartan" charset="0"/>
                  <a:cs typeface="Poppins" pitchFamily="2" charset="77"/>
                </a:rPr>
                <a:t>KNOWLEDGE TRANSFER</a:t>
              </a:r>
            </a:p>
          </p:txBody>
        </p:sp>
      </p:grpSp>
      <p:sp>
        <p:nvSpPr>
          <p:cNvPr id="31" name="TextBox 30">
            <a:extLst>
              <a:ext uri="{FF2B5EF4-FFF2-40B4-BE49-F238E27FC236}">
                <a16:creationId xmlns:a16="http://schemas.microsoft.com/office/drawing/2014/main" id="{F2C2FE72-B7D4-7BA6-B05F-49A9E087E35D}"/>
              </a:ext>
            </a:extLst>
          </p:cNvPr>
          <p:cNvSpPr txBox="1"/>
          <p:nvPr/>
        </p:nvSpPr>
        <p:spPr>
          <a:xfrm>
            <a:off x="4908015" y="1066830"/>
            <a:ext cx="1306704" cy="329962"/>
          </a:xfrm>
          <a:prstGeom prst="rect">
            <a:avLst/>
          </a:prstGeom>
          <a:noFill/>
        </p:spPr>
        <p:txBody>
          <a:bodyPr wrap="square" rtlCol="0" anchor="ctr" anchorCtr="0">
            <a:spAutoFit/>
          </a:bodyPr>
          <a:lstStyle/>
          <a:p>
            <a:pPr>
              <a:defRPr/>
            </a:pPr>
            <a:r>
              <a:rPr lang="en-US" sz="1544" b="1" spc="122" dirty="0">
                <a:solidFill>
                  <a:srgbClr val="323232"/>
                </a:solidFill>
                <a:latin typeface="Bebas Neue" pitchFamily="2" charset="0"/>
                <a:ea typeface="League Spartan" charset="0"/>
                <a:cs typeface="Poppins" pitchFamily="2" charset="77"/>
              </a:rPr>
              <a:t>STRATEGISE</a:t>
            </a:r>
          </a:p>
        </p:txBody>
      </p:sp>
      <p:sp>
        <p:nvSpPr>
          <p:cNvPr id="32" name="Rectangle 31">
            <a:extLst>
              <a:ext uri="{FF2B5EF4-FFF2-40B4-BE49-F238E27FC236}">
                <a16:creationId xmlns:a16="http://schemas.microsoft.com/office/drawing/2014/main" id="{5192CDC1-8565-0C65-E858-D1B80CC95942}"/>
              </a:ext>
            </a:extLst>
          </p:cNvPr>
          <p:cNvSpPr/>
          <p:nvPr/>
        </p:nvSpPr>
        <p:spPr>
          <a:xfrm>
            <a:off x="4883205" y="1347502"/>
            <a:ext cx="6585797" cy="461665"/>
          </a:xfrm>
          <a:prstGeom prst="rect">
            <a:avLst/>
          </a:prstGeom>
        </p:spPr>
        <p:txBody>
          <a:bodyPr wrap="square">
            <a:spAutoFit/>
          </a:bodyPr>
          <a:lstStyle/>
          <a:p>
            <a:pPr marL="171450" indent="-171450" defTabSz="1018824" fontAlgn="base">
              <a:spcBef>
                <a:spcPct val="0"/>
              </a:spcBef>
              <a:spcAft>
                <a:spcPct val="0"/>
              </a:spcAft>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Re-confirmation of scope and testing requirements.</a:t>
            </a:r>
          </a:p>
          <a:p>
            <a:pPr marL="171450" indent="-171450" defTabSz="1018824" fontAlgn="base">
              <a:spcBef>
                <a:spcPct val="0"/>
              </a:spcBef>
              <a:spcAft>
                <a:spcPct val="0"/>
              </a:spcAft>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Sharing of preliminary risk analysis and discussion of expectations with management.</a:t>
            </a:r>
          </a:p>
        </p:txBody>
      </p:sp>
      <p:sp>
        <p:nvSpPr>
          <p:cNvPr id="33" name="TextBox 32">
            <a:extLst>
              <a:ext uri="{FF2B5EF4-FFF2-40B4-BE49-F238E27FC236}">
                <a16:creationId xmlns:a16="http://schemas.microsoft.com/office/drawing/2014/main" id="{5958FE4F-5AC0-FB54-5C95-0A20B8D89D9C}"/>
              </a:ext>
            </a:extLst>
          </p:cNvPr>
          <p:cNvSpPr txBox="1"/>
          <p:nvPr/>
        </p:nvSpPr>
        <p:spPr>
          <a:xfrm>
            <a:off x="4919100" y="1854914"/>
            <a:ext cx="686470" cy="329962"/>
          </a:xfrm>
          <a:prstGeom prst="rect">
            <a:avLst/>
          </a:prstGeom>
          <a:noFill/>
        </p:spPr>
        <p:txBody>
          <a:bodyPr wrap="square" rtlCol="0" anchor="ctr" anchorCtr="0">
            <a:spAutoFit/>
          </a:bodyPr>
          <a:lstStyle/>
          <a:p>
            <a:pPr>
              <a:defRPr/>
            </a:pPr>
            <a:r>
              <a:rPr lang="en-US" sz="1544" b="1" spc="122" dirty="0">
                <a:solidFill>
                  <a:srgbClr val="323232"/>
                </a:solidFill>
                <a:latin typeface="Bebas Neue" pitchFamily="2" charset="0"/>
                <a:ea typeface="League Spartan" charset="0"/>
                <a:cs typeface="Poppins" pitchFamily="2" charset="77"/>
              </a:rPr>
              <a:t>PLAN</a:t>
            </a:r>
          </a:p>
        </p:txBody>
      </p:sp>
      <p:sp>
        <p:nvSpPr>
          <p:cNvPr id="34" name="Rectangle 33">
            <a:extLst>
              <a:ext uri="{FF2B5EF4-FFF2-40B4-BE49-F238E27FC236}">
                <a16:creationId xmlns:a16="http://schemas.microsoft.com/office/drawing/2014/main" id="{D5690534-CA73-EB1F-2633-98001A729A72}"/>
              </a:ext>
            </a:extLst>
          </p:cNvPr>
          <p:cNvSpPr/>
          <p:nvPr/>
        </p:nvSpPr>
        <p:spPr>
          <a:xfrm>
            <a:off x="4926087" y="2151355"/>
            <a:ext cx="6347155" cy="830997"/>
          </a:xfrm>
          <a:prstGeom prst="rect">
            <a:avLst/>
          </a:prstGeom>
        </p:spPr>
        <p:txBody>
          <a:bodyPr wrap="square">
            <a:spAutoFit/>
          </a:bodyPr>
          <a:lstStyle/>
          <a:p>
            <a:pPr marL="171450" indent="-171450" defTabSz="1018824">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Detailed risk assessment using TeamMate Analytics and PowerBI</a:t>
            </a:r>
          </a:p>
          <a:p>
            <a:pPr marL="171450" indent="-171450" defTabSz="1018824">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Identification of key risks and controls in the scope provided.</a:t>
            </a:r>
          </a:p>
          <a:p>
            <a:pPr marL="171450" indent="-171450" defTabSz="1018824">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Identification of key process owners and scheduling of interviews. </a:t>
            </a:r>
          </a:p>
          <a:p>
            <a:pPr marL="171450" indent="-171450" defTabSz="1018824">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Preparation of relevant documents/ information required.</a:t>
            </a:r>
          </a:p>
        </p:txBody>
      </p:sp>
      <p:sp>
        <p:nvSpPr>
          <p:cNvPr id="35" name="TextBox 34">
            <a:extLst>
              <a:ext uri="{FF2B5EF4-FFF2-40B4-BE49-F238E27FC236}">
                <a16:creationId xmlns:a16="http://schemas.microsoft.com/office/drawing/2014/main" id="{EE36A295-4659-D8D7-8CBB-FF51C744BA68}"/>
              </a:ext>
            </a:extLst>
          </p:cNvPr>
          <p:cNvSpPr txBox="1"/>
          <p:nvPr/>
        </p:nvSpPr>
        <p:spPr>
          <a:xfrm>
            <a:off x="4934511" y="3016365"/>
            <a:ext cx="1020664" cy="329962"/>
          </a:xfrm>
          <a:prstGeom prst="rect">
            <a:avLst/>
          </a:prstGeom>
          <a:noFill/>
        </p:spPr>
        <p:txBody>
          <a:bodyPr wrap="square" rtlCol="0" anchor="ctr" anchorCtr="0">
            <a:spAutoFit/>
          </a:bodyPr>
          <a:lstStyle/>
          <a:p>
            <a:pPr>
              <a:defRPr/>
            </a:pPr>
            <a:r>
              <a:rPr lang="en-US" sz="1544" b="1" spc="122" dirty="0">
                <a:solidFill>
                  <a:srgbClr val="323232"/>
                </a:solidFill>
                <a:latin typeface="Bebas Neue" pitchFamily="2" charset="0"/>
                <a:ea typeface="League Spartan" charset="0"/>
                <a:cs typeface="Poppins" pitchFamily="2" charset="77"/>
              </a:rPr>
              <a:t>EXECUTE</a:t>
            </a:r>
          </a:p>
        </p:txBody>
      </p:sp>
      <p:sp>
        <p:nvSpPr>
          <p:cNvPr id="36" name="Rectangle 35">
            <a:extLst>
              <a:ext uri="{FF2B5EF4-FFF2-40B4-BE49-F238E27FC236}">
                <a16:creationId xmlns:a16="http://schemas.microsoft.com/office/drawing/2014/main" id="{1CF2CF05-E6A9-08C6-BC35-FD0B0934A7F3}"/>
              </a:ext>
            </a:extLst>
          </p:cNvPr>
          <p:cNvSpPr/>
          <p:nvPr/>
        </p:nvSpPr>
        <p:spPr>
          <a:xfrm>
            <a:off x="4942934" y="3270127"/>
            <a:ext cx="6526068" cy="1200329"/>
          </a:xfrm>
          <a:prstGeom prst="rect">
            <a:avLst/>
          </a:prstGeom>
        </p:spPr>
        <p:txBody>
          <a:bodyPr wrap="square">
            <a:spAutoFit/>
          </a:bodyPr>
          <a:lstStyle/>
          <a:p>
            <a:pPr marL="171450" indent="-171450" defTabSz="1018824" fontAlgn="base">
              <a:spcBef>
                <a:spcPct val="0"/>
              </a:spcBef>
              <a:spcAft>
                <a:spcPct val="0"/>
              </a:spcAft>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Entrance meeting with key process owners.</a:t>
            </a:r>
          </a:p>
          <a:p>
            <a:pPr marL="171450" indent="-171450" defTabSz="1018824" fontAlgn="base">
              <a:spcBef>
                <a:spcPct val="0"/>
              </a:spcBef>
              <a:spcAft>
                <a:spcPct val="0"/>
              </a:spcAft>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Obtaining information through interviews and walkthroughs.</a:t>
            </a:r>
          </a:p>
          <a:p>
            <a:pPr marL="171450" indent="-171450" defTabSz="1018824" fontAlgn="base">
              <a:spcBef>
                <a:spcPct val="0"/>
              </a:spcBef>
              <a:spcAft>
                <a:spcPct val="0"/>
              </a:spcAft>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Evaluation and assessment of key internal controls in place, and identification of omitted controls or areas of weaknesses.</a:t>
            </a:r>
          </a:p>
          <a:p>
            <a:pPr marL="171450" indent="-171450" defTabSz="1018824" fontAlgn="base">
              <a:spcBef>
                <a:spcPct val="0"/>
              </a:spcBef>
              <a:spcAft>
                <a:spcPct val="0"/>
              </a:spcAft>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Testing of controls and gap analysis of policies and procedures.</a:t>
            </a:r>
          </a:p>
          <a:p>
            <a:pPr marL="171450" indent="-171450" defTabSz="1018824" fontAlgn="base">
              <a:spcBef>
                <a:spcPct val="0"/>
              </a:spcBef>
              <a:spcAft>
                <a:spcPct val="0"/>
              </a:spcAft>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Documentation and discussion of findings and recommendations.</a:t>
            </a:r>
          </a:p>
        </p:txBody>
      </p:sp>
      <p:sp>
        <p:nvSpPr>
          <p:cNvPr id="37" name="TextBox 36">
            <a:extLst>
              <a:ext uri="{FF2B5EF4-FFF2-40B4-BE49-F238E27FC236}">
                <a16:creationId xmlns:a16="http://schemas.microsoft.com/office/drawing/2014/main" id="{6CB3781C-1759-4EFD-2BAC-E42CB0DF79B3}"/>
              </a:ext>
            </a:extLst>
          </p:cNvPr>
          <p:cNvSpPr txBox="1"/>
          <p:nvPr/>
        </p:nvSpPr>
        <p:spPr>
          <a:xfrm>
            <a:off x="4948469" y="4502031"/>
            <a:ext cx="1029577" cy="329962"/>
          </a:xfrm>
          <a:prstGeom prst="rect">
            <a:avLst/>
          </a:prstGeom>
          <a:noFill/>
        </p:spPr>
        <p:txBody>
          <a:bodyPr wrap="square" rtlCol="0" anchor="ctr" anchorCtr="0">
            <a:spAutoFit/>
          </a:bodyPr>
          <a:lstStyle/>
          <a:p>
            <a:pPr>
              <a:defRPr/>
            </a:pPr>
            <a:r>
              <a:rPr lang="en-US" sz="1544" b="1" spc="122" dirty="0">
                <a:solidFill>
                  <a:srgbClr val="323232"/>
                </a:solidFill>
                <a:latin typeface="Bebas Neue" pitchFamily="2" charset="0"/>
                <a:ea typeface="League Spartan" charset="0"/>
                <a:cs typeface="Poppins" pitchFamily="2" charset="77"/>
              </a:rPr>
              <a:t>FINALISE</a:t>
            </a:r>
          </a:p>
        </p:txBody>
      </p:sp>
      <p:sp>
        <p:nvSpPr>
          <p:cNvPr id="38" name="Rectangle 37">
            <a:extLst>
              <a:ext uri="{FF2B5EF4-FFF2-40B4-BE49-F238E27FC236}">
                <a16:creationId xmlns:a16="http://schemas.microsoft.com/office/drawing/2014/main" id="{6886B4DC-ECED-1E2D-C05F-C4F3F20822A5}"/>
              </a:ext>
            </a:extLst>
          </p:cNvPr>
          <p:cNvSpPr/>
          <p:nvPr/>
        </p:nvSpPr>
        <p:spPr>
          <a:xfrm>
            <a:off x="4942934" y="4760309"/>
            <a:ext cx="5361760" cy="646331"/>
          </a:xfrm>
          <a:prstGeom prst="rect">
            <a:avLst/>
          </a:prstGeom>
        </p:spPr>
        <p:txBody>
          <a:bodyPr wrap="square">
            <a:spAutoFit/>
          </a:bodyPr>
          <a:lstStyle/>
          <a:p>
            <a:pPr marL="171450" indent="-171450" defTabSz="1018824" fontAlgn="base">
              <a:spcBef>
                <a:spcPct val="0"/>
              </a:spcBef>
              <a:spcAft>
                <a:spcPct val="0"/>
              </a:spcAft>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Preparation of draft report for management’s comments action plans.</a:t>
            </a:r>
          </a:p>
          <a:p>
            <a:pPr marL="171450" indent="-171450" defTabSz="1018824" fontAlgn="base">
              <a:spcBef>
                <a:spcPct val="0"/>
              </a:spcBef>
              <a:spcAft>
                <a:spcPct val="0"/>
              </a:spcAft>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Conduct exit meeting with process owners.</a:t>
            </a:r>
          </a:p>
          <a:p>
            <a:pPr marL="171450" indent="-171450" defTabSz="1018824" fontAlgn="base">
              <a:spcBef>
                <a:spcPct val="0"/>
              </a:spcBef>
              <a:spcAft>
                <a:spcPct val="0"/>
              </a:spcAft>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Issuance of final report to management.</a:t>
            </a:r>
          </a:p>
        </p:txBody>
      </p:sp>
      <p:sp>
        <p:nvSpPr>
          <p:cNvPr id="39" name="TextBox 38">
            <a:extLst>
              <a:ext uri="{FF2B5EF4-FFF2-40B4-BE49-F238E27FC236}">
                <a16:creationId xmlns:a16="http://schemas.microsoft.com/office/drawing/2014/main" id="{78CD4593-9FF3-D268-19D7-4AC54147627B}"/>
              </a:ext>
            </a:extLst>
          </p:cNvPr>
          <p:cNvSpPr txBox="1"/>
          <p:nvPr/>
        </p:nvSpPr>
        <p:spPr>
          <a:xfrm>
            <a:off x="4926088" y="5480642"/>
            <a:ext cx="5043179" cy="329962"/>
          </a:xfrm>
          <a:prstGeom prst="rect">
            <a:avLst/>
          </a:prstGeom>
          <a:solidFill>
            <a:sysClr val="window" lastClr="FFFFFF"/>
          </a:solidFill>
        </p:spPr>
        <p:txBody>
          <a:bodyPr wrap="square" rtlCol="0" anchor="ctr" anchorCtr="0">
            <a:spAutoFit/>
          </a:bodyPr>
          <a:lstStyle/>
          <a:p>
            <a:pPr defTabSz="914400">
              <a:defRPr/>
            </a:pPr>
            <a:r>
              <a:rPr lang="en-US" sz="1544" b="1" kern="0" spc="122" dirty="0">
                <a:solidFill>
                  <a:srgbClr val="323232"/>
                </a:solidFill>
                <a:latin typeface="Bebas Neue" pitchFamily="2" charset="0"/>
                <a:ea typeface="League Spartan" charset="0"/>
                <a:cs typeface="Poppins" pitchFamily="2" charset="77"/>
              </a:rPr>
              <a:t>KNOWLEDGE TRANSFER</a:t>
            </a:r>
          </a:p>
        </p:txBody>
      </p:sp>
      <p:sp>
        <p:nvSpPr>
          <p:cNvPr id="40" name="Rectangle 39">
            <a:extLst>
              <a:ext uri="{FF2B5EF4-FFF2-40B4-BE49-F238E27FC236}">
                <a16:creationId xmlns:a16="http://schemas.microsoft.com/office/drawing/2014/main" id="{26B33438-8D3C-5F26-BF34-54E0E047B011}"/>
              </a:ext>
            </a:extLst>
          </p:cNvPr>
          <p:cNvSpPr/>
          <p:nvPr/>
        </p:nvSpPr>
        <p:spPr>
          <a:xfrm>
            <a:off x="4934511" y="5740151"/>
            <a:ext cx="5361760" cy="461665"/>
          </a:xfrm>
          <a:prstGeom prst="rect">
            <a:avLst/>
          </a:prstGeom>
          <a:solidFill>
            <a:sysClr val="window" lastClr="FFFFFF"/>
          </a:solidFill>
        </p:spPr>
        <p:txBody>
          <a:bodyPr wrap="square">
            <a:spAutoFit/>
          </a:bodyPr>
          <a:lstStyle/>
          <a:p>
            <a:pPr marL="171450" indent="-171450" defTabSz="1018824" fontAlgn="base">
              <a:spcBef>
                <a:spcPct val="0"/>
              </a:spcBef>
              <a:spcAft>
                <a:spcPct val="0"/>
              </a:spcAft>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Presentation of final report. </a:t>
            </a:r>
          </a:p>
          <a:p>
            <a:pPr marL="171450" indent="-171450" defTabSz="1018824" fontAlgn="base">
              <a:spcBef>
                <a:spcPct val="0"/>
              </a:spcBef>
              <a:spcAft>
                <a:spcPct val="0"/>
              </a:spcAft>
              <a:buClr>
                <a:srgbClr val="9F2936"/>
              </a:buClr>
              <a:buSzPct val="90000"/>
              <a:buFont typeface="Wingdings" panose="05000000000000000000" pitchFamily="2" charset="2"/>
              <a:buChar char="§"/>
              <a:defRPr/>
            </a:pPr>
            <a:r>
              <a:rPr lang="en-US" sz="1200" dirty="0">
                <a:solidFill>
                  <a:prstClr val="black"/>
                </a:solidFill>
                <a:latin typeface="Roboto" panose="02000000000000000000" pitchFamily="2" charset="0"/>
                <a:ea typeface="Roboto" panose="02000000000000000000" pitchFamily="2" charset="0"/>
                <a:cs typeface="Roboto" panose="02000000000000000000" pitchFamily="2" charset="0"/>
              </a:rPr>
              <a:t>Post-implementation or follow-up reviews.</a:t>
            </a:r>
          </a:p>
        </p:txBody>
      </p:sp>
      <p:sp>
        <p:nvSpPr>
          <p:cNvPr id="41" name="TextBox 40">
            <a:extLst>
              <a:ext uri="{FF2B5EF4-FFF2-40B4-BE49-F238E27FC236}">
                <a16:creationId xmlns:a16="http://schemas.microsoft.com/office/drawing/2014/main" id="{485C2C28-2BA9-2F94-7689-5BF1617BC419}"/>
              </a:ext>
            </a:extLst>
          </p:cNvPr>
          <p:cNvSpPr txBox="1"/>
          <p:nvPr/>
        </p:nvSpPr>
        <p:spPr>
          <a:xfrm>
            <a:off x="4370386" y="2240281"/>
            <a:ext cx="288862" cy="338554"/>
          </a:xfrm>
          <a:prstGeom prst="rect">
            <a:avLst/>
          </a:prstGeom>
          <a:noFill/>
        </p:spPr>
        <p:txBody>
          <a:bodyPr wrap="square" rtlCol="0" anchor="ctr">
            <a:spAutoFit/>
          </a:bodyPr>
          <a:lstStyle/>
          <a:p>
            <a:pPr algn="ctr">
              <a:defRPr/>
            </a:pPr>
            <a:r>
              <a:rPr lang="en-US" sz="1600" b="1" dirty="0">
                <a:solidFill>
                  <a:prstClr val="white"/>
                </a:solidFill>
                <a:latin typeface="Poppins" pitchFamily="2" charset="77"/>
                <a:cs typeface="Poppins" pitchFamily="2" charset="77"/>
              </a:rPr>
              <a:t>2</a:t>
            </a:r>
          </a:p>
        </p:txBody>
      </p:sp>
      <p:sp>
        <p:nvSpPr>
          <p:cNvPr id="42" name="Hexagon 41">
            <a:extLst>
              <a:ext uri="{FF2B5EF4-FFF2-40B4-BE49-F238E27FC236}">
                <a16:creationId xmlns:a16="http://schemas.microsoft.com/office/drawing/2014/main" id="{43448573-57E2-618F-2A4A-2A83DAE91FF0}"/>
              </a:ext>
            </a:extLst>
          </p:cNvPr>
          <p:cNvSpPr/>
          <p:nvPr/>
        </p:nvSpPr>
        <p:spPr>
          <a:xfrm rot="5400000">
            <a:off x="4168390" y="1219005"/>
            <a:ext cx="661239" cy="622364"/>
          </a:xfrm>
          <a:prstGeom prst="hexagon">
            <a:avLst/>
          </a:prstGeom>
          <a:solidFill>
            <a:srgbClr val="F07F09"/>
          </a:solidFill>
          <a:ln w="22225" cap="rnd" cmpd="sng" algn="ctr">
            <a:noFill/>
            <a:prstDash val="solid"/>
          </a:ln>
          <a:effectLst/>
        </p:spPr>
        <p:txBody>
          <a:bodyPr rtlCol="0" anchor="ctr"/>
          <a:lstStyle/>
          <a:p>
            <a:pPr algn="ctr" defTabSz="914400">
              <a:defRPr/>
            </a:pPr>
            <a:endParaRPr lang="en-US" kern="0" dirty="0">
              <a:solidFill>
                <a:prstClr val="white"/>
              </a:solidFill>
              <a:latin typeface="Lato Light" panose="020F0502020204030203" pitchFamily="34" charset="0"/>
            </a:endParaRPr>
          </a:p>
        </p:txBody>
      </p:sp>
      <p:sp>
        <p:nvSpPr>
          <p:cNvPr id="43" name="TextBox 42">
            <a:extLst>
              <a:ext uri="{FF2B5EF4-FFF2-40B4-BE49-F238E27FC236}">
                <a16:creationId xmlns:a16="http://schemas.microsoft.com/office/drawing/2014/main" id="{B3BDABBD-012B-6194-520B-BD985AD66E9A}"/>
              </a:ext>
            </a:extLst>
          </p:cNvPr>
          <p:cNvSpPr txBox="1"/>
          <p:nvPr/>
        </p:nvSpPr>
        <p:spPr>
          <a:xfrm>
            <a:off x="4344406" y="1346992"/>
            <a:ext cx="288862" cy="338554"/>
          </a:xfrm>
          <a:prstGeom prst="rect">
            <a:avLst/>
          </a:prstGeom>
          <a:noFill/>
        </p:spPr>
        <p:txBody>
          <a:bodyPr wrap="square" rtlCol="0" anchor="ctr">
            <a:spAutoFit/>
          </a:bodyPr>
          <a:lstStyle/>
          <a:p>
            <a:pPr algn="ctr">
              <a:defRPr/>
            </a:pPr>
            <a:r>
              <a:rPr lang="en-US" sz="1600" b="1" dirty="0">
                <a:solidFill>
                  <a:prstClr val="white"/>
                </a:solidFill>
                <a:latin typeface="Poppins" pitchFamily="2" charset="77"/>
                <a:cs typeface="Poppins" pitchFamily="2" charset="77"/>
              </a:rPr>
              <a:t>1</a:t>
            </a:r>
          </a:p>
        </p:txBody>
      </p:sp>
      <p:sp>
        <p:nvSpPr>
          <p:cNvPr id="44" name="Hexagon 43">
            <a:extLst>
              <a:ext uri="{FF2B5EF4-FFF2-40B4-BE49-F238E27FC236}">
                <a16:creationId xmlns:a16="http://schemas.microsoft.com/office/drawing/2014/main" id="{3B599BA0-5FC2-72AB-DFA6-3BCE37512B70}"/>
              </a:ext>
            </a:extLst>
          </p:cNvPr>
          <p:cNvSpPr/>
          <p:nvPr/>
        </p:nvSpPr>
        <p:spPr>
          <a:xfrm rot="5400000">
            <a:off x="4176991" y="2079684"/>
            <a:ext cx="661239" cy="622364"/>
          </a:xfrm>
          <a:prstGeom prst="hexagon">
            <a:avLst/>
          </a:prstGeom>
          <a:solidFill>
            <a:srgbClr val="9F2936"/>
          </a:solidFill>
          <a:ln w="22225" cap="rnd" cmpd="sng" algn="ctr">
            <a:noFill/>
            <a:prstDash val="solid"/>
          </a:ln>
          <a:effectLst/>
        </p:spPr>
        <p:txBody>
          <a:bodyPr rtlCol="0" anchor="ctr"/>
          <a:lstStyle/>
          <a:p>
            <a:pPr algn="ctr" defTabSz="914400">
              <a:defRPr/>
            </a:pPr>
            <a:endParaRPr lang="en-US" kern="0" dirty="0">
              <a:solidFill>
                <a:prstClr val="white"/>
              </a:solidFill>
              <a:latin typeface="Lato Light" panose="020F0502020204030203" pitchFamily="34" charset="0"/>
            </a:endParaRPr>
          </a:p>
        </p:txBody>
      </p:sp>
      <p:sp>
        <p:nvSpPr>
          <p:cNvPr id="45" name="TextBox 44">
            <a:extLst>
              <a:ext uri="{FF2B5EF4-FFF2-40B4-BE49-F238E27FC236}">
                <a16:creationId xmlns:a16="http://schemas.microsoft.com/office/drawing/2014/main" id="{6C031372-A117-656E-75D7-763FB3827BB1}"/>
              </a:ext>
            </a:extLst>
          </p:cNvPr>
          <p:cNvSpPr txBox="1"/>
          <p:nvPr/>
        </p:nvSpPr>
        <p:spPr>
          <a:xfrm>
            <a:off x="4353007" y="2207671"/>
            <a:ext cx="288862" cy="338554"/>
          </a:xfrm>
          <a:prstGeom prst="rect">
            <a:avLst/>
          </a:prstGeom>
          <a:noFill/>
        </p:spPr>
        <p:txBody>
          <a:bodyPr wrap="square" rtlCol="0" anchor="ctr">
            <a:spAutoFit/>
          </a:bodyPr>
          <a:lstStyle/>
          <a:p>
            <a:pPr algn="ctr">
              <a:defRPr/>
            </a:pPr>
            <a:r>
              <a:rPr lang="en-US" sz="1600" b="1" dirty="0">
                <a:solidFill>
                  <a:prstClr val="white"/>
                </a:solidFill>
                <a:latin typeface="Poppins" pitchFamily="2" charset="77"/>
                <a:cs typeface="Poppins" pitchFamily="2" charset="77"/>
              </a:rPr>
              <a:t>2</a:t>
            </a:r>
          </a:p>
        </p:txBody>
      </p:sp>
      <p:sp>
        <p:nvSpPr>
          <p:cNvPr id="46" name="Hexagon 45">
            <a:extLst>
              <a:ext uri="{FF2B5EF4-FFF2-40B4-BE49-F238E27FC236}">
                <a16:creationId xmlns:a16="http://schemas.microsoft.com/office/drawing/2014/main" id="{19A99DA8-0C12-2872-7DEF-6CEF3577881C}"/>
              </a:ext>
            </a:extLst>
          </p:cNvPr>
          <p:cNvSpPr/>
          <p:nvPr/>
        </p:nvSpPr>
        <p:spPr>
          <a:xfrm rot="5400000">
            <a:off x="4185413" y="3289565"/>
            <a:ext cx="661239" cy="622364"/>
          </a:xfrm>
          <a:prstGeom prst="hexagon">
            <a:avLst/>
          </a:prstGeom>
          <a:solidFill>
            <a:srgbClr val="1B587C"/>
          </a:solidFill>
          <a:ln w="22225" cap="rnd" cmpd="sng" algn="ctr">
            <a:noFill/>
            <a:prstDash val="solid"/>
          </a:ln>
          <a:effectLst/>
        </p:spPr>
        <p:txBody>
          <a:bodyPr rtlCol="0" anchor="ctr"/>
          <a:lstStyle/>
          <a:p>
            <a:pPr algn="ctr" defTabSz="914400">
              <a:defRPr/>
            </a:pPr>
            <a:endParaRPr lang="en-US" kern="0" dirty="0">
              <a:solidFill>
                <a:prstClr val="white"/>
              </a:solidFill>
              <a:latin typeface="Lato Light" panose="020F0502020204030203" pitchFamily="34" charset="0"/>
            </a:endParaRPr>
          </a:p>
        </p:txBody>
      </p:sp>
      <p:sp>
        <p:nvSpPr>
          <p:cNvPr id="47" name="TextBox 46">
            <a:extLst>
              <a:ext uri="{FF2B5EF4-FFF2-40B4-BE49-F238E27FC236}">
                <a16:creationId xmlns:a16="http://schemas.microsoft.com/office/drawing/2014/main" id="{1119EB97-B5D7-5582-7F49-2F99BECA27F8}"/>
              </a:ext>
            </a:extLst>
          </p:cNvPr>
          <p:cNvSpPr txBox="1"/>
          <p:nvPr/>
        </p:nvSpPr>
        <p:spPr>
          <a:xfrm>
            <a:off x="4361429" y="3417552"/>
            <a:ext cx="288862" cy="338554"/>
          </a:xfrm>
          <a:prstGeom prst="rect">
            <a:avLst/>
          </a:prstGeom>
          <a:noFill/>
        </p:spPr>
        <p:txBody>
          <a:bodyPr wrap="square" rtlCol="0" anchor="ctr">
            <a:spAutoFit/>
          </a:bodyPr>
          <a:lstStyle/>
          <a:p>
            <a:pPr algn="ctr">
              <a:defRPr/>
            </a:pPr>
            <a:r>
              <a:rPr lang="en-US" sz="1600" b="1" dirty="0">
                <a:solidFill>
                  <a:prstClr val="white"/>
                </a:solidFill>
                <a:latin typeface="Poppins" pitchFamily="2" charset="77"/>
                <a:cs typeface="Poppins" pitchFamily="2" charset="77"/>
              </a:rPr>
              <a:t>3</a:t>
            </a:r>
          </a:p>
        </p:txBody>
      </p:sp>
      <p:sp>
        <p:nvSpPr>
          <p:cNvPr id="48" name="Hexagon 47">
            <a:extLst>
              <a:ext uri="{FF2B5EF4-FFF2-40B4-BE49-F238E27FC236}">
                <a16:creationId xmlns:a16="http://schemas.microsoft.com/office/drawing/2014/main" id="{AB61D962-5A26-7C68-F04A-BEE52678CE1D}"/>
              </a:ext>
            </a:extLst>
          </p:cNvPr>
          <p:cNvSpPr/>
          <p:nvPr/>
        </p:nvSpPr>
        <p:spPr>
          <a:xfrm rot="5400000">
            <a:off x="4168389" y="4515294"/>
            <a:ext cx="661239" cy="622364"/>
          </a:xfrm>
          <a:prstGeom prst="hexagon">
            <a:avLst/>
          </a:prstGeom>
          <a:solidFill>
            <a:srgbClr val="604878"/>
          </a:solidFill>
          <a:ln w="22225" cap="rnd" cmpd="sng" algn="ctr">
            <a:noFill/>
            <a:prstDash val="solid"/>
          </a:ln>
          <a:effectLst/>
        </p:spPr>
        <p:txBody>
          <a:bodyPr rtlCol="0" anchor="ctr"/>
          <a:lstStyle/>
          <a:p>
            <a:pPr algn="ctr" defTabSz="914400">
              <a:defRPr/>
            </a:pPr>
            <a:endParaRPr lang="en-US" kern="0" dirty="0">
              <a:solidFill>
                <a:prstClr val="white"/>
              </a:solidFill>
              <a:latin typeface="Lato Light" panose="020F0502020204030203" pitchFamily="34" charset="0"/>
            </a:endParaRPr>
          </a:p>
        </p:txBody>
      </p:sp>
      <p:sp>
        <p:nvSpPr>
          <p:cNvPr id="49" name="TextBox 48">
            <a:extLst>
              <a:ext uri="{FF2B5EF4-FFF2-40B4-BE49-F238E27FC236}">
                <a16:creationId xmlns:a16="http://schemas.microsoft.com/office/drawing/2014/main" id="{EF1ED901-78B8-3564-D528-1B04346D7CA4}"/>
              </a:ext>
            </a:extLst>
          </p:cNvPr>
          <p:cNvSpPr txBox="1"/>
          <p:nvPr/>
        </p:nvSpPr>
        <p:spPr>
          <a:xfrm>
            <a:off x="4344405" y="4643281"/>
            <a:ext cx="288862" cy="338554"/>
          </a:xfrm>
          <a:prstGeom prst="rect">
            <a:avLst/>
          </a:prstGeom>
          <a:noFill/>
        </p:spPr>
        <p:txBody>
          <a:bodyPr wrap="square" rtlCol="0" anchor="ctr">
            <a:spAutoFit/>
          </a:bodyPr>
          <a:lstStyle/>
          <a:p>
            <a:pPr algn="ctr">
              <a:defRPr/>
            </a:pPr>
            <a:r>
              <a:rPr lang="en-US" sz="1600" b="1" dirty="0">
                <a:solidFill>
                  <a:prstClr val="white"/>
                </a:solidFill>
                <a:latin typeface="Poppins" pitchFamily="2" charset="77"/>
                <a:cs typeface="Poppins" pitchFamily="2" charset="77"/>
              </a:rPr>
              <a:t>4</a:t>
            </a:r>
          </a:p>
        </p:txBody>
      </p:sp>
      <p:sp>
        <p:nvSpPr>
          <p:cNvPr id="50" name="Hexagon 49">
            <a:extLst>
              <a:ext uri="{FF2B5EF4-FFF2-40B4-BE49-F238E27FC236}">
                <a16:creationId xmlns:a16="http://schemas.microsoft.com/office/drawing/2014/main" id="{6D18E412-B72A-83BB-DFCB-1140B26E9306}"/>
              </a:ext>
            </a:extLst>
          </p:cNvPr>
          <p:cNvSpPr/>
          <p:nvPr/>
        </p:nvSpPr>
        <p:spPr>
          <a:xfrm rot="5400000">
            <a:off x="4159965" y="5547364"/>
            <a:ext cx="661239" cy="622364"/>
          </a:xfrm>
          <a:prstGeom prst="hexagon">
            <a:avLst/>
          </a:prstGeom>
          <a:solidFill>
            <a:srgbClr val="008000"/>
          </a:solidFill>
          <a:ln w="22225" cap="rnd" cmpd="sng" algn="ctr">
            <a:noFill/>
            <a:prstDash val="solid"/>
          </a:ln>
          <a:effectLst/>
        </p:spPr>
        <p:txBody>
          <a:bodyPr rtlCol="0" anchor="ctr"/>
          <a:lstStyle/>
          <a:p>
            <a:pPr algn="ctr" defTabSz="914400">
              <a:defRPr/>
            </a:pPr>
            <a:endParaRPr lang="en-US" kern="0" dirty="0">
              <a:solidFill>
                <a:prstClr val="white"/>
              </a:solidFill>
              <a:latin typeface="Lato Light" panose="020F0502020204030203" pitchFamily="34" charset="0"/>
            </a:endParaRPr>
          </a:p>
        </p:txBody>
      </p:sp>
      <p:sp>
        <p:nvSpPr>
          <p:cNvPr id="51" name="TextBox 50">
            <a:extLst>
              <a:ext uri="{FF2B5EF4-FFF2-40B4-BE49-F238E27FC236}">
                <a16:creationId xmlns:a16="http://schemas.microsoft.com/office/drawing/2014/main" id="{CAA8E8A4-6116-A9F9-E468-1C9B1BAE8597}"/>
              </a:ext>
            </a:extLst>
          </p:cNvPr>
          <p:cNvSpPr txBox="1"/>
          <p:nvPr/>
        </p:nvSpPr>
        <p:spPr>
          <a:xfrm>
            <a:off x="4335981" y="5675351"/>
            <a:ext cx="288862" cy="338554"/>
          </a:xfrm>
          <a:prstGeom prst="rect">
            <a:avLst/>
          </a:prstGeom>
          <a:noFill/>
        </p:spPr>
        <p:txBody>
          <a:bodyPr wrap="square" rtlCol="0" anchor="ctr">
            <a:spAutoFit/>
          </a:bodyPr>
          <a:lstStyle/>
          <a:p>
            <a:pPr algn="ctr">
              <a:defRPr/>
            </a:pPr>
            <a:r>
              <a:rPr lang="en-US" sz="1600" b="1" dirty="0">
                <a:solidFill>
                  <a:prstClr val="white"/>
                </a:solidFill>
                <a:latin typeface="Poppins" pitchFamily="2" charset="77"/>
                <a:cs typeface="Poppins" pitchFamily="2" charset="77"/>
              </a:rPr>
              <a:t>5</a:t>
            </a:r>
          </a:p>
        </p:txBody>
      </p:sp>
    </p:spTree>
    <p:extLst>
      <p:ext uri="{BB962C8B-B14F-4D97-AF65-F5344CB8AC3E}">
        <p14:creationId xmlns:p14="http://schemas.microsoft.com/office/powerpoint/2010/main" val="865249787"/>
      </p:ext>
    </p:extLst>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250EE-1C8D-669D-A73D-B475BEFCC297}"/>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A99188F-0C45-70CD-E139-BAC3403F0CE3}"/>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21DEE9D-0574-EA27-F144-BA74B1C0836E}"/>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DB4ECF22-D8DB-672B-8E64-B41C0B2350F7}"/>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a:t>
            </a:r>
          </a:p>
        </p:txBody>
      </p:sp>
      <p:graphicFrame>
        <p:nvGraphicFramePr>
          <p:cNvPr id="2" name="Content Placeholder 3">
            <a:extLst>
              <a:ext uri="{FF2B5EF4-FFF2-40B4-BE49-F238E27FC236}">
                <a16:creationId xmlns:a16="http://schemas.microsoft.com/office/drawing/2014/main" id="{D6A6E95E-4235-B075-44F9-E8B0187B0A34}"/>
              </a:ext>
            </a:extLst>
          </p:cNvPr>
          <p:cNvGraphicFramePr>
            <a:graphicFrameLocks/>
          </p:cNvGraphicFramePr>
          <p:nvPr>
            <p:extLst>
              <p:ext uri="{D42A27DB-BD31-4B8C-83A1-F6EECF244321}">
                <p14:modId xmlns:p14="http://schemas.microsoft.com/office/powerpoint/2010/main" val="1547302264"/>
              </p:ext>
            </p:extLst>
          </p:nvPr>
        </p:nvGraphicFramePr>
        <p:xfrm>
          <a:off x="598542" y="992642"/>
          <a:ext cx="11355979" cy="5303520"/>
        </p:xfrm>
        <a:graphic>
          <a:graphicData uri="http://schemas.openxmlformats.org/drawingml/2006/table">
            <a:tbl>
              <a:tblPr firstRow="1" bandRow="1">
                <a:tableStyleId>{5C22544A-7EE6-4342-B048-85BDC9FD1C3A}</a:tableStyleId>
              </a:tblPr>
              <a:tblGrid>
                <a:gridCol w="1737034">
                  <a:extLst>
                    <a:ext uri="{9D8B030D-6E8A-4147-A177-3AD203B41FA5}">
                      <a16:colId xmlns:a16="http://schemas.microsoft.com/office/drawing/2014/main" val="3262952809"/>
                    </a:ext>
                  </a:extLst>
                </a:gridCol>
                <a:gridCol w="9618945">
                  <a:extLst>
                    <a:ext uri="{9D8B030D-6E8A-4147-A177-3AD203B41FA5}">
                      <a16:colId xmlns:a16="http://schemas.microsoft.com/office/drawing/2014/main" val="20001"/>
                    </a:ext>
                  </a:extLst>
                </a:gridCol>
              </a:tblGrid>
              <a:tr h="2415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Roboto" panose="02000000000000000000" pitchFamily="2" charset="0"/>
                          <a:ea typeface="Roboto" panose="02000000000000000000" pitchFamily="2" charset="0"/>
                          <a:cs typeface="Arial" panose="020B0604020202020204" pitchFamily="34" charset="0"/>
                        </a:rPr>
                        <a:t>Focus </a:t>
                      </a:r>
                      <a:r>
                        <a:rPr lang="en-US" sz="1400" dirty="0">
                          <a:latin typeface="Roboto" panose="02000000000000000000" pitchFamily="2" charset="0"/>
                          <a:ea typeface="Roboto" panose="02000000000000000000" pitchFamily="2" charset="0"/>
                          <a:cs typeface="Arial" panose="020B0604020202020204" pitchFamily="34" charset="0"/>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lvl="0" indent="0" algn="ctr" defTabSz="742931" rtl="0" eaLnBrk="1" fontAlgn="auto" latinLnBrk="0" hangingPunct="1">
                        <a:lnSpc>
                          <a:spcPct val="100000"/>
                        </a:lnSpc>
                        <a:spcBef>
                          <a:spcPts val="0"/>
                        </a:spcBef>
                        <a:spcAft>
                          <a:spcPts val="0"/>
                        </a:spcAft>
                        <a:buClrTx/>
                        <a:buSzTx/>
                        <a:buFontTx/>
                        <a:buNone/>
                        <a:tabLst/>
                        <a:defRPr/>
                      </a:pPr>
                      <a:r>
                        <a:rPr lang="en-US" sz="1400" dirty="0">
                          <a:latin typeface="Roboto" panose="02000000000000000000" pitchFamily="2" charset="0"/>
                          <a:ea typeface="Roboto" panose="02000000000000000000" pitchFamily="2" charset="0"/>
                          <a:cs typeface="Arial" panose="020B0604020202020204" pitchFamily="34" charset="0"/>
                        </a:rPr>
                        <a:t>Audit Procedures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4130993">
                <a:tc>
                  <a:txBody>
                    <a:bodyPr/>
                    <a:lstStyle/>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r>
                        <a:rPr lang="en-US" sz="1400" b="1" kern="1200" baseline="0" dirty="0">
                          <a:solidFill>
                            <a:schemeClr val="dk1"/>
                          </a:solidFill>
                          <a:latin typeface="Roboto" panose="02000000000000000000" pitchFamily="2" charset="0"/>
                          <a:ea typeface="Roboto" panose="02000000000000000000" pitchFamily="2" charset="0"/>
                          <a:cs typeface="Arial" pitchFamily="34" charset="0"/>
                        </a:rPr>
                        <a:t>1. Compliance with Regulatory Framework and Governance Best Practices</a:t>
                      </a: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Review of compliance with the following relevant sections of the Regulations: </a:t>
                      </a:r>
                    </a:p>
                    <a:p>
                      <a:pPr marL="285750" marR="0" lvl="0" indent="-28575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Charities Act (cap 37) </a:t>
                      </a:r>
                    </a:p>
                    <a:p>
                      <a:pPr marL="628650" marR="0" lvl="1"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Part IV Charity Accounts, Reports and Returns </a:t>
                      </a:r>
                    </a:p>
                    <a:p>
                      <a:pPr marL="1085850" marR="0" lvl="2"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Duty to keep Accounting Records </a:t>
                      </a:r>
                    </a:p>
                    <a:p>
                      <a:pPr marL="1085850" marR="0" lvl="2"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Financial Statements </a:t>
                      </a:r>
                    </a:p>
                    <a:p>
                      <a:pPr marL="1085850" marR="0" lvl="2"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Annual Audit </a:t>
                      </a:r>
                    </a:p>
                    <a:p>
                      <a:pPr marL="1085850" marR="0" lvl="2"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Annual Reports </a:t>
                      </a:r>
                    </a:p>
                    <a:p>
                      <a:pPr marL="285750" marR="0" lvl="0" indent="-28575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Charities (Registration of Charities) Regulations </a:t>
                      </a:r>
                    </a:p>
                    <a:p>
                      <a:pPr marL="628650" marR="0" lvl="1"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Provisions relating to registered charities </a:t>
                      </a:r>
                    </a:p>
                    <a:p>
                      <a:pPr marL="285750" marR="0" lvl="0" indent="-28575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Charities (Accounts and Annual Report) Regulations</a:t>
                      </a:r>
                    </a:p>
                    <a:p>
                      <a:pPr marL="628650" marR="0" lvl="1"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Annual Report </a:t>
                      </a:r>
                    </a:p>
                    <a:p>
                      <a:pPr marL="285750" marR="0" lvl="0" indent="-28575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Charities (Institutions of A Public Character) Regulations Part IV Reporting and Disclosure Requirements </a:t>
                      </a:r>
                    </a:p>
                    <a:p>
                      <a:pPr marL="628650" marR="0" lvl="1"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Duty to furnish documents </a:t>
                      </a:r>
                    </a:p>
                    <a:p>
                      <a:pPr marL="628650" marR="0" lvl="1"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Requirements relating to financial statements and audits </a:t>
                      </a:r>
                    </a:p>
                    <a:p>
                      <a:pPr marL="285750" marR="0" lvl="0" indent="-28575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Charities (Institutions of A Public Character) Regulations </a:t>
                      </a:r>
                    </a:p>
                    <a:p>
                      <a:pPr marL="628650" marR="0" lvl="1"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Extension of approval of institution of a public character</a:t>
                      </a: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Review the key processes and internal controls in place to ensure compliance with the relevant laws and regulations.</a:t>
                      </a: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Assess the level of compliance of the corporate governance of the charities and/ or IPCs as stipulated in the relevant provisions in the Regulations.</a:t>
                      </a: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Report on the current state of governance/ management structures in the charities and/ or IPCs, and the extent to which existing structures comply with the Regulations.</a:t>
                      </a: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Arial" pitchFamily="34" charset="0"/>
                        </a:rPr>
                        <a:t>Take reference from the Code of Governance (“the Code”) applicable to the Charities and /IPC according to the applicable Tiers as defined in the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27364870"/>
                  </a:ext>
                </a:extLst>
              </a:tr>
            </a:tbl>
          </a:graphicData>
        </a:graphic>
      </p:graphicFrame>
    </p:spTree>
    <p:extLst>
      <p:ext uri="{BB962C8B-B14F-4D97-AF65-F5344CB8AC3E}">
        <p14:creationId xmlns:p14="http://schemas.microsoft.com/office/powerpoint/2010/main" val="2114664912"/>
      </p:ext>
    </p:extLst>
  </p:cSld>
  <p:clrMapOvr>
    <a:masterClrMapping/>
  </p:clrMapOvr>
  <p:transition spd="slow">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066E7-BA54-ACEE-4B13-324C176388FE}"/>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71E62FA-7C38-5397-42DC-BEFBFC9EF26F}"/>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D9F1E34F-17A8-F86B-6947-82F2EC1D65BB}"/>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F9FA324E-6B47-D1E7-F41F-8BBD84FE963D}"/>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a:t>
            </a:r>
          </a:p>
        </p:txBody>
      </p:sp>
      <p:graphicFrame>
        <p:nvGraphicFramePr>
          <p:cNvPr id="2" name="Content Placeholder 3">
            <a:extLst>
              <a:ext uri="{FF2B5EF4-FFF2-40B4-BE49-F238E27FC236}">
                <a16:creationId xmlns:a16="http://schemas.microsoft.com/office/drawing/2014/main" id="{9FAEE901-6AEF-F2EB-F1C4-8A41345244D7}"/>
              </a:ext>
            </a:extLst>
          </p:cNvPr>
          <p:cNvGraphicFramePr>
            <a:graphicFrameLocks/>
          </p:cNvGraphicFramePr>
          <p:nvPr>
            <p:extLst>
              <p:ext uri="{D42A27DB-BD31-4B8C-83A1-F6EECF244321}">
                <p14:modId xmlns:p14="http://schemas.microsoft.com/office/powerpoint/2010/main" val="3878510831"/>
              </p:ext>
            </p:extLst>
          </p:nvPr>
        </p:nvGraphicFramePr>
        <p:xfrm>
          <a:off x="771099" y="1223996"/>
          <a:ext cx="10862713" cy="3393512"/>
        </p:xfrm>
        <a:graphic>
          <a:graphicData uri="http://schemas.openxmlformats.org/drawingml/2006/table">
            <a:tbl>
              <a:tblPr firstRow="1" bandRow="1">
                <a:tableStyleId>{5C22544A-7EE6-4342-B048-85BDC9FD1C3A}</a:tableStyleId>
              </a:tblPr>
              <a:tblGrid>
                <a:gridCol w="2089639">
                  <a:extLst>
                    <a:ext uri="{9D8B030D-6E8A-4147-A177-3AD203B41FA5}">
                      <a16:colId xmlns:a16="http://schemas.microsoft.com/office/drawing/2014/main" val="3262952809"/>
                    </a:ext>
                  </a:extLst>
                </a:gridCol>
                <a:gridCol w="8773074">
                  <a:extLst>
                    <a:ext uri="{9D8B030D-6E8A-4147-A177-3AD203B41FA5}">
                      <a16:colId xmlns:a16="http://schemas.microsoft.com/office/drawing/2014/main" val="20001"/>
                    </a:ext>
                  </a:extLst>
                </a:gridCol>
              </a:tblGrid>
              <a:tr h="5283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Roboto" panose="02000000000000000000" pitchFamily="2" charset="0"/>
                          <a:ea typeface="Roboto" panose="02000000000000000000" pitchFamily="2" charset="0"/>
                          <a:cs typeface="Arial" panose="020B0604020202020204" pitchFamily="34" charset="0"/>
                        </a:rPr>
                        <a:t>Focus </a:t>
                      </a:r>
                      <a:r>
                        <a:rPr lang="en-US" sz="1400" dirty="0">
                          <a:latin typeface="Roboto" panose="02000000000000000000" pitchFamily="2" charset="0"/>
                          <a:ea typeface="Roboto" panose="02000000000000000000" pitchFamily="2" charset="0"/>
                          <a:cs typeface="Arial" panose="020B0604020202020204" pitchFamily="34" charset="0"/>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lvl="0" indent="0" algn="ctr" defTabSz="742931" rtl="0" eaLnBrk="1" fontAlgn="auto" latinLnBrk="0" hangingPunct="1">
                        <a:lnSpc>
                          <a:spcPct val="100000"/>
                        </a:lnSpc>
                        <a:spcBef>
                          <a:spcPts val="0"/>
                        </a:spcBef>
                        <a:spcAft>
                          <a:spcPts val="0"/>
                        </a:spcAft>
                        <a:buClrTx/>
                        <a:buSzTx/>
                        <a:buFontTx/>
                        <a:buNone/>
                        <a:tabLst/>
                        <a:defRPr/>
                      </a:pPr>
                      <a:r>
                        <a:rPr lang="en-US" sz="1400" dirty="0">
                          <a:latin typeface="Roboto" panose="02000000000000000000" pitchFamily="2" charset="0"/>
                          <a:ea typeface="Roboto" panose="02000000000000000000" pitchFamily="2" charset="0"/>
                          <a:cs typeface="Arial" panose="020B0604020202020204" pitchFamily="34" charset="0"/>
                        </a:rPr>
                        <a:t>Audit Procedures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2819612">
                <a:tc>
                  <a:txBody>
                    <a:bodyPr/>
                    <a:lstStyle/>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r>
                        <a:rPr lang="en-US" sz="1400" b="1" kern="1200" baseline="0" dirty="0">
                          <a:solidFill>
                            <a:schemeClr val="dk1"/>
                          </a:solidFill>
                          <a:latin typeface="Roboto" panose="02000000000000000000" pitchFamily="2" charset="0"/>
                          <a:ea typeface="Roboto" panose="02000000000000000000" pitchFamily="2" charset="0"/>
                          <a:cs typeface="Arial" pitchFamily="34" charset="0"/>
                        </a:rPr>
                        <a:t>2. Procurement and Payments</a:t>
                      </a: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225425" indent="-225425" algn="just">
                        <a:buFont typeface="Wingdings" pitchFamily="2" charset="2"/>
                        <a:buChar char="§"/>
                      </a:pPr>
                      <a:r>
                        <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Perform an end-to-end review on the procurement and payments process for all procurement types.</a:t>
                      </a:r>
                    </a:p>
                    <a:p>
                      <a:pPr marL="225425" indent="-225425" algn="just">
                        <a:buFont typeface="Wingdings" pitchFamily="2" charset="2"/>
                        <a:buChar char="§"/>
                      </a:pPr>
                      <a:r>
                        <a:rPr lang="en-US" sz="1400" baseline="0" dirty="0">
                          <a:latin typeface="Roboto" panose="02000000000000000000" pitchFamily="2" charset="0"/>
                          <a:ea typeface="Roboto" panose="02000000000000000000" pitchFamily="2" charset="0"/>
                          <a:cs typeface="Roboto" panose="02000000000000000000" pitchFamily="2" charset="0"/>
                        </a:rPr>
                        <a:t>Understand and evaluate key controls over purchases, in particular over the tendering, authorisation, and approval process.</a:t>
                      </a:r>
                    </a:p>
                    <a:p>
                      <a:pPr marL="225425" indent="-225425" algn="just">
                        <a:buFont typeface="Wingdings" pitchFamily="2" charset="2"/>
                        <a:buChar char="§"/>
                      </a:pPr>
                      <a:r>
                        <a:rPr lang="en-US" sz="1400" baseline="0" dirty="0">
                          <a:latin typeface="Roboto" panose="02000000000000000000" pitchFamily="2" charset="0"/>
                          <a:ea typeface="Roboto" panose="02000000000000000000" pitchFamily="2" charset="0"/>
                          <a:cs typeface="Roboto" panose="02000000000000000000" pitchFamily="2" charset="0"/>
                        </a:rPr>
                        <a:t>Review the internal control process over significant non-tender purchases.</a:t>
                      </a:r>
                      <a:endPar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225425" indent="-225425" algn="just">
                        <a:buFont typeface="Wingdings" pitchFamily="2" charset="2"/>
                        <a:buChar char="§"/>
                      </a:pPr>
                      <a:r>
                        <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Review the effectiveness of procurement procedures and access if they are processed in compliance to the applicable policies and procedures and to prescribed Financial Approval limits.</a:t>
                      </a:r>
                    </a:p>
                    <a:p>
                      <a:pPr marL="225425" indent="-225425" algn="just">
                        <a:buFont typeface="Wingdings" pitchFamily="2" charset="2"/>
                        <a:buChar char="§"/>
                      </a:pPr>
                      <a:r>
                        <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Review vendor evaluation process.</a:t>
                      </a:r>
                    </a:p>
                    <a:p>
                      <a:pPr algn="just"/>
                      <a:endParaRPr lang="en-US" sz="1400" b="0" u="sng" kern="1200" baseline="0" dirty="0">
                        <a:solidFill>
                          <a:schemeClr val="dk1"/>
                        </a:solidFill>
                        <a:latin typeface="Roboto" panose="02000000000000000000" pitchFamily="2" charset="0"/>
                        <a:ea typeface="Roboto" panose="02000000000000000000" pitchFamily="2" charset="0"/>
                        <a:cs typeface="Roboto" panose="02000000000000000000" pitchFamily="2" charset="0"/>
                      </a:endParaRPr>
                    </a:p>
                    <a:p>
                      <a:pPr algn="just"/>
                      <a:r>
                        <a:rPr lang="en-US" sz="1400" b="0" u="sng"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Use of Data Analytics (if feasible)</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Perform data extraction and analysis on procurement transactions to identify potential irregularities that might be fraudulent in nature (e.g. questionable payments; irregular transactions with vendors/suppliers; suspicious purchasing patterns; potential duplicate payments; split purchase orders; potential conflict of interests between staff and vendors/suppliers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3900627"/>
                  </a:ext>
                </a:extLst>
              </a:tr>
            </a:tbl>
          </a:graphicData>
        </a:graphic>
      </p:graphicFrame>
    </p:spTree>
    <p:extLst>
      <p:ext uri="{BB962C8B-B14F-4D97-AF65-F5344CB8AC3E}">
        <p14:creationId xmlns:p14="http://schemas.microsoft.com/office/powerpoint/2010/main" val="1022297256"/>
      </p:ext>
    </p:extLst>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B0701-7D41-CE63-AC05-815C168142B7}"/>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89AC23F-7A0E-4421-1317-3B040771898D}"/>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C069D31D-C72E-FD52-1DF4-99FD14B9ADAB}"/>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56D94CC1-6A86-A643-CAD3-90F79CE5A991}"/>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a:t>
            </a:r>
          </a:p>
        </p:txBody>
      </p:sp>
      <p:graphicFrame>
        <p:nvGraphicFramePr>
          <p:cNvPr id="2" name="Content Placeholder 3">
            <a:extLst>
              <a:ext uri="{FF2B5EF4-FFF2-40B4-BE49-F238E27FC236}">
                <a16:creationId xmlns:a16="http://schemas.microsoft.com/office/drawing/2014/main" id="{2F374294-754F-893E-6DC5-6903F7D402E8}"/>
              </a:ext>
            </a:extLst>
          </p:cNvPr>
          <p:cNvGraphicFramePr>
            <a:graphicFrameLocks/>
          </p:cNvGraphicFramePr>
          <p:nvPr>
            <p:extLst>
              <p:ext uri="{D42A27DB-BD31-4B8C-83A1-F6EECF244321}">
                <p14:modId xmlns:p14="http://schemas.microsoft.com/office/powerpoint/2010/main" val="3767664411"/>
              </p:ext>
            </p:extLst>
          </p:nvPr>
        </p:nvGraphicFramePr>
        <p:xfrm>
          <a:off x="605955" y="1003660"/>
          <a:ext cx="11183422" cy="4909573"/>
        </p:xfrm>
        <a:graphic>
          <a:graphicData uri="http://schemas.openxmlformats.org/drawingml/2006/table">
            <a:tbl>
              <a:tblPr firstRow="1" bandRow="1">
                <a:tableStyleId>{5C22544A-7EE6-4342-B048-85BDC9FD1C3A}</a:tableStyleId>
              </a:tblPr>
              <a:tblGrid>
                <a:gridCol w="1663520">
                  <a:extLst>
                    <a:ext uri="{9D8B030D-6E8A-4147-A177-3AD203B41FA5}">
                      <a16:colId xmlns:a16="http://schemas.microsoft.com/office/drawing/2014/main" val="3262952809"/>
                    </a:ext>
                  </a:extLst>
                </a:gridCol>
                <a:gridCol w="9519902">
                  <a:extLst>
                    <a:ext uri="{9D8B030D-6E8A-4147-A177-3AD203B41FA5}">
                      <a16:colId xmlns:a16="http://schemas.microsoft.com/office/drawing/2014/main" val="20001"/>
                    </a:ext>
                  </a:extLst>
                </a:gridCol>
              </a:tblGrid>
              <a:tr h="33757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Roboto" panose="02000000000000000000" pitchFamily="2" charset="0"/>
                          <a:ea typeface="Roboto" panose="02000000000000000000" pitchFamily="2" charset="0"/>
                          <a:cs typeface="Arial" panose="020B0604020202020204" pitchFamily="34" charset="0"/>
                        </a:rPr>
                        <a:t>Focus </a:t>
                      </a:r>
                      <a:r>
                        <a:rPr lang="en-US" sz="1400" dirty="0">
                          <a:latin typeface="Roboto" panose="02000000000000000000" pitchFamily="2" charset="0"/>
                          <a:ea typeface="Roboto" panose="02000000000000000000" pitchFamily="2" charset="0"/>
                          <a:cs typeface="Arial" panose="020B0604020202020204" pitchFamily="34" charset="0"/>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lvl="0" indent="0" algn="ctr" defTabSz="742931" rtl="0" eaLnBrk="1" fontAlgn="auto" latinLnBrk="0" hangingPunct="1">
                        <a:lnSpc>
                          <a:spcPct val="100000"/>
                        </a:lnSpc>
                        <a:spcBef>
                          <a:spcPts val="0"/>
                        </a:spcBef>
                        <a:spcAft>
                          <a:spcPts val="0"/>
                        </a:spcAft>
                        <a:buClrTx/>
                        <a:buSzTx/>
                        <a:buFontTx/>
                        <a:buNone/>
                        <a:tabLst/>
                        <a:defRPr/>
                      </a:pPr>
                      <a:r>
                        <a:rPr lang="en-US" sz="1400" dirty="0">
                          <a:latin typeface="Roboto" panose="02000000000000000000" pitchFamily="2" charset="0"/>
                          <a:ea typeface="Roboto" panose="02000000000000000000" pitchFamily="2" charset="0"/>
                          <a:cs typeface="Arial" panose="020B0604020202020204" pitchFamily="34" charset="0"/>
                        </a:rPr>
                        <a:t>Audit Procedures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4200253">
                <a:tc>
                  <a:txBody>
                    <a:bodyPr/>
                    <a:lstStyle/>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r>
                        <a:rPr lang="en-US" sz="1400" b="1" kern="1200" baseline="0" dirty="0">
                          <a:solidFill>
                            <a:schemeClr val="dk1"/>
                          </a:solidFill>
                          <a:latin typeface="Roboto" panose="02000000000000000000" pitchFamily="2" charset="0"/>
                          <a:ea typeface="Roboto" panose="02000000000000000000" pitchFamily="2" charset="0"/>
                          <a:cs typeface="Arial" pitchFamily="34" charset="0"/>
                        </a:rPr>
                        <a:t>3. Human Resources and Payroll Processes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rPr>
                        <a:t>Evaluate human resource policies and procedures for compliance to employee compliance of policies, standard procedures and applicable laws and regulations.</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rPr>
                        <a:t>Walkthrough and testing of the key controls to ensure controls are  operating effectively and consistently.</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rPr>
                        <a:t>Analyse and evaluate findings,  identifying opportunities for improvements in controls and its recommendation.</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endPar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marR="0" lvl="0" indent="0" algn="just" defTabSz="371475" rtl="0" eaLnBrk="1" fontAlgn="auto" latinLnBrk="0" hangingPunct="1">
                        <a:lnSpc>
                          <a:spcPct val="100000"/>
                        </a:lnSpc>
                        <a:spcBef>
                          <a:spcPts val="0"/>
                        </a:spcBef>
                        <a:spcAft>
                          <a:spcPts val="0"/>
                        </a:spcAft>
                        <a:buClrTx/>
                        <a:buSzTx/>
                        <a:buFont typeface="Wingdings" pitchFamily="2" charset="2"/>
                        <a:buNone/>
                        <a:tabLst/>
                        <a:defRPr/>
                      </a:pPr>
                      <a:r>
                        <a:rPr lang="en-US" sz="1400" u="sng" kern="1200" dirty="0">
                          <a:solidFill>
                            <a:schemeClr val="dk1"/>
                          </a:solidFill>
                          <a:latin typeface="Roboto" panose="02000000000000000000" pitchFamily="2" charset="0"/>
                          <a:ea typeface="Roboto" panose="02000000000000000000" pitchFamily="2" charset="0"/>
                          <a:cs typeface="Roboto" panose="02000000000000000000" pitchFamily="2" charset="0"/>
                        </a:rPr>
                        <a:t>Recruitment Process</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rPr>
                        <a:t>Review recruitment and appointment.</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rPr>
                        <a:t>Assess compliance with policies, rules and procedures.</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rPr>
                        <a:t>Review to ensure accurate/ valid creation and approval of HR.</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endPar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marR="0" lvl="0" indent="0" algn="just" defTabSz="371475" rtl="0" eaLnBrk="1" fontAlgn="auto" latinLnBrk="0" hangingPunct="1">
                        <a:lnSpc>
                          <a:spcPct val="100000"/>
                        </a:lnSpc>
                        <a:spcBef>
                          <a:spcPts val="0"/>
                        </a:spcBef>
                        <a:spcAft>
                          <a:spcPts val="0"/>
                        </a:spcAft>
                        <a:buClrTx/>
                        <a:buSzTx/>
                        <a:buFont typeface="Wingdings" pitchFamily="2" charset="2"/>
                        <a:buNone/>
                        <a:tabLst/>
                        <a:defRPr/>
                      </a:pPr>
                      <a:r>
                        <a:rPr lang="en-US" sz="1400" u="sng" kern="1200" dirty="0">
                          <a:solidFill>
                            <a:schemeClr val="dk1"/>
                          </a:solidFill>
                          <a:latin typeface="Roboto" panose="02000000000000000000" pitchFamily="2" charset="0"/>
                          <a:ea typeface="Roboto" panose="02000000000000000000" pitchFamily="2" charset="0"/>
                          <a:cs typeface="Roboto" panose="02000000000000000000" pitchFamily="2" charset="0"/>
                        </a:rPr>
                        <a:t>Staff Record (including basic pay/ allowances/ deductions)</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rPr>
                        <a:t>To ensure that there is proper procedure in place for manpower planning; </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rPr>
                        <a:t>Changes to manpower establishment should be documented and approved.</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rPr>
                        <a:t>Review contract renewal. Assess key personnel appointment and renewal.</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rPr>
                        <a:t>Review to ensure accurate/ timely update of changes and approval in HR Staff Record.</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rPr>
                        <a:t>Review accuracy of increments/ bonus computations in accordance with approved/ established formulas.</a:t>
                      </a:r>
                    </a:p>
                    <a:p>
                      <a:pPr marL="0" marR="0" lvl="0" indent="0" algn="just"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kern="1200" dirty="0">
                        <a:solidFill>
                          <a:schemeClr val="dk1"/>
                        </a:solidFill>
                        <a:latin typeface="Roboto" panose="02000000000000000000" pitchFamily="2" charset="0"/>
                        <a:ea typeface="Roboto" panose="02000000000000000000" pitchFamily="2" charset="0"/>
                        <a:cs typeface="Roboto" panose="02000000000000000000" pitchFamily="2" charset="0"/>
                      </a:endParaRPr>
                    </a:p>
                    <a:p>
                      <a:pPr algn="just"/>
                      <a:r>
                        <a:rPr lang="en-US" sz="1400" u="sng"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Resignation/Termination Process</a:t>
                      </a:r>
                    </a:p>
                    <a:p>
                      <a:pPr marL="285750" indent="-285750" algn="just">
                        <a:buFont typeface="Wingdings" pitchFamily="2" charset="2"/>
                        <a:buChar char="§"/>
                      </a:pPr>
                      <a:r>
                        <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Review exit clearance process for staff termination/resignation.</a:t>
                      </a:r>
                    </a:p>
                    <a:p>
                      <a:pPr marL="285750" indent="-285750" algn="just">
                        <a:buFont typeface="Wingdings" pitchFamily="2" charset="2"/>
                        <a:buChar char="§"/>
                      </a:pPr>
                      <a:r>
                        <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Review to ensure accurate/ timely termination of HR Staff Record.</a:t>
                      </a:r>
                    </a:p>
                    <a:p>
                      <a:pPr marL="0" lvl="0" indent="0" algn="just" defTabSz="371475" rtl="0" eaLnBrk="1" latinLnBrk="0" hangingPunct="1">
                        <a:buFont typeface="Wingdings" pitchFamily="2" charset="2"/>
                        <a:buNone/>
                      </a:pPr>
                      <a:endPar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3900627"/>
                  </a:ext>
                </a:extLst>
              </a:tr>
            </a:tbl>
          </a:graphicData>
        </a:graphic>
      </p:graphicFrame>
    </p:spTree>
    <p:extLst>
      <p:ext uri="{BB962C8B-B14F-4D97-AF65-F5344CB8AC3E}">
        <p14:creationId xmlns:p14="http://schemas.microsoft.com/office/powerpoint/2010/main" val="3327056593"/>
      </p:ext>
    </p:extLst>
  </p:cSld>
  <p:clrMapOvr>
    <a:masterClrMapping/>
  </p:clrMapOvr>
  <p:transition spd="slow">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52269-8463-60A7-436F-9095A150FC2E}"/>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1EDC451-CEEA-1407-2523-C8660AE4AF98}"/>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FACE1AC5-8757-CC70-3758-90D6115AC9B1}"/>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94F26684-ABE0-612D-7F2A-B6533B31F070}"/>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a:t>
            </a:r>
          </a:p>
        </p:txBody>
      </p:sp>
      <p:graphicFrame>
        <p:nvGraphicFramePr>
          <p:cNvPr id="2" name="Content Placeholder 3">
            <a:extLst>
              <a:ext uri="{FF2B5EF4-FFF2-40B4-BE49-F238E27FC236}">
                <a16:creationId xmlns:a16="http://schemas.microsoft.com/office/drawing/2014/main" id="{FD6F8E08-DCB7-F828-897C-18CD6724C36F}"/>
              </a:ext>
            </a:extLst>
          </p:cNvPr>
          <p:cNvGraphicFramePr>
            <a:graphicFrameLocks/>
          </p:cNvGraphicFramePr>
          <p:nvPr>
            <p:extLst>
              <p:ext uri="{D42A27DB-BD31-4B8C-83A1-F6EECF244321}">
                <p14:modId xmlns:p14="http://schemas.microsoft.com/office/powerpoint/2010/main" val="3547280544"/>
              </p:ext>
            </p:extLst>
          </p:nvPr>
        </p:nvGraphicFramePr>
        <p:xfrm>
          <a:off x="605955" y="1003660"/>
          <a:ext cx="11183422" cy="1893776"/>
        </p:xfrm>
        <a:graphic>
          <a:graphicData uri="http://schemas.openxmlformats.org/drawingml/2006/table">
            <a:tbl>
              <a:tblPr firstRow="1" bandRow="1">
                <a:tableStyleId>{5C22544A-7EE6-4342-B048-85BDC9FD1C3A}</a:tableStyleId>
              </a:tblPr>
              <a:tblGrid>
                <a:gridCol w="1663520">
                  <a:extLst>
                    <a:ext uri="{9D8B030D-6E8A-4147-A177-3AD203B41FA5}">
                      <a16:colId xmlns:a16="http://schemas.microsoft.com/office/drawing/2014/main" val="3262952809"/>
                    </a:ext>
                  </a:extLst>
                </a:gridCol>
                <a:gridCol w="9519902">
                  <a:extLst>
                    <a:ext uri="{9D8B030D-6E8A-4147-A177-3AD203B41FA5}">
                      <a16:colId xmlns:a16="http://schemas.microsoft.com/office/drawing/2014/main" val="20001"/>
                    </a:ext>
                  </a:extLst>
                </a:gridCol>
              </a:tblGrid>
              <a:tr h="33757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Roboto" panose="02000000000000000000" pitchFamily="2" charset="0"/>
                          <a:ea typeface="Roboto" panose="02000000000000000000" pitchFamily="2" charset="0"/>
                          <a:cs typeface="Arial" panose="020B0604020202020204" pitchFamily="34" charset="0"/>
                        </a:rPr>
                        <a:t>Focus </a:t>
                      </a:r>
                      <a:r>
                        <a:rPr lang="en-US" sz="1400" dirty="0">
                          <a:latin typeface="Roboto" panose="02000000000000000000" pitchFamily="2" charset="0"/>
                          <a:ea typeface="Roboto" panose="02000000000000000000" pitchFamily="2" charset="0"/>
                          <a:cs typeface="Arial" panose="020B0604020202020204" pitchFamily="34" charset="0"/>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lvl="0" indent="0" algn="ctr" defTabSz="742931" rtl="0" eaLnBrk="1" fontAlgn="auto" latinLnBrk="0" hangingPunct="1">
                        <a:lnSpc>
                          <a:spcPct val="100000"/>
                        </a:lnSpc>
                        <a:spcBef>
                          <a:spcPts val="0"/>
                        </a:spcBef>
                        <a:spcAft>
                          <a:spcPts val="0"/>
                        </a:spcAft>
                        <a:buClrTx/>
                        <a:buSzTx/>
                        <a:buFontTx/>
                        <a:buNone/>
                        <a:tabLst/>
                        <a:defRPr/>
                      </a:pPr>
                      <a:r>
                        <a:rPr lang="en-US" sz="1400" dirty="0">
                          <a:latin typeface="Roboto" panose="02000000000000000000" pitchFamily="2" charset="0"/>
                          <a:ea typeface="Roboto" panose="02000000000000000000" pitchFamily="2" charset="0"/>
                          <a:cs typeface="Arial" panose="020B0604020202020204" pitchFamily="34" charset="0"/>
                        </a:rPr>
                        <a:t>Audit Procedures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1556203">
                <a:tc>
                  <a:txBody>
                    <a:bodyPr/>
                    <a:lstStyle/>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r>
                        <a:rPr lang="en-US" sz="1400" b="1" kern="1200" baseline="0" dirty="0">
                          <a:solidFill>
                            <a:schemeClr val="dk1"/>
                          </a:solidFill>
                          <a:latin typeface="Roboto" panose="02000000000000000000" pitchFamily="2" charset="0"/>
                          <a:ea typeface="Roboto" panose="02000000000000000000" pitchFamily="2" charset="0"/>
                          <a:cs typeface="Arial" pitchFamily="34" charset="0"/>
                        </a:rPr>
                        <a:t>3. Human Resources and Payroll Processes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just"/>
                      <a:r>
                        <a:rPr lang="en-US" sz="1400" u="sng"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Payroll Payment</a:t>
                      </a:r>
                    </a:p>
                    <a:p>
                      <a:pPr marL="228600" indent="-228600" algn="just">
                        <a:buFont typeface="Wingdings" pitchFamily="2" charset="2"/>
                        <a:buChar char="§"/>
                      </a:pPr>
                      <a:r>
                        <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Ensure payroll payments are valid and accurate (permanent and temporary staff); </a:t>
                      </a:r>
                    </a:p>
                    <a:p>
                      <a:pPr marL="228600" indent="-228600" algn="just">
                        <a:buFont typeface="Wingdings" pitchFamily="2" charset="2"/>
                        <a:buChar char="§"/>
                      </a:pPr>
                      <a:r>
                        <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Review of regular and off-cycle payroll runs.</a:t>
                      </a:r>
                    </a:p>
                    <a:p>
                      <a:pPr marL="228600" indent="-228600" algn="just">
                        <a:buFont typeface="Wingdings" pitchFamily="2" charset="2"/>
                        <a:buChar char="§"/>
                      </a:pPr>
                      <a:r>
                        <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Review controls over allowances, deductions and staff benefits.</a:t>
                      </a:r>
                    </a:p>
                    <a:p>
                      <a:pPr marL="228600" indent="-228600" algn="just">
                        <a:buFont typeface="Wingdings" pitchFamily="2" charset="2"/>
                        <a:buChar char="§"/>
                      </a:pPr>
                      <a:r>
                        <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Review controls over cheque payments (including termination payouts).</a:t>
                      </a:r>
                    </a:p>
                    <a:p>
                      <a:pPr marL="228600" indent="-228600" algn="just">
                        <a:buFont typeface="Wingdings" pitchFamily="2" charset="2"/>
                        <a:buChar char="§"/>
                      </a:pPr>
                      <a:r>
                        <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rPr>
                        <a:t>Review budgetary controls and monitoring over payroll fluctuations.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3900627"/>
                  </a:ext>
                </a:extLst>
              </a:tr>
            </a:tbl>
          </a:graphicData>
        </a:graphic>
      </p:graphicFrame>
    </p:spTree>
    <p:extLst>
      <p:ext uri="{BB962C8B-B14F-4D97-AF65-F5344CB8AC3E}">
        <p14:creationId xmlns:p14="http://schemas.microsoft.com/office/powerpoint/2010/main" val="3899941746"/>
      </p:ext>
    </p:extLst>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AAC59-978B-732F-85AB-6238A6B453FE}"/>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CC9A408-EDE5-CE9D-AD18-4BAC68AC491E}"/>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2CE8555-5AB9-F4AA-43CA-55679C323BA3}"/>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5B871414-E484-E54E-C624-C6AA60AD10A1}"/>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a:t>
            </a:r>
          </a:p>
        </p:txBody>
      </p:sp>
      <p:graphicFrame>
        <p:nvGraphicFramePr>
          <p:cNvPr id="2" name="Content Placeholder 3">
            <a:extLst>
              <a:ext uri="{FF2B5EF4-FFF2-40B4-BE49-F238E27FC236}">
                <a16:creationId xmlns:a16="http://schemas.microsoft.com/office/drawing/2014/main" id="{AAEF4FE2-1185-7471-286F-8E2DDFEB3C41}"/>
              </a:ext>
            </a:extLst>
          </p:cNvPr>
          <p:cNvGraphicFramePr>
            <a:graphicFrameLocks/>
          </p:cNvGraphicFramePr>
          <p:nvPr>
            <p:extLst>
              <p:ext uri="{D42A27DB-BD31-4B8C-83A1-F6EECF244321}">
                <p14:modId xmlns:p14="http://schemas.microsoft.com/office/powerpoint/2010/main" val="1481102318"/>
              </p:ext>
            </p:extLst>
          </p:nvPr>
        </p:nvGraphicFramePr>
        <p:xfrm>
          <a:off x="771099" y="1223996"/>
          <a:ext cx="10884747" cy="3436139"/>
        </p:xfrm>
        <a:graphic>
          <a:graphicData uri="http://schemas.openxmlformats.org/drawingml/2006/table">
            <a:tbl>
              <a:tblPr firstRow="1" bandRow="1">
                <a:tableStyleId>{5C22544A-7EE6-4342-B048-85BDC9FD1C3A}</a:tableStyleId>
              </a:tblPr>
              <a:tblGrid>
                <a:gridCol w="2093877">
                  <a:extLst>
                    <a:ext uri="{9D8B030D-6E8A-4147-A177-3AD203B41FA5}">
                      <a16:colId xmlns:a16="http://schemas.microsoft.com/office/drawing/2014/main" val="3262952809"/>
                    </a:ext>
                  </a:extLst>
                </a:gridCol>
                <a:gridCol w="8790870">
                  <a:extLst>
                    <a:ext uri="{9D8B030D-6E8A-4147-A177-3AD203B41FA5}">
                      <a16:colId xmlns:a16="http://schemas.microsoft.com/office/drawing/2014/main" val="20001"/>
                    </a:ext>
                  </a:extLst>
                </a:gridCol>
              </a:tblGrid>
              <a:tr h="4479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Roboto" panose="02000000000000000000" pitchFamily="2" charset="0"/>
                          <a:ea typeface="Roboto" panose="02000000000000000000" pitchFamily="2" charset="0"/>
                          <a:cs typeface="Arial" panose="020B0604020202020204" pitchFamily="34" charset="0"/>
                        </a:rPr>
                        <a:t>Focus </a:t>
                      </a:r>
                      <a:r>
                        <a:rPr lang="en-US" sz="1400" dirty="0">
                          <a:latin typeface="Roboto" panose="02000000000000000000" pitchFamily="2" charset="0"/>
                          <a:ea typeface="Roboto" panose="02000000000000000000" pitchFamily="2" charset="0"/>
                          <a:cs typeface="Arial" panose="020B0604020202020204" pitchFamily="34" charset="0"/>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lvl="0" indent="0" algn="ctr" defTabSz="742931" rtl="0" eaLnBrk="1" fontAlgn="auto" latinLnBrk="0" hangingPunct="1">
                        <a:lnSpc>
                          <a:spcPct val="100000"/>
                        </a:lnSpc>
                        <a:spcBef>
                          <a:spcPts val="0"/>
                        </a:spcBef>
                        <a:spcAft>
                          <a:spcPts val="0"/>
                        </a:spcAft>
                        <a:buClrTx/>
                        <a:buSzTx/>
                        <a:buFontTx/>
                        <a:buNone/>
                        <a:tabLst/>
                        <a:defRPr/>
                      </a:pPr>
                      <a:r>
                        <a:rPr lang="en-US" sz="1400" dirty="0">
                          <a:latin typeface="Roboto" panose="02000000000000000000" pitchFamily="2" charset="0"/>
                          <a:ea typeface="Roboto" panose="02000000000000000000" pitchFamily="2" charset="0"/>
                          <a:cs typeface="Arial" panose="020B0604020202020204" pitchFamily="34" charset="0"/>
                        </a:rPr>
                        <a:t>Audit Procedures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2988177">
                <a:tc>
                  <a:txBody>
                    <a:bodyPr/>
                    <a:lstStyle/>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r>
                        <a:rPr lang="en-US" sz="1400" b="1" kern="1200" baseline="0" dirty="0">
                          <a:solidFill>
                            <a:schemeClr val="dk1"/>
                          </a:solidFill>
                          <a:latin typeface="Roboto" panose="02000000000000000000" pitchFamily="2" charset="0"/>
                          <a:ea typeface="Roboto" panose="02000000000000000000" pitchFamily="2" charset="0"/>
                          <a:cs typeface="Arial" pitchFamily="34" charset="0"/>
                        </a:rPr>
                        <a:t>4. Receipts and Collections</a:t>
                      </a: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Perform an end-to-end review on the revenue and receipts process for all revenue streams.</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the revenue recognition method and controls.</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Understand and evaluate key controls over cash collections and contributions and services rendered. </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Evaluate safeguarding, banking-in and recording of collections.</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Evaluate safeguarding, banking-in and recording of services and receipts.</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recording and tracking of receipts.</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Test samples of income to relevant supporting documents, including bank statements and agreements to ensure proper cut-off.</a:t>
                      </a:r>
                    </a:p>
                    <a:p>
                      <a:pPr marL="0" marR="0" lvl="0" indent="0" algn="just"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endParaRPr>
                    </a:p>
                    <a:p>
                      <a:pPr marL="0" marR="0" lvl="0" indent="0" algn="just" defTabSz="371475" rtl="0" eaLnBrk="1" fontAlgn="auto" latinLnBrk="0" hangingPunct="1">
                        <a:lnSpc>
                          <a:spcPct val="100000"/>
                        </a:lnSpc>
                        <a:spcBef>
                          <a:spcPts val="0"/>
                        </a:spcBef>
                        <a:spcAft>
                          <a:spcPts val="0"/>
                        </a:spcAft>
                        <a:buClrTx/>
                        <a:buSzTx/>
                        <a:buFont typeface="Wingdings" pitchFamily="2" charset="2"/>
                        <a:buNone/>
                        <a:tabLst/>
                        <a:defRPr/>
                      </a:pPr>
                      <a:r>
                        <a:rPr lang="en-US" sz="1400" u="sng" kern="1200" dirty="0">
                          <a:solidFill>
                            <a:schemeClr val="dk1"/>
                          </a:solidFill>
                          <a:latin typeface="Roboto" panose="02000000000000000000" pitchFamily="2" charset="0"/>
                          <a:ea typeface="Roboto" panose="02000000000000000000" pitchFamily="2" charset="0"/>
                          <a:cs typeface="Roboto" panose="02000000000000000000" pitchFamily="2" charset="0"/>
                        </a:rPr>
                        <a:t>Use of Data Analytics (if feasible)</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Perform data extraction and analysis on sales transactions to identify potential irregularities that might be fraudulent in nature (questionable sales transactions; unrecorded sales transaction; suspicious transactions with customers; potential duplicate of sale records,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3900627"/>
                  </a:ext>
                </a:extLst>
              </a:tr>
            </a:tbl>
          </a:graphicData>
        </a:graphic>
      </p:graphicFrame>
    </p:spTree>
    <p:extLst>
      <p:ext uri="{BB962C8B-B14F-4D97-AF65-F5344CB8AC3E}">
        <p14:creationId xmlns:p14="http://schemas.microsoft.com/office/powerpoint/2010/main" val="865156530"/>
      </p:ext>
    </p:extLst>
  </p:cSld>
  <p:clrMapOvr>
    <a:masterClrMapping/>
  </p:clrMapOvr>
  <p:transition spd="slow">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BA895-CE56-EC33-8F42-0B681E458A66}"/>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2E9F43D-CC32-478F-AECA-0F05087215EE}"/>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5B6736E1-4FA1-7D08-5D69-332E9E8E32B5}"/>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FEA6509D-82E1-81B1-1FB7-176189F4F052}"/>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a:t>
            </a:r>
          </a:p>
        </p:txBody>
      </p:sp>
      <p:graphicFrame>
        <p:nvGraphicFramePr>
          <p:cNvPr id="2" name="Content Placeholder 3">
            <a:extLst>
              <a:ext uri="{FF2B5EF4-FFF2-40B4-BE49-F238E27FC236}">
                <a16:creationId xmlns:a16="http://schemas.microsoft.com/office/drawing/2014/main" id="{569DACEA-427F-3B9C-2468-8BBCFC1339EA}"/>
              </a:ext>
            </a:extLst>
          </p:cNvPr>
          <p:cNvGraphicFramePr>
            <a:graphicFrameLocks/>
          </p:cNvGraphicFramePr>
          <p:nvPr>
            <p:extLst>
              <p:ext uri="{D42A27DB-BD31-4B8C-83A1-F6EECF244321}">
                <p14:modId xmlns:p14="http://schemas.microsoft.com/office/powerpoint/2010/main" val="2944410939"/>
              </p:ext>
            </p:extLst>
          </p:nvPr>
        </p:nvGraphicFramePr>
        <p:xfrm>
          <a:off x="771099" y="1223996"/>
          <a:ext cx="10884747" cy="3436139"/>
        </p:xfrm>
        <a:graphic>
          <a:graphicData uri="http://schemas.openxmlformats.org/drawingml/2006/table">
            <a:tbl>
              <a:tblPr firstRow="1" bandRow="1">
                <a:tableStyleId>{5C22544A-7EE6-4342-B048-85BDC9FD1C3A}</a:tableStyleId>
              </a:tblPr>
              <a:tblGrid>
                <a:gridCol w="2093877">
                  <a:extLst>
                    <a:ext uri="{9D8B030D-6E8A-4147-A177-3AD203B41FA5}">
                      <a16:colId xmlns:a16="http://schemas.microsoft.com/office/drawing/2014/main" val="3262952809"/>
                    </a:ext>
                  </a:extLst>
                </a:gridCol>
                <a:gridCol w="8790870">
                  <a:extLst>
                    <a:ext uri="{9D8B030D-6E8A-4147-A177-3AD203B41FA5}">
                      <a16:colId xmlns:a16="http://schemas.microsoft.com/office/drawing/2014/main" val="20001"/>
                    </a:ext>
                  </a:extLst>
                </a:gridCol>
              </a:tblGrid>
              <a:tr h="4479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Roboto" panose="02000000000000000000" pitchFamily="2" charset="0"/>
                          <a:ea typeface="Roboto" panose="02000000000000000000" pitchFamily="2" charset="0"/>
                          <a:cs typeface="Arial" panose="020B0604020202020204" pitchFamily="34" charset="0"/>
                        </a:rPr>
                        <a:t>Focus </a:t>
                      </a:r>
                      <a:r>
                        <a:rPr lang="en-US" sz="1400" dirty="0">
                          <a:latin typeface="Roboto" panose="02000000000000000000" pitchFamily="2" charset="0"/>
                          <a:ea typeface="Roboto" panose="02000000000000000000" pitchFamily="2" charset="0"/>
                          <a:cs typeface="Arial" panose="020B0604020202020204" pitchFamily="34" charset="0"/>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lvl="0" indent="0" algn="ctr" defTabSz="742931" rtl="0" eaLnBrk="1" fontAlgn="auto" latinLnBrk="0" hangingPunct="1">
                        <a:lnSpc>
                          <a:spcPct val="100000"/>
                        </a:lnSpc>
                        <a:spcBef>
                          <a:spcPts val="0"/>
                        </a:spcBef>
                        <a:spcAft>
                          <a:spcPts val="0"/>
                        </a:spcAft>
                        <a:buClrTx/>
                        <a:buSzTx/>
                        <a:buFontTx/>
                        <a:buNone/>
                        <a:tabLst/>
                        <a:defRPr/>
                      </a:pPr>
                      <a:r>
                        <a:rPr lang="en-US" sz="1400" dirty="0">
                          <a:latin typeface="Roboto" panose="02000000000000000000" pitchFamily="2" charset="0"/>
                          <a:ea typeface="Roboto" panose="02000000000000000000" pitchFamily="2" charset="0"/>
                          <a:cs typeface="Arial" panose="020B0604020202020204" pitchFamily="34" charset="0"/>
                        </a:rPr>
                        <a:t>Audit Procedures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2988177">
                <a:tc>
                  <a:txBody>
                    <a:bodyPr/>
                    <a:lstStyle/>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r>
                        <a:rPr lang="en-US" sz="1400" b="1" kern="1200" baseline="0" dirty="0">
                          <a:solidFill>
                            <a:schemeClr val="dk1"/>
                          </a:solidFill>
                          <a:latin typeface="Roboto" panose="02000000000000000000" pitchFamily="2" charset="0"/>
                          <a:ea typeface="Roboto" panose="02000000000000000000" pitchFamily="2" charset="0"/>
                          <a:cs typeface="Arial" pitchFamily="34" charset="0"/>
                        </a:rPr>
                        <a:t>5. Management of Grants and Compliance with Funding Agreements</a:t>
                      </a: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285750" marR="0" lvl="0" indent="-2857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adequacy of relevant SOP to ensure adequate internal controls.</a:t>
                      </a:r>
                    </a:p>
                    <a:p>
                      <a:pPr marL="285750" marR="0" lvl="0" indent="-2857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delegations of authority from accounting officer to officers for processing and approving funding and payment to grant recipients.</a:t>
                      </a:r>
                    </a:p>
                    <a:p>
                      <a:pPr marL="285750" marR="0" lvl="0" indent="-2857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delegations of authority from accounting officer to officers for approving disbursement requests.</a:t>
                      </a:r>
                    </a:p>
                    <a:p>
                      <a:pPr marL="285750" marR="0" lvl="0" indent="-2857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Assess roles and responsibilities of the appointed officers to ensure proper segregation of duties with no conflict of interest.</a:t>
                      </a:r>
                    </a:p>
                    <a:p>
                      <a:pPr marL="285750" marR="0" lvl="0" indent="-2857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Evaluate budgeting and project monitoring mechanics to ensure that the ABC does not draw down excessively.</a:t>
                      </a:r>
                    </a:p>
                    <a:p>
                      <a:pPr marL="285750" marR="0" lvl="0" indent="-2857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controls to ensure prudent use and proper management of resources as well as proper accounting for any interest or revenue generating from resources held by ABC.</a:t>
                      </a:r>
                    </a:p>
                    <a:p>
                      <a:pPr marL="285750" marR="0" lvl="0" indent="-2857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Assess the funding application evaluation process in accordance to approved funding policy, principles, quantum and condition.</a:t>
                      </a:r>
                    </a:p>
                    <a:p>
                      <a:pPr marL="0" marR="0" lvl="0" indent="0" algn="just"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3900627"/>
                  </a:ext>
                </a:extLst>
              </a:tr>
            </a:tbl>
          </a:graphicData>
        </a:graphic>
      </p:graphicFrame>
    </p:spTree>
    <p:extLst>
      <p:ext uri="{BB962C8B-B14F-4D97-AF65-F5344CB8AC3E}">
        <p14:creationId xmlns:p14="http://schemas.microsoft.com/office/powerpoint/2010/main" val="496491133"/>
      </p:ext>
    </p:extLst>
  </p:cSld>
  <p:clrMapOvr>
    <a:masterClrMapping/>
  </p:clrMapOvr>
  <p:transition spd="slow">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3BC31-1627-8EF0-7916-F76E011F111C}"/>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9D38D74-B6C7-6DD0-2B3D-57A78A7D3F99}"/>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F7B79103-B5CB-4F3B-1325-A0B3231357AE}"/>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644752CC-035E-BE20-3C5C-90AABB6644EB}"/>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a:t>
            </a:r>
          </a:p>
        </p:txBody>
      </p:sp>
      <p:graphicFrame>
        <p:nvGraphicFramePr>
          <p:cNvPr id="2" name="Content Placeholder 3">
            <a:extLst>
              <a:ext uri="{FF2B5EF4-FFF2-40B4-BE49-F238E27FC236}">
                <a16:creationId xmlns:a16="http://schemas.microsoft.com/office/drawing/2014/main" id="{42124861-3EF6-9180-7600-D4446C2ACF8F}"/>
              </a:ext>
            </a:extLst>
          </p:cNvPr>
          <p:cNvGraphicFramePr>
            <a:graphicFrameLocks/>
          </p:cNvGraphicFramePr>
          <p:nvPr>
            <p:extLst>
              <p:ext uri="{D42A27DB-BD31-4B8C-83A1-F6EECF244321}">
                <p14:modId xmlns:p14="http://schemas.microsoft.com/office/powerpoint/2010/main" val="2395676889"/>
              </p:ext>
            </p:extLst>
          </p:nvPr>
        </p:nvGraphicFramePr>
        <p:xfrm>
          <a:off x="771099" y="1223996"/>
          <a:ext cx="10928814" cy="4174269"/>
        </p:xfrm>
        <a:graphic>
          <a:graphicData uri="http://schemas.openxmlformats.org/drawingml/2006/table">
            <a:tbl>
              <a:tblPr firstRow="1" bandRow="1">
                <a:tableStyleId>{5C22544A-7EE6-4342-B048-85BDC9FD1C3A}</a:tableStyleId>
              </a:tblPr>
              <a:tblGrid>
                <a:gridCol w="2102355">
                  <a:extLst>
                    <a:ext uri="{9D8B030D-6E8A-4147-A177-3AD203B41FA5}">
                      <a16:colId xmlns:a16="http://schemas.microsoft.com/office/drawing/2014/main" val="3262952809"/>
                    </a:ext>
                  </a:extLst>
                </a:gridCol>
                <a:gridCol w="8826459">
                  <a:extLst>
                    <a:ext uri="{9D8B030D-6E8A-4147-A177-3AD203B41FA5}">
                      <a16:colId xmlns:a16="http://schemas.microsoft.com/office/drawing/2014/main" val="20001"/>
                    </a:ext>
                  </a:extLst>
                </a:gridCol>
              </a:tblGrid>
              <a:tr h="4426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Roboto" panose="02000000000000000000" pitchFamily="2" charset="0"/>
                          <a:ea typeface="Roboto" panose="02000000000000000000" pitchFamily="2" charset="0"/>
                          <a:cs typeface="Arial" panose="020B0604020202020204" pitchFamily="34" charset="0"/>
                        </a:rPr>
                        <a:t>Focus </a:t>
                      </a:r>
                      <a:r>
                        <a:rPr lang="en-US" sz="1400" dirty="0">
                          <a:latin typeface="Roboto" panose="02000000000000000000" pitchFamily="2" charset="0"/>
                          <a:ea typeface="Roboto" panose="02000000000000000000" pitchFamily="2" charset="0"/>
                          <a:cs typeface="Arial" panose="020B0604020202020204" pitchFamily="34" charset="0"/>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lvl="0" indent="0" algn="ctr" defTabSz="742931" rtl="0" eaLnBrk="1" fontAlgn="auto" latinLnBrk="0" hangingPunct="1">
                        <a:lnSpc>
                          <a:spcPct val="100000"/>
                        </a:lnSpc>
                        <a:spcBef>
                          <a:spcPts val="0"/>
                        </a:spcBef>
                        <a:spcAft>
                          <a:spcPts val="0"/>
                        </a:spcAft>
                        <a:buClrTx/>
                        <a:buSzTx/>
                        <a:buFontTx/>
                        <a:buNone/>
                        <a:tabLst/>
                        <a:defRPr/>
                      </a:pPr>
                      <a:r>
                        <a:rPr lang="en-US" sz="1400" dirty="0">
                          <a:latin typeface="Roboto" panose="02000000000000000000" pitchFamily="2" charset="0"/>
                          <a:ea typeface="Roboto" panose="02000000000000000000" pitchFamily="2" charset="0"/>
                          <a:cs typeface="Arial" panose="020B0604020202020204" pitchFamily="34" charset="0"/>
                        </a:rPr>
                        <a:t>Audit Procedures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3731630">
                <a:tc>
                  <a:txBody>
                    <a:bodyPr/>
                    <a:lstStyle/>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r>
                        <a:rPr lang="en-US" sz="1400" b="1" kern="1200" baseline="0" dirty="0">
                          <a:solidFill>
                            <a:schemeClr val="dk1"/>
                          </a:solidFill>
                          <a:latin typeface="Roboto" panose="02000000000000000000" pitchFamily="2" charset="0"/>
                          <a:ea typeface="Roboto" panose="02000000000000000000" pitchFamily="2" charset="0"/>
                          <a:cs typeface="Arial" pitchFamily="34" charset="0"/>
                        </a:rPr>
                        <a:t>6. Donations and Fundraising Procedures</a:t>
                      </a: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adequacy of relevant SOP to ensure adequate internal controls.</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Understand and evaluate key controls over donations and the fund-raising process and test key controls. </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the effectiveness of policies/procedures in accounting for donations and expenditures associated with the fund-raising activities.</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Evaluate safeguarding, banking-in and recording of donations received from fund-raising activities.</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the process of engaging commercial fund-raisers.</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Check that written agreements are signed by all entities that wish to raise funds for the Charity.</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Assess the maintenance of donation records </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Evaluate reconciliation and review of donation monies received and receipts issued for fund-raising events.</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issuance of tax deduction receipts for fund-raising activities.</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Determine the sources of donations and assess accountability of donations.</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fund-raising committee (or other relevant party) roles and responsibilities.</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communication with the public / donors for fund-raising activities.</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tracking and recording of fund-raising instruments.</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tracking of donor intentions.</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tracking of fund-raising expenditure (i.e. 30/70 rule).</a:t>
                      </a:r>
                    </a:p>
                    <a:p>
                      <a:pPr marL="171450" indent="-171450" algn="just">
                        <a:buFont typeface="Wingdings" panose="05000000000000000000" pitchFamily="2" charset="2"/>
                        <a:buChar cha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Evaluate disclosure and reporting of fund-raising activities.</a:t>
                      </a:r>
                      <a:endParaRPr lang="en-US" sz="1400" kern="1200" baseline="0" dirty="0">
                        <a:solidFill>
                          <a:schemeClr val="dk1"/>
                        </a:solidFill>
                        <a:latin typeface="Roboto" panose="02000000000000000000" pitchFamily="2" charset="0"/>
                        <a:ea typeface="Roboto" panose="02000000000000000000" pitchFamily="2" charset="0"/>
                        <a:cs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3900627"/>
                  </a:ext>
                </a:extLst>
              </a:tr>
            </a:tbl>
          </a:graphicData>
        </a:graphic>
      </p:graphicFrame>
    </p:spTree>
    <p:extLst>
      <p:ext uri="{BB962C8B-B14F-4D97-AF65-F5344CB8AC3E}">
        <p14:creationId xmlns:p14="http://schemas.microsoft.com/office/powerpoint/2010/main" val="2803419905"/>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0C2AC-AC4B-37E4-36A1-79A183C3A67C}"/>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DD92B4F-EA92-8317-3AA9-83DD30A5BC8C}"/>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9D2DD309-990F-6EB8-DA21-A00243346D2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704E97AE-2B37-A9DD-40E8-D0AEABF8EC5D}"/>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a:t>
            </a:r>
          </a:p>
        </p:txBody>
      </p:sp>
      <p:graphicFrame>
        <p:nvGraphicFramePr>
          <p:cNvPr id="2" name="Content Placeholder 3">
            <a:extLst>
              <a:ext uri="{FF2B5EF4-FFF2-40B4-BE49-F238E27FC236}">
                <a16:creationId xmlns:a16="http://schemas.microsoft.com/office/drawing/2014/main" id="{A420EE6F-0D41-507D-B357-8E3BFB6E6584}"/>
              </a:ext>
            </a:extLst>
          </p:cNvPr>
          <p:cNvGraphicFramePr>
            <a:graphicFrameLocks/>
          </p:cNvGraphicFramePr>
          <p:nvPr>
            <p:extLst>
              <p:ext uri="{D42A27DB-BD31-4B8C-83A1-F6EECF244321}">
                <p14:modId xmlns:p14="http://schemas.microsoft.com/office/powerpoint/2010/main" val="863434531"/>
              </p:ext>
            </p:extLst>
          </p:nvPr>
        </p:nvGraphicFramePr>
        <p:xfrm>
          <a:off x="771099" y="1223996"/>
          <a:ext cx="10928814" cy="5014639"/>
        </p:xfrm>
        <a:graphic>
          <a:graphicData uri="http://schemas.openxmlformats.org/drawingml/2006/table">
            <a:tbl>
              <a:tblPr firstRow="1" bandRow="1">
                <a:tableStyleId>{5C22544A-7EE6-4342-B048-85BDC9FD1C3A}</a:tableStyleId>
              </a:tblPr>
              <a:tblGrid>
                <a:gridCol w="2102355">
                  <a:extLst>
                    <a:ext uri="{9D8B030D-6E8A-4147-A177-3AD203B41FA5}">
                      <a16:colId xmlns:a16="http://schemas.microsoft.com/office/drawing/2014/main" val="3262952809"/>
                    </a:ext>
                  </a:extLst>
                </a:gridCol>
                <a:gridCol w="8826459">
                  <a:extLst>
                    <a:ext uri="{9D8B030D-6E8A-4147-A177-3AD203B41FA5}">
                      <a16:colId xmlns:a16="http://schemas.microsoft.com/office/drawing/2014/main" val="20001"/>
                    </a:ext>
                  </a:extLst>
                </a:gridCol>
              </a:tblGrid>
              <a:tr h="4426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Roboto" panose="02000000000000000000" pitchFamily="2" charset="0"/>
                          <a:ea typeface="Roboto" panose="02000000000000000000" pitchFamily="2" charset="0"/>
                          <a:cs typeface="Arial" panose="020B0604020202020204" pitchFamily="34" charset="0"/>
                        </a:rPr>
                        <a:t>Focus </a:t>
                      </a:r>
                      <a:r>
                        <a:rPr lang="en-US" sz="1400" dirty="0">
                          <a:latin typeface="Roboto" panose="02000000000000000000" pitchFamily="2" charset="0"/>
                          <a:ea typeface="Roboto" panose="02000000000000000000" pitchFamily="2" charset="0"/>
                          <a:cs typeface="Arial" panose="020B0604020202020204" pitchFamily="34" charset="0"/>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lvl="0" indent="0" algn="ctr" defTabSz="742931" rtl="0" eaLnBrk="1" fontAlgn="auto" latinLnBrk="0" hangingPunct="1">
                        <a:lnSpc>
                          <a:spcPct val="100000"/>
                        </a:lnSpc>
                        <a:spcBef>
                          <a:spcPts val="0"/>
                        </a:spcBef>
                        <a:spcAft>
                          <a:spcPts val="0"/>
                        </a:spcAft>
                        <a:buClrTx/>
                        <a:buSzTx/>
                        <a:buFontTx/>
                        <a:buNone/>
                        <a:tabLst/>
                        <a:defRPr/>
                      </a:pPr>
                      <a:r>
                        <a:rPr lang="en-US" sz="1400" dirty="0">
                          <a:latin typeface="Roboto" panose="02000000000000000000" pitchFamily="2" charset="0"/>
                          <a:ea typeface="Roboto" panose="02000000000000000000" pitchFamily="2" charset="0"/>
                          <a:cs typeface="Arial" panose="020B0604020202020204" pitchFamily="34" charset="0"/>
                        </a:rPr>
                        <a:t>Audit Procedures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3731630">
                <a:tc>
                  <a:txBody>
                    <a:bodyPr/>
                    <a:lstStyle/>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r>
                        <a:rPr lang="en-US" sz="1400" b="1" kern="1200" baseline="0" dirty="0">
                          <a:solidFill>
                            <a:schemeClr val="dk1"/>
                          </a:solidFill>
                          <a:latin typeface="Roboto" panose="02000000000000000000" pitchFamily="2" charset="0"/>
                          <a:ea typeface="Roboto" panose="02000000000000000000" pitchFamily="2" charset="0"/>
                          <a:cs typeface="Arial" pitchFamily="34" charset="0"/>
                        </a:rPr>
                        <a:t>7. Review Compliance with Personal Data Protection Act</a:t>
                      </a: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Obtain inputs from stakeholders through the use of questionnaires.</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Conduct department interviews to develop baseline of PDPA readiness.</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definitions of sensitive personal data.</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Evaluate collection and identification of information assets and personal data.</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Assess personal data flow diagrams using data life cycle approach to map sensitive data (data acquisition, using, sharing, archiving, and disposing).</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Understand the IPC’s risk tolerance as it relates to PDPA compliance of the following 10 obligations:</a:t>
                      </a:r>
                    </a:p>
                    <a:p>
                      <a:pPr marL="800100" marR="0" lvl="1" indent="-342900" algn="just" defTabSz="371475" rtl="0" eaLnBrk="1" fontAlgn="auto" latinLnBrk="0" hangingPunct="1">
                        <a:lnSpc>
                          <a:spcPct val="100000"/>
                        </a:lnSpc>
                        <a:spcBef>
                          <a:spcPts val="0"/>
                        </a:spcBef>
                        <a:spcAft>
                          <a:spcPts val="0"/>
                        </a:spcAft>
                        <a:buClrTx/>
                        <a:buSzTx/>
                        <a:buFont typeface="+mj-lt"/>
                        <a:buAutoNum type="arabicPeriod"/>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Accountability Obligation</a:t>
                      </a:r>
                    </a:p>
                    <a:p>
                      <a:pPr marL="800100" marR="0" lvl="1" indent="-342900" algn="just" defTabSz="371475" rtl="0" eaLnBrk="1" fontAlgn="auto" latinLnBrk="0" hangingPunct="1">
                        <a:lnSpc>
                          <a:spcPct val="100000"/>
                        </a:lnSpc>
                        <a:spcBef>
                          <a:spcPts val="0"/>
                        </a:spcBef>
                        <a:spcAft>
                          <a:spcPts val="0"/>
                        </a:spcAft>
                        <a:buClrTx/>
                        <a:buSzTx/>
                        <a:buFont typeface="+mj-lt"/>
                        <a:buAutoNum type="arabicPeriod"/>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Notification Obligation</a:t>
                      </a:r>
                    </a:p>
                    <a:p>
                      <a:pPr marL="800100" marR="0" lvl="1" indent="-342900" algn="just" defTabSz="371475" rtl="0" eaLnBrk="1" fontAlgn="auto" latinLnBrk="0" hangingPunct="1">
                        <a:lnSpc>
                          <a:spcPct val="100000"/>
                        </a:lnSpc>
                        <a:spcBef>
                          <a:spcPts val="0"/>
                        </a:spcBef>
                        <a:spcAft>
                          <a:spcPts val="0"/>
                        </a:spcAft>
                        <a:buClrTx/>
                        <a:buSzTx/>
                        <a:buFont typeface="+mj-lt"/>
                        <a:buAutoNum type="arabicPeriod"/>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Consent Obligation</a:t>
                      </a:r>
                    </a:p>
                    <a:p>
                      <a:pPr marL="800100" marR="0" lvl="1" indent="-342900" algn="just" defTabSz="371475" rtl="0" eaLnBrk="1" fontAlgn="auto" latinLnBrk="0" hangingPunct="1">
                        <a:lnSpc>
                          <a:spcPct val="100000"/>
                        </a:lnSpc>
                        <a:spcBef>
                          <a:spcPts val="0"/>
                        </a:spcBef>
                        <a:spcAft>
                          <a:spcPts val="0"/>
                        </a:spcAft>
                        <a:buClrTx/>
                        <a:buSzTx/>
                        <a:buFont typeface="+mj-lt"/>
                        <a:buAutoNum type="arabicPeriod"/>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Purpose Limitation Obligation</a:t>
                      </a:r>
                    </a:p>
                    <a:p>
                      <a:pPr marL="800100" marR="0" lvl="1" indent="-342900" algn="just" defTabSz="371475" rtl="0" eaLnBrk="1" fontAlgn="auto" latinLnBrk="0" hangingPunct="1">
                        <a:lnSpc>
                          <a:spcPct val="100000"/>
                        </a:lnSpc>
                        <a:spcBef>
                          <a:spcPts val="0"/>
                        </a:spcBef>
                        <a:spcAft>
                          <a:spcPts val="0"/>
                        </a:spcAft>
                        <a:buClrTx/>
                        <a:buSzTx/>
                        <a:buFont typeface="+mj-lt"/>
                        <a:buAutoNum type="arabicPeriod"/>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Accuracy Obligation</a:t>
                      </a:r>
                    </a:p>
                    <a:p>
                      <a:pPr marL="800100" marR="0" lvl="1" indent="-342900" algn="just" defTabSz="371475" rtl="0" eaLnBrk="1" fontAlgn="auto" latinLnBrk="0" hangingPunct="1">
                        <a:lnSpc>
                          <a:spcPct val="100000"/>
                        </a:lnSpc>
                        <a:spcBef>
                          <a:spcPts val="0"/>
                        </a:spcBef>
                        <a:spcAft>
                          <a:spcPts val="0"/>
                        </a:spcAft>
                        <a:buClrTx/>
                        <a:buSzTx/>
                        <a:buFont typeface="+mj-lt"/>
                        <a:buAutoNum type="arabicPeriod"/>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Protection Obligation </a:t>
                      </a:r>
                    </a:p>
                    <a:p>
                      <a:pPr marL="800100" marR="0" lvl="1" indent="-342900" algn="just" defTabSz="371475" rtl="0" eaLnBrk="1" fontAlgn="auto" latinLnBrk="0" hangingPunct="1">
                        <a:lnSpc>
                          <a:spcPct val="100000"/>
                        </a:lnSpc>
                        <a:spcBef>
                          <a:spcPts val="0"/>
                        </a:spcBef>
                        <a:spcAft>
                          <a:spcPts val="0"/>
                        </a:spcAft>
                        <a:buClrTx/>
                        <a:buSzTx/>
                        <a:buFont typeface="+mj-lt"/>
                        <a:buAutoNum type="arabicPeriod"/>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Retention Limitation Obligation</a:t>
                      </a:r>
                    </a:p>
                    <a:p>
                      <a:pPr marL="800100" marR="0" lvl="1" indent="-342900" algn="just" defTabSz="371475" rtl="0" eaLnBrk="1" fontAlgn="auto" latinLnBrk="0" hangingPunct="1">
                        <a:lnSpc>
                          <a:spcPct val="100000"/>
                        </a:lnSpc>
                        <a:spcBef>
                          <a:spcPts val="0"/>
                        </a:spcBef>
                        <a:spcAft>
                          <a:spcPts val="0"/>
                        </a:spcAft>
                        <a:buClrTx/>
                        <a:buSzTx/>
                        <a:buFont typeface="+mj-lt"/>
                        <a:buAutoNum type="arabicPeriod"/>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Transfer Limitation Obligation</a:t>
                      </a:r>
                    </a:p>
                    <a:p>
                      <a:pPr marL="800100" marR="0" lvl="1" indent="-342900" algn="just" defTabSz="371475" rtl="0" eaLnBrk="1" fontAlgn="auto" latinLnBrk="0" hangingPunct="1">
                        <a:lnSpc>
                          <a:spcPct val="100000"/>
                        </a:lnSpc>
                        <a:spcBef>
                          <a:spcPts val="0"/>
                        </a:spcBef>
                        <a:spcAft>
                          <a:spcPts val="0"/>
                        </a:spcAft>
                        <a:buClrTx/>
                        <a:buSzTx/>
                        <a:buFont typeface="+mj-lt"/>
                        <a:buAutoNum type="arabicPeriod"/>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Access and Correction Obligation</a:t>
                      </a:r>
                    </a:p>
                    <a:p>
                      <a:pPr marL="800100" marR="0" lvl="1" indent="-342900" algn="just" defTabSz="371475" rtl="0" eaLnBrk="1" fontAlgn="auto" latinLnBrk="0" hangingPunct="1">
                        <a:lnSpc>
                          <a:spcPct val="100000"/>
                        </a:lnSpc>
                        <a:spcBef>
                          <a:spcPts val="0"/>
                        </a:spcBef>
                        <a:spcAft>
                          <a:spcPts val="0"/>
                        </a:spcAft>
                        <a:buClrTx/>
                        <a:buSzTx/>
                        <a:buFont typeface="+mj-lt"/>
                        <a:buAutoNum type="arabicPeriod"/>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Data Breach Notification Obligation</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endParaRP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Assess current status of personal data protection within the organization against Singapore PDPA to identify gaps related to the compliance of the 10 obligations in the PDPA and areas for improvement. </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Develop final recommendations to meet the 10 obligations and remediate the identified risks.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3900627"/>
                  </a:ext>
                </a:extLst>
              </a:tr>
            </a:tbl>
          </a:graphicData>
        </a:graphic>
      </p:graphicFrame>
    </p:spTree>
    <p:extLst>
      <p:ext uri="{BB962C8B-B14F-4D97-AF65-F5344CB8AC3E}">
        <p14:creationId xmlns:p14="http://schemas.microsoft.com/office/powerpoint/2010/main" val="2350145066"/>
      </p:ext>
    </p:extLst>
  </p:cSld>
  <p:clrMapOvr>
    <a:masterClrMapping/>
  </p:clrMapOvr>
  <p:transition spd="slow">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8134F-CF54-F218-A426-9AAC74E03075}"/>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3A768F8-705A-3B45-A155-65DAB03C7859}"/>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FC13908B-7E62-C3CE-D87D-A6114A587A25}"/>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640ABB2B-FE4C-D04A-A883-E1696E0AE365}"/>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a:t>
            </a:r>
          </a:p>
        </p:txBody>
      </p:sp>
      <p:graphicFrame>
        <p:nvGraphicFramePr>
          <p:cNvPr id="2" name="Content Placeholder 3">
            <a:extLst>
              <a:ext uri="{FF2B5EF4-FFF2-40B4-BE49-F238E27FC236}">
                <a16:creationId xmlns:a16="http://schemas.microsoft.com/office/drawing/2014/main" id="{CABCBB16-7214-DD02-510F-35C48D6311D3}"/>
              </a:ext>
            </a:extLst>
          </p:cNvPr>
          <p:cNvGraphicFramePr>
            <a:graphicFrameLocks/>
          </p:cNvGraphicFramePr>
          <p:nvPr>
            <p:extLst>
              <p:ext uri="{D42A27DB-BD31-4B8C-83A1-F6EECF244321}">
                <p14:modId xmlns:p14="http://schemas.microsoft.com/office/powerpoint/2010/main" val="3385737691"/>
              </p:ext>
            </p:extLst>
          </p:nvPr>
        </p:nvGraphicFramePr>
        <p:xfrm>
          <a:off x="771099" y="1223996"/>
          <a:ext cx="10928814" cy="2598857"/>
        </p:xfrm>
        <a:graphic>
          <a:graphicData uri="http://schemas.openxmlformats.org/drawingml/2006/table">
            <a:tbl>
              <a:tblPr firstRow="1" bandRow="1">
                <a:tableStyleId>{5C22544A-7EE6-4342-B048-85BDC9FD1C3A}</a:tableStyleId>
              </a:tblPr>
              <a:tblGrid>
                <a:gridCol w="2102355">
                  <a:extLst>
                    <a:ext uri="{9D8B030D-6E8A-4147-A177-3AD203B41FA5}">
                      <a16:colId xmlns:a16="http://schemas.microsoft.com/office/drawing/2014/main" val="3262952809"/>
                    </a:ext>
                  </a:extLst>
                </a:gridCol>
                <a:gridCol w="8826459">
                  <a:extLst>
                    <a:ext uri="{9D8B030D-6E8A-4147-A177-3AD203B41FA5}">
                      <a16:colId xmlns:a16="http://schemas.microsoft.com/office/drawing/2014/main" val="20001"/>
                    </a:ext>
                  </a:extLst>
                </a:gridCol>
              </a:tblGrid>
              <a:tr h="4426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Roboto" panose="02000000000000000000" pitchFamily="2" charset="0"/>
                          <a:ea typeface="Roboto" panose="02000000000000000000" pitchFamily="2" charset="0"/>
                          <a:cs typeface="Arial" panose="020B0604020202020204" pitchFamily="34" charset="0"/>
                        </a:rPr>
                        <a:t>Focus </a:t>
                      </a:r>
                      <a:r>
                        <a:rPr lang="en-US" sz="1400" dirty="0">
                          <a:latin typeface="Roboto" panose="02000000000000000000" pitchFamily="2" charset="0"/>
                          <a:ea typeface="Roboto" panose="02000000000000000000" pitchFamily="2" charset="0"/>
                          <a:cs typeface="Arial" panose="020B0604020202020204" pitchFamily="34" charset="0"/>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lvl="0" indent="0" algn="ctr" defTabSz="742931" rtl="0" eaLnBrk="1" fontAlgn="auto" latinLnBrk="0" hangingPunct="1">
                        <a:lnSpc>
                          <a:spcPct val="100000"/>
                        </a:lnSpc>
                        <a:spcBef>
                          <a:spcPts val="0"/>
                        </a:spcBef>
                        <a:spcAft>
                          <a:spcPts val="0"/>
                        </a:spcAft>
                        <a:buClrTx/>
                        <a:buSzTx/>
                        <a:buFontTx/>
                        <a:buNone/>
                        <a:tabLst/>
                        <a:defRPr/>
                      </a:pPr>
                      <a:r>
                        <a:rPr lang="en-US" sz="1400" dirty="0">
                          <a:latin typeface="Roboto" panose="02000000000000000000" pitchFamily="2" charset="0"/>
                          <a:ea typeface="Roboto" panose="02000000000000000000" pitchFamily="2" charset="0"/>
                          <a:cs typeface="Arial" panose="020B0604020202020204" pitchFamily="34" charset="0"/>
                        </a:rPr>
                        <a:t>Audit Procedures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2156218">
                <a:tc>
                  <a:txBody>
                    <a:bodyPr/>
                    <a:lstStyle/>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r>
                        <a:rPr lang="en-US" sz="1400" b="1" kern="1200" baseline="0" dirty="0">
                          <a:solidFill>
                            <a:schemeClr val="dk1"/>
                          </a:solidFill>
                          <a:latin typeface="Roboto" panose="02000000000000000000" pitchFamily="2" charset="0"/>
                          <a:ea typeface="Roboto" panose="02000000000000000000" pitchFamily="2" charset="0"/>
                          <a:cs typeface="Arial" pitchFamily="34" charset="0"/>
                        </a:rPr>
                        <a:t>8. Fixed Assets and Capital Expenditure Management</a:t>
                      </a: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adequacy of relevant SOP to ensure adequate internal controls.</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Evaluate fixed asset policies and procedures for compliance to fixed assets policies, standard procedures and applicable laws and regulations.</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Understand the types of fixed assets and perform a quantitative review of fixed assets.</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and assess controls over acquisition, transfer, recording, maintenance and disposal of fixed assets. </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computation and review of depreciation expenses.</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Review the adequateness and appropriateness of capital expenditure requirements established by ABC.</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Assess if capital expenditures have been accurately accounted for.</a:t>
                      </a:r>
                    </a:p>
                    <a:p>
                      <a:pPr marL="171450" marR="0" lvl="0" indent="-171450" algn="just" defTabSz="37147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400" kern="1200" dirty="0">
                          <a:solidFill>
                            <a:schemeClr val="dk1"/>
                          </a:solidFill>
                          <a:effectLst/>
                          <a:latin typeface="Roboto" panose="02000000000000000000" pitchFamily="2" charset="0"/>
                          <a:ea typeface="Roboto" panose="02000000000000000000" pitchFamily="2" charset="0"/>
                          <a:cs typeface="Roboto" panose="02000000000000000000" pitchFamily="2" charset="0"/>
                        </a:rPr>
                        <a:t>Determine if capital expenditures have been approved by the relevant and authorized personnel.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3900627"/>
                  </a:ext>
                </a:extLst>
              </a:tr>
            </a:tbl>
          </a:graphicData>
        </a:graphic>
      </p:graphicFrame>
    </p:spTree>
    <p:extLst>
      <p:ext uri="{BB962C8B-B14F-4D97-AF65-F5344CB8AC3E}">
        <p14:creationId xmlns:p14="http://schemas.microsoft.com/office/powerpoint/2010/main" val="1371013366"/>
      </p:ext>
    </p:extLst>
  </p:cSld>
  <p:clrMapOvr>
    <a:masterClrMapping/>
  </p:clrMapOvr>
  <p:transition spd="slow">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9CB03-7CB5-B137-8580-E7B9C980EC38}"/>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A4EF1B9-B39C-35A4-58D1-B234D281CB06}"/>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A991996A-FF25-08A1-B879-52A047EB90C5}"/>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585DA53C-CDFA-DA50-0A5A-6B57F0AC823B}"/>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a:t>
            </a:r>
          </a:p>
        </p:txBody>
      </p:sp>
      <p:graphicFrame>
        <p:nvGraphicFramePr>
          <p:cNvPr id="2" name="Content Placeholder 3">
            <a:extLst>
              <a:ext uri="{FF2B5EF4-FFF2-40B4-BE49-F238E27FC236}">
                <a16:creationId xmlns:a16="http://schemas.microsoft.com/office/drawing/2014/main" id="{E30C184C-5416-8E86-116D-0D28A8F6CFFB}"/>
              </a:ext>
            </a:extLst>
          </p:cNvPr>
          <p:cNvGraphicFramePr>
            <a:graphicFrameLocks/>
          </p:cNvGraphicFramePr>
          <p:nvPr>
            <p:extLst>
              <p:ext uri="{D42A27DB-BD31-4B8C-83A1-F6EECF244321}">
                <p14:modId xmlns:p14="http://schemas.microsoft.com/office/powerpoint/2010/main" val="4247930270"/>
              </p:ext>
            </p:extLst>
          </p:nvPr>
        </p:nvGraphicFramePr>
        <p:xfrm>
          <a:off x="631593" y="1080777"/>
          <a:ext cx="10928814" cy="5227999"/>
        </p:xfrm>
        <a:graphic>
          <a:graphicData uri="http://schemas.openxmlformats.org/drawingml/2006/table">
            <a:tbl>
              <a:tblPr firstRow="1" bandRow="1">
                <a:tableStyleId>{5C22544A-7EE6-4342-B048-85BDC9FD1C3A}</a:tableStyleId>
              </a:tblPr>
              <a:tblGrid>
                <a:gridCol w="2102355">
                  <a:extLst>
                    <a:ext uri="{9D8B030D-6E8A-4147-A177-3AD203B41FA5}">
                      <a16:colId xmlns:a16="http://schemas.microsoft.com/office/drawing/2014/main" val="3262952809"/>
                    </a:ext>
                  </a:extLst>
                </a:gridCol>
                <a:gridCol w="8826459">
                  <a:extLst>
                    <a:ext uri="{9D8B030D-6E8A-4147-A177-3AD203B41FA5}">
                      <a16:colId xmlns:a16="http://schemas.microsoft.com/office/drawing/2014/main" val="20001"/>
                    </a:ext>
                  </a:extLst>
                </a:gridCol>
              </a:tblGrid>
              <a:tr h="4426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Roboto" panose="02000000000000000000" pitchFamily="2" charset="0"/>
                          <a:ea typeface="Roboto" panose="02000000000000000000" pitchFamily="2" charset="0"/>
                          <a:cs typeface="Arial" panose="020B0604020202020204" pitchFamily="34" charset="0"/>
                        </a:rPr>
                        <a:t>Focus </a:t>
                      </a:r>
                      <a:r>
                        <a:rPr lang="en-US" sz="1400" dirty="0">
                          <a:latin typeface="Roboto" panose="02000000000000000000" pitchFamily="2" charset="0"/>
                          <a:ea typeface="Roboto" panose="02000000000000000000" pitchFamily="2" charset="0"/>
                          <a:cs typeface="Arial" panose="020B0604020202020204" pitchFamily="34" charset="0"/>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lvl="0" indent="0" algn="ctr" defTabSz="742931" rtl="0" eaLnBrk="1" fontAlgn="auto" latinLnBrk="0" hangingPunct="1">
                        <a:lnSpc>
                          <a:spcPct val="100000"/>
                        </a:lnSpc>
                        <a:spcBef>
                          <a:spcPts val="0"/>
                        </a:spcBef>
                        <a:spcAft>
                          <a:spcPts val="0"/>
                        </a:spcAft>
                        <a:buClrTx/>
                        <a:buSzTx/>
                        <a:buFontTx/>
                        <a:buNone/>
                        <a:tabLst/>
                        <a:defRPr/>
                      </a:pPr>
                      <a:r>
                        <a:rPr lang="en-US" sz="1400" dirty="0">
                          <a:latin typeface="Roboto" panose="02000000000000000000" pitchFamily="2" charset="0"/>
                          <a:ea typeface="Roboto" panose="02000000000000000000" pitchFamily="2" charset="0"/>
                          <a:cs typeface="Arial" panose="020B0604020202020204" pitchFamily="34" charset="0"/>
                        </a:rPr>
                        <a:t>Audit Procedures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3731630">
                <a:tc>
                  <a:txBody>
                    <a:bodyPr/>
                    <a:lstStyle/>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r>
                        <a:rPr lang="en-US" sz="1400" b="1" kern="1200" baseline="0" dirty="0">
                          <a:solidFill>
                            <a:schemeClr val="dk1"/>
                          </a:solidFill>
                          <a:latin typeface="Roboto" panose="02000000000000000000" pitchFamily="2" charset="0"/>
                          <a:ea typeface="Roboto" panose="02000000000000000000" pitchFamily="2" charset="0"/>
                          <a:cs typeface="Arial" pitchFamily="34" charset="0"/>
                        </a:rPr>
                        <a:t>9. Information Technology and Cybersecurity Process</a:t>
                      </a: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that policies and procedures relating to IT systems, including physical security and logical security are established, approved and communicated to all relevant staff for adherence;</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that data security policy is established, approved and communicated to all relevant staff for adherence;</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that policies and procedures (including approval matrix) relating to organisation and management structure of access rights control, including segregation and monitoring of user access rights;</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tx1"/>
                          </a:solidFill>
                          <a:latin typeface="Roboto" panose="02000000000000000000" pitchFamily="2" charset="0"/>
                          <a:ea typeface="Roboto" panose="02000000000000000000" pitchFamily="2" charset="0"/>
                          <a:cs typeface="Arial" pitchFamily="34" charset="0"/>
                        </a:rPr>
                        <a:t>Evaluate Information Technology and Cybersecurity policies and procedures for compliance to applicable regulations, standards and guidelines (e.g. NIST 2.0 Framework).</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Review the process over user access management (including user access, privileged access and remote access). </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that roles and responsibilities are defined for third-party IT vendors.</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that procedures are in place for management of third party services.</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that policies and procedures relating to request, feasibility studies and approval of system development, acquisition, updates and maintenance, are established, approved and communicated to all relevant staff for adherence;</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that requests for system developments, software applications, updates, enhancements and maintenance are approved by management, documented, tested, approved and implemented;</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Review adequacy of physical security and control of computer system server from unauthorised access and risk of physical damage;</a:t>
                      </a:r>
                    </a:p>
                    <a:p>
                      <a:pPr marL="225425" marR="0" lvl="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Review that a robust IT service management framework is in place. IT service management activities include configuration management, technology refresh management, patch management, change management, software release management, incident management and problem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3900627"/>
                  </a:ext>
                </a:extLst>
              </a:tr>
            </a:tbl>
          </a:graphicData>
        </a:graphic>
      </p:graphicFrame>
    </p:spTree>
    <p:extLst>
      <p:ext uri="{BB962C8B-B14F-4D97-AF65-F5344CB8AC3E}">
        <p14:creationId xmlns:p14="http://schemas.microsoft.com/office/powerpoint/2010/main" val="587898399"/>
      </p:ext>
    </p:extLst>
  </p:cSld>
  <p:clrMapOvr>
    <a:masterClrMapping/>
  </p:clrMapOvr>
  <p:transition spd="slow">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5EF3D-21FF-9D5E-5DD7-F976D85085F1}"/>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D072945-9757-F1B2-AC44-B3C7BD08AF2F}"/>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F204FB3E-CFDF-6E73-7114-ED43872C0522}"/>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8DBCE851-8A2D-B48B-62C9-07E6EA8EA240}"/>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a:t>
            </a:r>
          </a:p>
        </p:txBody>
      </p:sp>
      <p:graphicFrame>
        <p:nvGraphicFramePr>
          <p:cNvPr id="2" name="Content Placeholder 3">
            <a:extLst>
              <a:ext uri="{FF2B5EF4-FFF2-40B4-BE49-F238E27FC236}">
                <a16:creationId xmlns:a16="http://schemas.microsoft.com/office/drawing/2014/main" id="{ABF44C5C-6749-D31C-AB89-0EF4BCB1B856}"/>
              </a:ext>
            </a:extLst>
          </p:cNvPr>
          <p:cNvGraphicFramePr>
            <a:graphicFrameLocks/>
          </p:cNvGraphicFramePr>
          <p:nvPr>
            <p:extLst>
              <p:ext uri="{D42A27DB-BD31-4B8C-83A1-F6EECF244321}">
                <p14:modId xmlns:p14="http://schemas.microsoft.com/office/powerpoint/2010/main" val="2321203773"/>
              </p:ext>
            </p:extLst>
          </p:nvPr>
        </p:nvGraphicFramePr>
        <p:xfrm>
          <a:off x="771099" y="1223996"/>
          <a:ext cx="10928814" cy="3138684"/>
        </p:xfrm>
        <a:graphic>
          <a:graphicData uri="http://schemas.openxmlformats.org/drawingml/2006/table">
            <a:tbl>
              <a:tblPr firstRow="1" bandRow="1">
                <a:tableStyleId>{5C22544A-7EE6-4342-B048-85BDC9FD1C3A}</a:tableStyleId>
              </a:tblPr>
              <a:tblGrid>
                <a:gridCol w="2102355">
                  <a:extLst>
                    <a:ext uri="{9D8B030D-6E8A-4147-A177-3AD203B41FA5}">
                      <a16:colId xmlns:a16="http://schemas.microsoft.com/office/drawing/2014/main" val="3262952809"/>
                    </a:ext>
                  </a:extLst>
                </a:gridCol>
                <a:gridCol w="8826459">
                  <a:extLst>
                    <a:ext uri="{9D8B030D-6E8A-4147-A177-3AD203B41FA5}">
                      <a16:colId xmlns:a16="http://schemas.microsoft.com/office/drawing/2014/main" val="20001"/>
                    </a:ext>
                  </a:extLst>
                </a:gridCol>
              </a:tblGrid>
              <a:tr h="4426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Roboto" panose="02000000000000000000" pitchFamily="2" charset="0"/>
                          <a:ea typeface="Roboto" panose="02000000000000000000" pitchFamily="2" charset="0"/>
                          <a:cs typeface="Arial" panose="020B0604020202020204" pitchFamily="34" charset="0"/>
                        </a:rPr>
                        <a:t>Focus </a:t>
                      </a:r>
                      <a:r>
                        <a:rPr lang="en-US" sz="1400" dirty="0">
                          <a:latin typeface="Roboto" panose="02000000000000000000" pitchFamily="2" charset="0"/>
                          <a:ea typeface="Roboto" panose="02000000000000000000" pitchFamily="2" charset="0"/>
                          <a:cs typeface="Arial" panose="020B0604020202020204" pitchFamily="34" charset="0"/>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lvl="0" indent="0" algn="ctr" defTabSz="742931" rtl="0" eaLnBrk="1" fontAlgn="auto" latinLnBrk="0" hangingPunct="1">
                        <a:lnSpc>
                          <a:spcPct val="100000"/>
                        </a:lnSpc>
                        <a:spcBef>
                          <a:spcPts val="0"/>
                        </a:spcBef>
                        <a:spcAft>
                          <a:spcPts val="0"/>
                        </a:spcAft>
                        <a:buClrTx/>
                        <a:buSzTx/>
                        <a:buFontTx/>
                        <a:buNone/>
                        <a:tabLst/>
                        <a:defRPr/>
                      </a:pPr>
                      <a:r>
                        <a:rPr lang="en-US" sz="1400" dirty="0">
                          <a:latin typeface="Roboto" panose="02000000000000000000" pitchFamily="2" charset="0"/>
                          <a:ea typeface="Roboto" panose="02000000000000000000" pitchFamily="2" charset="0"/>
                          <a:cs typeface="Arial" panose="020B0604020202020204" pitchFamily="34" charset="0"/>
                        </a:rPr>
                        <a:t>Audit Procedures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2696045">
                <a:tc>
                  <a:txBody>
                    <a:bodyPr/>
                    <a:lstStyle/>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r>
                        <a:rPr lang="en-US" sz="1400" b="1" kern="1200" baseline="0" dirty="0">
                          <a:solidFill>
                            <a:schemeClr val="dk1"/>
                          </a:solidFill>
                          <a:latin typeface="Roboto" panose="02000000000000000000" pitchFamily="2" charset="0"/>
                          <a:ea typeface="Roboto" panose="02000000000000000000" pitchFamily="2" charset="0"/>
                          <a:cs typeface="Arial" pitchFamily="34" charset="0"/>
                        </a:rPr>
                        <a:t>9. Information Technology and Cybersecurity Process</a:t>
                      </a: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tx1"/>
                          </a:solidFill>
                          <a:latin typeface="Roboto" panose="02000000000000000000" pitchFamily="2" charset="0"/>
                          <a:ea typeface="Roboto" panose="02000000000000000000" pitchFamily="2" charset="0"/>
                          <a:cs typeface="Arial" pitchFamily="34" charset="0"/>
                        </a:rPr>
                        <a:t>Check that </a:t>
                      </a:r>
                      <a:r>
                        <a:rPr lang="en-US" sz="1400" baseline="0" dirty="0">
                          <a:solidFill>
                            <a:schemeClr val="tx1"/>
                          </a:solidFill>
                          <a:latin typeface="Roboto" panose="02000000000000000000" pitchFamily="2" charset="0"/>
                          <a:ea typeface="Roboto" panose="02000000000000000000" pitchFamily="2" charset="0"/>
                          <a:cs typeface="Arial" pitchFamily="34" charset="0"/>
                        </a:rPr>
                        <a:t>cybersecurity monitoring and threat detection systems (e.g. Endpoint Detection and Response, Antivirus, Intrusion Prevention System, Intrusion Detection System and Security Information and Event Management) are</a:t>
                      </a:r>
                      <a:r>
                        <a:rPr lang="en-US" sz="1400" dirty="0">
                          <a:solidFill>
                            <a:schemeClr val="tx1"/>
                          </a:solidFill>
                          <a:latin typeface="Roboto" panose="02000000000000000000" pitchFamily="2" charset="0"/>
                          <a:ea typeface="Roboto" panose="02000000000000000000" pitchFamily="2" charset="0"/>
                          <a:cs typeface="Arial" pitchFamily="34" charset="0"/>
                        </a:rPr>
                        <a:t> in place and updated;</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that password controls are in place;</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that firewalls are in place;</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that usage of external storage device is limited;</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whether access to external websites are restricted;</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that critical and confidential/ sensitive data are protected, backed up and procedure is in place to assess the restorability of back-up data;</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incident reporting mechanisms are in place; and </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dk1"/>
                          </a:solidFill>
                          <a:latin typeface="Roboto" panose="02000000000000000000" pitchFamily="2" charset="0"/>
                          <a:ea typeface="Roboto" panose="02000000000000000000" pitchFamily="2" charset="0"/>
                          <a:cs typeface="Arial" pitchFamily="34" charset="0"/>
                        </a:rPr>
                        <a:t>Check that disaster recovery and business continuity plan with regard to failure of IT systems are developed and duly approved.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3900627"/>
                  </a:ext>
                </a:extLst>
              </a:tr>
            </a:tbl>
          </a:graphicData>
        </a:graphic>
      </p:graphicFrame>
    </p:spTree>
    <p:extLst>
      <p:ext uri="{BB962C8B-B14F-4D97-AF65-F5344CB8AC3E}">
        <p14:creationId xmlns:p14="http://schemas.microsoft.com/office/powerpoint/2010/main" val="4028332719"/>
      </p:ext>
    </p:extLst>
  </p:cSld>
  <p:clrMapOvr>
    <a:masterClrMapping/>
  </p:clrMapOvr>
  <p:transition spd="slow">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AB36C-5E9B-0623-B245-3ABEA025215D}"/>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702F666-C8A0-37FD-F2ED-35C6145546EC}"/>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8CB28B6-8E88-F543-1F8F-9B77DA0B126A}"/>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33AA8040-9E33-59FA-CF06-CFE8268A7C41}"/>
              </a:ext>
            </a:extLst>
          </p:cNvPr>
          <p:cNvSpPr txBox="1"/>
          <p:nvPr/>
        </p:nvSpPr>
        <p:spPr>
          <a:xfrm>
            <a:off x="605955" y="17595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Scope of Work</a:t>
            </a:r>
          </a:p>
        </p:txBody>
      </p:sp>
      <p:graphicFrame>
        <p:nvGraphicFramePr>
          <p:cNvPr id="2" name="Content Placeholder 3">
            <a:extLst>
              <a:ext uri="{FF2B5EF4-FFF2-40B4-BE49-F238E27FC236}">
                <a16:creationId xmlns:a16="http://schemas.microsoft.com/office/drawing/2014/main" id="{73418E01-D0DB-227F-D6E6-252566480576}"/>
              </a:ext>
            </a:extLst>
          </p:cNvPr>
          <p:cNvGraphicFramePr>
            <a:graphicFrameLocks/>
          </p:cNvGraphicFramePr>
          <p:nvPr>
            <p:extLst>
              <p:ext uri="{D42A27DB-BD31-4B8C-83A1-F6EECF244321}">
                <p14:modId xmlns:p14="http://schemas.microsoft.com/office/powerpoint/2010/main" val="1716171542"/>
              </p:ext>
            </p:extLst>
          </p:nvPr>
        </p:nvGraphicFramePr>
        <p:xfrm>
          <a:off x="631593" y="1105565"/>
          <a:ext cx="10928814" cy="2323435"/>
        </p:xfrm>
        <a:graphic>
          <a:graphicData uri="http://schemas.openxmlformats.org/drawingml/2006/table">
            <a:tbl>
              <a:tblPr firstRow="1" bandRow="1">
                <a:tableStyleId>{5C22544A-7EE6-4342-B048-85BDC9FD1C3A}</a:tableStyleId>
              </a:tblPr>
              <a:tblGrid>
                <a:gridCol w="2102355">
                  <a:extLst>
                    <a:ext uri="{9D8B030D-6E8A-4147-A177-3AD203B41FA5}">
                      <a16:colId xmlns:a16="http://schemas.microsoft.com/office/drawing/2014/main" val="3262952809"/>
                    </a:ext>
                  </a:extLst>
                </a:gridCol>
                <a:gridCol w="8826459">
                  <a:extLst>
                    <a:ext uri="{9D8B030D-6E8A-4147-A177-3AD203B41FA5}">
                      <a16:colId xmlns:a16="http://schemas.microsoft.com/office/drawing/2014/main" val="20001"/>
                    </a:ext>
                  </a:extLst>
                </a:gridCol>
              </a:tblGrid>
              <a:tr h="4426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aseline="0" dirty="0">
                          <a:latin typeface="Roboto" panose="02000000000000000000" pitchFamily="2" charset="0"/>
                          <a:ea typeface="Roboto" panose="02000000000000000000" pitchFamily="2" charset="0"/>
                          <a:cs typeface="Arial" panose="020B0604020202020204" pitchFamily="34" charset="0"/>
                        </a:rPr>
                        <a:t>Focus </a:t>
                      </a:r>
                      <a:r>
                        <a:rPr lang="en-US" sz="1400" dirty="0">
                          <a:latin typeface="Roboto" panose="02000000000000000000" pitchFamily="2" charset="0"/>
                          <a:ea typeface="Roboto" panose="02000000000000000000" pitchFamily="2" charset="0"/>
                          <a:cs typeface="Arial" panose="020B0604020202020204" pitchFamily="34" charset="0"/>
                        </a:rPr>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lvl="0" indent="0" algn="ctr" defTabSz="742931" rtl="0" eaLnBrk="1" fontAlgn="auto" latinLnBrk="0" hangingPunct="1">
                        <a:lnSpc>
                          <a:spcPct val="100000"/>
                        </a:lnSpc>
                        <a:spcBef>
                          <a:spcPts val="0"/>
                        </a:spcBef>
                        <a:spcAft>
                          <a:spcPts val="0"/>
                        </a:spcAft>
                        <a:buClrTx/>
                        <a:buSzTx/>
                        <a:buFontTx/>
                        <a:buNone/>
                        <a:tabLst/>
                        <a:defRPr/>
                      </a:pPr>
                      <a:r>
                        <a:rPr lang="en-US" sz="1400" dirty="0">
                          <a:latin typeface="Roboto" panose="02000000000000000000" pitchFamily="2" charset="0"/>
                          <a:ea typeface="Roboto" panose="02000000000000000000" pitchFamily="2" charset="0"/>
                          <a:cs typeface="Arial" panose="020B0604020202020204" pitchFamily="34" charset="0"/>
                        </a:rPr>
                        <a:t>Audit Procedures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1880796">
                <a:tc>
                  <a:txBody>
                    <a:bodyPr/>
                    <a:lstStyle/>
                    <a:p>
                      <a:pPr marL="0" marR="0" lvl="0" indent="0" algn="l" defTabSz="371475" rtl="0" eaLnBrk="1" fontAlgn="auto" latinLnBrk="0" hangingPunct="1">
                        <a:lnSpc>
                          <a:spcPct val="100000"/>
                        </a:lnSpc>
                        <a:spcBef>
                          <a:spcPts val="0"/>
                        </a:spcBef>
                        <a:spcAft>
                          <a:spcPts val="0"/>
                        </a:spcAft>
                        <a:buClrTx/>
                        <a:buSzTx/>
                        <a:buFont typeface="Wingdings" pitchFamily="2" charset="2"/>
                        <a:buNone/>
                        <a:tabLst/>
                        <a:defRPr/>
                      </a:pPr>
                      <a:r>
                        <a:rPr lang="en-US" sz="1400" b="1" kern="1200" baseline="0" dirty="0">
                          <a:solidFill>
                            <a:schemeClr val="dk1"/>
                          </a:solidFill>
                          <a:latin typeface="Roboto" panose="02000000000000000000" pitchFamily="2" charset="0"/>
                          <a:ea typeface="Roboto" panose="02000000000000000000" pitchFamily="2" charset="0"/>
                          <a:cs typeface="Arial" pitchFamily="34" charset="0"/>
                        </a:rPr>
                        <a:t>Review existing risks and update Risk Registers and ERM Policy Manual</a:t>
                      </a: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p>
                      <a:pPr marL="182563" marR="0" lvl="0" indent="-182563" algn="l" defTabSz="371475" rtl="0" eaLnBrk="1" fontAlgn="auto" latinLnBrk="0" hangingPunct="1">
                        <a:lnSpc>
                          <a:spcPct val="100000"/>
                        </a:lnSpc>
                        <a:spcBef>
                          <a:spcPts val="0"/>
                        </a:spcBef>
                        <a:spcAft>
                          <a:spcPts val="0"/>
                        </a:spcAft>
                        <a:buClrTx/>
                        <a:buSzTx/>
                        <a:buFont typeface="Wingdings" pitchFamily="2" charset="2"/>
                        <a:buNone/>
                        <a:tabLst/>
                        <a:defRPr/>
                      </a:pPr>
                      <a:endParaRPr lang="en-US" sz="1400" b="1" kern="1200" baseline="0" dirty="0">
                        <a:solidFill>
                          <a:schemeClr val="dk1"/>
                        </a:solidFill>
                        <a:latin typeface="Roboto" panose="02000000000000000000" pitchFamily="2" charset="0"/>
                        <a:ea typeface="Roboto" panose="02000000000000000000" pitchFamily="2"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tx1"/>
                          </a:solidFill>
                          <a:latin typeface="Roboto" panose="02000000000000000000" pitchFamily="2" charset="0"/>
                          <a:ea typeface="Roboto" panose="02000000000000000000" pitchFamily="2" charset="0"/>
                          <a:cs typeface="Arial" pitchFamily="34" charset="0"/>
                        </a:rPr>
                        <a:t>To conduct a Risk Awareness and Risk Identification and Prioritisation Session/Workshop.</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tx1"/>
                          </a:solidFill>
                          <a:latin typeface="Roboto" panose="02000000000000000000" pitchFamily="2" charset="0"/>
                          <a:ea typeface="Roboto" panose="02000000000000000000" pitchFamily="2" charset="0"/>
                          <a:cs typeface="Arial" pitchFamily="34" charset="0"/>
                        </a:rPr>
                        <a:t>To assist management to review and update existing Risk Inventory.</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tx1"/>
                          </a:solidFill>
                          <a:latin typeface="Roboto" panose="02000000000000000000" pitchFamily="2" charset="0"/>
                          <a:ea typeface="Roboto" panose="02000000000000000000" pitchFamily="2" charset="0"/>
                          <a:cs typeface="Arial" pitchFamily="34" charset="0"/>
                        </a:rPr>
                        <a:t>To assist management to review the existing Tier 1 risks using tailored Risk Parameters and identify any new Tier 1 risks.</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tx1"/>
                          </a:solidFill>
                          <a:latin typeface="Roboto" panose="02000000000000000000" pitchFamily="2" charset="0"/>
                          <a:ea typeface="Roboto" panose="02000000000000000000" pitchFamily="2" charset="0"/>
                          <a:cs typeface="Arial" pitchFamily="34" charset="0"/>
                        </a:rPr>
                        <a:t>To assist management to review the existing Risk Heat Maps for Tier 1 risks and prepare Risk Heat Maps for newly identified Tier 1 risks.</a:t>
                      </a:r>
                    </a:p>
                    <a:p>
                      <a:pPr marL="225425" marR="0" indent="-225425" algn="just" defTabSz="371475" rtl="0" eaLnBrk="1" fontAlgn="auto" latinLnBrk="0" hangingPunct="1">
                        <a:lnSpc>
                          <a:spcPct val="100000"/>
                        </a:lnSpc>
                        <a:spcBef>
                          <a:spcPts val="0"/>
                        </a:spcBef>
                        <a:spcAft>
                          <a:spcPts val="0"/>
                        </a:spcAft>
                        <a:buClrTx/>
                        <a:buSzTx/>
                        <a:buFont typeface="Wingdings" pitchFamily="2" charset="2"/>
                        <a:buChar char="§"/>
                        <a:tabLst/>
                        <a:defRPr/>
                      </a:pPr>
                      <a:r>
                        <a:rPr lang="en-US" sz="1400" dirty="0">
                          <a:solidFill>
                            <a:schemeClr val="tx1"/>
                          </a:solidFill>
                          <a:latin typeface="Roboto" panose="02000000000000000000" pitchFamily="2" charset="0"/>
                          <a:ea typeface="Roboto" panose="02000000000000000000" pitchFamily="2" charset="0"/>
                          <a:cs typeface="Arial" pitchFamily="34" charset="0"/>
                        </a:rPr>
                        <a:t>To assist management to review and update existing ERM Policy and Framework.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3900627"/>
                  </a:ext>
                </a:extLst>
              </a:tr>
            </a:tbl>
          </a:graphicData>
        </a:graphic>
      </p:graphicFrame>
    </p:spTree>
    <p:extLst>
      <p:ext uri="{BB962C8B-B14F-4D97-AF65-F5344CB8AC3E}">
        <p14:creationId xmlns:p14="http://schemas.microsoft.com/office/powerpoint/2010/main" val="3507259849"/>
      </p:ext>
    </p:extLst>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G" sz="3599"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Google Shape;190;p2">
            <a:extLst>
              <a:ext uri="{FF2B5EF4-FFF2-40B4-BE49-F238E27FC236}">
                <a16:creationId xmlns:a16="http://schemas.microsoft.com/office/drawing/2014/main" id="{AECA44D7-8691-0BC7-082C-F234A910EDFC}"/>
              </a:ext>
            </a:extLst>
          </p:cNvPr>
          <p:cNvSpPr txBox="1"/>
          <p:nvPr/>
        </p:nvSpPr>
        <p:spPr>
          <a:xfrm>
            <a:off x="605955" y="271188"/>
            <a:ext cx="11348566" cy="428518"/>
          </a:xfrm>
          <a:prstGeom prst="rect">
            <a:avLst/>
          </a:prstGeom>
          <a:noFill/>
          <a:ln>
            <a:noFill/>
          </a:ln>
        </p:spPr>
        <p:txBody>
          <a:bodyPr spcFirstLastPara="1" wrap="square" lIns="89116" tIns="44547" rIns="89116" bIns="44547" anchor="t" anchorCtr="0">
            <a:spAutoFit/>
          </a:bodyPr>
          <a:lstStyle/>
          <a:p>
            <a:pPr marL="0" marR="0" lvl="0" indent="0" algn="l" defTabSz="891317" rtl="0" eaLnBrk="1" fontAlgn="auto" latinLnBrk="0" hangingPunct="1">
              <a:lnSpc>
                <a:spcPct val="100000"/>
              </a:lnSpc>
              <a:spcBef>
                <a:spcPts val="0"/>
              </a:spcBef>
              <a:spcAft>
                <a:spcPts val="0"/>
              </a:spcAft>
              <a:buClr>
                <a:srgbClr val="000000"/>
              </a:buClr>
              <a:buSzTx/>
              <a:buFontTx/>
              <a:buNone/>
              <a:tabLst/>
              <a:defRPr/>
            </a:pPr>
            <a:r>
              <a:rPr kumimoji="0" lang="en-US" sz="22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Internal Audit Plan – General Sampling</a:t>
            </a:r>
            <a:r>
              <a:rPr lang="en-US" sz="2200" b="1" kern="0" dirty="0">
                <a:solidFill>
                  <a:prstClr val="black">
                    <a:lumMod val="75000"/>
                    <a:lumOff val="25000"/>
                  </a:prstClr>
                </a:solidFill>
                <a:latin typeface="Roboto" panose="02000000000000000000" pitchFamily="2" charset="0"/>
                <a:ea typeface="Roboto" panose="02000000000000000000" pitchFamily="2" charset="0"/>
                <a:cs typeface="Roboto"/>
                <a:sym typeface="Roboto"/>
              </a:rPr>
              <a:t> Flow (An Illustration)</a:t>
            </a:r>
            <a:endParaRPr kumimoji="0" lang="en-US" sz="22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endParaRPr>
          </a:p>
        </p:txBody>
      </p:sp>
      <p:grpSp>
        <p:nvGrpSpPr>
          <p:cNvPr id="2" name="Group 1">
            <a:extLst>
              <a:ext uri="{FF2B5EF4-FFF2-40B4-BE49-F238E27FC236}">
                <a16:creationId xmlns:a16="http://schemas.microsoft.com/office/drawing/2014/main" id="{DBFD81F9-88C9-4B43-D9CB-A4747678CFB8}"/>
              </a:ext>
            </a:extLst>
          </p:cNvPr>
          <p:cNvGrpSpPr/>
          <p:nvPr/>
        </p:nvGrpSpPr>
        <p:grpSpPr>
          <a:xfrm>
            <a:off x="605955" y="1019987"/>
            <a:ext cx="10697001" cy="1644437"/>
            <a:chOff x="1468741" y="1159352"/>
            <a:chExt cx="9428660" cy="912961"/>
          </a:xfrm>
        </p:grpSpPr>
        <p:graphicFrame>
          <p:nvGraphicFramePr>
            <p:cNvPr id="10" name="Diagram 9">
              <a:extLst>
                <a:ext uri="{FF2B5EF4-FFF2-40B4-BE49-F238E27FC236}">
                  <a16:creationId xmlns:a16="http://schemas.microsoft.com/office/drawing/2014/main" id="{2B819DC4-A9B9-323F-0D8F-C645525F1E8B}"/>
                </a:ext>
              </a:extLst>
            </p:cNvPr>
            <p:cNvGraphicFramePr/>
            <p:nvPr/>
          </p:nvGraphicFramePr>
          <p:xfrm>
            <a:off x="1468741" y="1159352"/>
            <a:ext cx="9415207" cy="3091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Rectangle 10">
              <a:extLst>
                <a:ext uri="{FF2B5EF4-FFF2-40B4-BE49-F238E27FC236}">
                  <a16:creationId xmlns:a16="http://schemas.microsoft.com/office/drawing/2014/main" id="{212BDE43-F3E8-F8C3-A526-AAE90994FDBE}"/>
                </a:ext>
              </a:extLst>
            </p:cNvPr>
            <p:cNvSpPr/>
            <p:nvPr/>
          </p:nvSpPr>
          <p:spPr>
            <a:xfrm>
              <a:off x="1468742" y="1542868"/>
              <a:ext cx="1800123" cy="521159"/>
            </a:xfrm>
            <a:prstGeom prst="rect">
              <a:avLst/>
            </a:prstGeom>
            <a:ln w="19050">
              <a:solidFill>
                <a:sysClr val="window" lastClr="FFFFFF">
                  <a:lumMod val="65000"/>
                </a:sysClr>
              </a:solidFill>
            </a:ln>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We will estimate an appropriate sample size based upon their understanding of the population.</a:t>
              </a:r>
            </a:p>
          </p:txBody>
        </p:sp>
        <p:sp>
          <p:nvSpPr>
            <p:cNvPr id="12" name="Rectangle 11">
              <a:extLst>
                <a:ext uri="{FF2B5EF4-FFF2-40B4-BE49-F238E27FC236}">
                  <a16:creationId xmlns:a16="http://schemas.microsoft.com/office/drawing/2014/main" id="{1DFAD6FC-C234-9A0B-C93B-37B403236434}"/>
                </a:ext>
              </a:extLst>
            </p:cNvPr>
            <p:cNvSpPr/>
            <p:nvPr/>
          </p:nvSpPr>
          <p:spPr>
            <a:xfrm>
              <a:off x="4015092" y="1546312"/>
              <a:ext cx="1839658" cy="521159"/>
            </a:xfrm>
            <a:prstGeom prst="rect">
              <a:avLst/>
            </a:prstGeom>
            <a:ln w="19050">
              <a:solidFill>
                <a:sysClr val="window" lastClr="FFFFFF">
                  <a:lumMod val="65000"/>
                </a:sysClr>
              </a:solidFill>
            </a:ln>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The selected sample is tested according to the predefined test criteria and the sample results calculated.</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SG" sz="1100" b="0"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3" name="Rectangle 12">
              <a:extLst>
                <a:ext uri="{FF2B5EF4-FFF2-40B4-BE49-F238E27FC236}">
                  <a16:creationId xmlns:a16="http://schemas.microsoft.com/office/drawing/2014/main" id="{50237559-457A-EAF6-9985-B3A5CF27DDFD}"/>
                </a:ext>
              </a:extLst>
            </p:cNvPr>
            <p:cNvSpPr/>
            <p:nvPr/>
          </p:nvSpPr>
          <p:spPr>
            <a:xfrm>
              <a:off x="6600977" y="1551154"/>
              <a:ext cx="1750074" cy="521159"/>
            </a:xfrm>
            <a:prstGeom prst="rect">
              <a:avLst/>
            </a:prstGeom>
            <a:ln w="19050">
              <a:solidFill>
                <a:sysClr val="window" lastClr="FFFFFF">
                  <a:lumMod val="65000"/>
                </a:sysClr>
              </a:solidFill>
            </a:ln>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The implications for these results are projected across the population, providing a valid statistical estimate.</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SG" sz="1100" b="0"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4" name="Rectangle 13">
              <a:extLst>
                <a:ext uri="{FF2B5EF4-FFF2-40B4-BE49-F238E27FC236}">
                  <a16:creationId xmlns:a16="http://schemas.microsoft.com/office/drawing/2014/main" id="{E505EEF9-ABE2-2508-C783-4B9BF1DEBB9F}"/>
                </a:ext>
              </a:extLst>
            </p:cNvPr>
            <p:cNvSpPr/>
            <p:nvPr/>
          </p:nvSpPr>
          <p:spPr>
            <a:xfrm>
              <a:off x="9097278" y="1545008"/>
              <a:ext cx="1800123" cy="521159"/>
            </a:xfrm>
            <a:prstGeom prst="rect">
              <a:avLst/>
            </a:prstGeom>
            <a:ln w="19050">
              <a:solidFill>
                <a:sysClr val="window" lastClr="FFFFFF">
                  <a:lumMod val="65000"/>
                </a:sysClr>
              </a:solidFill>
            </a:ln>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We will assess whether the result has sufficient precision/confidence for their purpose.</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grpSp>
      <p:sp>
        <p:nvSpPr>
          <p:cNvPr id="15" name="AutoShape 2" descr="Select concept illustration">
            <a:extLst>
              <a:ext uri="{FF2B5EF4-FFF2-40B4-BE49-F238E27FC236}">
                <a16:creationId xmlns:a16="http://schemas.microsoft.com/office/drawing/2014/main" id="{4ED33437-0EEB-35CE-8271-1C7FD6AF37C4}"/>
              </a:ext>
            </a:extLst>
          </p:cNvPr>
          <p:cNvSpPr>
            <a:spLocks noChangeAspect="1" noChangeArrowheads="1"/>
          </p:cNvSpPr>
          <p:nvPr/>
        </p:nvSpPr>
        <p:spPr bwMode="auto">
          <a:xfrm>
            <a:off x="5778456" y="327276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pic>
        <p:nvPicPr>
          <p:cNvPr id="22" name="Picture 21">
            <a:extLst>
              <a:ext uri="{FF2B5EF4-FFF2-40B4-BE49-F238E27FC236}">
                <a16:creationId xmlns:a16="http://schemas.microsoft.com/office/drawing/2014/main" id="{FD6FD682-D5D2-7C83-5724-078F43820ABD}"/>
              </a:ext>
            </a:extLst>
          </p:cNvPr>
          <p:cNvPicPr>
            <a:picLocks noChangeAspect="1"/>
          </p:cNvPicPr>
          <p:nvPr/>
        </p:nvPicPr>
        <p:blipFill>
          <a:blip r:embed="rId7"/>
          <a:stretch>
            <a:fillRect/>
          </a:stretch>
        </p:blipFill>
        <p:spPr>
          <a:xfrm>
            <a:off x="455398" y="2783475"/>
            <a:ext cx="11255715" cy="3482642"/>
          </a:xfrm>
          <a:prstGeom prst="rect">
            <a:avLst/>
          </a:prstGeom>
          <a:ln w="19050">
            <a:solidFill>
              <a:schemeClr val="bg1">
                <a:lumMod val="50000"/>
              </a:schemeClr>
            </a:solidFill>
          </a:ln>
        </p:spPr>
      </p:pic>
      <p:pic>
        <p:nvPicPr>
          <p:cNvPr id="23" name="Picture 22" descr="Student Resources">
            <a:extLst>
              <a:ext uri="{FF2B5EF4-FFF2-40B4-BE49-F238E27FC236}">
                <a16:creationId xmlns:a16="http://schemas.microsoft.com/office/drawing/2014/main" id="{5B0427AD-95A3-9172-50B5-9B1AD651D403}"/>
              </a:ext>
            </a:extLst>
          </p:cNvPr>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480887" y="5746173"/>
            <a:ext cx="1188589" cy="438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165308"/>
      </p:ext>
    </p:extLst>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G" sz="3599"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Google Shape;190;p2">
            <a:extLst>
              <a:ext uri="{FF2B5EF4-FFF2-40B4-BE49-F238E27FC236}">
                <a16:creationId xmlns:a16="http://schemas.microsoft.com/office/drawing/2014/main" id="{AECA44D7-8691-0BC7-082C-F234A910EDFC}"/>
              </a:ext>
            </a:extLst>
          </p:cNvPr>
          <p:cNvSpPr txBox="1"/>
          <p:nvPr/>
        </p:nvSpPr>
        <p:spPr>
          <a:xfrm>
            <a:off x="589484" y="99808"/>
            <a:ext cx="11348566" cy="705517"/>
          </a:xfrm>
          <a:prstGeom prst="rect">
            <a:avLst/>
          </a:prstGeom>
          <a:noFill/>
          <a:ln>
            <a:noFill/>
          </a:ln>
        </p:spPr>
        <p:txBody>
          <a:bodyPr spcFirstLastPara="1" wrap="square" lIns="89116" tIns="44547" rIns="89116" bIns="44547" anchor="t" anchorCtr="0">
            <a:spAutoFit/>
          </a:bodyPr>
          <a:lstStyle/>
          <a:p>
            <a:pPr marL="0" marR="0" lvl="0" indent="0" algn="l" defTabSz="891317" rtl="0" eaLnBrk="1" fontAlgn="auto" latinLnBrk="0" hangingPunct="1">
              <a:lnSpc>
                <a:spcPct val="100000"/>
              </a:lnSpc>
              <a:spcBef>
                <a:spcPts val="0"/>
              </a:spcBef>
              <a:spcAft>
                <a:spcPts val="0"/>
              </a:spcAft>
              <a:buClr>
                <a:srgbClr val="000000"/>
              </a:buClr>
              <a:buSzTx/>
              <a:buFontTx/>
              <a:buNone/>
              <a:tabLst/>
              <a:defRPr/>
            </a:pPr>
            <a:r>
              <a:rPr kumimoji="0" lang="en-US" sz="22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Internal Audit Plan – General Sampling</a:t>
            </a:r>
            <a:r>
              <a:rPr lang="en-US" sz="2200" b="1" kern="0" dirty="0">
                <a:solidFill>
                  <a:prstClr val="black">
                    <a:lumMod val="75000"/>
                    <a:lumOff val="25000"/>
                  </a:prstClr>
                </a:solidFill>
                <a:latin typeface="Roboto" panose="02000000000000000000" pitchFamily="2" charset="0"/>
                <a:ea typeface="Roboto" panose="02000000000000000000" pitchFamily="2" charset="0"/>
                <a:cs typeface="Roboto"/>
                <a:sym typeface="Roboto"/>
              </a:rPr>
              <a:t> Flow (An Illustration)</a:t>
            </a:r>
            <a:endParaRPr kumimoji="0" lang="en-US" sz="22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endParaRPr>
          </a:p>
          <a:p>
            <a:pPr marL="0" marR="0" lvl="0" indent="0" algn="l" defTabSz="891317" rtl="0" eaLnBrk="1" fontAlgn="auto" latinLnBrk="0" hangingPunct="1">
              <a:lnSpc>
                <a:spcPct val="100000"/>
              </a:lnSpc>
              <a:spcBef>
                <a:spcPts val="0"/>
              </a:spcBef>
              <a:spcAft>
                <a:spcPts val="0"/>
              </a:spcAft>
              <a:buClr>
                <a:srgbClr val="000000"/>
              </a:buClr>
              <a:buSzTx/>
              <a:buFontTx/>
              <a:buNone/>
              <a:tabLst/>
              <a:defRPr/>
            </a:pPr>
            <a:r>
              <a:rPr kumimoji="0" lang="en-US"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 Types of Sampling Methods</a:t>
            </a:r>
            <a:endParaRPr kumimoji="0" lang="en-US" sz="20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endParaRPr>
          </a:p>
        </p:txBody>
      </p:sp>
      <p:graphicFrame>
        <p:nvGraphicFramePr>
          <p:cNvPr id="2" name="Table 1">
            <a:extLst>
              <a:ext uri="{FF2B5EF4-FFF2-40B4-BE49-F238E27FC236}">
                <a16:creationId xmlns:a16="http://schemas.microsoft.com/office/drawing/2014/main" id="{838D5556-7AD8-26E3-907F-9C77CA2D9FD9}"/>
              </a:ext>
            </a:extLst>
          </p:cNvPr>
          <p:cNvGraphicFramePr>
            <a:graphicFrameLocks noGrp="1"/>
          </p:cNvGraphicFramePr>
          <p:nvPr/>
        </p:nvGraphicFramePr>
        <p:xfrm>
          <a:off x="589484" y="1003434"/>
          <a:ext cx="11013032" cy="4763521"/>
        </p:xfrm>
        <a:graphic>
          <a:graphicData uri="http://schemas.openxmlformats.org/drawingml/2006/table">
            <a:tbl>
              <a:tblPr firstRow="1" bandRow="1">
                <a:tableStyleId>{5940675A-B579-460E-94D1-54222C63F5DA}</a:tableStyleId>
              </a:tblPr>
              <a:tblGrid>
                <a:gridCol w="665199">
                  <a:extLst>
                    <a:ext uri="{9D8B030D-6E8A-4147-A177-3AD203B41FA5}">
                      <a16:colId xmlns:a16="http://schemas.microsoft.com/office/drawing/2014/main" val="333977135"/>
                    </a:ext>
                  </a:extLst>
                </a:gridCol>
                <a:gridCol w="6743700">
                  <a:extLst>
                    <a:ext uri="{9D8B030D-6E8A-4147-A177-3AD203B41FA5}">
                      <a16:colId xmlns:a16="http://schemas.microsoft.com/office/drawing/2014/main" val="3025286572"/>
                    </a:ext>
                  </a:extLst>
                </a:gridCol>
                <a:gridCol w="3604133">
                  <a:extLst>
                    <a:ext uri="{9D8B030D-6E8A-4147-A177-3AD203B41FA5}">
                      <a16:colId xmlns:a16="http://schemas.microsoft.com/office/drawing/2014/main" val="3020695068"/>
                    </a:ext>
                  </a:extLst>
                </a:gridCol>
              </a:tblGrid>
              <a:tr h="610371">
                <a:tc>
                  <a:txBody>
                    <a:bodyPr/>
                    <a:lstStyle/>
                    <a:p>
                      <a:pPr algn="ctr"/>
                      <a:r>
                        <a:rPr lang="en-SG" sz="1400" b="1" dirty="0">
                          <a:latin typeface="Roboto" panose="02000000000000000000" pitchFamily="2" charset="0"/>
                          <a:ea typeface="Roboto" panose="02000000000000000000" pitchFamily="2" charset="0"/>
                          <a:cs typeface="Roboto" panose="02000000000000000000" pitchFamily="2" charset="0"/>
                        </a:rPr>
                        <a:t>S/N</a:t>
                      </a:r>
                    </a:p>
                  </a:txBody>
                  <a:tcPr anchor="ctr"/>
                </a:tc>
                <a:tc>
                  <a:txBody>
                    <a:bodyPr/>
                    <a:lstStyle/>
                    <a:p>
                      <a:pPr algn="ctr"/>
                      <a:r>
                        <a:rPr lang="en-SG" sz="1400" b="1" dirty="0">
                          <a:latin typeface="Roboto" panose="02000000000000000000" pitchFamily="2" charset="0"/>
                          <a:ea typeface="Roboto" panose="02000000000000000000" pitchFamily="2" charset="0"/>
                          <a:cs typeface="Roboto" panose="02000000000000000000" pitchFamily="2" charset="0"/>
                        </a:rPr>
                        <a:t>Type of Sampling Method</a:t>
                      </a:r>
                    </a:p>
                  </a:txBody>
                  <a:tcPr anchor="ctr"/>
                </a:tc>
                <a:tc>
                  <a:txBody>
                    <a:bodyPr/>
                    <a:lstStyle/>
                    <a:p>
                      <a:pPr algn="l"/>
                      <a:r>
                        <a:rPr lang="en-SG" sz="1400" b="1" dirty="0">
                          <a:latin typeface="Roboto" panose="02000000000000000000" pitchFamily="2" charset="0"/>
                          <a:ea typeface="Roboto" panose="02000000000000000000" pitchFamily="2" charset="0"/>
                          <a:cs typeface="Roboto" panose="02000000000000000000" pitchFamily="2" charset="0"/>
                        </a:rPr>
                        <a:t>Illustrative Extract from </a:t>
                      </a:r>
                    </a:p>
                  </a:txBody>
                  <a:tcPr anchor="ctr"/>
                </a:tc>
                <a:extLst>
                  <a:ext uri="{0D108BD9-81ED-4DB2-BD59-A6C34878D82A}">
                    <a16:rowId xmlns:a16="http://schemas.microsoft.com/office/drawing/2014/main" val="1856357672"/>
                  </a:ext>
                </a:extLst>
              </a:tr>
              <a:tr h="3075709">
                <a:tc>
                  <a:txBody>
                    <a:bodyPr/>
                    <a:lstStyle/>
                    <a:p>
                      <a:pPr algn="ctr"/>
                      <a:r>
                        <a:rPr lang="en-SG" sz="1400" dirty="0">
                          <a:latin typeface="Roboto" panose="02000000000000000000" pitchFamily="2" charset="0"/>
                          <a:ea typeface="Roboto" panose="02000000000000000000" pitchFamily="2" charset="0"/>
                          <a:cs typeface="Roboto" panose="02000000000000000000" pitchFamily="2" charset="0"/>
                        </a:rPr>
                        <a:t>1</a:t>
                      </a:r>
                    </a:p>
                  </a:txBody>
                  <a:tcPr anchor="ctr"/>
                </a:tc>
                <a:tc>
                  <a:txBody>
                    <a:bodyPr/>
                    <a:lstStyle/>
                    <a:p>
                      <a:r>
                        <a:rPr lang="en-SG" sz="1400" dirty="0">
                          <a:latin typeface="Roboto" panose="02000000000000000000" pitchFamily="2" charset="0"/>
                          <a:ea typeface="Roboto" panose="02000000000000000000" pitchFamily="2" charset="0"/>
                          <a:cs typeface="Roboto" panose="02000000000000000000" pitchFamily="2" charset="0"/>
                        </a:rPr>
                        <a:t>Monetary Unit Sample Test</a:t>
                      </a:r>
                    </a:p>
                    <a:p>
                      <a:endParaRPr lang="en-SG" sz="1400" dirty="0">
                        <a:latin typeface="Roboto" panose="02000000000000000000" pitchFamily="2" charset="0"/>
                        <a:ea typeface="Roboto" panose="02000000000000000000" pitchFamily="2" charset="0"/>
                        <a:cs typeface="Roboto" panose="02000000000000000000" pitchFamily="2" charset="0"/>
                      </a:endParaRPr>
                    </a:p>
                    <a:p>
                      <a:r>
                        <a:rPr lang="en-SG" sz="1400" dirty="0">
                          <a:latin typeface="Roboto" panose="02000000000000000000" pitchFamily="2" charset="0"/>
                          <a:ea typeface="Roboto" panose="02000000000000000000" pitchFamily="2" charset="0"/>
                          <a:cs typeface="Roboto" panose="02000000000000000000" pitchFamily="2" charset="0"/>
                        </a:rPr>
                        <a:t>(</a:t>
                      </a:r>
                      <a:r>
                        <a:rPr lang="en-US" sz="1400" dirty="0">
                          <a:latin typeface="Roboto" panose="02000000000000000000" pitchFamily="2" charset="0"/>
                          <a:ea typeface="Roboto" panose="02000000000000000000" pitchFamily="2" charset="0"/>
                          <a:cs typeface="Roboto" panose="02000000000000000000" pitchFamily="2" charset="0"/>
                        </a:rPr>
                        <a:t>estimates, extracts and evaluates a statistically selected sample from your data)</a:t>
                      </a:r>
                      <a:endParaRPr lang="en-SG" sz="1400" dirty="0">
                        <a:latin typeface="Roboto" panose="02000000000000000000" pitchFamily="2" charset="0"/>
                        <a:ea typeface="Roboto" panose="02000000000000000000" pitchFamily="2" charset="0"/>
                        <a:cs typeface="Roboto" panose="02000000000000000000" pitchFamily="2" charset="0"/>
                      </a:endParaRPr>
                    </a:p>
                  </a:txBody>
                  <a:tcPr anchor="ctr"/>
                </a:tc>
                <a:tc>
                  <a:txBody>
                    <a:bodyPr/>
                    <a:lstStyle/>
                    <a:p>
                      <a:endParaRPr lang="en-SG" sz="1400" dirty="0">
                        <a:latin typeface="Roboto" panose="02000000000000000000" pitchFamily="2" charset="0"/>
                        <a:ea typeface="Roboto" panose="02000000000000000000" pitchFamily="2" charset="0"/>
                        <a:cs typeface="Roboto" panose="02000000000000000000" pitchFamily="2" charset="0"/>
                      </a:endParaRPr>
                    </a:p>
                  </a:txBody>
                  <a:tcPr anchor="ctr"/>
                </a:tc>
                <a:extLst>
                  <a:ext uri="{0D108BD9-81ED-4DB2-BD59-A6C34878D82A}">
                    <a16:rowId xmlns:a16="http://schemas.microsoft.com/office/drawing/2014/main" val="3313757729"/>
                  </a:ext>
                </a:extLst>
              </a:tr>
              <a:tr h="1077441">
                <a:tc>
                  <a:txBody>
                    <a:bodyPr/>
                    <a:lstStyle/>
                    <a:p>
                      <a:pPr algn="ctr"/>
                      <a:r>
                        <a:rPr lang="en-SG" sz="1400" dirty="0">
                          <a:latin typeface="Roboto" panose="02000000000000000000" pitchFamily="2" charset="0"/>
                          <a:ea typeface="Roboto" panose="02000000000000000000" pitchFamily="2" charset="0"/>
                          <a:cs typeface="Roboto" panose="02000000000000000000" pitchFamily="2" charset="0"/>
                        </a:rPr>
                        <a:t>2</a:t>
                      </a:r>
                    </a:p>
                  </a:txBody>
                  <a:tcPr anchor="ctr"/>
                </a:tc>
                <a:tc>
                  <a:txBody>
                    <a:bodyPr/>
                    <a:lstStyle/>
                    <a:p>
                      <a:r>
                        <a:rPr lang="en-SG" sz="1400" dirty="0">
                          <a:latin typeface="Roboto" panose="02000000000000000000" pitchFamily="2" charset="0"/>
                          <a:ea typeface="Roboto" panose="02000000000000000000" pitchFamily="2" charset="0"/>
                          <a:cs typeface="Roboto" panose="02000000000000000000" pitchFamily="2" charset="0"/>
                        </a:rPr>
                        <a:t>Random Sample Test</a:t>
                      </a:r>
                    </a:p>
                    <a:p>
                      <a:endParaRPr lang="en-SG" sz="1400" dirty="0">
                        <a:latin typeface="Roboto" panose="02000000000000000000" pitchFamily="2" charset="0"/>
                        <a:ea typeface="Roboto" panose="02000000000000000000" pitchFamily="2" charset="0"/>
                        <a:cs typeface="Roboto" panose="02000000000000000000" pitchFamily="2" charset="0"/>
                      </a:endParaRPr>
                    </a:p>
                    <a:p>
                      <a:r>
                        <a:rPr lang="en-US" sz="1400" dirty="0">
                          <a:latin typeface="Roboto" panose="02000000000000000000" pitchFamily="2" charset="0"/>
                          <a:ea typeface="Roboto" panose="02000000000000000000" pitchFamily="2" charset="0"/>
                          <a:cs typeface="Roboto" panose="02000000000000000000" pitchFamily="2" charset="0"/>
                        </a:rPr>
                        <a:t>(extracts several randomly sampled items from your data)</a:t>
                      </a:r>
                      <a:endParaRPr lang="en-SG" sz="1400" dirty="0">
                        <a:latin typeface="Roboto" panose="02000000000000000000" pitchFamily="2" charset="0"/>
                        <a:ea typeface="Roboto" panose="02000000000000000000" pitchFamily="2" charset="0"/>
                        <a:cs typeface="Roboto" panose="02000000000000000000" pitchFamily="2" charset="0"/>
                      </a:endParaRPr>
                    </a:p>
                  </a:txBody>
                  <a:tcPr anchor="ctr"/>
                </a:tc>
                <a:tc>
                  <a:txBody>
                    <a:bodyPr/>
                    <a:lstStyle/>
                    <a:p>
                      <a:endParaRPr lang="en-SG" sz="1400" dirty="0">
                        <a:latin typeface="Roboto" panose="02000000000000000000" pitchFamily="2" charset="0"/>
                        <a:ea typeface="Roboto" panose="02000000000000000000" pitchFamily="2" charset="0"/>
                        <a:cs typeface="Roboto" panose="02000000000000000000" pitchFamily="2" charset="0"/>
                      </a:endParaRPr>
                    </a:p>
                  </a:txBody>
                  <a:tcPr anchor="ctr"/>
                </a:tc>
                <a:extLst>
                  <a:ext uri="{0D108BD9-81ED-4DB2-BD59-A6C34878D82A}">
                    <a16:rowId xmlns:a16="http://schemas.microsoft.com/office/drawing/2014/main" val="1974372195"/>
                  </a:ext>
                </a:extLst>
              </a:tr>
            </a:tbl>
          </a:graphicData>
        </a:graphic>
      </p:graphicFrame>
      <p:pic>
        <p:nvPicPr>
          <p:cNvPr id="10" name="Picture 9" descr="Student Resources">
            <a:extLst>
              <a:ext uri="{FF2B5EF4-FFF2-40B4-BE49-F238E27FC236}">
                <a16:creationId xmlns:a16="http://schemas.microsoft.com/office/drawing/2014/main" id="{D327671C-9AE1-B97C-418F-0B78F70329F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007944" y="1074663"/>
            <a:ext cx="1188589" cy="43858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346EA825-C7D6-925E-34F1-EAD10860484E}"/>
              </a:ext>
            </a:extLst>
          </p:cNvPr>
          <p:cNvPicPr>
            <a:picLocks noChangeAspect="1"/>
          </p:cNvPicPr>
          <p:nvPr/>
        </p:nvPicPr>
        <p:blipFill>
          <a:blip r:embed="rId3"/>
          <a:stretch>
            <a:fillRect/>
          </a:stretch>
        </p:blipFill>
        <p:spPr>
          <a:xfrm>
            <a:off x="8094838" y="1698790"/>
            <a:ext cx="3223539" cy="2857748"/>
          </a:xfrm>
          <a:prstGeom prst="rect">
            <a:avLst/>
          </a:prstGeom>
        </p:spPr>
      </p:pic>
      <p:pic>
        <p:nvPicPr>
          <p:cNvPr id="14" name="Picture 13">
            <a:extLst>
              <a:ext uri="{FF2B5EF4-FFF2-40B4-BE49-F238E27FC236}">
                <a16:creationId xmlns:a16="http://schemas.microsoft.com/office/drawing/2014/main" id="{079AA5F2-14AA-766B-0B03-9DD38E10E992}"/>
              </a:ext>
            </a:extLst>
          </p:cNvPr>
          <p:cNvPicPr>
            <a:picLocks noChangeAspect="1"/>
          </p:cNvPicPr>
          <p:nvPr/>
        </p:nvPicPr>
        <p:blipFill>
          <a:blip r:embed="rId4"/>
          <a:stretch>
            <a:fillRect/>
          </a:stretch>
        </p:blipFill>
        <p:spPr>
          <a:xfrm>
            <a:off x="8170252" y="4978878"/>
            <a:ext cx="3223539" cy="589968"/>
          </a:xfrm>
          <a:prstGeom prst="rect">
            <a:avLst/>
          </a:prstGeom>
          <a:ln w="19050">
            <a:solidFill>
              <a:schemeClr val="bg1">
                <a:lumMod val="65000"/>
              </a:schemeClr>
            </a:solidFill>
          </a:ln>
        </p:spPr>
      </p:pic>
    </p:spTree>
    <p:extLst>
      <p:ext uri="{BB962C8B-B14F-4D97-AF65-F5344CB8AC3E}">
        <p14:creationId xmlns:p14="http://schemas.microsoft.com/office/powerpoint/2010/main" val="1960137682"/>
      </p:ext>
    </p:extLst>
  </p:cSld>
  <p:clrMapOvr>
    <a:masterClrMapping/>
  </p:clrMapOvr>
  <p:transition spd="slow">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G" sz="3599"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2" name="Table 1">
            <a:extLst>
              <a:ext uri="{FF2B5EF4-FFF2-40B4-BE49-F238E27FC236}">
                <a16:creationId xmlns:a16="http://schemas.microsoft.com/office/drawing/2014/main" id="{838D5556-7AD8-26E3-907F-9C77CA2D9FD9}"/>
              </a:ext>
            </a:extLst>
          </p:cNvPr>
          <p:cNvGraphicFramePr>
            <a:graphicFrameLocks noGrp="1"/>
          </p:cNvGraphicFramePr>
          <p:nvPr/>
        </p:nvGraphicFramePr>
        <p:xfrm>
          <a:off x="589484" y="1003434"/>
          <a:ext cx="11013032" cy="3686080"/>
        </p:xfrm>
        <a:graphic>
          <a:graphicData uri="http://schemas.openxmlformats.org/drawingml/2006/table">
            <a:tbl>
              <a:tblPr firstRow="1" bandRow="1">
                <a:tableStyleId>{5940675A-B579-460E-94D1-54222C63F5DA}</a:tableStyleId>
              </a:tblPr>
              <a:tblGrid>
                <a:gridCol w="665199">
                  <a:extLst>
                    <a:ext uri="{9D8B030D-6E8A-4147-A177-3AD203B41FA5}">
                      <a16:colId xmlns:a16="http://schemas.microsoft.com/office/drawing/2014/main" val="333977135"/>
                    </a:ext>
                  </a:extLst>
                </a:gridCol>
                <a:gridCol w="6743700">
                  <a:extLst>
                    <a:ext uri="{9D8B030D-6E8A-4147-A177-3AD203B41FA5}">
                      <a16:colId xmlns:a16="http://schemas.microsoft.com/office/drawing/2014/main" val="3025286572"/>
                    </a:ext>
                  </a:extLst>
                </a:gridCol>
                <a:gridCol w="3604133">
                  <a:extLst>
                    <a:ext uri="{9D8B030D-6E8A-4147-A177-3AD203B41FA5}">
                      <a16:colId xmlns:a16="http://schemas.microsoft.com/office/drawing/2014/main" val="3020695068"/>
                    </a:ext>
                  </a:extLst>
                </a:gridCol>
              </a:tblGrid>
              <a:tr h="610371">
                <a:tc>
                  <a:txBody>
                    <a:bodyPr/>
                    <a:lstStyle/>
                    <a:p>
                      <a:pPr algn="ctr"/>
                      <a:r>
                        <a:rPr lang="en-SG" sz="1400" b="1" dirty="0">
                          <a:latin typeface="Roboto" panose="02000000000000000000" pitchFamily="2" charset="0"/>
                          <a:ea typeface="Roboto" panose="02000000000000000000" pitchFamily="2" charset="0"/>
                          <a:cs typeface="Roboto" panose="02000000000000000000" pitchFamily="2" charset="0"/>
                        </a:rPr>
                        <a:t>S/N</a:t>
                      </a:r>
                    </a:p>
                  </a:txBody>
                  <a:tcPr anchor="ctr"/>
                </a:tc>
                <a:tc>
                  <a:txBody>
                    <a:bodyPr/>
                    <a:lstStyle/>
                    <a:p>
                      <a:pPr algn="ctr"/>
                      <a:r>
                        <a:rPr lang="en-SG" sz="1400" b="1" dirty="0">
                          <a:latin typeface="Roboto" panose="02000000000000000000" pitchFamily="2" charset="0"/>
                          <a:ea typeface="Roboto" panose="02000000000000000000" pitchFamily="2" charset="0"/>
                          <a:cs typeface="Roboto" panose="02000000000000000000" pitchFamily="2" charset="0"/>
                        </a:rPr>
                        <a:t>Type of Sampling Method</a:t>
                      </a:r>
                    </a:p>
                  </a:txBody>
                  <a:tcPr anchor="ctr"/>
                </a:tc>
                <a:tc>
                  <a:txBody>
                    <a:bodyPr/>
                    <a:lstStyle/>
                    <a:p>
                      <a:pPr algn="l"/>
                      <a:r>
                        <a:rPr lang="en-SG" sz="1400" b="1" dirty="0">
                          <a:latin typeface="Roboto" panose="02000000000000000000" pitchFamily="2" charset="0"/>
                          <a:ea typeface="Roboto" panose="02000000000000000000" pitchFamily="2" charset="0"/>
                          <a:cs typeface="Roboto" panose="02000000000000000000" pitchFamily="2" charset="0"/>
                        </a:rPr>
                        <a:t>Illustrative Extract from </a:t>
                      </a:r>
                    </a:p>
                  </a:txBody>
                  <a:tcPr anchor="ctr"/>
                </a:tc>
                <a:extLst>
                  <a:ext uri="{0D108BD9-81ED-4DB2-BD59-A6C34878D82A}">
                    <a16:rowId xmlns:a16="http://schemas.microsoft.com/office/drawing/2014/main" val="1856357672"/>
                  </a:ext>
                </a:extLst>
              </a:tr>
              <a:tr h="3075709">
                <a:tc>
                  <a:txBody>
                    <a:bodyPr/>
                    <a:lstStyle/>
                    <a:p>
                      <a:pPr algn="ctr"/>
                      <a:r>
                        <a:rPr lang="en-SG" sz="1400" dirty="0">
                          <a:latin typeface="Roboto" panose="02000000000000000000" pitchFamily="2" charset="0"/>
                          <a:ea typeface="Roboto" panose="02000000000000000000" pitchFamily="2" charset="0"/>
                          <a:cs typeface="Roboto" panose="02000000000000000000" pitchFamily="2" charset="0"/>
                        </a:rPr>
                        <a:t>3</a:t>
                      </a:r>
                    </a:p>
                  </a:txBody>
                  <a:tcPr anchor="ctr"/>
                </a:tc>
                <a:tc>
                  <a:txBody>
                    <a:bodyPr/>
                    <a:lstStyle/>
                    <a:p>
                      <a:r>
                        <a:rPr lang="en-SG" sz="1400" dirty="0">
                          <a:latin typeface="Roboto" panose="02000000000000000000" pitchFamily="2" charset="0"/>
                          <a:ea typeface="Roboto" panose="02000000000000000000" pitchFamily="2" charset="0"/>
                          <a:cs typeface="Roboto" panose="02000000000000000000" pitchFamily="2" charset="0"/>
                        </a:rPr>
                        <a:t>Systematic Sample Test</a:t>
                      </a:r>
                    </a:p>
                    <a:p>
                      <a:endParaRPr lang="en-SG" sz="1400" dirty="0">
                        <a:latin typeface="Roboto" panose="02000000000000000000" pitchFamily="2" charset="0"/>
                        <a:ea typeface="Roboto" panose="02000000000000000000" pitchFamily="2" charset="0"/>
                        <a:cs typeface="Roboto" panose="02000000000000000000" pitchFamily="2" charset="0"/>
                      </a:endParaRPr>
                    </a:p>
                    <a:p>
                      <a:r>
                        <a:rPr lang="en-SG" sz="1400" dirty="0">
                          <a:latin typeface="Roboto" panose="02000000000000000000" pitchFamily="2" charset="0"/>
                          <a:ea typeface="Roboto" panose="02000000000000000000" pitchFamily="2" charset="0"/>
                          <a:cs typeface="Roboto" panose="02000000000000000000" pitchFamily="2" charset="0"/>
                        </a:rPr>
                        <a:t>(</a:t>
                      </a:r>
                      <a:r>
                        <a:rPr lang="en-US" sz="1400" dirty="0">
                          <a:latin typeface="Roboto" panose="02000000000000000000" pitchFamily="2" charset="0"/>
                          <a:ea typeface="Roboto" panose="02000000000000000000" pitchFamily="2" charset="0"/>
                          <a:cs typeface="Roboto" panose="02000000000000000000" pitchFamily="2" charset="0"/>
                        </a:rPr>
                        <a:t>extracts every ‘nth’ item from your data.)</a:t>
                      </a:r>
                      <a:endParaRPr lang="en-SG" sz="1400" dirty="0">
                        <a:latin typeface="Roboto" panose="02000000000000000000" pitchFamily="2" charset="0"/>
                        <a:ea typeface="Roboto" panose="02000000000000000000" pitchFamily="2" charset="0"/>
                        <a:cs typeface="Roboto" panose="02000000000000000000" pitchFamily="2" charset="0"/>
                      </a:endParaRPr>
                    </a:p>
                  </a:txBody>
                  <a:tcPr anchor="ctr"/>
                </a:tc>
                <a:tc>
                  <a:txBody>
                    <a:bodyPr/>
                    <a:lstStyle/>
                    <a:p>
                      <a:endParaRPr lang="en-SG" sz="1400" dirty="0">
                        <a:latin typeface="Roboto" panose="02000000000000000000" pitchFamily="2" charset="0"/>
                        <a:ea typeface="Roboto" panose="02000000000000000000" pitchFamily="2" charset="0"/>
                        <a:cs typeface="Roboto" panose="02000000000000000000" pitchFamily="2" charset="0"/>
                      </a:endParaRPr>
                    </a:p>
                  </a:txBody>
                  <a:tcPr anchor="ctr"/>
                </a:tc>
                <a:extLst>
                  <a:ext uri="{0D108BD9-81ED-4DB2-BD59-A6C34878D82A}">
                    <a16:rowId xmlns:a16="http://schemas.microsoft.com/office/drawing/2014/main" val="3313757729"/>
                  </a:ext>
                </a:extLst>
              </a:tr>
            </a:tbl>
          </a:graphicData>
        </a:graphic>
      </p:graphicFrame>
      <p:pic>
        <p:nvPicPr>
          <p:cNvPr id="10" name="Picture 9" descr="Student Resources">
            <a:extLst>
              <a:ext uri="{FF2B5EF4-FFF2-40B4-BE49-F238E27FC236}">
                <a16:creationId xmlns:a16="http://schemas.microsoft.com/office/drawing/2014/main" id="{D327671C-9AE1-B97C-418F-0B78F70329F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007944" y="1074663"/>
            <a:ext cx="1188589" cy="43858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32CA05E-ACBB-5585-01AC-B83ACCBA22C5}"/>
              </a:ext>
            </a:extLst>
          </p:cNvPr>
          <p:cNvPicPr>
            <a:picLocks noChangeAspect="1"/>
          </p:cNvPicPr>
          <p:nvPr/>
        </p:nvPicPr>
        <p:blipFill>
          <a:blip r:embed="rId3"/>
          <a:stretch>
            <a:fillRect/>
          </a:stretch>
        </p:blipFill>
        <p:spPr>
          <a:xfrm>
            <a:off x="8022368" y="1684311"/>
            <a:ext cx="2940039" cy="2884567"/>
          </a:xfrm>
          <a:prstGeom prst="rect">
            <a:avLst/>
          </a:prstGeom>
        </p:spPr>
      </p:pic>
      <p:sp>
        <p:nvSpPr>
          <p:cNvPr id="5" name="Google Shape;190;p2">
            <a:extLst>
              <a:ext uri="{FF2B5EF4-FFF2-40B4-BE49-F238E27FC236}">
                <a16:creationId xmlns:a16="http://schemas.microsoft.com/office/drawing/2014/main" id="{C7789B6D-9BB6-458E-311E-0AEA25A8B35E}"/>
              </a:ext>
            </a:extLst>
          </p:cNvPr>
          <p:cNvSpPr txBox="1"/>
          <p:nvPr/>
        </p:nvSpPr>
        <p:spPr>
          <a:xfrm>
            <a:off x="589484" y="99808"/>
            <a:ext cx="11348566" cy="705517"/>
          </a:xfrm>
          <a:prstGeom prst="rect">
            <a:avLst/>
          </a:prstGeom>
          <a:noFill/>
          <a:ln>
            <a:noFill/>
          </a:ln>
        </p:spPr>
        <p:txBody>
          <a:bodyPr spcFirstLastPara="1" wrap="square" lIns="89116" tIns="44547" rIns="89116" bIns="44547" anchor="t" anchorCtr="0">
            <a:spAutoFit/>
          </a:bodyPr>
          <a:lstStyle/>
          <a:p>
            <a:pPr marL="0" marR="0" lvl="0" indent="0" algn="l" defTabSz="891317" rtl="0" eaLnBrk="1" fontAlgn="auto" latinLnBrk="0" hangingPunct="1">
              <a:lnSpc>
                <a:spcPct val="100000"/>
              </a:lnSpc>
              <a:spcBef>
                <a:spcPts val="0"/>
              </a:spcBef>
              <a:spcAft>
                <a:spcPts val="0"/>
              </a:spcAft>
              <a:buClr>
                <a:srgbClr val="000000"/>
              </a:buClr>
              <a:buSzTx/>
              <a:buFontTx/>
              <a:buNone/>
              <a:tabLst/>
              <a:defRPr/>
            </a:pPr>
            <a:r>
              <a:rPr kumimoji="0" lang="en-US" sz="22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Internal Audit Plan – General Sampling</a:t>
            </a:r>
            <a:r>
              <a:rPr lang="en-US" sz="2200" b="1" kern="0" dirty="0">
                <a:solidFill>
                  <a:prstClr val="black">
                    <a:lumMod val="75000"/>
                    <a:lumOff val="25000"/>
                  </a:prstClr>
                </a:solidFill>
                <a:latin typeface="Roboto" panose="02000000000000000000" pitchFamily="2" charset="0"/>
                <a:ea typeface="Roboto" panose="02000000000000000000" pitchFamily="2" charset="0"/>
                <a:cs typeface="Roboto"/>
                <a:sym typeface="Roboto"/>
              </a:rPr>
              <a:t> Flow (An Illustration)</a:t>
            </a:r>
            <a:endParaRPr kumimoji="0" lang="en-US" sz="22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endParaRPr>
          </a:p>
          <a:p>
            <a:pPr marL="0" marR="0" lvl="0" indent="0" algn="l" defTabSz="891317" rtl="0" eaLnBrk="1" fontAlgn="auto" latinLnBrk="0" hangingPunct="1">
              <a:lnSpc>
                <a:spcPct val="100000"/>
              </a:lnSpc>
              <a:spcBef>
                <a:spcPts val="0"/>
              </a:spcBef>
              <a:spcAft>
                <a:spcPts val="0"/>
              </a:spcAft>
              <a:buClr>
                <a:srgbClr val="000000"/>
              </a:buClr>
              <a:buSzTx/>
              <a:buFontTx/>
              <a:buNone/>
              <a:tabLst/>
              <a:defRPr/>
            </a:pPr>
            <a:r>
              <a:rPr kumimoji="0" lang="en-US"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 Types of Sampling Methods</a:t>
            </a:r>
            <a:endParaRPr kumimoji="0" lang="en-US" sz="20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endParaRPr>
          </a:p>
        </p:txBody>
      </p:sp>
    </p:spTree>
    <p:extLst>
      <p:ext uri="{BB962C8B-B14F-4D97-AF65-F5344CB8AC3E}">
        <p14:creationId xmlns:p14="http://schemas.microsoft.com/office/powerpoint/2010/main" val="3103234190"/>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G" sz="3599"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2" name="Table 1">
            <a:extLst>
              <a:ext uri="{FF2B5EF4-FFF2-40B4-BE49-F238E27FC236}">
                <a16:creationId xmlns:a16="http://schemas.microsoft.com/office/drawing/2014/main" id="{838D5556-7AD8-26E3-907F-9C77CA2D9FD9}"/>
              </a:ext>
            </a:extLst>
          </p:cNvPr>
          <p:cNvGraphicFramePr>
            <a:graphicFrameLocks noGrp="1"/>
          </p:cNvGraphicFramePr>
          <p:nvPr/>
        </p:nvGraphicFramePr>
        <p:xfrm>
          <a:off x="589484" y="1003434"/>
          <a:ext cx="11013032" cy="4784302"/>
        </p:xfrm>
        <a:graphic>
          <a:graphicData uri="http://schemas.openxmlformats.org/drawingml/2006/table">
            <a:tbl>
              <a:tblPr firstRow="1" bandRow="1">
                <a:tableStyleId>{5940675A-B579-460E-94D1-54222C63F5DA}</a:tableStyleId>
              </a:tblPr>
              <a:tblGrid>
                <a:gridCol w="665199">
                  <a:extLst>
                    <a:ext uri="{9D8B030D-6E8A-4147-A177-3AD203B41FA5}">
                      <a16:colId xmlns:a16="http://schemas.microsoft.com/office/drawing/2014/main" val="333977135"/>
                    </a:ext>
                  </a:extLst>
                </a:gridCol>
                <a:gridCol w="2974417">
                  <a:extLst>
                    <a:ext uri="{9D8B030D-6E8A-4147-A177-3AD203B41FA5}">
                      <a16:colId xmlns:a16="http://schemas.microsoft.com/office/drawing/2014/main" val="3025286572"/>
                    </a:ext>
                  </a:extLst>
                </a:gridCol>
                <a:gridCol w="7373416">
                  <a:extLst>
                    <a:ext uri="{9D8B030D-6E8A-4147-A177-3AD203B41FA5}">
                      <a16:colId xmlns:a16="http://schemas.microsoft.com/office/drawing/2014/main" val="3020695068"/>
                    </a:ext>
                  </a:extLst>
                </a:gridCol>
              </a:tblGrid>
              <a:tr h="610371">
                <a:tc>
                  <a:txBody>
                    <a:bodyPr/>
                    <a:lstStyle/>
                    <a:p>
                      <a:pPr algn="ctr"/>
                      <a:r>
                        <a:rPr lang="en-SG" sz="1400" b="1" dirty="0">
                          <a:latin typeface="Roboto" panose="02000000000000000000" pitchFamily="2" charset="0"/>
                          <a:ea typeface="Roboto" panose="02000000000000000000" pitchFamily="2" charset="0"/>
                          <a:cs typeface="Roboto" panose="02000000000000000000" pitchFamily="2" charset="0"/>
                        </a:rPr>
                        <a:t>S/N</a:t>
                      </a:r>
                    </a:p>
                  </a:txBody>
                  <a:tcPr anchor="ctr"/>
                </a:tc>
                <a:tc>
                  <a:txBody>
                    <a:bodyPr/>
                    <a:lstStyle/>
                    <a:p>
                      <a:pPr algn="ctr"/>
                      <a:r>
                        <a:rPr lang="en-SG" sz="1400" b="1" dirty="0">
                          <a:latin typeface="Roboto" panose="02000000000000000000" pitchFamily="2" charset="0"/>
                          <a:ea typeface="Roboto" panose="02000000000000000000" pitchFamily="2" charset="0"/>
                          <a:cs typeface="Roboto" panose="02000000000000000000" pitchFamily="2" charset="0"/>
                        </a:rPr>
                        <a:t>Type of Sampling Method</a:t>
                      </a:r>
                    </a:p>
                  </a:txBody>
                  <a:tcPr anchor="ctr"/>
                </a:tc>
                <a:tc>
                  <a:txBody>
                    <a:bodyPr/>
                    <a:lstStyle/>
                    <a:p>
                      <a:pPr algn="ctr"/>
                      <a:r>
                        <a:rPr lang="en-SG" sz="1400" b="1" dirty="0">
                          <a:latin typeface="Roboto" panose="02000000000000000000" pitchFamily="2" charset="0"/>
                          <a:ea typeface="Roboto" panose="02000000000000000000" pitchFamily="2" charset="0"/>
                          <a:cs typeface="Roboto" panose="02000000000000000000" pitchFamily="2" charset="0"/>
                        </a:rPr>
                        <a:t>Illustrative Extract from </a:t>
                      </a:r>
                    </a:p>
                  </a:txBody>
                  <a:tcPr anchor="ctr"/>
                </a:tc>
                <a:extLst>
                  <a:ext uri="{0D108BD9-81ED-4DB2-BD59-A6C34878D82A}">
                    <a16:rowId xmlns:a16="http://schemas.microsoft.com/office/drawing/2014/main" val="1856357672"/>
                  </a:ext>
                </a:extLst>
              </a:tr>
              <a:tr h="4173931">
                <a:tc>
                  <a:txBody>
                    <a:bodyPr/>
                    <a:lstStyle/>
                    <a:p>
                      <a:pPr algn="ctr"/>
                      <a:r>
                        <a:rPr lang="en-SG" sz="1400" dirty="0">
                          <a:latin typeface="Roboto" panose="02000000000000000000" pitchFamily="2" charset="0"/>
                          <a:ea typeface="Roboto" panose="02000000000000000000" pitchFamily="2" charset="0"/>
                          <a:cs typeface="Roboto" panose="02000000000000000000" pitchFamily="2" charset="0"/>
                        </a:rPr>
                        <a:t>4</a:t>
                      </a:r>
                    </a:p>
                  </a:txBody>
                  <a:tcPr anchor="ctr"/>
                </a:tc>
                <a:tc>
                  <a:txBody>
                    <a:bodyPr/>
                    <a:lstStyle/>
                    <a:p>
                      <a:pPr algn="l"/>
                      <a:r>
                        <a:rPr lang="en-SG" sz="1400" dirty="0">
                          <a:latin typeface="Roboto" panose="02000000000000000000" pitchFamily="2" charset="0"/>
                          <a:ea typeface="Roboto" panose="02000000000000000000" pitchFamily="2" charset="0"/>
                          <a:cs typeface="Roboto" panose="02000000000000000000" pitchFamily="2" charset="0"/>
                        </a:rPr>
                        <a:t>Stratified Sample Test</a:t>
                      </a:r>
                    </a:p>
                    <a:p>
                      <a:pPr algn="l"/>
                      <a:endParaRPr lang="en-SG" sz="1400" dirty="0">
                        <a:latin typeface="Roboto" panose="02000000000000000000" pitchFamily="2" charset="0"/>
                        <a:ea typeface="Roboto" panose="02000000000000000000" pitchFamily="2" charset="0"/>
                        <a:cs typeface="Roboto" panose="02000000000000000000" pitchFamily="2" charset="0"/>
                      </a:endParaRPr>
                    </a:p>
                    <a:p>
                      <a:pPr algn="l"/>
                      <a:r>
                        <a:rPr lang="en-SG" sz="1400" dirty="0">
                          <a:latin typeface="Roboto" panose="02000000000000000000" pitchFamily="2" charset="0"/>
                          <a:ea typeface="Roboto" panose="02000000000000000000" pitchFamily="2" charset="0"/>
                          <a:cs typeface="Roboto" panose="02000000000000000000" pitchFamily="2" charset="0"/>
                        </a:rPr>
                        <a:t>(</a:t>
                      </a:r>
                      <a:r>
                        <a:rPr lang="en-US" sz="1400" dirty="0">
                          <a:latin typeface="Roboto" panose="02000000000000000000" pitchFamily="2" charset="0"/>
                          <a:ea typeface="Roboto" panose="02000000000000000000" pitchFamily="2" charset="0"/>
                          <a:cs typeface="Roboto" panose="02000000000000000000" pitchFamily="2" charset="0"/>
                        </a:rPr>
                        <a:t>splits your data into bands based on a numeric or date column, and selects a random sample from each band)</a:t>
                      </a:r>
                      <a:endParaRPr lang="en-SG" sz="1400" dirty="0">
                        <a:latin typeface="Roboto" panose="02000000000000000000" pitchFamily="2" charset="0"/>
                        <a:ea typeface="Roboto" panose="02000000000000000000" pitchFamily="2" charset="0"/>
                        <a:cs typeface="Roboto" panose="02000000000000000000" pitchFamily="2" charset="0"/>
                      </a:endParaRPr>
                    </a:p>
                  </a:txBody>
                  <a:tcPr anchor="ctr"/>
                </a:tc>
                <a:tc>
                  <a:txBody>
                    <a:bodyPr/>
                    <a:lstStyle/>
                    <a:p>
                      <a:pPr algn="ctr"/>
                      <a:endParaRPr lang="en-SG" sz="1400" dirty="0">
                        <a:latin typeface="Roboto" panose="02000000000000000000" pitchFamily="2" charset="0"/>
                        <a:ea typeface="Roboto" panose="02000000000000000000" pitchFamily="2" charset="0"/>
                        <a:cs typeface="Roboto" panose="02000000000000000000" pitchFamily="2" charset="0"/>
                      </a:endParaRPr>
                    </a:p>
                  </a:txBody>
                  <a:tcPr anchor="ctr"/>
                </a:tc>
                <a:extLst>
                  <a:ext uri="{0D108BD9-81ED-4DB2-BD59-A6C34878D82A}">
                    <a16:rowId xmlns:a16="http://schemas.microsoft.com/office/drawing/2014/main" val="3313757729"/>
                  </a:ext>
                </a:extLst>
              </a:tr>
            </a:tbl>
          </a:graphicData>
        </a:graphic>
      </p:graphicFrame>
      <p:pic>
        <p:nvPicPr>
          <p:cNvPr id="10" name="Picture 9" descr="Student Resources">
            <a:extLst>
              <a:ext uri="{FF2B5EF4-FFF2-40B4-BE49-F238E27FC236}">
                <a16:creationId xmlns:a16="http://schemas.microsoft.com/office/drawing/2014/main" id="{D327671C-9AE1-B97C-418F-0B78F70329F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927290" y="1083013"/>
            <a:ext cx="1188589" cy="43858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3F3155E-8DAE-F14E-15E9-CE7C81917968}"/>
              </a:ext>
            </a:extLst>
          </p:cNvPr>
          <p:cNvPicPr>
            <a:picLocks noChangeAspect="1"/>
          </p:cNvPicPr>
          <p:nvPr/>
        </p:nvPicPr>
        <p:blipFill>
          <a:blip r:embed="rId3"/>
          <a:stretch>
            <a:fillRect/>
          </a:stretch>
        </p:blipFill>
        <p:spPr>
          <a:xfrm>
            <a:off x="4353402" y="1732842"/>
            <a:ext cx="7064658" cy="3843653"/>
          </a:xfrm>
          <a:prstGeom prst="rect">
            <a:avLst/>
          </a:prstGeom>
          <a:ln w="19050">
            <a:solidFill>
              <a:schemeClr val="bg1">
                <a:lumMod val="65000"/>
              </a:schemeClr>
            </a:solidFill>
          </a:ln>
        </p:spPr>
      </p:pic>
      <p:sp>
        <p:nvSpPr>
          <p:cNvPr id="5" name="Google Shape;190;p2">
            <a:extLst>
              <a:ext uri="{FF2B5EF4-FFF2-40B4-BE49-F238E27FC236}">
                <a16:creationId xmlns:a16="http://schemas.microsoft.com/office/drawing/2014/main" id="{B459283F-9C70-83CF-B80F-8732487D00C8}"/>
              </a:ext>
            </a:extLst>
          </p:cNvPr>
          <p:cNvSpPr txBox="1"/>
          <p:nvPr/>
        </p:nvSpPr>
        <p:spPr>
          <a:xfrm>
            <a:off x="589484" y="99808"/>
            <a:ext cx="11348566" cy="705517"/>
          </a:xfrm>
          <a:prstGeom prst="rect">
            <a:avLst/>
          </a:prstGeom>
          <a:noFill/>
          <a:ln>
            <a:noFill/>
          </a:ln>
        </p:spPr>
        <p:txBody>
          <a:bodyPr spcFirstLastPara="1" wrap="square" lIns="89116" tIns="44547" rIns="89116" bIns="44547" anchor="t" anchorCtr="0">
            <a:spAutoFit/>
          </a:bodyPr>
          <a:lstStyle/>
          <a:p>
            <a:pPr marL="0" marR="0" lvl="0" indent="0" algn="l" defTabSz="891317" rtl="0" eaLnBrk="1" fontAlgn="auto" latinLnBrk="0" hangingPunct="1">
              <a:lnSpc>
                <a:spcPct val="100000"/>
              </a:lnSpc>
              <a:spcBef>
                <a:spcPts val="0"/>
              </a:spcBef>
              <a:spcAft>
                <a:spcPts val="0"/>
              </a:spcAft>
              <a:buClr>
                <a:srgbClr val="000000"/>
              </a:buClr>
              <a:buSzTx/>
              <a:buFontTx/>
              <a:buNone/>
              <a:tabLst/>
              <a:defRPr/>
            </a:pPr>
            <a:r>
              <a:rPr kumimoji="0" lang="en-US" sz="22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Internal Audit Plan – General Sampling</a:t>
            </a:r>
            <a:r>
              <a:rPr lang="en-US" sz="2200" b="1" kern="0" dirty="0">
                <a:solidFill>
                  <a:prstClr val="black">
                    <a:lumMod val="75000"/>
                    <a:lumOff val="25000"/>
                  </a:prstClr>
                </a:solidFill>
                <a:latin typeface="Roboto" panose="02000000000000000000" pitchFamily="2" charset="0"/>
                <a:ea typeface="Roboto" panose="02000000000000000000" pitchFamily="2" charset="0"/>
                <a:cs typeface="Roboto"/>
                <a:sym typeface="Roboto"/>
              </a:rPr>
              <a:t> Flow (An Illustration)</a:t>
            </a:r>
            <a:endParaRPr kumimoji="0" lang="en-US" sz="22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endParaRPr>
          </a:p>
          <a:p>
            <a:pPr marL="0" marR="0" lvl="0" indent="0" algn="l" defTabSz="891317" rtl="0" eaLnBrk="1" fontAlgn="auto" latinLnBrk="0" hangingPunct="1">
              <a:lnSpc>
                <a:spcPct val="100000"/>
              </a:lnSpc>
              <a:spcBef>
                <a:spcPts val="0"/>
              </a:spcBef>
              <a:spcAft>
                <a:spcPts val="0"/>
              </a:spcAft>
              <a:buClr>
                <a:srgbClr val="000000"/>
              </a:buClr>
              <a:buSzTx/>
              <a:buFontTx/>
              <a:buNone/>
              <a:tabLst/>
              <a:defRPr/>
            </a:pPr>
            <a:r>
              <a:rPr kumimoji="0" lang="en-US"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 Types of Sampling Methods</a:t>
            </a:r>
            <a:endParaRPr kumimoji="0" lang="en-US" sz="20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endParaRPr>
          </a:p>
        </p:txBody>
      </p:sp>
    </p:spTree>
    <p:extLst>
      <p:ext uri="{BB962C8B-B14F-4D97-AF65-F5344CB8AC3E}">
        <p14:creationId xmlns:p14="http://schemas.microsoft.com/office/powerpoint/2010/main" val="221562773"/>
      </p:ext>
    </p:extLst>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G" sz="3599"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2" name="Table 1">
            <a:extLst>
              <a:ext uri="{FF2B5EF4-FFF2-40B4-BE49-F238E27FC236}">
                <a16:creationId xmlns:a16="http://schemas.microsoft.com/office/drawing/2014/main" id="{838D5556-7AD8-26E3-907F-9C77CA2D9FD9}"/>
              </a:ext>
            </a:extLst>
          </p:cNvPr>
          <p:cNvGraphicFramePr>
            <a:graphicFrameLocks noGrp="1"/>
          </p:cNvGraphicFramePr>
          <p:nvPr/>
        </p:nvGraphicFramePr>
        <p:xfrm>
          <a:off x="589484" y="1003434"/>
          <a:ext cx="11013032" cy="4784302"/>
        </p:xfrm>
        <a:graphic>
          <a:graphicData uri="http://schemas.openxmlformats.org/drawingml/2006/table">
            <a:tbl>
              <a:tblPr firstRow="1" bandRow="1">
                <a:tableStyleId>{5940675A-B579-460E-94D1-54222C63F5DA}</a:tableStyleId>
              </a:tblPr>
              <a:tblGrid>
                <a:gridCol w="665199">
                  <a:extLst>
                    <a:ext uri="{9D8B030D-6E8A-4147-A177-3AD203B41FA5}">
                      <a16:colId xmlns:a16="http://schemas.microsoft.com/office/drawing/2014/main" val="333977135"/>
                    </a:ext>
                  </a:extLst>
                </a:gridCol>
                <a:gridCol w="6341072">
                  <a:extLst>
                    <a:ext uri="{9D8B030D-6E8A-4147-A177-3AD203B41FA5}">
                      <a16:colId xmlns:a16="http://schemas.microsoft.com/office/drawing/2014/main" val="3025286572"/>
                    </a:ext>
                  </a:extLst>
                </a:gridCol>
                <a:gridCol w="4006761">
                  <a:extLst>
                    <a:ext uri="{9D8B030D-6E8A-4147-A177-3AD203B41FA5}">
                      <a16:colId xmlns:a16="http://schemas.microsoft.com/office/drawing/2014/main" val="3020695068"/>
                    </a:ext>
                  </a:extLst>
                </a:gridCol>
              </a:tblGrid>
              <a:tr h="610371">
                <a:tc>
                  <a:txBody>
                    <a:bodyPr/>
                    <a:lstStyle/>
                    <a:p>
                      <a:pPr algn="ctr"/>
                      <a:r>
                        <a:rPr lang="en-SG" sz="1400" b="1" dirty="0">
                          <a:latin typeface="Roboto" panose="02000000000000000000" pitchFamily="2" charset="0"/>
                          <a:ea typeface="Roboto" panose="02000000000000000000" pitchFamily="2" charset="0"/>
                          <a:cs typeface="Roboto" panose="02000000000000000000" pitchFamily="2" charset="0"/>
                        </a:rPr>
                        <a:t>S/N</a:t>
                      </a:r>
                    </a:p>
                  </a:txBody>
                  <a:tcPr anchor="ctr"/>
                </a:tc>
                <a:tc>
                  <a:txBody>
                    <a:bodyPr/>
                    <a:lstStyle/>
                    <a:p>
                      <a:pPr algn="ctr"/>
                      <a:r>
                        <a:rPr lang="en-SG" sz="1400" b="1" dirty="0">
                          <a:latin typeface="Roboto" panose="02000000000000000000" pitchFamily="2" charset="0"/>
                          <a:ea typeface="Roboto" panose="02000000000000000000" pitchFamily="2" charset="0"/>
                          <a:cs typeface="Roboto" panose="02000000000000000000" pitchFamily="2" charset="0"/>
                        </a:rPr>
                        <a:t>Type of Sampling Method</a:t>
                      </a:r>
                    </a:p>
                  </a:txBody>
                  <a:tcPr anchor="ctr"/>
                </a:tc>
                <a:tc>
                  <a:txBody>
                    <a:bodyPr/>
                    <a:lstStyle/>
                    <a:p>
                      <a:pPr algn="l"/>
                      <a:r>
                        <a:rPr lang="en-SG" sz="1400" b="1" dirty="0">
                          <a:latin typeface="Roboto" panose="02000000000000000000" pitchFamily="2" charset="0"/>
                          <a:ea typeface="Roboto" panose="02000000000000000000" pitchFamily="2" charset="0"/>
                          <a:cs typeface="Roboto" panose="02000000000000000000" pitchFamily="2" charset="0"/>
                        </a:rPr>
                        <a:t>Illustrative Extract from </a:t>
                      </a:r>
                    </a:p>
                  </a:txBody>
                  <a:tcPr anchor="ctr"/>
                </a:tc>
                <a:extLst>
                  <a:ext uri="{0D108BD9-81ED-4DB2-BD59-A6C34878D82A}">
                    <a16:rowId xmlns:a16="http://schemas.microsoft.com/office/drawing/2014/main" val="1856357672"/>
                  </a:ext>
                </a:extLst>
              </a:tr>
              <a:tr h="4173931">
                <a:tc>
                  <a:txBody>
                    <a:bodyPr/>
                    <a:lstStyle/>
                    <a:p>
                      <a:pPr algn="ctr"/>
                      <a:r>
                        <a:rPr lang="en-SG" sz="1400" dirty="0">
                          <a:latin typeface="Roboto" panose="02000000000000000000" pitchFamily="2" charset="0"/>
                          <a:ea typeface="Roboto" panose="02000000000000000000" pitchFamily="2" charset="0"/>
                          <a:cs typeface="Roboto" panose="02000000000000000000" pitchFamily="2" charset="0"/>
                        </a:rPr>
                        <a:t>5</a:t>
                      </a:r>
                    </a:p>
                  </a:txBody>
                  <a:tcPr anchor="ctr"/>
                </a:tc>
                <a:tc>
                  <a:txBody>
                    <a:bodyPr/>
                    <a:lstStyle/>
                    <a:p>
                      <a:pPr algn="l"/>
                      <a:r>
                        <a:rPr lang="en-SG" sz="1400" dirty="0">
                          <a:latin typeface="Roboto" panose="02000000000000000000" pitchFamily="2" charset="0"/>
                          <a:ea typeface="Roboto" panose="02000000000000000000" pitchFamily="2" charset="0"/>
                          <a:cs typeface="Roboto" panose="02000000000000000000" pitchFamily="2" charset="0"/>
                        </a:rPr>
                        <a:t>Attributes Sample Test</a:t>
                      </a:r>
                    </a:p>
                    <a:p>
                      <a:pPr algn="l"/>
                      <a:endParaRPr lang="en-SG" sz="1400" dirty="0">
                        <a:latin typeface="Roboto" panose="02000000000000000000" pitchFamily="2" charset="0"/>
                        <a:ea typeface="Roboto" panose="02000000000000000000" pitchFamily="2" charset="0"/>
                        <a:cs typeface="Roboto" panose="02000000000000000000" pitchFamily="2" charset="0"/>
                      </a:endParaRPr>
                    </a:p>
                    <a:p>
                      <a:pPr algn="l"/>
                      <a:r>
                        <a:rPr lang="en-SG" sz="1400" dirty="0">
                          <a:latin typeface="Roboto" panose="02000000000000000000" pitchFamily="2" charset="0"/>
                          <a:ea typeface="Roboto" panose="02000000000000000000" pitchFamily="2" charset="0"/>
                          <a:cs typeface="Roboto" panose="02000000000000000000" pitchFamily="2" charset="0"/>
                        </a:rPr>
                        <a:t>(</a:t>
                      </a:r>
                      <a:r>
                        <a:rPr lang="en-US" sz="1400" dirty="0">
                          <a:latin typeface="Roboto" panose="02000000000000000000" pitchFamily="2" charset="0"/>
                          <a:ea typeface="Roboto" panose="02000000000000000000" pitchFamily="2" charset="0"/>
                          <a:cs typeface="Roboto" panose="02000000000000000000" pitchFamily="2" charset="0"/>
                        </a:rPr>
                        <a:t>calculates a sample size based on methodologies published by the IIA and AICPA then extracts the samples using Random or Systematic methods. You can also evaluate the results of the tested samples.)</a:t>
                      </a:r>
                      <a:endParaRPr lang="en-SG" sz="1400" dirty="0">
                        <a:latin typeface="Roboto" panose="02000000000000000000" pitchFamily="2" charset="0"/>
                        <a:ea typeface="Roboto" panose="02000000000000000000" pitchFamily="2" charset="0"/>
                        <a:cs typeface="Roboto" panose="02000000000000000000" pitchFamily="2" charset="0"/>
                      </a:endParaRPr>
                    </a:p>
                  </a:txBody>
                  <a:tcPr anchor="ctr"/>
                </a:tc>
                <a:tc>
                  <a:txBody>
                    <a:bodyPr/>
                    <a:lstStyle/>
                    <a:p>
                      <a:pPr algn="ctr"/>
                      <a:endParaRPr lang="en-SG" sz="1400" dirty="0">
                        <a:latin typeface="Roboto" panose="02000000000000000000" pitchFamily="2" charset="0"/>
                        <a:ea typeface="Roboto" panose="02000000000000000000" pitchFamily="2" charset="0"/>
                        <a:cs typeface="Roboto" panose="02000000000000000000" pitchFamily="2" charset="0"/>
                      </a:endParaRPr>
                    </a:p>
                  </a:txBody>
                  <a:tcPr anchor="ctr"/>
                </a:tc>
                <a:extLst>
                  <a:ext uri="{0D108BD9-81ED-4DB2-BD59-A6C34878D82A}">
                    <a16:rowId xmlns:a16="http://schemas.microsoft.com/office/drawing/2014/main" val="3313757729"/>
                  </a:ext>
                </a:extLst>
              </a:tr>
            </a:tbl>
          </a:graphicData>
        </a:graphic>
      </p:graphicFrame>
      <p:pic>
        <p:nvPicPr>
          <p:cNvPr id="10" name="Picture 9" descr="Student Resources">
            <a:extLst>
              <a:ext uri="{FF2B5EF4-FFF2-40B4-BE49-F238E27FC236}">
                <a16:creationId xmlns:a16="http://schemas.microsoft.com/office/drawing/2014/main" id="{D327671C-9AE1-B97C-418F-0B78F70329F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685826" y="1089135"/>
            <a:ext cx="1188589" cy="43858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34E805C-6DCB-9781-9AD5-9211AC3F4801}"/>
              </a:ext>
            </a:extLst>
          </p:cNvPr>
          <p:cNvPicPr>
            <a:picLocks noChangeAspect="1"/>
          </p:cNvPicPr>
          <p:nvPr/>
        </p:nvPicPr>
        <p:blipFill>
          <a:blip r:embed="rId3"/>
          <a:stretch>
            <a:fillRect/>
          </a:stretch>
        </p:blipFill>
        <p:spPr>
          <a:xfrm>
            <a:off x="7723413" y="1659130"/>
            <a:ext cx="3779323" cy="3997200"/>
          </a:xfrm>
          <a:prstGeom prst="rect">
            <a:avLst/>
          </a:prstGeom>
        </p:spPr>
      </p:pic>
      <p:sp>
        <p:nvSpPr>
          <p:cNvPr id="5" name="Google Shape;190;p2">
            <a:extLst>
              <a:ext uri="{FF2B5EF4-FFF2-40B4-BE49-F238E27FC236}">
                <a16:creationId xmlns:a16="http://schemas.microsoft.com/office/drawing/2014/main" id="{72F49B6D-7A25-4FF0-4E86-172EA3469ECE}"/>
              </a:ext>
            </a:extLst>
          </p:cNvPr>
          <p:cNvSpPr txBox="1"/>
          <p:nvPr/>
        </p:nvSpPr>
        <p:spPr>
          <a:xfrm>
            <a:off x="589484" y="99808"/>
            <a:ext cx="11348566" cy="705517"/>
          </a:xfrm>
          <a:prstGeom prst="rect">
            <a:avLst/>
          </a:prstGeom>
          <a:noFill/>
          <a:ln>
            <a:noFill/>
          </a:ln>
        </p:spPr>
        <p:txBody>
          <a:bodyPr spcFirstLastPara="1" wrap="square" lIns="89116" tIns="44547" rIns="89116" bIns="44547" anchor="t" anchorCtr="0">
            <a:spAutoFit/>
          </a:bodyPr>
          <a:lstStyle/>
          <a:p>
            <a:pPr marL="0" marR="0" lvl="0" indent="0" algn="l" defTabSz="891317" rtl="0" eaLnBrk="1" fontAlgn="auto" latinLnBrk="0" hangingPunct="1">
              <a:lnSpc>
                <a:spcPct val="100000"/>
              </a:lnSpc>
              <a:spcBef>
                <a:spcPts val="0"/>
              </a:spcBef>
              <a:spcAft>
                <a:spcPts val="0"/>
              </a:spcAft>
              <a:buClr>
                <a:srgbClr val="000000"/>
              </a:buClr>
              <a:buSzTx/>
              <a:buFontTx/>
              <a:buNone/>
              <a:tabLst/>
              <a:defRPr/>
            </a:pPr>
            <a:r>
              <a:rPr kumimoji="0" lang="en-US" sz="22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Internal Audit Plan – General Sampling</a:t>
            </a:r>
            <a:r>
              <a:rPr lang="en-US" sz="2200" b="1" kern="0" dirty="0">
                <a:solidFill>
                  <a:prstClr val="black">
                    <a:lumMod val="75000"/>
                    <a:lumOff val="25000"/>
                  </a:prstClr>
                </a:solidFill>
                <a:latin typeface="Roboto" panose="02000000000000000000" pitchFamily="2" charset="0"/>
                <a:ea typeface="Roboto" panose="02000000000000000000" pitchFamily="2" charset="0"/>
                <a:cs typeface="Roboto"/>
                <a:sym typeface="Roboto"/>
              </a:rPr>
              <a:t> Flow (An Illustration)</a:t>
            </a:r>
            <a:endParaRPr kumimoji="0" lang="en-US" sz="22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endParaRPr>
          </a:p>
          <a:p>
            <a:pPr marL="0" marR="0" lvl="0" indent="0" algn="l" defTabSz="891317" rtl="0" eaLnBrk="1" fontAlgn="auto" latinLnBrk="0" hangingPunct="1">
              <a:lnSpc>
                <a:spcPct val="100000"/>
              </a:lnSpc>
              <a:spcBef>
                <a:spcPts val="0"/>
              </a:spcBef>
              <a:spcAft>
                <a:spcPts val="0"/>
              </a:spcAft>
              <a:buClr>
                <a:srgbClr val="000000"/>
              </a:buClr>
              <a:buSzTx/>
              <a:buFontTx/>
              <a:buNone/>
              <a:tabLst/>
              <a:defRPr/>
            </a:pPr>
            <a:r>
              <a:rPr kumimoji="0" lang="en-US"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 Types of Sampling Methods</a:t>
            </a:r>
            <a:endParaRPr kumimoji="0" lang="en-US" sz="20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endParaRPr>
          </a:p>
        </p:txBody>
      </p:sp>
    </p:spTree>
    <p:extLst>
      <p:ext uri="{BB962C8B-B14F-4D97-AF65-F5344CB8AC3E}">
        <p14:creationId xmlns:p14="http://schemas.microsoft.com/office/powerpoint/2010/main" val="1600268350"/>
      </p:ext>
    </p:extLst>
  </p:cSld>
  <p:clrMapOvr>
    <a:masterClrMapping/>
  </p:clrMapOvr>
  <p:transition spd="slow">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EEAE8B62-2DE3-93D6-DFEE-D15940E59362}"/>
              </a:ext>
            </a:extLst>
          </p:cNvPr>
          <p:cNvSpPr txBox="1"/>
          <p:nvPr/>
        </p:nvSpPr>
        <p:spPr>
          <a:xfrm>
            <a:off x="605955" y="18611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Internal Audit Plan – Our Sampling Methodology</a:t>
            </a:r>
          </a:p>
        </p:txBody>
      </p:sp>
      <p:sp>
        <p:nvSpPr>
          <p:cNvPr id="2" name="TextBox 1">
            <a:extLst>
              <a:ext uri="{FF2B5EF4-FFF2-40B4-BE49-F238E27FC236}">
                <a16:creationId xmlns:a16="http://schemas.microsoft.com/office/drawing/2014/main" id="{52D959FE-270E-1BFA-4868-C0E6D5CF3A8B}"/>
              </a:ext>
            </a:extLst>
          </p:cNvPr>
          <p:cNvSpPr txBox="1"/>
          <p:nvPr/>
        </p:nvSpPr>
        <p:spPr>
          <a:xfrm>
            <a:off x="727218" y="1174323"/>
            <a:ext cx="9086646"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Roboto" panose="02000000000000000000" pitchFamily="2" charset="0"/>
                <a:ea typeface="Roboto" panose="02000000000000000000" pitchFamily="2" charset="0"/>
                <a:cs typeface="Roboto" panose="02000000000000000000" pitchFamily="2" charset="0"/>
              </a:rPr>
              <a:t>The samples will be selected and capped as follows:</a:t>
            </a:r>
            <a:endParaRPr kumimoji="0" lang="en-SG" sz="1600" b="1" i="0" u="none" strike="noStrike" kern="1200" cap="none" spc="0" normalizeH="0" baseline="0" noProof="0" dirty="0">
              <a:ln>
                <a:noFill/>
              </a:ln>
              <a:solidFill>
                <a:srgbClr val="C00000"/>
              </a:solidFill>
              <a:effectLst/>
              <a:uLnTx/>
              <a:uFillTx/>
              <a:latin typeface="Roboto" panose="02000000000000000000" pitchFamily="2" charset="0"/>
              <a:ea typeface="Roboto" panose="02000000000000000000" pitchFamily="2" charset="0"/>
              <a:cs typeface="Roboto" panose="02000000000000000000" pitchFamily="2" charset="0"/>
            </a:endParaRPr>
          </a:p>
        </p:txBody>
      </p:sp>
      <p:graphicFrame>
        <p:nvGraphicFramePr>
          <p:cNvPr id="6" name="Table 5">
            <a:extLst>
              <a:ext uri="{FF2B5EF4-FFF2-40B4-BE49-F238E27FC236}">
                <a16:creationId xmlns:a16="http://schemas.microsoft.com/office/drawing/2014/main" id="{419EC9B1-4717-F107-7942-FB921FE5F413}"/>
              </a:ext>
            </a:extLst>
          </p:cNvPr>
          <p:cNvGraphicFramePr>
            <a:graphicFrameLocks noGrp="1"/>
          </p:cNvGraphicFramePr>
          <p:nvPr/>
        </p:nvGraphicFramePr>
        <p:xfrm>
          <a:off x="771099" y="1589494"/>
          <a:ext cx="10681738" cy="4458769"/>
        </p:xfrm>
        <a:graphic>
          <a:graphicData uri="http://schemas.openxmlformats.org/drawingml/2006/table">
            <a:tbl>
              <a:tblPr firstRow="1" firstCol="1" bandRow="1"/>
              <a:tblGrid>
                <a:gridCol w="3348842">
                  <a:extLst>
                    <a:ext uri="{9D8B030D-6E8A-4147-A177-3AD203B41FA5}">
                      <a16:colId xmlns:a16="http://schemas.microsoft.com/office/drawing/2014/main" val="20000"/>
                    </a:ext>
                  </a:extLst>
                </a:gridCol>
                <a:gridCol w="2774612">
                  <a:extLst>
                    <a:ext uri="{9D8B030D-6E8A-4147-A177-3AD203B41FA5}">
                      <a16:colId xmlns:a16="http://schemas.microsoft.com/office/drawing/2014/main" val="20001"/>
                    </a:ext>
                  </a:extLst>
                </a:gridCol>
                <a:gridCol w="1602265">
                  <a:extLst>
                    <a:ext uri="{9D8B030D-6E8A-4147-A177-3AD203B41FA5}">
                      <a16:colId xmlns:a16="http://schemas.microsoft.com/office/drawing/2014/main" val="20002"/>
                    </a:ext>
                  </a:extLst>
                </a:gridCol>
                <a:gridCol w="1728236">
                  <a:extLst>
                    <a:ext uri="{9D8B030D-6E8A-4147-A177-3AD203B41FA5}">
                      <a16:colId xmlns:a16="http://schemas.microsoft.com/office/drawing/2014/main" val="20003"/>
                    </a:ext>
                  </a:extLst>
                </a:gridCol>
                <a:gridCol w="1227783">
                  <a:extLst>
                    <a:ext uri="{9D8B030D-6E8A-4147-A177-3AD203B41FA5}">
                      <a16:colId xmlns:a16="http://schemas.microsoft.com/office/drawing/2014/main" val="20004"/>
                    </a:ext>
                  </a:extLst>
                </a:gridCol>
              </a:tblGrid>
              <a:tr h="418428">
                <a:tc>
                  <a:txBody>
                    <a:bodyPr/>
                    <a:lstStyle>
                      <a:lvl1pPr marL="0" algn="l" defTabSz="371475" rtl="0" eaLnBrk="1" latinLnBrk="0" hangingPunct="1">
                        <a:defRPr sz="1463" b="1" kern="1200">
                          <a:solidFill>
                            <a:schemeClr val="lt1"/>
                          </a:solidFill>
                          <a:latin typeface="Gill Sans MT"/>
                        </a:defRPr>
                      </a:lvl1pPr>
                      <a:lvl2pPr marL="371475" algn="l" defTabSz="371475" rtl="0" eaLnBrk="1" latinLnBrk="0" hangingPunct="1">
                        <a:defRPr sz="1463" b="1" kern="1200">
                          <a:solidFill>
                            <a:schemeClr val="lt1"/>
                          </a:solidFill>
                          <a:latin typeface="Gill Sans MT"/>
                        </a:defRPr>
                      </a:lvl2pPr>
                      <a:lvl3pPr marL="742950" algn="l" defTabSz="371475" rtl="0" eaLnBrk="1" latinLnBrk="0" hangingPunct="1">
                        <a:defRPr sz="1463" b="1" kern="1200">
                          <a:solidFill>
                            <a:schemeClr val="lt1"/>
                          </a:solidFill>
                          <a:latin typeface="Gill Sans MT"/>
                        </a:defRPr>
                      </a:lvl3pPr>
                      <a:lvl4pPr marL="1114425" algn="l" defTabSz="371475" rtl="0" eaLnBrk="1" latinLnBrk="0" hangingPunct="1">
                        <a:defRPr sz="1463" b="1" kern="1200">
                          <a:solidFill>
                            <a:schemeClr val="lt1"/>
                          </a:solidFill>
                          <a:latin typeface="Gill Sans MT"/>
                        </a:defRPr>
                      </a:lvl4pPr>
                      <a:lvl5pPr marL="1485900" algn="l" defTabSz="371475" rtl="0" eaLnBrk="1" latinLnBrk="0" hangingPunct="1">
                        <a:defRPr sz="1463" b="1" kern="1200">
                          <a:solidFill>
                            <a:schemeClr val="lt1"/>
                          </a:solidFill>
                          <a:latin typeface="Gill Sans MT"/>
                        </a:defRPr>
                      </a:lvl5pPr>
                      <a:lvl6pPr marL="1857375" algn="l" defTabSz="371475" rtl="0" eaLnBrk="1" latinLnBrk="0" hangingPunct="1">
                        <a:defRPr sz="1463" b="1" kern="1200">
                          <a:solidFill>
                            <a:schemeClr val="lt1"/>
                          </a:solidFill>
                          <a:latin typeface="Gill Sans MT"/>
                        </a:defRPr>
                      </a:lvl6pPr>
                      <a:lvl7pPr marL="2228850" algn="l" defTabSz="371475" rtl="0" eaLnBrk="1" latinLnBrk="0" hangingPunct="1">
                        <a:defRPr sz="1463" b="1" kern="1200">
                          <a:solidFill>
                            <a:schemeClr val="lt1"/>
                          </a:solidFill>
                          <a:latin typeface="Gill Sans MT"/>
                        </a:defRPr>
                      </a:lvl7pPr>
                      <a:lvl8pPr marL="2600325" algn="l" defTabSz="371475" rtl="0" eaLnBrk="1" latinLnBrk="0" hangingPunct="1">
                        <a:defRPr sz="1463" b="1" kern="1200">
                          <a:solidFill>
                            <a:schemeClr val="lt1"/>
                          </a:solidFill>
                          <a:latin typeface="Gill Sans MT"/>
                        </a:defRPr>
                      </a:lvl8pPr>
                      <a:lvl9pPr marL="2971800" algn="l" defTabSz="371475" rtl="0" eaLnBrk="1" latinLnBrk="0" hangingPunct="1">
                        <a:defRPr sz="1463" b="1" kern="1200">
                          <a:solidFill>
                            <a:schemeClr val="lt1"/>
                          </a:solidFill>
                          <a:latin typeface="Gill Sans MT"/>
                        </a:defRPr>
                      </a:lvl9pPr>
                    </a:lstStyle>
                    <a:p>
                      <a:pPr marL="0" marR="0">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Frequency of control activity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tc>
                  <a:txBody>
                    <a:bodyPr/>
                    <a:lstStyle>
                      <a:lvl1pPr marL="0" algn="l" defTabSz="371475" rtl="0" eaLnBrk="1" latinLnBrk="0" hangingPunct="1">
                        <a:defRPr sz="1463" b="1" kern="1200">
                          <a:solidFill>
                            <a:schemeClr val="lt1"/>
                          </a:solidFill>
                          <a:latin typeface="Gill Sans MT"/>
                        </a:defRPr>
                      </a:lvl1pPr>
                      <a:lvl2pPr marL="371475" algn="l" defTabSz="371475" rtl="0" eaLnBrk="1" latinLnBrk="0" hangingPunct="1">
                        <a:defRPr sz="1463" b="1" kern="1200">
                          <a:solidFill>
                            <a:schemeClr val="lt1"/>
                          </a:solidFill>
                          <a:latin typeface="Gill Sans MT"/>
                        </a:defRPr>
                      </a:lvl2pPr>
                      <a:lvl3pPr marL="742950" algn="l" defTabSz="371475" rtl="0" eaLnBrk="1" latinLnBrk="0" hangingPunct="1">
                        <a:defRPr sz="1463" b="1" kern="1200">
                          <a:solidFill>
                            <a:schemeClr val="lt1"/>
                          </a:solidFill>
                          <a:latin typeface="Gill Sans MT"/>
                        </a:defRPr>
                      </a:lvl3pPr>
                      <a:lvl4pPr marL="1114425" algn="l" defTabSz="371475" rtl="0" eaLnBrk="1" latinLnBrk="0" hangingPunct="1">
                        <a:defRPr sz="1463" b="1" kern="1200">
                          <a:solidFill>
                            <a:schemeClr val="lt1"/>
                          </a:solidFill>
                          <a:latin typeface="Gill Sans MT"/>
                        </a:defRPr>
                      </a:lvl4pPr>
                      <a:lvl5pPr marL="1485900" algn="l" defTabSz="371475" rtl="0" eaLnBrk="1" latinLnBrk="0" hangingPunct="1">
                        <a:defRPr sz="1463" b="1" kern="1200">
                          <a:solidFill>
                            <a:schemeClr val="lt1"/>
                          </a:solidFill>
                          <a:latin typeface="Gill Sans MT"/>
                        </a:defRPr>
                      </a:lvl5pPr>
                      <a:lvl6pPr marL="1857375" algn="l" defTabSz="371475" rtl="0" eaLnBrk="1" latinLnBrk="0" hangingPunct="1">
                        <a:defRPr sz="1463" b="1" kern="1200">
                          <a:solidFill>
                            <a:schemeClr val="lt1"/>
                          </a:solidFill>
                          <a:latin typeface="Gill Sans MT"/>
                        </a:defRPr>
                      </a:lvl6pPr>
                      <a:lvl7pPr marL="2228850" algn="l" defTabSz="371475" rtl="0" eaLnBrk="1" latinLnBrk="0" hangingPunct="1">
                        <a:defRPr sz="1463" b="1" kern="1200">
                          <a:solidFill>
                            <a:schemeClr val="lt1"/>
                          </a:solidFill>
                          <a:latin typeface="Gill Sans MT"/>
                        </a:defRPr>
                      </a:lvl7pPr>
                      <a:lvl8pPr marL="2600325" algn="l" defTabSz="371475" rtl="0" eaLnBrk="1" latinLnBrk="0" hangingPunct="1">
                        <a:defRPr sz="1463" b="1" kern="1200">
                          <a:solidFill>
                            <a:schemeClr val="lt1"/>
                          </a:solidFill>
                          <a:latin typeface="Gill Sans MT"/>
                        </a:defRPr>
                      </a:lvl8pPr>
                      <a:lvl9pPr marL="2971800" algn="l" defTabSz="371475" rtl="0" eaLnBrk="1" latinLnBrk="0" hangingPunct="1">
                        <a:defRPr sz="1463" b="1" kern="1200">
                          <a:solidFill>
                            <a:schemeClr val="lt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Assumed transactions size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tc gridSpan="3">
                  <a:txBody>
                    <a:bodyPr/>
                    <a:lstStyle>
                      <a:lvl1pPr marL="0" algn="l" defTabSz="371475" rtl="0" eaLnBrk="1" latinLnBrk="0" hangingPunct="1">
                        <a:defRPr sz="1463" b="1" kern="1200">
                          <a:solidFill>
                            <a:schemeClr val="lt1"/>
                          </a:solidFill>
                          <a:latin typeface="Gill Sans MT"/>
                        </a:defRPr>
                      </a:lvl1pPr>
                      <a:lvl2pPr marL="371475" algn="l" defTabSz="371475" rtl="0" eaLnBrk="1" latinLnBrk="0" hangingPunct="1">
                        <a:defRPr sz="1463" b="1" kern="1200">
                          <a:solidFill>
                            <a:schemeClr val="lt1"/>
                          </a:solidFill>
                          <a:latin typeface="Gill Sans MT"/>
                        </a:defRPr>
                      </a:lvl2pPr>
                      <a:lvl3pPr marL="742950" algn="l" defTabSz="371475" rtl="0" eaLnBrk="1" latinLnBrk="0" hangingPunct="1">
                        <a:defRPr sz="1463" b="1" kern="1200">
                          <a:solidFill>
                            <a:schemeClr val="lt1"/>
                          </a:solidFill>
                          <a:latin typeface="Gill Sans MT"/>
                        </a:defRPr>
                      </a:lvl3pPr>
                      <a:lvl4pPr marL="1114425" algn="l" defTabSz="371475" rtl="0" eaLnBrk="1" latinLnBrk="0" hangingPunct="1">
                        <a:defRPr sz="1463" b="1" kern="1200">
                          <a:solidFill>
                            <a:schemeClr val="lt1"/>
                          </a:solidFill>
                          <a:latin typeface="Gill Sans MT"/>
                        </a:defRPr>
                      </a:lvl4pPr>
                      <a:lvl5pPr marL="1485900" algn="l" defTabSz="371475" rtl="0" eaLnBrk="1" latinLnBrk="0" hangingPunct="1">
                        <a:defRPr sz="1463" b="1" kern="1200">
                          <a:solidFill>
                            <a:schemeClr val="lt1"/>
                          </a:solidFill>
                          <a:latin typeface="Gill Sans MT"/>
                        </a:defRPr>
                      </a:lvl5pPr>
                      <a:lvl6pPr marL="1857375" algn="l" defTabSz="371475" rtl="0" eaLnBrk="1" latinLnBrk="0" hangingPunct="1">
                        <a:defRPr sz="1463" b="1" kern="1200">
                          <a:solidFill>
                            <a:schemeClr val="lt1"/>
                          </a:solidFill>
                          <a:latin typeface="Gill Sans MT"/>
                        </a:defRPr>
                      </a:lvl6pPr>
                      <a:lvl7pPr marL="2228850" algn="l" defTabSz="371475" rtl="0" eaLnBrk="1" latinLnBrk="0" hangingPunct="1">
                        <a:defRPr sz="1463" b="1" kern="1200">
                          <a:solidFill>
                            <a:schemeClr val="lt1"/>
                          </a:solidFill>
                          <a:latin typeface="Gill Sans MT"/>
                        </a:defRPr>
                      </a:lvl7pPr>
                      <a:lvl8pPr marL="2600325" algn="l" defTabSz="371475" rtl="0" eaLnBrk="1" latinLnBrk="0" hangingPunct="1">
                        <a:defRPr sz="1463" b="1" kern="1200">
                          <a:solidFill>
                            <a:schemeClr val="lt1"/>
                          </a:solidFill>
                          <a:latin typeface="Gill Sans MT"/>
                        </a:defRPr>
                      </a:lvl8pPr>
                      <a:lvl9pPr marL="2971800" algn="l" defTabSz="371475" rtl="0" eaLnBrk="1" latinLnBrk="0" hangingPunct="1">
                        <a:defRPr sz="1463" b="1" kern="1200">
                          <a:solidFill>
                            <a:schemeClr val="lt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Minimum sample size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18428">
                <a:tc>
                  <a:txBody>
                    <a:bodyPr/>
                    <a:lstStyle>
                      <a:lvl1pPr marL="0" algn="l" defTabSz="371475" rtl="0" eaLnBrk="1" latinLnBrk="0" hangingPunct="1">
                        <a:defRPr sz="1463" b="1" kern="1200">
                          <a:solidFill>
                            <a:schemeClr val="lt1"/>
                          </a:solidFill>
                          <a:latin typeface="Gill Sans MT"/>
                        </a:defRPr>
                      </a:lvl1pPr>
                      <a:lvl2pPr marL="371475" algn="l" defTabSz="371475" rtl="0" eaLnBrk="1" latinLnBrk="0" hangingPunct="1">
                        <a:defRPr sz="1463" b="1" kern="1200">
                          <a:solidFill>
                            <a:schemeClr val="lt1"/>
                          </a:solidFill>
                          <a:latin typeface="Gill Sans MT"/>
                        </a:defRPr>
                      </a:lvl2pPr>
                      <a:lvl3pPr marL="742950" algn="l" defTabSz="371475" rtl="0" eaLnBrk="1" latinLnBrk="0" hangingPunct="1">
                        <a:defRPr sz="1463" b="1" kern="1200">
                          <a:solidFill>
                            <a:schemeClr val="lt1"/>
                          </a:solidFill>
                          <a:latin typeface="Gill Sans MT"/>
                        </a:defRPr>
                      </a:lvl3pPr>
                      <a:lvl4pPr marL="1114425" algn="l" defTabSz="371475" rtl="0" eaLnBrk="1" latinLnBrk="0" hangingPunct="1">
                        <a:defRPr sz="1463" b="1" kern="1200">
                          <a:solidFill>
                            <a:schemeClr val="lt1"/>
                          </a:solidFill>
                          <a:latin typeface="Gill Sans MT"/>
                        </a:defRPr>
                      </a:lvl4pPr>
                      <a:lvl5pPr marL="1485900" algn="l" defTabSz="371475" rtl="0" eaLnBrk="1" latinLnBrk="0" hangingPunct="1">
                        <a:defRPr sz="1463" b="1" kern="1200">
                          <a:solidFill>
                            <a:schemeClr val="lt1"/>
                          </a:solidFill>
                          <a:latin typeface="Gill Sans MT"/>
                        </a:defRPr>
                      </a:lvl5pPr>
                      <a:lvl6pPr marL="1857375" algn="l" defTabSz="371475" rtl="0" eaLnBrk="1" latinLnBrk="0" hangingPunct="1">
                        <a:defRPr sz="1463" b="1" kern="1200">
                          <a:solidFill>
                            <a:schemeClr val="lt1"/>
                          </a:solidFill>
                          <a:latin typeface="Gill Sans MT"/>
                        </a:defRPr>
                      </a:lvl6pPr>
                      <a:lvl7pPr marL="2228850" algn="l" defTabSz="371475" rtl="0" eaLnBrk="1" latinLnBrk="0" hangingPunct="1">
                        <a:defRPr sz="1463" b="1" kern="1200">
                          <a:solidFill>
                            <a:schemeClr val="lt1"/>
                          </a:solidFill>
                          <a:latin typeface="Gill Sans MT"/>
                        </a:defRPr>
                      </a:lvl7pPr>
                      <a:lvl8pPr marL="2600325" algn="l" defTabSz="371475" rtl="0" eaLnBrk="1" latinLnBrk="0" hangingPunct="1">
                        <a:defRPr sz="1463" b="1" kern="1200">
                          <a:solidFill>
                            <a:schemeClr val="lt1"/>
                          </a:solidFill>
                          <a:latin typeface="Gill Sans MT"/>
                        </a:defRPr>
                      </a:lvl8pPr>
                      <a:lvl9pPr marL="2971800" algn="l" defTabSz="371475" rtl="0" eaLnBrk="1" latinLnBrk="0" hangingPunct="1">
                        <a:defRPr sz="1463" b="1" kern="1200">
                          <a:solidFill>
                            <a:schemeClr val="lt1"/>
                          </a:solidFill>
                          <a:latin typeface="Gill Sans MT"/>
                        </a:defRPr>
                      </a:lvl9pPr>
                    </a:lstStyle>
                    <a:p>
                      <a:pPr>
                        <a:lnSpc>
                          <a:spcPct val="115000"/>
                        </a:lnSpc>
                      </a:pPr>
                      <a:endParaRPr lang="en-US" sz="16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a:lnSpc>
                          <a:spcPct val="115000"/>
                        </a:lnSpc>
                      </a:pP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gridSpan="3">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b="1" kern="1200" dirty="0">
                          <a:effectLst/>
                          <a:latin typeface="Roboto" panose="02000000000000000000" pitchFamily="2" charset="0"/>
                          <a:ea typeface="Roboto" panose="02000000000000000000" pitchFamily="2" charset="0"/>
                          <a:cs typeface="Roboto" panose="02000000000000000000" pitchFamily="2" charset="0"/>
                        </a:rPr>
                        <a:t>Risk of failure </a:t>
                      </a:r>
                      <a:endParaRPr lang="en-US" sz="1600" b="1"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18428">
                <a:tc>
                  <a:txBody>
                    <a:bodyPr/>
                    <a:lstStyle>
                      <a:lvl1pPr marL="0" algn="l" defTabSz="371475" rtl="0" eaLnBrk="1" latinLnBrk="0" hangingPunct="1">
                        <a:defRPr sz="1463" b="1" kern="1200">
                          <a:solidFill>
                            <a:schemeClr val="lt1"/>
                          </a:solidFill>
                          <a:latin typeface="Gill Sans MT"/>
                        </a:defRPr>
                      </a:lvl1pPr>
                      <a:lvl2pPr marL="371475" algn="l" defTabSz="371475" rtl="0" eaLnBrk="1" latinLnBrk="0" hangingPunct="1">
                        <a:defRPr sz="1463" b="1" kern="1200">
                          <a:solidFill>
                            <a:schemeClr val="lt1"/>
                          </a:solidFill>
                          <a:latin typeface="Gill Sans MT"/>
                        </a:defRPr>
                      </a:lvl2pPr>
                      <a:lvl3pPr marL="742950" algn="l" defTabSz="371475" rtl="0" eaLnBrk="1" latinLnBrk="0" hangingPunct="1">
                        <a:defRPr sz="1463" b="1" kern="1200">
                          <a:solidFill>
                            <a:schemeClr val="lt1"/>
                          </a:solidFill>
                          <a:latin typeface="Gill Sans MT"/>
                        </a:defRPr>
                      </a:lvl3pPr>
                      <a:lvl4pPr marL="1114425" algn="l" defTabSz="371475" rtl="0" eaLnBrk="1" latinLnBrk="0" hangingPunct="1">
                        <a:defRPr sz="1463" b="1" kern="1200">
                          <a:solidFill>
                            <a:schemeClr val="lt1"/>
                          </a:solidFill>
                          <a:latin typeface="Gill Sans MT"/>
                        </a:defRPr>
                      </a:lvl4pPr>
                      <a:lvl5pPr marL="1485900" algn="l" defTabSz="371475" rtl="0" eaLnBrk="1" latinLnBrk="0" hangingPunct="1">
                        <a:defRPr sz="1463" b="1" kern="1200">
                          <a:solidFill>
                            <a:schemeClr val="lt1"/>
                          </a:solidFill>
                          <a:latin typeface="Gill Sans MT"/>
                        </a:defRPr>
                      </a:lvl5pPr>
                      <a:lvl6pPr marL="1857375" algn="l" defTabSz="371475" rtl="0" eaLnBrk="1" latinLnBrk="0" hangingPunct="1">
                        <a:defRPr sz="1463" b="1" kern="1200">
                          <a:solidFill>
                            <a:schemeClr val="lt1"/>
                          </a:solidFill>
                          <a:latin typeface="Gill Sans MT"/>
                        </a:defRPr>
                      </a:lvl6pPr>
                      <a:lvl7pPr marL="2228850" algn="l" defTabSz="371475" rtl="0" eaLnBrk="1" latinLnBrk="0" hangingPunct="1">
                        <a:defRPr sz="1463" b="1" kern="1200">
                          <a:solidFill>
                            <a:schemeClr val="lt1"/>
                          </a:solidFill>
                          <a:latin typeface="Gill Sans MT"/>
                        </a:defRPr>
                      </a:lvl7pPr>
                      <a:lvl8pPr marL="2600325" algn="l" defTabSz="371475" rtl="0" eaLnBrk="1" latinLnBrk="0" hangingPunct="1">
                        <a:defRPr sz="1463" b="1" kern="1200">
                          <a:solidFill>
                            <a:schemeClr val="lt1"/>
                          </a:solidFill>
                          <a:latin typeface="Gill Sans MT"/>
                        </a:defRPr>
                      </a:lvl8pPr>
                      <a:lvl9pPr marL="2971800" algn="l" defTabSz="371475" rtl="0" eaLnBrk="1" latinLnBrk="0" hangingPunct="1">
                        <a:defRPr sz="1463" b="1" kern="1200">
                          <a:solidFill>
                            <a:schemeClr val="lt1"/>
                          </a:solidFill>
                          <a:latin typeface="Gill Sans MT"/>
                        </a:defRPr>
                      </a:lvl9pPr>
                    </a:lstStyle>
                    <a:p>
                      <a:pPr>
                        <a:lnSpc>
                          <a:spcPct val="115000"/>
                        </a:lnSpc>
                      </a:pPr>
                      <a:endParaRPr lang="en-US" sz="16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a:lnSpc>
                          <a:spcPct val="115000"/>
                        </a:lnSpc>
                      </a:pP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b="1" kern="1200" dirty="0">
                          <a:solidFill>
                            <a:schemeClr val="bg1"/>
                          </a:solidFill>
                          <a:effectLst/>
                          <a:latin typeface="Roboto" panose="02000000000000000000" pitchFamily="2" charset="0"/>
                          <a:ea typeface="Roboto" panose="02000000000000000000" pitchFamily="2" charset="0"/>
                          <a:cs typeface="Roboto" panose="02000000000000000000" pitchFamily="2" charset="0"/>
                        </a:rPr>
                        <a:t>High </a:t>
                      </a:r>
                      <a:endParaRPr lang="en-US" sz="1600" b="1"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0000"/>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b="1" kern="1200" dirty="0">
                          <a:solidFill>
                            <a:schemeClr val="bg1"/>
                          </a:solidFill>
                          <a:effectLst/>
                          <a:latin typeface="Roboto" panose="02000000000000000000" pitchFamily="2" charset="0"/>
                          <a:ea typeface="Roboto" panose="02000000000000000000" pitchFamily="2" charset="0"/>
                          <a:cs typeface="Roboto" panose="02000000000000000000" pitchFamily="2" charset="0"/>
                        </a:rPr>
                        <a:t>Medium </a:t>
                      </a:r>
                      <a:endParaRPr lang="en-US" sz="1600" b="1"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6600"/>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b="1" kern="1200" dirty="0">
                          <a:solidFill>
                            <a:schemeClr val="bg1"/>
                          </a:solidFill>
                          <a:effectLst/>
                          <a:latin typeface="Roboto" panose="02000000000000000000" pitchFamily="2" charset="0"/>
                          <a:ea typeface="Roboto" panose="02000000000000000000" pitchFamily="2" charset="0"/>
                          <a:cs typeface="Roboto" panose="02000000000000000000" pitchFamily="2" charset="0"/>
                        </a:rPr>
                        <a:t>Low </a:t>
                      </a:r>
                      <a:endParaRPr lang="en-US" sz="1600" b="1"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000"/>
                    </a:solidFill>
                  </a:tcPr>
                </a:tc>
                <a:extLst>
                  <a:ext uri="{0D108BD9-81ED-4DB2-BD59-A6C34878D82A}">
                    <a16:rowId xmlns:a16="http://schemas.microsoft.com/office/drawing/2014/main" val="10002"/>
                  </a:ext>
                </a:extLst>
              </a:tr>
              <a:tr h="418428">
                <a:tc>
                  <a:txBody>
                    <a:bodyPr/>
                    <a:lstStyle>
                      <a:lvl1pPr marL="0" algn="l" defTabSz="371475" rtl="0" eaLnBrk="1" latinLnBrk="0" hangingPunct="1">
                        <a:defRPr sz="1463" b="1" kern="1200">
                          <a:solidFill>
                            <a:schemeClr val="lt1"/>
                          </a:solidFill>
                          <a:latin typeface="Gill Sans MT"/>
                        </a:defRPr>
                      </a:lvl1pPr>
                      <a:lvl2pPr marL="371475" algn="l" defTabSz="371475" rtl="0" eaLnBrk="1" latinLnBrk="0" hangingPunct="1">
                        <a:defRPr sz="1463" b="1" kern="1200">
                          <a:solidFill>
                            <a:schemeClr val="lt1"/>
                          </a:solidFill>
                          <a:latin typeface="Gill Sans MT"/>
                        </a:defRPr>
                      </a:lvl2pPr>
                      <a:lvl3pPr marL="742950" algn="l" defTabSz="371475" rtl="0" eaLnBrk="1" latinLnBrk="0" hangingPunct="1">
                        <a:defRPr sz="1463" b="1" kern="1200">
                          <a:solidFill>
                            <a:schemeClr val="lt1"/>
                          </a:solidFill>
                          <a:latin typeface="Gill Sans MT"/>
                        </a:defRPr>
                      </a:lvl3pPr>
                      <a:lvl4pPr marL="1114425" algn="l" defTabSz="371475" rtl="0" eaLnBrk="1" latinLnBrk="0" hangingPunct="1">
                        <a:defRPr sz="1463" b="1" kern="1200">
                          <a:solidFill>
                            <a:schemeClr val="lt1"/>
                          </a:solidFill>
                          <a:latin typeface="Gill Sans MT"/>
                        </a:defRPr>
                      </a:lvl4pPr>
                      <a:lvl5pPr marL="1485900" algn="l" defTabSz="371475" rtl="0" eaLnBrk="1" latinLnBrk="0" hangingPunct="1">
                        <a:defRPr sz="1463" b="1" kern="1200">
                          <a:solidFill>
                            <a:schemeClr val="lt1"/>
                          </a:solidFill>
                          <a:latin typeface="Gill Sans MT"/>
                        </a:defRPr>
                      </a:lvl5pPr>
                      <a:lvl6pPr marL="1857375" algn="l" defTabSz="371475" rtl="0" eaLnBrk="1" latinLnBrk="0" hangingPunct="1">
                        <a:defRPr sz="1463" b="1" kern="1200">
                          <a:solidFill>
                            <a:schemeClr val="lt1"/>
                          </a:solidFill>
                          <a:latin typeface="Gill Sans MT"/>
                        </a:defRPr>
                      </a:lvl6pPr>
                      <a:lvl7pPr marL="2228850" algn="l" defTabSz="371475" rtl="0" eaLnBrk="1" latinLnBrk="0" hangingPunct="1">
                        <a:defRPr sz="1463" b="1" kern="1200">
                          <a:solidFill>
                            <a:schemeClr val="lt1"/>
                          </a:solidFill>
                          <a:latin typeface="Gill Sans MT"/>
                        </a:defRPr>
                      </a:lvl7pPr>
                      <a:lvl8pPr marL="2600325" algn="l" defTabSz="371475" rtl="0" eaLnBrk="1" latinLnBrk="0" hangingPunct="1">
                        <a:defRPr sz="1463" b="1" kern="1200">
                          <a:solidFill>
                            <a:schemeClr val="lt1"/>
                          </a:solidFill>
                          <a:latin typeface="Gill Sans MT"/>
                        </a:defRPr>
                      </a:lvl8pPr>
                      <a:lvl9pPr marL="2971800" algn="l" defTabSz="371475" rtl="0" eaLnBrk="1" latinLnBrk="0" hangingPunct="1">
                        <a:defRPr sz="1463" b="1" kern="1200">
                          <a:solidFill>
                            <a:schemeClr val="lt1"/>
                          </a:solidFill>
                          <a:latin typeface="Gill Sans MT"/>
                        </a:defRPr>
                      </a:lvl9pPr>
                    </a:lstStyle>
                    <a:p>
                      <a:pPr marL="0" marR="0">
                        <a:lnSpc>
                          <a:spcPct val="115000"/>
                        </a:lnSpc>
                        <a:spcBef>
                          <a:spcPts val="0"/>
                        </a:spcBef>
                        <a:spcAft>
                          <a:spcPts val="0"/>
                        </a:spcAft>
                      </a:pPr>
                      <a:r>
                        <a:rPr lang="en-SG" sz="1600"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Annual </a:t>
                      </a:r>
                      <a:endParaRPr lang="en-US" sz="16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1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1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1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1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3"/>
                  </a:ext>
                </a:extLst>
              </a:tr>
              <a:tr h="418428">
                <a:tc>
                  <a:txBody>
                    <a:bodyPr/>
                    <a:lstStyle>
                      <a:lvl1pPr marL="0" algn="l" defTabSz="371475" rtl="0" eaLnBrk="1" latinLnBrk="0" hangingPunct="1">
                        <a:defRPr sz="1463" b="1" kern="1200">
                          <a:solidFill>
                            <a:schemeClr val="lt1"/>
                          </a:solidFill>
                          <a:latin typeface="Gill Sans MT"/>
                        </a:defRPr>
                      </a:lvl1pPr>
                      <a:lvl2pPr marL="371475" algn="l" defTabSz="371475" rtl="0" eaLnBrk="1" latinLnBrk="0" hangingPunct="1">
                        <a:defRPr sz="1463" b="1" kern="1200">
                          <a:solidFill>
                            <a:schemeClr val="lt1"/>
                          </a:solidFill>
                          <a:latin typeface="Gill Sans MT"/>
                        </a:defRPr>
                      </a:lvl2pPr>
                      <a:lvl3pPr marL="742950" algn="l" defTabSz="371475" rtl="0" eaLnBrk="1" latinLnBrk="0" hangingPunct="1">
                        <a:defRPr sz="1463" b="1" kern="1200">
                          <a:solidFill>
                            <a:schemeClr val="lt1"/>
                          </a:solidFill>
                          <a:latin typeface="Gill Sans MT"/>
                        </a:defRPr>
                      </a:lvl3pPr>
                      <a:lvl4pPr marL="1114425" algn="l" defTabSz="371475" rtl="0" eaLnBrk="1" latinLnBrk="0" hangingPunct="1">
                        <a:defRPr sz="1463" b="1" kern="1200">
                          <a:solidFill>
                            <a:schemeClr val="lt1"/>
                          </a:solidFill>
                          <a:latin typeface="Gill Sans MT"/>
                        </a:defRPr>
                      </a:lvl4pPr>
                      <a:lvl5pPr marL="1485900" algn="l" defTabSz="371475" rtl="0" eaLnBrk="1" latinLnBrk="0" hangingPunct="1">
                        <a:defRPr sz="1463" b="1" kern="1200">
                          <a:solidFill>
                            <a:schemeClr val="lt1"/>
                          </a:solidFill>
                          <a:latin typeface="Gill Sans MT"/>
                        </a:defRPr>
                      </a:lvl5pPr>
                      <a:lvl6pPr marL="1857375" algn="l" defTabSz="371475" rtl="0" eaLnBrk="1" latinLnBrk="0" hangingPunct="1">
                        <a:defRPr sz="1463" b="1" kern="1200">
                          <a:solidFill>
                            <a:schemeClr val="lt1"/>
                          </a:solidFill>
                          <a:latin typeface="Gill Sans MT"/>
                        </a:defRPr>
                      </a:lvl6pPr>
                      <a:lvl7pPr marL="2228850" algn="l" defTabSz="371475" rtl="0" eaLnBrk="1" latinLnBrk="0" hangingPunct="1">
                        <a:defRPr sz="1463" b="1" kern="1200">
                          <a:solidFill>
                            <a:schemeClr val="lt1"/>
                          </a:solidFill>
                          <a:latin typeface="Gill Sans MT"/>
                        </a:defRPr>
                      </a:lvl7pPr>
                      <a:lvl8pPr marL="2600325" algn="l" defTabSz="371475" rtl="0" eaLnBrk="1" latinLnBrk="0" hangingPunct="1">
                        <a:defRPr sz="1463" b="1" kern="1200">
                          <a:solidFill>
                            <a:schemeClr val="lt1"/>
                          </a:solidFill>
                          <a:latin typeface="Gill Sans MT"/>
                        </a:defRPr>
                      </a:lvl8pPr>
                      <a:lvl9pPr marL="2971800" algn="l" defTabSz="371475" rtl="0" eaLnBrk="1" latinLnBrk="0" hangingPunct="1">
                        <a:defRPr sz="1463" b="1" kern="1200">
                          <a:solidFill>
                            <a:schemeClr val="lt1"/>
                          </a:solidFill>
                          <a:latin typeface="Gill Sans MT"/>
                        </a:defRPr>
                      </a:lvl9pPr>
                    </a:lstStyle>
                    <a:p>
                      <a:pPr marL="0" marR="0">
                        <a:lnSpc>
                          <a:spcPct val="115000"/>
                        </a:lnSpc>
                        <a:spcBef>
                          <a:spcPts val="0"/>
                        </a:spcBef>
                        <a:spcAft>
                          <a:spcPts val="0"/>
                        </a:spcAft>
                      </a:pPr>
                      <a:r>
                        <a:rPr lang="en-SG" sz="1600"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Quarterly </a:t>
                      </a:r>
                      <a:endParaRPr lang="en-US" sz="16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4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2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2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2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4"/>
                  </a:ext>
                </a:extLst>
              </a:tr>
              <a:tr h="418428">
                <a:tc>
                  <a:txBody>
                    <a:bodyPr/>
                    <a:lstStyle>
                      <a:lvl1pPr marL="0" algn="l" defTabSz="371475" rtl="0" eaLnBrk="1" latinLnBrk="0" hangingPunct="1">
                        <a:defRPr sz="1463" b="1" kern="1200">
                          <a:solidFill>
                            <a:schemeClr val="lt1"/>
                          </a:solidFill>
                          <a:latin typeface="Gill Sans MT"/>
                        </a:defRPr>
                      </a:lvl1pPr>
                      <a:lvl2pPr marL="371475" algn="l" defTabSz="371475" rtl="0" eaLnBrk="1" latinLnBrk="0" hangingPunct="1">
                        <a:defRPr sz="1463" b="1" kern="1200">
                          <a:solidFill>
                            <a:schemeClr val="lt1"/>
                          </a:solidFill>
                          <a:latin typeface="Gill Sans MT"/>
                        </a:defRPr>
                      </a:lvl2pPr>
                      <a:lvl3pPr marL="742950" algn="l" defTabSz="371475" rtl="0" eaLnBrk="1" latinLnBrk="0" hangingPunct="1">
                        <a:defRPr sz="1463" b="1" kern="1200">
                          <a:solidFill>
                            <a:schemeClr val="lt1"/>
                          </a:solidFill>
                          <a:latin typeface="Gill Sans MT"/>
                        </a:defRPr>
                      </a:lvl3pPr>
                      <a:lvl4pPr marL="1114425" algn="l" defTabSz="371475" rtl="0" eaLnBrk="1" latinLnBrk="0" hangingPunct="1">
                        <a:defRPr sz="1463" b="1" kern="1200">
                          <a:solidFill>
                            <a:schemeClr val="lt1"/>
                          </a:solidFill>
                          <a:latin typeface="Gill Sans MT"/>
                        </a:defRPr>
                      </a:lvl4pPr>
                      <a:lvl5pPr marL="1485900" algn="l" defTabSz="371475" rtl="0" eaLnBrk="1" latinLnBrk="0" hangingPunct="1">
                        <a:defRPr sz="1463" b="1" kern="1200">
                          <a:solidFill>
                            <a:schemeClr val="lt1"/>
                          </a:solidFill>
                          <a:latin typeface="Gill Sans MT"/>
                        </a:defRPr>
                      </a:lvl5pPr>
                      <a:lvl6pPr marL="1857375" algn="l" defTabSz="371475" rtl="0" eaLnBrk="1" latinLnBrk="0" hangingPunct="1">
                        <a:defRPr sz="1463" b="1" kern="1200">
                          <a:solidFill>
                            <a:schemeClr val="lt1"/>
                          </a:solidFill>
                          <a:latin typeface="Gill Sans MT"/>
                        </a:defRPr>
                      </a:lvl6pPr>
                      <a:lvl7pPr marL="2228850" algn="l" defTabSz="371475" rtl="0" eaLnBrk="1" latinLnBrk="0" hangingPunct="1">
                        <a:defRPr sz="1463" b="1" kern="1200">
                          <a:solidFill>
                            <a:schemeClr val="lt1"/>
                          </a:solidFill>
                          <a:latin typeface="Gill Sans MT"/>
                        </a:defRPr>
                      </a:lvl7pPr>
                      <a:lvl8pPr marL="2600325" algn="l" defTabSz="371475" rtl="0" eaLnBrk="1" latinLnBrk="0" hangingPunct="1">
                        <a:defRPr sz="1463" b="1" kern="1200">
                          <a:solidFill>
                            <a:schemeClr val="lt1"/>
                          </a:solidFill>
                          <a:latin typeface="Gill Sans MT"/>
                        </a:defRPr>
                      </a:lvl8pPr>
                      <a:lvl9pPr marL="2971800" algn="l" defTabSz="371475" rtl="0" eaLnBrk="1" latinLnBrk="0" hangingPunct="1">
                        <a:defRPr sz="1463" b="1" kern="1200">
                          <a:solidFill>
                            <a:schemeClr val="lt1"/>
                          </a:solidFill>
                          <a:latin typeface="Gill Sans MT"/>
                        </a:defRPr>
                      </a:lvl9pPr>
                    </a:lstStyle>
                    <a:p>
                      <a:pPr marL="0" marR="0">
                        <a:lnSpc>
                          <a:spcPct val="115000"/>
                        </a:lnSpc>
                        <a:spcBef>
                          <a:spcPts val="0"/>
                        </a:spcBef>
                        <a:spcAft>
                          <a:spcPts val="0"/>
                        </a:spcAft>
                      </a:pPr>
                      <a:r>
                        <a:rPr lang="en-SG" sz="1600"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Monthly </a:t>
                      </a:r>
                      <a:endParaRPr lang="en-US" sz="16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12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5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3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2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5"/>
                  </a:ext>
                </a:extLst>
              </a:tr>
              <a:tr h="418428">
                <a:tc>
                  <a:txBody>
                    <a:bodyPr/>
                    <a:lstStyle>
                      <a:lvl1pPr marL="0" algn="l" defTabSz="371475" rtl="0" eaLnBrk="1" latinLnBrk="0" hangingPunct="1">
                        <a:defRPr sz="1463" b="1" kern="1200">
                          <a:solidFill>
                            <a:schemeClr val="lt1"/>
                          </a:solidFill>
                          <a:latin typeface="Gill Sans MT"/>
                        </a:defRPr>
                      </a:lvl1pPr>
                      <a:lvl2pPr marL="371475" algn="l" defTabSz="371475" rtl="0" eaLnBrk="1" latinLnBrk="0" hangingPunct="1">
                        <a:defRPr sz="1463" b="1" kern="1200">
                          <a:solidFill>
                            <a:schemeClr val="lt1"/>
                          </a:solidFill>
                          <a:latin typeface="Gill Sans MT"/>
                        </a:defRPr>
                      </a:lvl2pPr>
                      <a:lvl3pPr marL="742950" algn="l" defTabSz="371475" rtl="0" eaLnBrk="1" latinLnBrk="0" hangingPunct="1">
                        <a:defRPr sz="1463" b="1" kern="1200">
                          <a:solidFill>
                            <a:schemeClr val="lt1"/>
                          </a:solidFill>
                          <a:latin typeface="Gill Sans MT"/>
                        </a:defRPr>
                      </a:lvl3pPr>
                      <a:lvl4pPr marL="1114425" algn="l" defTabSz="371475" rtl="0" eaLnBrk="1" latinLnBrk="0" hangingPunct="1">
                        <a:defRPr sz="1463" b="1" kern="1200">
                          <a:solidFill>
                            <a:schemeClr val="lt1"/>
                          </a:solidFill>
                          <a:latin typeface="Gill Sans MT"/>
                        </a:defRPr>
                      </a:lvl4pPr>
                      <a:lvl5pPr marL="1485900" algn="l" defTabSz="371475" rtl="0" eaLnBrk="1" latinLnBrk="0" hangingPunct="1">
                        <a:defRPr sz="1463" b="1" kern="1200">
                          <a:solidFill>
                            <a:schemeClr val="lt1"/>
                          </a:solidFill>
                          <a:latin typeface="Gill Sans MT"/>
                        </a:defRPr>
                      </a:lvl5pPr>
                      <a:lvl6pPr marL="1857375" algn="l" defTabSz="371475" rtl="0" eaLnBrk="1" latinLnBrk="0" hangingPunct="1">
                        <a:defRPr sz="1463" b="1" kern="1200">
                          <a:solidFill>
                            <a:schemeClr val="lt1"/>
                          </a:solidFill>
                          <a:latin typeface="Gill Sans MT"/>
                        </a:defRPr>
                      </a:lvl6pPr>
                      <a:lvl7pPr marL="2228850" algn="l" defTabSz="371475" rtl="0" eaLnBrk="1" latinLnBrk="0" hangingPunct="1">
                        <a:defRPr sz="1463" b="1" kern="1200">
                          <a:solidFill>
                            <a:schemeClr val="lt1"/>
                          </a:solidFill>
                          <a:latin typeface="Gill Sans MT"/>
                        </a:defRPr>
                      </a:lvl7pPr>
                      <a:lvl8pPr marL="2600325" algn="l" defTabSz="371475" rtl="0" eaLnBrk="1" latinLnBrk="0" hangingPunct="1">
                        <a:defRPr sz="1463" b="1" kern="1200">
                          <a:solidFill>
                            <a:schemeClr val="lt1"/>
                          </a:solidFill>
                          <a:latin typeface="Gill Sans MT"/>
                        </a:defRPr>
                      </a:lvl8pPr>
                      <a:lvl9pPr marL="2971800" algn="l" defTabSz="371475" rtl="0" eaLnBrk="1" latinLnBrk="0" hangingPunct="1">
                        <a:defRPr sz="1463" b="1" kern="1200">
                          <a:solidFill>
                            <a:schemeClr val="lt1"/>
                          </a:solidFill>
                          <a:latin typeface="Gill Sans MT"/>
                        </a:defRPr>
                      </a:lvl9pPr>
                    </a:lstStyle>
                    <a:p>
                      <a:pPr marL="0" marR="0">
                        <a:lnSpc>
                          <a:spcPct val="115000"/>
                        </a:lnSpc>
                        <a:spcBef>
                          <a:spcPts val="0"/>
                        </a:spcBef>
                        <a:spcAft>
                          <a:spcPts val="0"/>
                        </a:spcAft>
                      </a:pPr>
                      <a:r>
                        <a:rPr lang="en-SG" sz="1600"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Weekly </a:t>
                      </a:r>
                      <a:endParaRPr lang="en-US" sz="16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52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15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10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5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6"/>
                  </a:ext>
                </a:extLst>
              </a:tr>
              <a:tr h="418428">
                <a:tc>
                  <a:txBody>
                    <a:bodyPr/>
                    <a:lstStyle>
                      <a:lvl1pPr marL="0" algn="l" defTabSz="371475" rtl="0" eaLnBrk="1" latinLnBrk="0" hangingPunct="1">
                        <a:defRPr sz="1463" b="1" kern="1200">
                          <a:solidFill>
                            <a:schemeClr val="lt1"/>
                          </a:solidFill>
                          <a:latin typeface="Gill Sans MT"/>
                        </a:defRPr>
                      </a:lvl1pPr>
                      <a:lvl2pPr marL="371475" algn="l" defTabSz="371475" rtl="0" eaLnBrk="1" latinLnBrk="0" hangingPunct="1">
                        <a:defRPr sz="1463" b="1" kern="1200">
                          <a:solidFill>
                            <a:schemeClr val="lt1"/>
                          </a:solidFill>
                          <a:latin typeface="Gill Sans MT"/>
                        </a:defRPr>
                      </a:lvl2pPr>
                      <a:lvl3pPr marL="742950" algn="l" defTabSz="371475" rtl="0" eaLnBrk="1" latinLnBrk="0" hangingPunct="1">
                        <a:defRPr sz="1463" b="1" kern="1200">
                          <a:solidFill>
                            <a:schemeClr val="lt1"/>
                          </a:solidFill>
                          <a:latin typeface="Gill Sans MT"/>
                        </a:defRPr>
                      </a:lvl3pPr>
                      <a:lvl4pPr marL="1114425" algn="l" defTabSz="371475" rtl="0" eaLnBrk="1" latinLnBrk="0" hangingPunct="1">
                        <a:defRPr sz="1463" b="1" kern="1200">
                          <a:solidFill>
                            <a:schemeClr val="lt1"/>
                          </a:solidFill>
                          <a:latin typeface="Gill Sans MT"/>
                        </a:defRPr>
                      </a:lvl4pPr>
                      <a:lvl5pPr marL="1485900" algn="l" defTabSz="371475" rtl="0" eaLnBrk="1" latinLnBrk="0" hangingPunct="1">
                        <a:defRPr sz="1463" b="1" kern="1200">
                          <a:solidFill>
                            <a:schemeClr val="lt1"/>
                          </a:solidFill>
                          <a:latin typeface="Gill Sans MT"/>
                        </a:defRPr>
                      </a:lvl5pPr>
                      <a:lvl6pPr marL="1857375" algn="l" defTabSz="371475" rtl="0" eaLnBrk="1" latinLnBrk="0" hangingPunct="1">
                        <a:defRPr sz="1463" b="1" kern="1200">
                          <a:solidFill>
                            <a:schemeClr val="lt1"/>
                          </a:solidFill>
                          <a:latin typeface="Gill Sans MT"/>
                        </a:defRPr>
                      </a:lvl6pPr>
                      <a:lvl7pPr marL="2228850" algn="l" defTabSz="371475" rtl="0" eaLnBrk="1" latinLnBrk="0" hangingPunct="1">
                        <a:defRPr sz="1463" b="1" kern="1200">
                          <a:solidFill>
                            <a:schemeClr val="lt1"/>
                          </a:solidFill>
                          <a:latin typeface="Gill Sans MT"/>
                        </a:defRPr>
                      </a:lvl7pPr>
                      <a:lvl8pPr marL="2600325" algn="l" defTabSz="371475" rtl="0" eaLnBrk="1" latinLnBrk="0" hangingPunct="1">
                        <a:defRPr sz="1463" b="1" kern="1200">
                          <a:solidFill>
                            <a:schemeClr val="lt1"/>
                          </a:solidFill>
                          <a:latin typeface="Gill Sans MT"/>
                        </a:defRPr>
                      </a:lvl8pPr>
                      <a:lvl9pPr marL="2971800" algn="l" defTabSz="371475" rtl="0" eaLnBrk="1" latinLnBrk="0" hangingPunct="1">
                        <a:defRPr sz="1463" b="1" kern="1200">
                          <a:solidFill>
                            <a:schemeClr val="lt1"/>
                          </a:solidFill>
                          <a:latin typeface="Gill Sans MT"/>
                        </a:defRPr>
                      </a:lvl9pPr>
                    </a:lstStyle>
                    <a:p>
                      <a:pPr marL="0" marR="0">
                        <a:lnSpc>
                          <a:spcPct val="115000"/>
                        </a:lnSpc>
                        <a:spcBef>
                          <a:spcPts val="0"/>
                        </a:spcBef>
                        <a:spcAft>
                          <a:spcPts val="0"/>
                        </a:spcAft>
                      </a:pPr>
                      <a:r>
                        <a:rPr lang="en-SG" sz="1600"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Daily </a:t>
                      </a:r>
                      <a:endParaRPr lang="en-US" sz="16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250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40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30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20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7"/>
                  </a:ext>
                </a:extLst>
              </a:tr>
              <a:tr h="728387">
                <a:tc>
                  <a:txBody>
                    <a:bodyPr/>
                    <a:lstStyle>
                      <a:lvl1pPr marL="0" algn="l" defTabSz="371475" rtl="0" eaLnBrk="1" latinLnBrk="0" hangingPunct="1">
                        <a:defRPr sz="1463" b="1" kern="1200">
                          <a:solidFill>
                            <a:schemeClr val="lt1"/>
                          </a:solidFill>
                          <a:latin typeface="Gill Sans MT"/>
                        </a:defRPr>
                      </a:lvl1pPr>
                      <a:lvl2pPr marL="371475" algn="l" defTabSz="371475" rtl="0" eaLnBrk="1" latinLnBrk="0" hangingPunct="1">
                        <a:defRPr sz="1463" b="1" kern="1200">
                          <a:solidFill>
                            <a:schemeClr val="lt1"/>
                          </a:solidFill>
                          <a:latin typeface="Gill Sans MT"/>
                        </a:defRPr>
                      </a:lvl2pPr>
                      <a:lvl3pPr marL="742950" algn="l" defTabSz="371475" rtl="0" eaLnBrk="1" latinLnBrk="0" hangingPunct="1">
                        <a:defRPr sz="1463" b="1" kern="1200">
                          <a:solidFill>
                            <a:schemeClr val="lt1"/>
                          </a:solidFill>
                          <a:latin typeface="Gill Sans MT"/>
                        </a:defRPr>
                      </a:lvl3pPr>
                      <a:lvl4pPr marL="1114425" algn="l" defTabSz="371475" rtl="0" eaLnBrk="1" latinLnBrk="0" hangingPunct="1">
                        <a:defRPr sz="1463" b="1" kern="1200">
                          <a:solidFill>
                            <a:schemeClr val="lt1"/>
                          </a:solidFill>
                          <a:latin typeface="Gill Sans MT"/>
                        </a:defRPr>
                      </a:lvl4pPr>
                      <a:lvl5pPr marL="1485900" algn="l" defTabSz="371475" rtl="0" eaLnBrk="1" latinLnBrk="0" hangingPunct="1">
                        <a:defRPr sz="1463" b="1" kern="1200">
                          <a:solidFill>
                            <a:schemeClr val="lt1"/>
                          </a:solidFill>
                          <a:latin typeface="Gill Sans MT"/>
                        </a:defRPr>
                      </a:lvl5pPr>
                      <a:lvl6pPr marL="1857375" algn="l" defTabSz="371475" rtl="0" eaLnBrk="1" latinLnBrk="0" hangingPunct="1">
                        <a:defRPr sz="1463" b="1" kern="1200">
                          <a:solidFill>
                            <a:schemeClr val="lt1"/>
                          </a:solidFill>
                          <a:latin typeface="Gill Sans MT"/>
                        </a:defRPr>
                      </a:lvl6pPr>
                      <a:lvl7pPr marL="2228850" algn="l" defTabSz="371475" rtl="0" eaLnBrk="1" latinLnBrk="0" hangingPunct="1">
                        <a:defRPr sz="1463" b="1" kern="1200">
                          <a:solidFill>
                            <a:schemeClr val="lt1"/>
                          </a:solidFill>
                          <a:latin typeface="Gill Sans MT"/>
                        </a:defRPr>
                      </a:lvl7pPr>
                      <a:lvl8pPr marL="2600325" algn="l" defTabSz="371475" rtl="0" eaLnBrk="1" latinLnBrk="0" hangingPunct="1">
                        <a:defRPr sz="1463" b="1" kern="1200">
                          <a:solidFill>
                            <a:schemeClr val="lt1"/>
                          </a:solidFill>
                          <a:latin typeface="Gill Sans MT"/>
                        </a:defRPr>
                      </a:lvl8pPr>
                      <a:lvl9pPr marL="2971800" algn="l" defTabSz="371475" rtl="0" eaLnBrk="1" latinLnBrk="0" hangingPunct="1">
                        <a:defRPr sz="1463" b="1" kern="1200">
                          <a:solidFill>
                            <a:schemeClr val="lt1"/>
                          </a:solidFill>
                          <a:latin typeface="Gill Sans MT"/>
                        </a:defRPr>
                      </a:lvl9pPr>
                    </a:lstStyle>
                    <a:p>
                      <a:pPr marL="0" marR="0">
                        <a:lnSpc>
                          <a:spcPct val="115000"/>
                        </a:lnSpc>
                        <a:spcBef>
                          <a:spcPts val="0"/>
                        </a:spcBef>
                        <a:spcAft>
                          <a:spcPts val="0"/>
                        </a:spcAft>
                      </a:pPr>
                      <a:r>
                        <a:rPr lang="en-SG" sz="1600"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Recurring manual control </a:t>
                      </a:r>
                    </a:p>
                    <a:p>
                      <a:pPr marL="0" marR="0">
                        <a:lnSpc>
                          <a:spcPct val="115000"/>
                        </a:lnSpc>
                        <a:spcBef>
                          <a:spcPts val="0"/>
                        </a:spcBef>
                        <a:spcAft>
                          <a:spcPts val="0"/>
                        </a:spcAft>
                      </a:pPr>
                      <a:r>
                        <a:rPr lang="en-SG" sz="1600"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(multiple times per day) </a:t>
                      </a:r>
                      <a:endParaRPr lang="en-US" sz="16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Over 250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60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40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371475" rtl="0" eaLnBrk="1" latinLnBrk="0" hangingPunct="1">
                        <a:defRPr sz="1463" kern="1200">
                          <a:solidFill>
                            <a:schemeClr val="dk1"/>
                          </a:solidFill>
                          <a:latin typeface="Gill Sans MT"/>
                        </a:defRPr>
                      </a:lvl1pPr>
                      <a:lvl2pPr marL="371475" algn="l" defTabSz="371475" rtl="0" eaLnBrk="1" latinLnBrk="0" hangingPunct="1">
                        <a:defRPr sz="1463" kern="1200">
                          <a:solidFill>
                            <a:schemeClr val="dk1"/>
                          </a:solidFill>
                          <a:latin typeface="Gill Sans MT"/>
                        </a:defRPr>
                      </a:lvl2pPr>
                      <a:lvl3pPr marL="742950" algn="l" defTabSz="371475" rtl="0" eaLnBrk="1" latinLnBrk="0" hangingPunct="1">
                        <a:defRPr sz="1463" kern="1200">
                          <a:solidFill>
                            <a:schemeClr val="dk1"/>
                          </a:solidFill>
                          <a:latin typeface="Gill Sans MT"/>
                        </a:defRPr>
                      </a:lvl3pPr>
                      <a:lvl4pPr marL="1114425" algn="l" defTabSz="371475" rtl="0" eaLnBrk="1" latinLnBrk="0" hangingPunct="1">
                        <a:defRPr sz="1463" kern="1200">
                          <a:solidFill>
                            <a:schemeClr val="dk1"/>
                          </a:solidFill>
                          <a:latin typeface="Gill Sans MT"/>
                        </a:defRPr>
                      </a:lvl4pPr>
                      <a:lvl5pPr marL="1485900" algn="l" defTabSz="371475" rtl="0" eaLnBrk="1" latinLnBrk="0" hangingPunct="1">
                        <a:defRPr sz="1463" kern="1200">
                          <a:solidFill>
                            <a:schemeClr val="dk1"/>
                          </a:solidFill>
                          <a:latin typeface="Gill Sans MT"/>
                        </a:defRPr>
                      </a:lvl5pPr>
                      <a:lvl6pPr marL="1857375" algn="l" defTabSz="371475" rtl="0" eaLnBrk="1" latinLnBrk="0" hangingPunct="1">
                        <a:defRPr sz="1463" kern="1200">
                          <a:solidFill>
                            <a:schemeClr val="dk1"/>
                          </a:solidFill>
                          <a:latin typeface="Gill Sans MT"/>
                        </a:defRPr>
                      </a:lvl6pPr>
                      <a:lvl7pPr marL="2228850" algn="l" defTabSz="371475" rtl="0" eaLnBrk="1" latinLnBrk="0" hangingPunct="1">
                        <a:defRPr sz="1463" kern="1200">
                          <a:solidFill>
                            <a:schemeClr val="dk1"/>
                          </a:solidFill>
                          <a:latin typeface="Gill Sans MT"/>
                        </a:defRPr>
                      </a:lvl7pPr>
                      <a:lvl8pPr marL="2600325" algn="l" defTabSz="371475" rtl="0" eaLnBrk="1" latinLnBrk="0" hangingPunct="1">
                        <a:defRPr sz="1463" kern="1200">
                          <a:solidFill>
                            <a:schemeClr val="dk1"/>
                          </a:solidFill>
                          <a:latin typeface="Gill Sans MT"/>
                        </a:defRPr>
                      </a:lvl8pPr>
                      <a:lvl9pPr marL="2971800" algn="l" defTabSz="371475" rtl="0" eaLnBrk="1" latinLnBrk="0" hangingPunct="1">
                        <a:defRPr sz="1463" kern="1200">
                          <a:solidFill>
                            <a:schemeClr val="dk1"/>
                          </a:solidFill>
                          <a:latin typeface="Gill Sans MT"/>
                        </a:defRPr>
                      </a:lvl9pPr>
                    </a:lstStyle>
                    <a:p>
                      <a:pPr marL="0" marR="0" algn="ctr">
                        <a:lnSpc>
                          <a:spcPct val="115000"/>
                        </a:lnSpc>
                        <a:spcBef>
                          <a:spcPts val="0"/>
                        </a:spcBef>
                        <a:spcAft>
                          <a:spcPts val="0"/>
                        </a:spcAft>
                      </a:pPr>
                      <a:r>
                        <a:rPr lang="en-SG" sz="1600" kern="1200" dirty="0">
                          <a:effectLst/>
                          <a:latin typeface="Roboto" panose="02000000000000000000" pitchFamily="2" charset="0"/>
                          <a:ea typeface="Roboto" panose="02000000000000000000" pitchFamily="2" charset="0"/>
                          <a:cs typeface="Roboto" panose="02000000000000000000" pitchFamily="2" charset="0"/>
                        </a:rPr>
                        <a:t>25 </a:t>
                      </a:r>
                      <a:endParaRPr lang="en-US" sz="160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8"/>
                  </a:ext>
                </a:extLst>
              </a:tr>
              <a:tr h="382958">
                <a:tc gridSpan="5">
                  <a:txBody>
                    <a:bodyPr/>
                    <a:lstStyle>
                      <a:lvl1pPr marL="0" algn="l" defTabSz="371475" rtl="0" eaLnBrk="1" latinLnBrk="0" hangingPunct="1">
                        <a:defRPr sz="1463" b="1" kern="1200">
                          <a:solidFill>
                            <a:schemeClr val="lt1"/>
                          </a:solidFill>
                          <a:latin typeface="Gill Sans MT"/>
                        </a:defRPr>
                      </a:lvl1pPr>
                      <a:lvl2pPr marL="371475" algn="l" defTabSz="371475" rtl="0" eaLnBrk="1" latinLnBrk="0" hangingPunct="1">
                        <a:defRPr sz="1463" b="1" kern="1200">
                          <a:solidFill>
                            <a:schemeClr val="lt1"/>
                          </a:solidFill>
                          <a:latin typeface="Gill Sans MT"/>
                        </a:defRPr>
                      </a:lvl2pPr>
                      <a:lvl3pPr marL="742950" algn="l" defTabSz="371475" rtl="0" eaLnBrk="1" latinLnBrk="0" hangingPunct="1">
                        <a:defRPr sz="1463" b="1" kern="1200">
                          <a:solidFill>
                            <a:schemeClr val="lt1"/>
                          </a:solidFill>
                          <a:latin typeface="Gill Sans MT"/>
                        </a:defRPr>
                      </a:lvl3pPr>
                      <a:lvl4pPr marL="1114425" algn="l" defTabSz="371475" rtl="0" eaLnBrk="1" latinLnBrk="0" hangingPunct="1">
                        <a:defRPr sz="1463" b="1" kern="1200">
                          <a:solidFill>
                            <a:schemeClr val="lt1"/>
                          </a:solidFill>
                          <a:latin typeface="Gill Sans MT"/>
                        </a:defRPr>
                      </a:lvl4pPr>
                      <a:lvl5pPr marL="1485900" algn="l" defTabSz="371475" rtl="0" eaLnBrk="1" latinLnBrk="0" hangingPunct="1">
                        <a:defRPr sz="1463" b="1" kern="1200">
                          <a:solidFill>
                            <a:schemeClr val="lt1"/>
                          </a:solidFill>
                          <a:latin typeface="Gill Sans MT"/>
                        </a:defRPr>
                      </a:lvl5pPr>
                      <a:lvl6pPr marL="1857375" algn="l" defTabSz="371475" rtl="0" eaLnBrk="1" latinLnBrk="0" hangingPunct="1">
                        <a:defRPr sz="1463" b="1" kern="1200">
                          <a:solidFill>
                            <a:schemeClr val="lt1"/>
                          </a:solidFill>
                          <a:latin typeface="Gill Sans MT"/>
                        </a:defRPr>
                      </a:lvl6pPr>
                      <a:lvl7pPr marL="2228850" algn="l" defTabSz="371475" rtl="0" eaLnBrk="1" latinLnBrk="0" hangingPunct="1">
                        <a:defRPr sz="1463" b="1" kern="1200">
                          <a:solidFill>
                            <a:schemeClr val="lt1"/>
                          </a:solidFill>
                          <a:latin typeface="Gill Sans MT"/>
                        </a:defRPr>
                      </a:lvl7pPr>
                      <a:lvl8pPr marL="2600325" algn="l" defTabSz="371475" rtl="0" eaLnBrk="1" latinLnBrk="0" hangingPunct="1">
                        <a:defRPr sz="1463" b="1" kern="1200">
                          <a:solidFill>
                            <a:schemeClr val="lt1"/>
                          </a:solidFill>
                          <a:latin typeface="Gill Sans MT"/>
                        </a:defRPr>
                      </a:lvl8pPr>
                      <a:lvl9pPr marL="2971800" algn="l" defTabSz="371475" rtl="0" eaLnBrk="1" latinLnBrk="0" hangingPunct="1">
                        <a:defRPr sz="1463" b="1" kern="1200">
                          <a:solidFill>
                            <a:schemeClr val="lt1"/>
                          </a:solidFill>
                          <a:latin typeface="Gill Sans MT"/>
                        </a:defRPr>
                      </a:lvl9pPr>
                    </a:lstStyle>
                    <a:p>
                      <a:pPr marL="0" marR="0" algn="just">
                        <a:lnSpc>
                          <a:spcPct val="115000"/>
                        </a:lnSpc>
                        <a:spcBef>
                          <a:spcPts val="0"/>
                        </a:spcBef>
                        <a:spcAft>
                          <a:spcPts val="0"/>
                        </a:spcAft>
                      </a:pPr>
                      <a:r>
                        <a:rPr lang="en-US" sz="1200" b="0" dirty="0">
                          <a:latin typeface="Roboto" panose="02000000000000000000" pitchFamily="2" charset="0"/>
                          <a:ea typeface="Roboto" panose="02000000000000000000" pitchFamily="2" charset="0"/>
                          <a:cs typeface="Roboto" panose="02000000000000000000" pitchFamily="2" charset="0"/>
                        </a:rPr>
                        <a:t>For control activities that are under 250 or do not fall under any of the frequencies, 30% of the population is adopted to determine the sample size. </a:t>
                      </a:r>
                      <a:endParaRPr lang="en-US" sz="1200" b="0" dirty="0">
                        <a:effectLst/>
                        <a:latin typeface="Roboto" panose="02000000000000000000" pitchFamily="2" charset="0"/>
                        <a:ea typeface="Roboto" panose="02000000000000000000" pitchFamily="2" charset="0"/>
                        <a:cs typeface="Roboto" panose="02000000000000000000" pitchFamily="2"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0000"/>
                    </a:solidFill>
                  </a:tcPr>
                </a:tc>
                <a:tc hMerge="1">
                  <a:txBody>
                    <a:bodyPr/>
                    <a:lstStyle/>
                    <a:p>
                      <a:pPr marL="0" marR="0" algn="ctr">
                        <a:lnSpc>
                          <a:spcPct val="115000"/>
                        </a:lnSpc>
                        <a:spcBef>
                          <a:spcPts val="0"/>
                        </a:spcBef>
                        <a:spcAft>
                          <a:spcPts val="0"/>
                        </a:spcAft>
                      </a:pP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anchor="ctr"/>
                </a:tc>
                <a:tc hMerge="1">
                  <a:txBody>
                    <a:bodyPr/>
                    <a:lstStyle/>
                    <a:p>
                      <a:pPr marL="0" marR="0" algn="ctr">
                        <a:lnSpc>
                          <a:spcPct val="115000"/>
                        </a:lnSpc>
                        <a:spcBef>
                          <a:spcPts val="0"/>
                        </a:spcBef>
                        <a:spcAft>
                          <a:spcPts val="0"/>
                        </a:spcAft>
                      </a:pP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anchor="ctr"/>
                </a:tc>
                <a:tc hMerge="1">
                  <a:txBody>
                    <a:bodyPr/>
                    <a:lstStyle/>
                    <a:p>
                      <a:pPr marL="0" marR="0" algn="ctr">
                        <a:lnSpc>
                          <a:spcPct val="115000"/>
                        </a:lnSpc>
                        <a:spcBef>
                          <a:spcPts val="0"/>
                        </a:spcBef>
                        <a:spcAft>
                          <a:spcPts val="0"/>
                        </a:spcAft>
                      </a:pP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anchor="ctr"/>
                </a:tc>
                <a:tc hMerge="1">
                  <a:txBody>
                    <a:bodyPr/>
                    <a:lstStyle/>
                    <a:p>
                      <a:pPr marL="0" marR="0" algn="ctr">
                        <a:lnSpc>
                          <a:spcPct val="115000"/>
                        </a:lnSpc>
                        <a:spcBef>
                          <a:spcPts val="0"/>
                        </a:spcBef>
                        <a:spcAft>
                          <a:spcPts val="0"/>
                        </a:spcAft>
                      </a:pP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anchor="ctr"/>
                </a:tc>
                <a:extLst>
                  <a:ext uri="{0D108BD9-81ED-4DB2-BD59-A6C34878D82A}">
                    <a16:rowId xmlns:a16="http://schemas.microsoft.com/office/drawing/2014/main" val="2704254100"/>
                  </a:ext>
                </a:extLst>
              </a:tr>
            </a:tbl>
          </a:graphicData>
        </a:graphic>
      </p:graphicFrame>
    </p:spTree>
    <p:extLst>
      <p:ext uri="{BB962C8B-B14F-4D97-AF65-F5344CB8AC3E}">
        <p14:creationId xmlns:p14="http://schemas.microsoft.com/office/powerpoint/2010/main" val="244154260"/>
      </p:ext>
    </p:extLst>
  </p:cSld>
  <p:clrMapOvr>
    <a:masterClrMapping/>
  </p:clrMapOvr>
  <p:transition spd="slow">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EEAE8B62-2DE3-93D6-DFEE-D15940E59362}"/>
              </a:ext>
            </a:extLst>
          </p:cNvPr>
          <p:cNvSpPr txBox="1"/>
          <p:nvPr/>
        </p:nvSpPr>
        <p:spPr>
          <a:xfrm>
            <a:off x="605955" y="18611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Internal Audit Plan – Our 5-Part Sample Report</a:t>
            </a:r>
          </a:p>
        </p:txBody>
      </p:sp>
      <p:sp>
        <p:nvSpPr>
          <p:cNvPr id="44" name="TextBox 43">
            <a:extLst>
              <a:ext uri="{FF2B5EF4-FFF2-40B4-BE49-F238E27FC236}">
                <a16:creationId xmlns:a16="http://schemas.microsoft.com/office/drawing/2014/main" id="{C245F38C-C707-729A-F7BC-4E88391F22AA}"/>
              </a:ext>
            </a:extLst>
          </p:cNvPr>
          <p:cNvSpPr txBox="1"/>
          <p:nvPr/>
        </p:nvSpPr>
        <p:spPr>
          <a:xfrm>
            <a:off x="458669" y="1090413"/>
            <a:ext cx="11292183" cy="492443"/>
          </a:xfrm>
          <a:prstGeom prst="rect">
            <a:avLst/>
          </a:prstGeom>
          <a:noFill/>
          <a:ln w="38100">
            <a:solidFill>
              <a:schemeClr val="bg1">
                <a:lumMod val="75000"/>
              </a:schemeClr>
            </a:solidFill>
          </a:ln>
        </p:spPr>
        <p:txBody>
          <a:bodyPr wrap="square">
            <a:spAutoFit/>
          </a:bodyPr>
          <a:lstStyle/>
          <a:p>
            <a:pPr algn="just"/>
            <a:r>
              <a:rPr lang="en-US" sz="1300" dirty="0">
                <a:latin typeface="Roboto" panose="02000000000000000000" pitchFamily="2" charset="0"/>
                <a:ea typeface="Roboto" panose="02000000000000000000" pitchFamily="2" charset="0"/>
                <a:cs typeface="Roboto" panose="02000000000000000000" pitchFamily="2" charset="0"/>
              </a:rPr>
              <a:t>Our Internal Audit Report Would Comprise the Following 5 Components, which include Data Analytics Insights, Positive Controls and Good Practices, Opportunities for Improvements and Best-fit and Curated Sample Templates to Assist Management on the Proposed Management Action Plans.</a:t>
            </a:r>
            <a:endParaRPr lang="en-SG" sz="1300" dirty="0">
              <a:latin typeface="Roboto" panose="02000000000000000000" pitchFamily="2" charset="0"/>
              <a:ea typeface="Roboto" panose="02000000000000000000" pitchFamily="2" charset="0"/>
              <a:cs typeface="Roboto" panose="02000000000000000000" pitchFamily="2" charset="0"/>
            </a:endParaRPr>
          </a:p>
        </p:txBody>
      </p:sp>
      <p:grpSp>
        <p:nvGrpSpPr>
          <p:cNvPr id="56" name="Group 55">
            <a:extLst>
              <a:ext uri="{FF2B5EF4-FFF2-40B4-BE49-F238E27FC236}">
                <a16:creationId xmlns:a16="http://schemas.microsoft.com/office/drawing/2014/main" id="{9BF454AC-F382-0F6A-A139-E65D4D3D229D}"/>
              </a:ext>
            </a:extLst>
          </p:cNvPr>
          <p:cNvGrpSpPr/>
          <p:nvPr/>
        </p:nvGrpSpPr>
        <p:grpSpPr>
          <a:xfrm>
            <a:off x="753402" y="1752946"/>
            <a:ext cx="10685196" cy="4426249"/>
            <a:chOff x="659718" y="1657696"/>
            <a:chExt cx="10685196" cy="4426249"/>
          </a:xfrm>
        </p:grpSpPr>
        <p:sp>
          <p:nvSpPr>
            <p:cNvPr id="2" name="Rectangle: Rounded Corners 1">
              <a:extLst>
                <a:ext uri="{FF2B5EF4-FFF2-40B4-BE49-F238E27FC236}">
                  <a16:creationId xmlns:a16="http://schemas.microsoft.com/office/drawing/2014/main" id="{61FC3E2A-1E6E-B590-3498-12477DA8C01D}"/>
                </a:ext>
              </a:extLst>
            </p:cNvPr>
            <p:cNvSpPr/>
            <p:nvPr/>
          </p:nvSpPr>
          <p:spPr>
            <a:xfrm>
              <a:off x="669709" y="1657697"/>
              <a:ext cx="2087433" cy="4426248"/>
            </a:xfrm>
            <a:prstGeom prst="roundRect">
              <a:avLst>
                <a:gd name="adj" fmla="val 11921"/>
              </a:avLst>
            </a:prstGeom>
            <a:solidFill>
              <a:srgbClr val="002060"/>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6" name="Rectangle: Rounded Corners 5">
              <a:extLst>
                <a:ext uri="{FF2B5EF4-FFF2-40B4-BE49-F238E27FC236}">
                  <a16:creationId xmlns:a16="http://schemas.microsoft.com/office/drawing/2014/main" id="{0BB335FB-507C-DF89-155F-796E4FBE7355}"/>
                </a:ext>
              </a:extLst>
            </p:cNvPr>
            <p:cNvSpPr/>
            <p:nvPr/>
          </p:nvSpPr>
          <p:spPr>
            <a:xfrm>
              <a:off x="2816965" y="1657697"/>
              <a:ext cx="2087433" cy="4426246"/>
            </a:xfrm>
            <a:prstGeom prst="roundRect">
              <a:avLst>
                <a:gd name="adj" fmla="val 11921"/>
              </a:avLst>
            </a:prstGeom>
            <a:solidFill>
              <a:srgbClr val="C00000"/>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7" name="Rectangle: Rounded Corners 6">
              <a:extLst>
                <a:ext uri="{FF2B5EF4-FFF2-40B4-BE49-F238E27FC236}">
                  <a16:creationId xmlns:a16="http://schemas.microsoft.com/office/drawing/2014/main" id="{18F9B4C7-C2EB-552D-8639-BF80CFF79540}"/>
                </a:ext>
              </a:extLst>
            </p:cNvPr>
            <p:cNvSpPr/>
            <p:nvPr/>
          </p:nvSpPr>
          <p:spPr>
            <a:xfrm>
              <a:off x="4962974" y="1657697"/>
              <a:ext cx="2087433" cy="4426246"/>
            </a:xfrm>
            <a:prstGeom prst="roundRect">
              <a:avLst>
                <a:gd name="adj" fmla="val 11921"/>
              </a:avLst>
            </a:prstGeom>
            <a:solidFill>
              <a:schemeClr val="bg1">
                <a:lumMod val="50000"/>
              </a:schemeClr>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8" name="Rectangle: Rounded Corners 7">
              <a:extLst>
                <a:ext uri="{FF2B5EF4-FFF2-40B4-BE49-F238E27FC236}">
                  <a16:creationId xmlns:a16="http://schemas.microsoft.com/office/drawing/2014/main" id="{768A0A74-BE03-9083-9E21-36E650D38476}"/>
                </a:ext>
              </a:extLst>
            </p:cNvPr>
            <p:cNvSpPr/>
            <p:nvPr/>
          </p:nvSpPr>
          <p:spPr>
            <a:xfrm>
              <a:off x="7110227" y="1657696"/>
              <a:ext cx="2087433" cy="4426247"/>
            </a:xfrm>
            <a:prstGeom prst="roundRect">
              <a:avLst>
                <a:gd name="adj" fmla="val 11921"/>
              </a:avLst>
            </a:prstGeom>
            <a:solidFill>
              <a:srgbClr val="ED7A2B"/>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9" name="Rectangle: Rounded Corners 8">
              <a:extLst>
                <a:ext uri="{FF2B5EF4-FFF2-40B4-BE49-F238E27FC236}">
                  <a16:creationId xmlns:a16="http://schemas.microsoft.com/office/drawing/2014/main" id="{E403B42F-5D5C-0F2B-4E77-323005C6E0AF}"/>
                </a:ext>
              </a:extLst>
            </p:cNvPr>
            <p:cNvSpPr/>
            <p:nvPr/>
          </p:nvSpPr>
          <p:spPr>
            <a:xfrm>
              <a:off x="9257481" y="1657697"/>
              <a:ext cx="2087433" cy="4426246"/>
            </a:xfrm>
            <a:prstGeom prst="roundRect">
              <a:avLst>
                <a:gd name="adj" fmla="val 11921"/>
              </a:avLst>
            </a:prstGeom>
            <a:solidFill>
              <a:srgbClr val="008000"/>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10" name="Freeform: Shape 9">
              <a:extLst>
                <a:ext uri="{FF2B5EF4-FFF2-40B4-BE49-F238E27FC236}">
                  <a16:creationId xmlns:a16="http://schemas.microsoft.com/office/drawing/2014/main" id="{338BFC57-4020-959A-BB14-1641345DD4BD}"/>
                </a:ext>
              </a:extLst>
            </p:cNvPr>
            <p:cNvSpPr/>
            <p:nvPr/>
          </p:nvSpPr>
          <p:spPr>
            <a:xfrm>
              <a:off x="1162597" y="1657697"/>
              <a:ext cx="1101667" cy="1400139"/>
            </a:xfrm>
            <a:custGeom>
              <a:avLst/>
              <a:gdLst/>
              <a:ahLst/>
              <a:cxnLst>
                <a:cxn ang="3cd4">
                  <a:pos x="hc" y="t"/>
                </a:cxn>
                <a:cxn ang="cd2">
                  <a:pos x="l" y="vc"/>
                </a:cxn>
                <a:cxn ang="cd4">
                  <a:pos x="hc" y="b"/>
                </a:cxn>
                <a:cxn ang="0">
                  <a:pos x="r" y="vc"/>
                </a:cxn>
              </a:cxnLst>
              <a:rect l="l" t="t" r="r" b="b"/>
              <a:pathLst>
                <a:path w="1769" h="2248">
                  <a:moveTo>
                    <a:pt x="1055" y="495"/>
                  </a:moveTo>
                  <a:lnTo>
                    <a:pt x="1055" y="0"/>
                  </a:lnTo>
                  <a:lnTo>
                    <a:pt x="714" y="0"/>
                  </a:lnTo>
                  <a:lnTo>
                    <a:pt x="714" y="495"/>
                  </a:lnTo>
                  <a:cubicBezTo>
                    <a:pt x="308" y="574"/>
                    <a:pt x="0" y="933"/>
                    <a:pt x="0" y="1363"/>
                  </a:cubicBezTo>
                  <a:cubicBezTo>
                    <a:pt x="0" y="1851"/>
                    <a:pt x="396" y="2248"/>
                    <a:pt x="885" y="2248"/>
                  </a:cubicBezTo>
                  <a:cubicBezTo>
                    <a:pt x="1373" y="2248"/>
                    <a:pt x="1769" y="1851"/>
                    <a:pt x="1769" y="1363"/>
                  </a:cubicBezTo>
                  <a:cubicBezTo>
                    <a:pt x="1769" y="933"/>
                    <a:pt x="1462" y="574"/>
                    <a:pt x="1055" y="495"/>
                  </a:cubicBezTo>
                  <a:close/>
                </a:path>
              </a:pathLst>
            </a:custGeom>
            <a:solidFill>
              <a:schemeClr val="bg1"/>
            </a:solidFill>
            <a:ln cap="flat">
              <a:solidFill>
                <a:schemeClr val="bg1"/>
              </a:solid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11" name="Freeform: Shape 10">
              <a:extLst>
                <a:ext uri="{FF2B5EF4-FFF2-40B4-BE49-F238E27FC236}">
                  <a16:creationId xmlns:a16="http://schemas.microsoft.com/office/drawing/2014/main" id="{659FCBC8-2BA8-E5F1-B0D8-2D5EC0913084}"/>
                </a:ext>
              </a:extLst>
            </p:cNvPr>
            <p:cNvSpPr/>
            <p:nvPr/>
          </p:nvSpPr>
          <p:spPr>
            <a:xfrm>
              <a:off x="5136885" y="5692914"/>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12" name="Freeform: Shape 11">
              <a:extLst>
                <a:ext uri="{FF2B5EF4-FFF2-40B4-BE49-F238E27FC236}">
                  <a16:creationId xmlns:a16="http://schemas.microsoft.com/office/drawing/2014/main" id="{6E53EF6C-8436-036F-DADC-B3553720965C}"/>
                </a:ext>
              </a:extLst>
            </p:cNvPr>
            <p:cNvSpPr/>
            <p:nvPr/>
          </p:nvSpPr>
          <p:spPr>
            <a:xfrm>
              <a:off x="5479598" y="5692914"/>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13" name="Freeform: Shape 12">
              <a:extLst>
                <a:ext uri="{FF2B5EF4-FFF2-40B4-BE49-F238E27FC236}">
                  <a16:creationId xmlns:a16="http://schemas.microsoft.com/office/drawing/2014/main" id="{0F690ECD-10EB-8CCA-7CD7-D57FE80EECDC}"/>
                </a:ext>
              </a:extLst>
            </p:cNvPr>
            <p:cNvSpPr/>
            <p:nvPr/>
          </p:nvSpPr>
          <p:spPr>
            <a:xfrm>
              <a:off x="5822311" y="5692914"/>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14" name="Freeform: Shape 13">
              <a:extLst>
                <a:ext uri="{FF2B5EF4-FFF2-40B4-BE49-F238E27FC236}">
                  <a16:creationId xmlns:a16="http://schemas.microsoft.com/office/drawing/2014/main" id="{C749363E-164F-D11B-68ED-02322C1A53F9}"/>
                </a:ext>
              </a:extLst>
            </p:cNvPr>
            <p:cNvSpPr/>
            <p:nvPr/>
          </p:nvSpPr>
          <p:spPr>
            <a:xfrm>
              <a:off x="6164401" y="5692914"/>
              <a:ext cx="277909" cy="193789"/>
            </a:xfrm>
            <a:custGeom>
              <a:avLst/>
              <a:gdLst/>
              <a:ahLst/>
              <a:cxnLst>
                <a:cxn ang="3cd4">
                  <a:pos x="hc" y="t"/>
                </a:cxn>
                <a:cxn ang="cd2">
                  <a:pos x="l" y="vc"/>
                </a:cxn>
                <a:cxn ang="cd4">
                  <a:pos x="hc" y="b"/>
                </a:cxn>
                <a:cxn ang="0">
                  <a:pos x="r" y="vc"/>
                </a:cxn>
              </a:cxnLst>
              <a:rect l="l" t="t" r="r" b="b"/>
              <a:pathLst>
                <a:path w="447" h="312">
                  <a:moveTo>
                    <a:pt x="447" y="312"/>
                  </a:moveTo>
                  <a:lnTo>
                    <a:pt x="0" y="312"/>
                  </a:lnTo>
                  <a:lnTo>
                    <a:pt x="0" y="0"/>
                  </a:lnTo>
                  <a:lnTo>
                    <a:pt x="447" y="0"/>
                  </a:lnTo>
                  <a:close/>
                </a:path>
              </a:pathLst>
            </a:custGeom>
            <a:solidFill>
              <a:schemeClr val="bg1">
                <a:alpha val="30000"/>
              </a:schemeClr>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15" name="Freeform: Shape 14">
              <a:extLst>
                <a:ext uri="{FF2B5EF4-FFF2-40B4-BE49-F238E27FC236}">
                  <a16:creationId xmlns:a16="http://schemas.microsoft.com/office/drawing/2014/main" id="{FF74EFB2-42BC-144B-E404-3E01A189090F}"/>
                </a:ext>
              </a:extLst>
            </p:cNvPr>
            <p:cNvSpPr/>
            <p:nvPr/>
          </p:nvSpPr>
          <p:spPr>
            <a:xfrm>
              <a:off x="6507115" y="5692914"/>
              <a:ext cx="277909" cy="193789"/>
            </a:xfrm>
            <a:custGeom>
              <a:avLst/>
              <a:gdLst/>
              <a:ahLst/>
              <a:cxnLst>
                <a:cxn ang="3cd4">
                  <a:pos x="hc" y="t"/>
                </a:cxn>
                <a:cxn ang="cd2">
                  <a:pos x="l" y="vc"/>
                </a:cxn>
                <a:cxn ang="cd4">
                  <a:pos x="hc" y="b"/>
                </a:cxn>
                <a:cxn ang="0">
                  <a:pos x="r" y="vc"/>
                </a:cxn>
              </a:cxnLst>
              <a:rect l="l" t="t" r="r" b="b"/>
              <a:pathLst>
                <a:path w="447" h="312">
                  <a:moveTo>
                    <a:pt x="447" y="312"/>
                  </a:moveTo>
                  <a:lnTo>
                    <a:pt x="0" y="312"/>
                  </a:lnTo>
                  <a:lnTo>
                    <a:pt x="0" y="0"/>
                  </a:lnTo>
                  <a:lnTo>
                    <a:pt x="447" y="0"/>
                  </a:lnTo>
                  <a:close/>
                </a:path>
              </a:pathLst>
            </a:custGeom>
            <a:solidFill>
              <a:schemeClr val="bg1">
                <a:alpha val="30000"/>
              </a:schemeClr>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16" name="Freeform: Shape 15">
              <a:extLst>
                <a:ext uri="{FF2B5EF4-FFF2-40B4-BE49-F238E27FC236}">
                  <a16:creationId xmlns:a16="http://schemas.microsoft.com/office/drawing/2014/main" id="{FBC05853-DF11-7804-A757-FB78869D4349}"/>
                </a:ext>
              </a:extLst>
            </p:cNvPr>
            <p:cNvSpPr/>
            <p:nvPr/>
          </p:nvSpPr>
          <p:spPr>
            <a:xfrm>
              <a:off x="3309851" y="1657697"/>
              <a:ext cx="1101667" cy="1400139"/>
            </a:xfrm>
            <a:custGeom>
              <a:avLst/>
              <a:gdLst/>
              <a:ahLst/>
              <a:cxnLst>
                <a:cxn ang="3cd4">
                  <a:pos x="hc" y="t"/>
                </a:cxn>
                <a:cxn ang="cd2">
                  <a:pos x="l" y="vc"/>
                </a:cxn>
                <a:cxn ang="cd4">
                  <a:pos x="hc" y="b"/>
                </a:cxn>
                <a:cxn ang="0">
                  <a:pos x="r" y="vc"/>
                </a:cxn>
              </a:cxnLst>
              <a:rect l="l" t="t" r="r" b="b"/>
              <a:pathLst>
                <a:path w="1769" h="2248">
                  <a:moveTo>
                    <a:pt x="1054" y="495"/>
                  </a:moveTo>
                  <a:lnTo>
                    <a:pt x="1054" y="0"/>
                  </a:lnTo>
                  <a:lnTo>
                    <a:pt x="714" y="0"/>
                  </a:lnTo>
                  <a:lnTo>
                    <a:pt x="714" y="495"/>
                  </a:lnTo>
                  <a:cubicBezTo>
                    <a:pt x="307" y="574"/>
                    <a:pt x="0" y="933"/>
                    <a:pt x="0" y="1363"/>
                  </a:cubicBezTo>
                  <a:cubicBezTo>
                    <a:pt x="0" y="1851"/>
                    <a:pt x="396" y="2248"/>
                    <a:pt x="885" y="2248"/>
                  </a:cubicBezTo>
                  <a:cubicBezTo>
                    <a:pt x="1373" y="2248"/>
                    <a:pt x="1769" y="1851"/>
                    <a:pt x="1769" y="1363"/>
                  </a:cubicBezTo>
                  <a:cubicBezTo>
                    <a:pt x="1769" y="933"/>
                    <a:pt x="1462" y="574"/>
                    <a:pt x="1054" y="495"/>
                  </a:cubicBez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17" name="Freeform: Shape 16">
              <a:extLst>
                <a:ext uri="{FF2B5EF4-FFF2-40B4-BE49-F238E27FC236}">
                  <a16:creationId xmlns:a16="http://schemas.microsoft.com/office/drawing/2014/main" id="{468ED7C6-4AC3-7235-7CED-3B4535D11BED}"/>
                </a:ext>
              </a:extLst>
            </p:cNvPr>
            <p:cNvSpPr/>
            <p:nvPr/>
          </p:nvSpPr>
          <p:spPr>
            <a:xfrm>
              <a:off x="871102" y="5704857"/>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18" name="Freeform: Shape 17">
              <a:extLst>
                <a:ext uri="{FF2B5EF4-FFF2-40B4-BE49-F238E27FC236}">
                  <a16:creationId xmlns:a16="http://schemas.microsoft.com/office/drawing/2014/main" id="{F169E281-C388-7C96-06FC-DB2EF9B1FD2D}"/>
                </a:ext>
              </a:extLst>
            </p:cNvPr>
            <p:cNvSpPr/>
            <p:nvPr/>
          </p:nvSpPr>
          <p:spPr>
            <a:xfrm>
              <a:off x="1213815" y="5704857"/>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alpha val="30000"/>
              </a:schemeClr>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19" name="Freeform: Shape 18">
              <a:extLst>
                <a:ext uri="{FF2B5EF4-FFF2-40B4-BE49-F238E27FC236}">
                  <a16:creationId xmlns:a16="http://schemas.microsoft.com/office/drawing/2014/main" id="{FC5D2481-15A1-0281-F12E-E9F3732E3A5D}"/>
                </a:ext>
              </a:extLst>
            </p:cNvPr>
            <p:cNvSpPr/>
            <p:nvPr/>
          </p:nvSpPr>
          <p:spPr>
            <a:xfrm>
              <a:off x="1556528" y="5704857"/>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alpha val="30000"/>
              </a:schemeClr>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20" name="Freeform: Shape 19">
              <a:extLst>
                <a:ext uri="{FF2B5EF4-FFF2-40B4-BE49-F238E27FC236}">
                  <a16:creationId xmlns:a16="http://schemas.microsoft.com/office/drawing/2014/main" id="{64EF06CF-B758-3FC2-8B6E-5644818F8543}"/>
                </a:ext>
              </a:extLst>
            </p:cNvPr>
            <p:cNvSpPr/>
            <p:nvPr/>
          </p:nvSpPr>
          <p:spPr>
            <a:xfrm>
              <a:off x="1898618" y="5704857"/>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alpha val="30000"/>
              </a:schemeClr>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21" name="Freeform: Shape 20">
              <a:extLst>
                <a:ext uri="{FF2B5EF4-FFF2-40B4-BE49-F238E27FC236}">
                  <a16:creationId xmlns:a16="http://schemas.microsoft.com/office/drawing/2014/main" id="{7DB3BCA3-6532-A4B4-9737-73361D955B16}"/>
                </a:ext>
              </a:extLst>
            </p:cNvPr>
            <p:cNvSpPr/>
            <p:nvPr/>
          </p:nvSpPr>
          <p:spPr>
            <a:xfrm>
              <a:off x="2241331" y="5704857"/>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alpha val="30000"/>
              </a:schemeClr>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22" name="Freeform: Shape 21">
              <a:extLst>
                <a:ext uri="{FF2B5EF4-FFF2-40B4-BE49-F238E27FC236}">
                  <a16:creationId xmlns:a16="http://schemas.microsoft.com/office/drawing/2014/main" id="{0E12E654-39D2-CA8B-76BB-C954BC53E0BF}"/>
                </a:ext>
              </a:extLst>
            </p:cNvPr>
            <p:cNvSpPr/>
            <p:nvPr/>
          </p:nvSpPr>
          <p:spPr>
            <a:xfrm>
              <a:off x="5457104" y="1657697"/>
              <a:ext cx="1101044" cy="1400139"/>
            </a:xfrm>
            <a:custGeom>
              <a:avLst/>
              <a:gdLst/>
              <a:ahLst/>
              <a:cxnLst>
                <a:cxn ang="3cd4">
                  <a:pos x="hc" y="t"/>
                </a:cxn>
                <a:cxn ang="cd2">
                  <a:pos x="l" y="vc"/>
                </a:cxn>
                <a:cxn ang="cd4">
                  <a:pos x="hc" y="b"/>
                </a:cxn>
                <a:cxn ang="0">
                  <a:pos x="r" y="vc"/>
                </a:cxn>
              </a:cxnLst>
              <a:rect l="l" t="t" r="r" b="b"/>
              <a:pathLst>
                <a:path w="1768" h="2248">
                  <a:moveTo>
                    <a:pt x="1054" y="495"/>
                  </a:moveTo>
                  <a:lnTo>
                    <a:pt x="1054" y="0"/>
                  </a:lnTo>
                  <a:lnTo>
                    <a:pt x="714" y="0"/>
                  </a:lnTo>
                  <a:lnTo>
                    <a:pt x="714" y="495"/>
                  </a:lnTo>
                  <a:cubicBezTo>
                    <a:pt x="307" y="574"/>
                    <a:pt x="0" y="933"/>
                    <a:pt x="0" y="1363"/>
                  </a:cubicBezTo>
                  <a:cubicBezTo>
                    <a:pt x="0" y="1851"/>
                    <a:pt x="396" y="2248"/>
                    <a:pt x="884" y="2248"/>
                  </a:cubicBezTo>
                  <a:cubicBezTo>
                    <a:pt x="1373" y="2248"/>
                    <a:pt x="1768" y="1851"/>
                    <a:pt x="1768" y="1363"/>
                  </a:cubicBezTo>
                  <a:cubicBezTo>
                    <a:pt x="1768" y="933"/>
                    <a:pt x="1461" y="574"/>
                    <a:pt x="1054" y="495"/>
                  </a:cubicBez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23" name="Freeform: Shape 22">
              <a:extLst>
                <a:ext uri="{FF2B5EF4-FFF2-40B4-BE49-F238E27FC236}">
                  <a16:creationId xmlns:a16="http://schemas.microsoft.com/office/drawing/2014/main" id="{A0260124-4434-078A-F61A-70314F8B633B}"/>
                </a:ext>
              </a:extLst>
            </p:cNvPr>
            <p:cNvSpPr/>
            <p:nvPr/>
          </p:nvSpPr>
          <p:spPr>
            <a:xfrm>
              <a:off x="9445655" y="5691127"/>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24" name="Freeform: Shape 23">
              <a:extLst>
                <a:ext uri="{FF2B5EF4-FFF2-40B4-BE49-F238E27FC236}">
                  <a16:creationId xmlns:a16="http://schemas.microsoft.com/office/drawing/2014/main" id="{7EEEB789-13A5-A5BA-2009-F267BD2F1876}"/>
                </a:ext>
              </a:extLst>
            </p:cNvPr>
            <p:cNvSpPr/>
            <p:nvPr/>
          </p:nvSpPr>
          <p:spPr>
            <a:xfrm>
              <a:off x="9787743" y="5691127"/>
              <a:ext cx="277909" cy="193789"/>
            </a:xfrm>
            <a:custGeom>
              <a:avLst/>
              <a:gdLst/>
              <a:ahLst/>
              <a:cxnLst>
                <a:cxn ang="3cd4">
                  <a:pos x="hc" y="t"/>
                </a:cxn>
                <a:cxn ang="cd2">
                  <a:pos x="l" y="vc"/>
                </a:cxn>
                <a:cxn ang="cd4">
                  <a:pos x="hc" y="b"/>
                </a:cxn>
                <a:cxn ang="0">
                  <a:pos x="r" y="vc"/>
                </a:cxn>
              </a:cxnLst>
              <a:rect l="l" t="t" r="r" b="b"/>
              <a:pathLst>
                <a:path w="447" h="312">
                  <a:moveTo>
                    <a:pt x="447" y="312"/>
                  </a:moveTo>
                  <a:lnTo>
                    <a:pt x="0" y="312"/>
                  </a:lnTo>
                  <a:lnTo>
                    <a:pt x="0" y="0"/>
                  </a:lnTo>
                  <a:lnTo>
                    <a:pt x="447"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25" name="Freeform: Shape 24">
              <a:extLst>
                <a:ext uri="{FF2B5EF4-FFF2-40B4-BE49-F238E27FC236}">
                  <a16:creationId xmlns:a16="http://schemas.microsoft.com/office/drawing/2014/main" id="{75CA9C6E-9843-2548-5020-34F3DD25E808}"/>
                </a:ext>
              </a:extLst>
            </p:cNvPr>
            <p:cNvSpPr/>
            <p:nvPr/>
          </p:nvSpPr>
          <p:spPr>
            <a:xfrm>
              <a:off x="10130457" y="5691127"/>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26" name="Freeform: Shape 25">
              <a:extLst>
                <a:ext uri="{FF2B5EF4-FFF2-40B4-BE49-F238E27FC236}">
                  <a16:creationId xmlns:a16="http://schemas.microsoft.com/office/drawing/2014/main" id="{3B1499D2-34F0-EF07-064E-1E7897C9CF66}"/>
                </a:ext>
              </a:extLst>
            </p:cNvPr>
            <p:cNvSpPr/>
            <p:nvPr/>
          </p:nvSpPr>
          <p:spPr>
            <a:xfrm>
              <a:off x="10472548" y="5691127"/>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27" name="Freeform: Shape 26">
              <a:extLst>
                <a:ext uri="{FF2B5EF4-FFF2-40B4-BE49-F238E27FC236}">
                  <a16:creationId xmlns:a16="http://schemas.microsoft.com/office/drawing/2014/main" id="{17358B1B-37A3-494D-24D0-258965CA8474}"/>
                </a:ext>
              </a:extLst>
            </p:cNvPr>
            <p:cNvSpPr/>
            <p:nvPr/>
          </p:nvSpPr>
          <p:spPr>
            <a:xfrm>
              <a:off x="10814638" y="5691127"/>
              <a:ext cx="277909" cy="193789"/>
            </a:xfrm>
            <a:custGeom>
              <a:avLst/>
              <a:gdLst/>
              <a:ahLst/>
              <a:cxnLst>
                <a:cxn ang="3cd4">
                  <a:pos x="hc" y="t"/>
                </a:cxn>
                <a:cxn ang="cd2">
                  <a:pos x="l" y="vc"/>
                </a:cxn>
                <a:cxn ang="cd4">
                  <a:pos x="hc" y="b"/>
                </a:cxn>
                <a:cxn ang="0">
                  <a:pos x="r" y="vc"/>
                </a:cxn>
              </a:cxnLst>
              <a:rect l="l" t="t" r="r" b="b"/>
              <a:pathLst>
                <a:path w="447" h="312">
                  <a:moveTo>
                    <a:pt x="447" y="312"/>
                  </a:moveTo>
                  <a:lnTo>
                    <a:pt x="0" y="312"/>
                  </a:lnTo>
                  <a:lnTo>
                    <a:pt x="0" y="0"/>
                  </a:lnTo>
                  <a:lnTo>
                    <a:pt x="447"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28" name="Freeform: Shape 27">
              <a:extLst>
                <a:ext uri="{FF2B5EF4-FFF2-40B4-BE49-F238E27FC236}">
                  <a16:creationId xmlns:a16="http://schemas.microsoft.com/office/drawing/2014/main" id="{AB37E111-7BF0-981C-DD17-6125EE0947FA}"/>
                </a:ext>
              </a:extLst>
            </p:cNvPr>
            <p:cNvSpPr/>
            <p:nvPr/>
          </p:nvSpPr>
          <p:spPr>
            <a:xfrm>
              <a:off x="7603111" y="1657697"/>
              <a:ext cx="1101667" cy="1400139"/>
            </a:xfrm>
            <a:custGeom>
              <a:avLst/>
              <a:gdLst/>
              <a:ahLst/>
              <a:cxnLst>
                <a:cxn ang="3cd4">
                  <a:pos x="hc" y="t"/>
                </a:cxn>
                <a:cxn ang="cd2">
                  <a:pos x="l" y="vc"/>
                </a:cxn>
                <a:cxn ang="cd4">
                  <a:pos x="hc" y="b"/>
                </a:cxn>
                <a:cxn ang="0">
                  <a:pos x="r" y="vc"/>
                </a:cxn>
              </a:cxnLst>
              <a:rect l="l" t="t" r="r" b="b"/>
              <a:pathLst>
                <a:path w="1769" h="2248">
                  <a:moveTo>
                    <a:pt x="1055" y="495"/>
                  </a:moveTo>
                  <a:lnTo>
                    <a:pt x="1055" y="0"/>
                  </a:lnTo>
                  <a:lnTo>
                    <a:pt x="715" y="0"/>
                  </a:lnTo>
                  <a:lnTo>
                    <a:pt x="715" y="495"/>
                  </a:lnTo>
                  <a:cubicBezTo>
                    <a:pt x="307" y="574"/>
                    <a:pt x="0" y="933"/>
                    <a:pt x="0" y="1363"/>
                  </a:cubicBezTo>
                  <a:cubicBezTo>
                    <a:pt x="0" y="1851"/>
                    <a:pt x="396" y="2248"/>
                    <a:pt x="885" y="2248"/>
                  </a:cubicBezTo>
                  <a:cubicBezTo>
                    <a:pt x="1373" y="2248"/>
                    <a:pt x="1769" y="1851"/>
                    <a:pt x="1769" y="1363"/>
                  </a:cubicBezTo>
                  <a:cubicBezTo>
                    <a:pt x="1769" y="933"/>
                    <a:pt x="1462" y="574"/>
                    <a:pt x="1055" y="495"/>
                  </a:cubicBez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29" name="Freeform: Shape 28">
              <a:extLst>
                <a:ext uri="{FF2B5EF4-FFF2-40B4-BE49-F238E27FC236}">
                  <a16:creationId xmlns:a16="http://schemas.microsoft.com/office/drawing/2014/main" id="{39ABC8A0-1123-A564-C27D-F2372FCA4EB1}"/>
                </a:ext>
              </a:extLst>
            </p:cNvPr>
            <p:cNvSpPr/>
            <p:nvPr/>
          </p:nvSpPr>
          <p:spPr>
            <a:xfrm>
              <a:off x="3032567" y="5693840"/>
              <a:ext cx="277909" cy="193789"/>
            </a:xfrm>
            <a:custGeom>
              <a:avLst/>
              <a:gdLst/>
              <a:ahLst/>
              <a:cxnLst>
                <a:cxn ang="3cd4">
                  <a:pos x="hc" y="t"/>
                </a:cxn>
                <a:cxn ang="cd2">
                  <a:pos x="l" y="vc"/>
                </a:cxn>
                <a:cxn ang="cd4">
                  <a:pos x="hc" y="b"/>
                </a:cxn>
                <a:cxn ang="0">
                  <a:pos x="r" y="vc"/>
                </a:cxn>
              </a:cxnLst>
              <a:rect l="l" t="t" r="r" b="b"/>
              <a:pathLst>
                <a:path w="447" h="312">
                  <a:moveTo>
                    <a:pt x="447" y="312"/>
                  </a:moveTo>
                  <a:lnTo>
                    <a:pt x="0" y="312"/>
                  </a:lnTo>
                  <a:lnTo>
                    <a:pt x="0" y="0"/>
                  </a:lnTo>
                  <a:lnTo>
                    <a:pt x="447"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49AE8CD0-5C55-7746-F4A9-7266E97D2B57}"/>
                </a:ext>
              </a:extLst>
            </p:cNvPr>
            <p:cNvSpPr/>
            <p:nvPr/>
          </p:nvSpPr>
          <p:spPr>
            <a:xfrm>
              <a:off x="3375281" y="5693840"/>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31" name="Freeform: Shape 30">
              <a:extLst>
                <a:ext uri="{FF2B5EF4-FFF2-40B4-BE49-F238E27FC236}">
                  <a16:creationId xmlns:a16="http://schemas.microsoft.com/office/drawing/2014/main" id="{BA9074A3-D780-EC26-EF79-56C7F0346131}"/>
                </a:ext>
              </a:extLst>
            </p:cNvPr>
            <p:cNvSpPr/>
            <p:nvPr/>
          </p:nvSpPr>
          <p:spPr>
            <a:xfrm>
              <a:off x="3717994" y="5693840"/>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alpha val="30000"/>
              </a:schemeClr>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32" name="Freeform: Shape 31">
              <a:extLst>
                <a:ext uri="{FF2B5EF4-FFF2-40B4-BE49-F238E27FC236}">
                  <a16:creationId xmlns:a16="http://schemas.microsoft.com/office/drawing/2014/main" id="{7FCA3BE5-E229-A65E-2B0D-424F6319E303}"/>
                </a:ext>
              </a:extLst>
            </p:cNvPr>
            <p:cNvSpPr/>
            <p:nvPr/>
          </p:nvSpPr>
          <p:spPr>
            <a:xfrm>
              <a:off x="4060707" y="5693840"/>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alpha val="30000"/>
              </a:schemeClr>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33" name="Freeform: Shape 32">
              <a:extLst>
                <a:ext uri="{FF2B5EF4-FFF2-40B4-BE49-F238E27FC236}">
                  <a16:creationId xmlns:a16="http://schemas.microsoft.com/office/drawing/2014/main" id="{2528A7A0-90D9-67F6-E2ED-40A6B9CA64C9}"/>
                </a:ext>
              </a:extLst>
            </p:cNvPr>
            <p:cNvSpPr/>
            <p:nvPr/>
          </p:nvSpPr>
          <p:spPr>
            <a:xfrm>
              <a:off x="4402797" y="5693840"/>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alpha val="30000"/>
              </a:schemeClr>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34" name="Freeform: Shape 33">
              <a:extLst>
                <a:ext uri="{FF2B5EF4-FFF2-40B4-BE49-F238E27FC236}">
                  <a16:creationId xmlns:a16="http://schemas.microsoft.com/office/drawing/2014/main" id="{B99F320D-8028-9BC0-B194-08BEB62D9163}"/>
                </a:ext>
              </a:extLst>
            </p:cNvPr>
            <p:cNvSpPr/>
            <p:nvPr/>
          </p:nvSpPr>
          <p:spPr>
            <a:xfrm>
              <a:off x="9750363" y="1657697"/>
              <a:ext cx="1101667" cy="1400139"/>
            </a:xfrm>
            <a:custGeom>
              <a:avLst/>
              <a:gdLst/>
              <a:ahLst/>
              <a:cxnLst>
                <a:cxn ang="3cd4">
                  <a:pos x="hc" y="t"/>
                </a:cxn>
                <a:cxn ang="cd2">
                  <a:pos x="l" y="vc"/>
                </a:cxn>
                <a:cxn ang="cd4">
                  <a:pos x="hc" y="b"/>
                </a:cxn>
                <a:cxn ang="0">
                  <a:pos x="r" y="vc"/>
                </a:cxn>
              </a:cxnLst>
              <a:rect l="l" t="t" r="r" b="b"/>
              <a:pathLst>
                <a:path w="1769" h="2248">
                  <a:moveTo>
                    <a:pt x="1055" y="495"/>
                  </a:moveTo>
                  <a:lnTo>
                    <a:pt x="1055" y="0"/>
                  </a:lnTo>
                  <a:lnTo>
                    <a:pt x="714" y="0"/>
                  </a:lnTo>
                  <a:lnTo>
                    <a:pt x="714" y="495"/>
                  </a:lnTo>
                  <a:cubicBezTo>
                    <a:pt x="307" y="574"/>
                    <a:pt x="0" y="933"/>
                    <a:pt x="0" y="1363"/>
                  </a:cubicBezTo>
                  <a:cubicBezTo>
                    <a:pt x="0" y="1851"/>
                    <a:pt x="396" y="2248"/>
                    <a:pt x="884" y="2248"/>
                  </a:cubicBezTo>
                  <a:cubicBezTo>
                    <a:pt x="1373" y="2248"/>
                    <a:pt x="1769" y="1851"/>
                    <a:pt x="1769" y="1363"/>
                  </a:cubicBezTo>
                  <a:cubicBezTo>
                    <a:pt x="1769" y="933"/>
                    <a:pt x="1462" y="574"/>
                    <a:pt x="1055" y="495"/>
                  </a:cubicBez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35" name="Freeform: Shape 34">
              <a:extLst>
                <a:ext uri="{FF2B5EF4-FFF2-40B4-BE49-F238E27FC236}">
                  <a16:creationId xmlns:a16="http://schemas.microsoft.com/office/drawing/2014/main" id="{48BB7912-44FE-D03F-CB8E-068140019B97}"/>
                </a:ext>
              </a:extLst>
            </p:cNvPr>
            <p:cNvSpPr/>
            <p:nvPr/>
          </p:nvSpPr>
          <p:spPr>
            <a:xfrm>
              <a:off x="7299406" y="5711783"/>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36" name="Freeform: Shape 35">
              <a:extLst>
                <a:ext uri="{FF2B5EF4-FFF2-40B4-BE49-F238E27FC236}">
                  <a16:creationId xmlns:a16="http://schemas.microsoft.com/office/drawing/2014/main" id="{05A5B26F-FBB9-6AB0-B776-C87C9A3B27EB}"/>
                </a:ext>
              </a:extLst>
            </p:cNvPr>
            <p:cNvSpPr/>
            <p:nvPr/>
          </p:nvSpPr>
          <p:spPr>
            <a:xfrm>
              <a:off x="7642119" y="5711783"/>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37" name="Freeform: Shape 36">
              <a:extLst>
                <a:ext uri="{FF2B5EF4-FFF2-40B4-BE49-F238E27FC236}">
                  <a16:creationId xmlns:a16="http://schemas.microsoft.com/office/drawing/2014/main" id="{0810C547-9BC4-F0CA-A241-6E5D7F6AA190}"/>
                </a:ext>
              </a:extLst>
            </p:cNvPr>
            <p:cNvSpPr/>
            <p:nvPr/>
          </p:nvSpPr>
          <p:spPr>
            <a:xfrm>
              <a:off x="7984832" y="5711783"/>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38" name="Freeform: Shape 37">
              <a:extLst>
                <a:ext uri="{FF2B5EF4-FFF2-40B4-BE49-F238E27FC236}">
                  <a16:creationId xmlns:a16="http://schemas.microsoft.com/office/drawing/2014/main" id="{EFF45E07-EF09-6392-2694-63B3530E24D0}"/>
                </a:ext>
              </a:extLst>
            </p:cNvPr>
            <p:cNvSpPr/>
            <p:nvPr/>
          </p:nvSpPr>
          <p:spPr>
            <a:xfrm>
              <a:off x="8326920" y="5711783"/>
              <a:ext cx="277909" cy="193789"/>
            </a:xfrm>
            <a:custGeom>
              <a:avLst/>
              <a:gdLst/>
              <a:ahLst/>
              <a:cxnLst>
                <a:cxn ang="3cd4">
                  <a:pos x="hc" y="t"/>
                </a:cxn>
                <a:cxn ang="cd2">
                  <a:pos x="l" y="vc"/>
                </a:cxn>
                <a:cxn ang="cd4">
                  <a:pos x="hc" y="b"/>
                </a:cxn>
                <a:cxn ang="0">
                  <a:pos x="r" y="vc"/>
                </a:cxn>
              </a:cxnLst>
              <a:rect l="l" t="t" r="r" b="b"/>
              <a:pathLst>
                <a:path w="447" h="312">
                  <a:moveTo>
                    <a:pt x="447" y="312"/>
                  </a:moveTo>
                  <a:lnTo>
                    <a:pt x="0" y="312"/>
                  </a:lnTo>
                  <a:lnTo>
                    <a:pt x="0" y="0"/>
                  </a:lnTo>
                  <a:lnTo>
                    <a:pt x="447" y="0"/>
                  </a:lnTo>
                  <a:close/>
                </a:path>
              </a:pathLst>
            </a:custGeom>
            <a:solidFill>
              <a:schemeClr val="bg1"/>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39" name="Freeform: Shape 38">
              <a:extLst>
                <a:ext uri="{FF2B5EF4-FFF2-40B4-BE49-F238E27FC236}">
                  <a16:creationId xmlns:a16="http://schemas.microsoft.com/office/drawing/2014/main" id="{00F2AE22-AD44-2A40-AFDF-50AD601AA990}"/>
                </a:ext>
              </a:extLst>
            </p:cNvPr>
            <p:cNvSpPr/>
            <p:nvPr/>
          </p:nvSpPr>
          <p:spPr>
            <a:xfrm>
              <a:off x="8669634" y="5711783"/>
              <a:ext cx="277286" cy="193789"/>
            </a:xfrm>
            <a:custGeom>
              <a:avLst/>
              <a:gdLst/>
              <a:ahLst/>
              <a:cxnLst>
                <a:cxn ang="3cd4">
                  <a:pos x="hc" y="t"/>
                </a:cxn>
                <a:cxn ang="cd2">
                  <a:pos x="l" y="vc"/>
                </a:cxn>
                <a:cxn ang="cd4">
                  <a:pos x="hc" y="b"/>
                </a:cxn>
                <a:cxn ang="0">
                  <a:pos x="r" y="vc"/>
                </a:cxn>
              </a:cxnLst>
              <a:rect l="l" t="t" r="r" b="b"/>
              <a:pathLst>
                <a:path w="446" h="312">
                  <a:moveTo>
                    <a:pt x="446" y="312"/>
                  </a:moveTo>
                  <a:lnTo>
                    <a:pt x="0" y="312"/>
                  </a:lnTo>
                  <a:lnTo>
                    <a:pt x="0" y="0"/>
                  </a:lnTo>
                  <a:lnTo>
                    <a:pt x="446" y="0"/>
                  </a:lnTo>
                  <a:close/>
                </a:path>
              </a:pathLst>
            </a:custGeom>
            <a:solidFill>
              <a:schemeClr val="bg1">
                <a:alpha val="30000"/>
              </a:schemeClr>
            </a:solidFill>
            <a:ln cap="flat">
              <a:noFill/>
              <a:prstDash val="solid"/>
            </a:ln>
          </p:spPr>
          <p:txBody>
            <a:bodyPr vert="horz" wrap="none" lIns="45000" tIns="22500" rIns="45000" bIns="22500" anchor="ctr" anchorCtr="1" compatLnSpc="0"/>
            <a:lstStyle/>
            <a:p>
              <a:pPr hangingPunct="0"/>
              <a:endParaRPr lang="en-US" sz="900" dirty="0">
                <a:latin typeface="Roboto" panose="02000000000000000000" pitchFamily="2" charset="0"/>
                <a:ea typeface="Roboto" panose="02000000000000000000" pitchFamily="2" charset="0"/>
                <a:cs typeface="Roboto" panose="02000000000000000000" pitchFamily="2" charset="0"/>
              </a:endParaRPr>
            </a:p>
          </p:txBody>
        </p:sp>
        <p:sp>
          <p:nvSpPr>
            <p:cNvPr id="40" name="TextBox 39">
              <a:extLst>
                <a:ext uri="{FF2B5EF4-FFF2-40B4-BE49-F238E27FC236}">
                  <a16:creationId xmlns:a16="http://schemas.microsoft.com/office/drawing/2014/main" id="{5EFB700D-01A8-4F78-63B2-3112384113EC}"/>
                </a:ext>
              </a:extLst>
            </p:cNvPr>
            <p:cNvSpPr txBox="1"/>
            <p:nvPr/>
          </p:nvSpPr>
          <p:spPr>
            <a:xfrm>
              <a:off x="764240" y="3143008"/>
              <a:ext cx="1936217" cy="523220"/>
            </a:xfrm>
            <a:prstGeom prst="rect">
              <a:avLst/>
            </a:prstGeom>
            <a:noFill/>
          </p:spPr>
          <p:txBody>
            <a:bodyPr wrap="square" rtlCol="0" anchor="b">
              <a:spAutoFit/>
            </a:bodyPr>
            <a:lstStyle/>
            <a:p>
              <a:pPr algn="ctr"/>
              <a:r>
                <a:rPr lang="es-SV" sz="1400" b="1" spc="-15" dirty="0">
                  <a:solidFill>
                    <a:schemeClr val="bg1"/>
                  </a:solidFill>
                  <a:latin typeface="Roboto" panose="02000000000000000000" pitchFamily="2" charset="0"/>
                  <a:ea typeface="Roboto" panose="02000000000000000000" pitchFamily="2" charset="0"/>
                  <a:cs typeface="Roboto" panose="02000000000000000000" pitchFamily="2" charset="0"/>
                </a:rPr>
                <a:t>Data Analytics Insights (if applicable)</a:t>
              </a:r>
              <a:endParaRPr lang="en-US" sz="1400" b="1" spc="-15"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TextBox 40">
              <a:extLst>
                <a:ext uri="{FF2B5EF4-FFF2-40B4-BE49-F238E27FC236}">
                  <a16:creationId xmlns:a16="http://schemas.microsoft.com/office/drawing/2014/main" id="{A3590044-123B-F0EF-20A5-6CCB76E7D90F}"/>
                </a:ext>
              </a:extLst>
            </p:cNvPr>
            <p:cNvSpPr txBox="1"/>
            <p:nvPr/>
          </p:nvSpPr>
          <p:spPr>
            <a:xfrm>
              <a:off x="659718" y="3736904"/>
              <a:ext cx="2087432" cy="1919756"/>
            </a:xfrm>
            <a:prstGeom prst="rect">
              <a:avLst/>
            </a:prstGeom>
            <a:noFill/>
          </p:spPr>
          <p:txBody>
            <a:bodyPr wrap="square" rtlCol="0">
              <a:spAutoFit/>
            </a:bodyPr>
            <a:lstStyle/>
            <a:p>
              <a:pPr algn="ctr">
                <a:lnSpc>
                  <a:spcPts val="1800"/>
                </a:lnSpc>
              </a:pPr>
              <a:r>
                <a:rPr lang="en-US" sz="1200" spc="-10" dirty="0">
                  <a:solidFill>
                    <a:schemeClr val="bg1"/>
                  </a:solidFill>
                  <a:latin typeface="Roboto" panose="02000000000000000000" pitchFamily="2" charset="0"/>
                  <a:ea typeface="Roboto" panose="02000000000000000000" pitchFamily="2" charset="0"/>
                  <a:cs typeface="Roboto" panose="02000000000000000000" pitchFamily="2" charset="0"/>
                </a:rPr>
                <a:t>Using our Audit Tools, we share Business Insights and Data Visuals with management, in addition to adopting a Risk-Based Audit Approach and Targeted Testing for our internal audit.</a:t>
              </a:r>
            </a:p>
          </p:txBody>
        </p:sp>
        <p:sp>
          <p:nvSpPr>
            <p:cNvPr id="42" name="TextBox 41">
              <a:extLst>
                <a:ext uri="{FF2B5EF4-FFF2-40B4-BE49-F238E27FC236}">
                  <a16:creationId xmlns:a16="http://schemas.microsoft.com/office/drawing/2014/main" id="{AD4D0C96-53B9-CD21-78E6-E4263C06570B}"/>
                </a:ext>
              </a:extLst>
            </p:cNvPr>
            <p:cNvSpPr txBox="1"/>
            <p:nvPr/>
          </p:nvSpPr>
          <p:spPr>
            <a:xfrm>
              <a:off x="2842867" y="3180796"/>
              <a:ext cx="2054459" cy="523220"/>
            </a:xfrm>
            <a:prstGeom prst="rect">
              <a:avLst/>
            </a:prstGeom>
            <a:noFill/>
          </p:spPr>
          <p:txBody>
            <a:bodyPr wrap="square" rtlCol="0" anchor="b">
              <a:spAutoFit/>
            </a:bodyPr>
            <a:lstStyle/>
            <a:p>
              <a:pPr algn="ctr"/>
              <a:r>
                <a:rPr lang="en-US" sz="1400" b="1" spc="-15" dirty="0">
                  <a:solidFill>
                    <a:schemeClr val="bg1"/>
                  </a:solidFill>
                  <a:latin typeface="Roboto" panose="02000000000000000000" pitchFamily="2" charset="0"/>
                  <a:ea typeface="Roboto" panose="02000000000000000000" pitchFamily="2" charset="0"/>
                  <a:cs typeface="Roboto" panose="02000000000000000000" pitchFamily="2" charset="0"/>
                </a:rPr>
                <a:t>Positive Controls and Good Practices</a:t>
              </a:r>
            </a:p>
          </p:txBody>
        </p:sp>
        <p:sp>
          <p:nvSpPr>
            <p:cNvPr id="43" name="TextBox 42">
              <a:extLst>
                <a:ext uri="{FF2B5EF4-FFF2-40B4-BE49-F238E27FC236}">
                  <a16:creationId xmlns:a16="http://schemas.microsoft.com/office/drawing/2014/main" id="{BBCBA1A8-5EE6-12EE-BC1D-26D9F36808DF}"/>
                </a:ext>
              </a:extLst>
            </p:cNvPr>
            <p:cNvSpPr txBox="1"/>
            <p:nvPr/>
          </p:nvSpPr>
          <p:spPr>
            <a:xfrm>
              <a:off x="2757141" y="3789188"/>
              <a:ext cx="2126725" cy="1689950"/>
            </a:xfrm>
            <a:prstGeom prst="rect">
              <a:avLst/>
            </a:prstGeom>
            <a:noFill/>
          </p:spPr>
          <p:txBody>
            <a:bodyPr wrap="square" rtlCol="0">
              <a:spAutoFit/>
            </a:bodyPr>
            <a:lstStyle/>
            <a:p>
              <a:pPr algn="ctr">
                <a:lnSpc>
                  <a:spcPts val="1800"/>
                </a:lnSpc>
              </a:pPr>
              <a:r>
                <a:rPr lang="en-US" sz="1200" spc="-10" dirty="0">
                  <a:solidFill>
                    <a:schemeClr val="bg1"/>
                  </a:solidFill>
                  <a:latin typeface="Roboto" panose="02000000000000000000" pitchFamily="2" charset="0"/>
                  <a:ea typeface="Roboto" panose="02000000000000000000" pitchFamily="2" charset="0"/>
                  <a:cs typeface="Roboto" panose="02000000000000000000" pitchFamily="2" charset="0"/>
                </a:rPr>
                <a:t>We distinguish our audit reports by including the Positive Controls and Good Practices that we observe during the course of our audit work so that our report presents a balanced output.</a:t>
              </a:r>
            </a:p>
          </p:txBody>
        </p:sp>
        <p:sp>
          <p:nvSpPr>
            <p:cNvPr id="45" name="TextBox 44">
              <a:extLst>
                <a:ext uri="{FF2B5EF4-FFF2-40B4-BE49-F238E27FC236}">
                  <a16:creationId xmlns:a16="http://schemas.microsoft.com/office/drawing/2014/main" id="{7CF880F1-2C6C-C156-5F1B-03866ECD6C1C}"/>
                </a:ext>
              </a:extLst>
            </p:cNvPr>
            <p:cNvSpPr txBox="1"/>
            <p:nvPr/>
          </p:nvSpPr>
          <p:spPr>
            <a:xfrm>
              <a:off x="5072040" y="3180796"/>
              <a:ext cx="1861860" cy="523220"/>
            </a:xfrm>
            <a:prstGeom prst="rect">
              <a:avLst/>
            </a:prstGeom>
            <a:noFill/>
          </p:spPr>
          <p:txBody>
            <a:bodyPr wrap="square" rtlCol="0" anchor="b">
              <a:spAutoFit/>
            </a:bodyPr>
            <a:lstStyle/>
            <a:p>
              <a:pPr algn="ctr"/>
              <a:r>
                <a:rPr lang="es-SV" sz="1400" b="1" spc="-15" dirty="0">
                  <a:solidFill>
                    <a:schemeClr val="bg1"/>
                  </a:solidFill>
                  <a:latin typeface="Roboto" panose="02000000000000000000" pitchFamily="2" charset="0"/>
                  <a:ea typeface="Roboto" panose="02000000000000000000" pitchFamily="2" charset="0"/>
                  <a:cs typeface="Roboto" panose="02000000000000000000" pitchFamily="2" charset="0"/>
                </a:rPr>
                <a:t>Main Audit Observations</a:t>
              </a:r>
              <a:endParaRPr lang="en-US" sz="1400" b="1" spc="-15"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6" name="TextBox 45">
              <a:extLst>
                <a:ext uri="{FF2B5EF4-FFF2-40B4-BE49-F238E27FC236}">
                  <a16:creationId xmlns:a16="http://schemas.microsoft.com/office/drawing/2014/main" id="{F66EA0BF-033D-8272-59CF-E2333C8A2708}"/>
                </a:ext>
              </a:extLst>
            </p:cNvPr>
            <p:cNvSpPr txBox="1"/>
            <p:nvPr/>
          </p:nvSpPr>
          <p:spPr>
            <a:xfrm>
              <a:off x="4919795" y="3736904"/>
              <a:ext cx="2152405" cy="1919756"/>
            </a:xfrm>
            <a:prstGeom prst="rect">
              <a:avLst/>
            </a:prstGeom>
            <a:noFill/>
          </p:spPr>
          <p:txBody>
            <a:bodyPr wrap="square" rtlCol="0">
              <a:spAutoFit/>
            </a:bodyPr>
            <a:lstStyle/>
            <a:p>
              <a:pPr algn="ctr">
                <a:lnSpc>
                  <a:spcPts val="1800"/>
                </a:lnSpc>
              </a:pPr>
              <a:r>
                <a:rPr lang="en-US" sz="1200" spc="-10" dirty="0">
                  <a:solidFill>
                    <a:schemeClr val="bg1"/>
                  </a:solidFill>
                  <a:latin typeface="Roboto" panose="02000000000000000000" pitchFamily="2" charset="0"/>
                  <a:ea typeface="Roboto" panose="02000000000000000000" pitchFamily="2" charset="0"/>
                  <a:cs typeface="Roboto" panose="02000000000000000000" pitchFamily="2" charset="0"/>
                </a:rPr>
                <a:t>We will identify non-conformance, gaps, risks and potential implications in the processes and procedures and make recommendations to improve internal controls</a:t>
              </a:r>
            </a:p>
            <a:p>
              <a:pPr algn="ctr">
                <a:lnSpc>
                  <a:spcPts val="1800"/>
                </a:lnSpc>
              </a:pPr>
              <a:r>
                <a:rPr lang="en-US" sz="1200" spc="-10" dirty="0">
                  <a:solidFill>
                    <a:schemeClr val="bg1"/>
                  </a:solidFill>
                  <a:latin typeface="Roboto" panose="02000000000000000000" pitchFamily="2" charset="0"/>
                  <a:ea typeface="Roboto" panose="02000000000000000000" pitchFamily="2" charset="0"/>
                  <a:cs typeface="Roboto" panose="02000000000000000000" pitchFamily="2" charset="0"/>
                </a:rPr>
                <a:t>Focus on Root Cause Analysis.</a:t>
              </a:r>
            </a:p>
          </p:txBody>
        </p:sp>
        <p:sp>
          <p:nvSpPr>
            <p:cNvPr id="47" name="TextBox 46">
              <a:extLst>
                <a:ext uri="{FF2B5EF4-FFF2-40B4-BE49-F238E27FC236}">
                  <a16:creationId xmlns:a16="http://schemas.microsoft.com/office/drawing/2014/main" id="{E85162D1-25D2-CCAE-B3DF-D8607F4FB37C}"/>
                </a:ext>
              </a:extLst>
            </p:cNvPr>
            <p:cNvSpPr txBox="1"/>
            <p:nvPr/>
          </p:nvSpPr>
          <p:spPr>
            <a:xfrm>
              <a:off x="7181950" y="3180796"/>
              <a:ext cx="1861860" cy="523220"/>
            </a:xfrm>
            <a:prstGeom prst="rect">
              <a:avLst/>
            </a:prstGeom>
            <a:noFill/>
          </p:spPr>
          <p:txBody>
            <a:bodyPr wrap="square" rtlCol="0" anchor="b">
              <a:spAutoFit/>
            </a:bodyPr>
            <a:lstStyle/>
            <a:p>
              <a:pPr algn="ctr"/>
              <a:r>
                <a:rPr lang="es-SV" sz="1400" b="1" spc="-15" dirty="0">
                  <a:solidFill>
                    <a:schemeClr val="bg1"/>
                  </a:solidFill>
                  <a:latin typeface="Roboto" panose="02000000000000000000" pitchFamily="2" charset="0"/>
                  <a:ea typeface="Roboto" panose="02000000000000000000" pitchFamily="2" charset="0"/>
                  <a:cs typeface="Roboto" panose="02000000000000000000" pitchFamily="2" charset="0"/>
                </a:rPr>
                <a:t>Opportunities for </a:t>
              </a:r>
            </a:p>
            <a:p>
              <a:pPr algn="ctr"/>
              <a:r>
                <a:rPr lang="es-SV" sz="1400" b="1" spc="-15" dirty="0">
                  <a:solidFill>
                    <a:schemeClr val="bg1"/>
                  </a:solidFill>
                  <a:latin typeface="Roboto" panose="02000000000000000000" pitchFamily="2" charset="0"/>
                  <a:ea typeface="Roboto" panose="02000000000000000000" pitchFamily="2" charset="0"/>
                  <a:cs typeface="Roboto" panose="02000000000000000000" pitchFamily="2" charset="0"/>
                </a:rPr>
                <a:t>Improvement</a:t>
              </a:r>
            </a:p>
          </p:txBody>
        </p:sp>
        <p:sp>
          <p:nvSpPr>
            <p:cNvPr id="48" name="TextBox 47">
              <a:extLst>
                <a:ext uri="{FF2B5EF4-FFF2-40B4-BE49-F238E27FC236}">
                  <a16:creationId xmlns:a16="http://schemas.microsoft.com/office/drawing/2014/main" id="{A30B6C1B-297F-572A-4A50-AA80EBF260FA}"/>
                </a:ext>
              </a:extLst>
            </p:cNvPr>
            <p:cNvSpPr txBox="1"/>
            <p:nvPr/>
          </p:nvSpPr>
          <p:spPr>
            <a:xfrm>
              <a:off x="7077427" y="3774692"/>
              <a:ext cx="2087432" cy="1688924"/>
            </a:xfrm>
            <a:prstGeom prst="rect">
              <a:avLst/>
            </a:prstGeom>
            <a:noFill/>
          </p:spPr>
          <p:txBody>
            <a:bodyPr wrap="square" rtlCol="0">
              <a:spAutoFit/>
            </a:bodyPr>
            <a:lstStyle/>
            <a:p>
              <a:pPr algn="ctr">
                <a:lnSpc>
                  <a:spcPts val="1800"/>
                </a:lnSpc>
              </a:pPr>
              <a:r>
                <a:rPr lang="en-US" sz="1200" spc="-10" dirty="0">
                  <a:solidFill>
                    <a:schemeClr val="bg1"/>
                  </a:solidFill>
                  <a:latin typeface="Roboto" panose="02000000000000000000" pitchFamily="2" charset="0"/>
                  <a:ea typeface="Roboto" panose="02000000000000000000" pitchFamily="2" charset="0"/>
                  <a:cs typeface="Roboto" panose="02000000000000000000" pitchFamily="2" charset="0"/>
                </a:rPr>
                <a:t>We will identify Opportunities for Improvement in terms of efficiency, economy and effectiveness and provide reasonable and practical recommendations.</a:t>
              </a:r>
            </a:p>
          </p:txBody>
        </p:sp>
        <p:sp>
          <p:nvSpPr>
            <p:cNvPr id="49" name="TextBox 48">
              <a:extLst>
                <a:ext uri="{FF2B5EF4-FFF2-40B4-BE49-F238E27FC236}">
                  <a16:creationId xmlns:a16="http://schemas.microsoft.com/office/drawing/2014/main" id="{1A5B52ED-09E4-1E0B-8B7B-4EA29BB70E44}"/>
                </a:ext>
              </a:extLst>
            </p:cNvPr>
            <p:cNvSpPr txBox="1"/>
            <p:nvPr/>
          </p:nvSpPr>
          <p:spPr>
            <a:xfrm>
              <a:off x="9367232" y="3172582"/>
              <a:ext cx="1861860" cy="523220"/>
            </a:xfrm>
            <a:prstGeom prst="rect">
              <a:avLst/>
            </a:prstGeom>
            <a:noFill/>
          </p:spPr>
          <p:txBody>
            <a:bodyPr wrap="square" rtlCol="0" anchor="b">
              <a:spAutoFit/>
            </a:bodyPr>
            <a:lstStyle/>
            <a:p>
              <a:pPr algn="ctr"/>
              <a:r>
                <a:rPr lang="en-US" sz="1400" b="1" spc="-15" dirty="0">
                  <a:solidFill>
                    <a:schemeClr val="bg1"/>
                  </a:solidFill>
                  <a:latin typeface="Roboto" panose="02000000000000000000" pitchFamily="2" charset="0"/>
                  <a:ea typeface="Roboto" panose="02000000000000000000" pitchFamily="2" charset="0"/>
                  <a:cs typeface="Roboto" panose="02000000000000000000" pitchFamily="2" charset="0"/>
                </a:rPr>
                <a:t>Best-fit and Curated Sample Templates</a:t>
              </a:r>
            </a:p>
          </p:txBody>
        </p:sp>
        <p:sp>
          <p:nvSpPr>
            <p:cNvPr id="50" name="TextBox 49">
              <a:extLst>
                <a:ext uri="{FF2B5EF4-FFF2-40B4-BE49-F238E27FC236}">
                  <a16:creationId xmlns:a16="http://schemas.microsoft.com/office/drawing/2014/main" id="{2AA21D48-A089-0580-6658-2300B7643C6F}"/>
                </a:ext>
              </a:extLst>
            </p:cNvPr>
            <p:cNvSpPr txBox="1"/>
            <p:nvPr/>
          </p:nvSpPr>
          <p:spPr>
            <a:xfrm>
              <a:off x="9197659" y="3774692"/>
              <a:ext cx="2087432" cy="1458091"/>
            </a:xfrm>
            <a:prstGeom prst="rect">
              <a:avLst/>
            </a:prstGeom>
            <a:noFill/>
          </p:spPr>
          <p:txBody>
            <a:bodyPr wrap="square" rtlCol="0">
              <a:spAutoFit/>
            </a:bodyPr>
            <a:lstStyle/>
            <a:p>
              <a:pPr algn="ctr">
                <a:lnSpc>
                  <a:spcPts val="1800"/>
                </a:lnSpc>
              </a:pPr>
              <a:r>
                <a:rPr lang="en-US" sz="1200" spc="-10" dirty="0">
                  <a:solidFill>
                    <a:schemeClr val="bg1"/>
                  </a:solidFill>
                  <a:latin typeface="Roboto" panose="02000000000000000000" pitchFamily="2" charset="0"/>
                  <a:ea typeface="Roboto" panose="02000000000000000000" pitchFamily="2" charset="0"/>
                  <a:cs typeface="Roboto" panose="02000000000000000000" pitchFamily="2" charset="0"/>
                </a:rPr>
                <a:t>We will provide Best-fit and Curated Sample Templates to Assist Management to effectively implement the Proposed Management Action Plans.</a:t>
              </a:r>
            </a:p>
          </p:txBody>
        </p:sp>
        <p:pic>
          <p:nvPicPr>
            <p:cNvPr id="51" name="Picture 50">
              <a:extLst>
                <a:ext uri="{FF2B5EF4-FFF2-40B4-BE49-F238E27FC236}">
                  <a16:creationId xmlns:a16="http://schemas.microsoft.com/office/drawing/2014/main" id="{A0935C81-FA86-8785-7674-C3B109F7A524}"/>
                </a:ext>
              </a:extLst>
            </p:cNvPr>
            <p:cNvPicPr>
              <a:picLocks noChangeAspect="1"/>
            </p:cNvPicPr>
            <p:nvPr/>
          </p:nvPicPr>
          <p:blipFill>
            <a:blip r:embed="rId2"/>
            <a:stretch>
              <a:fillRect/>
            </a:stretch>
          </p:blipFill>
          <p:spPr>
            <a:xfrm>
              <a:off x="1339970" y="2167299"/>
              <a:ext cx="803753" cy="664976"/>
            </a:xfrm>
            <a:prstGeom prst="rect">
              <a:avLst/>
            </a:prstGeom>
          </p:spPr>
        </p:pic>
        <p:pic>
          <p:nvPicPr>
            <p:cNvPr id="52" name="Picture 51">
              <a:extLst>
                <a:ext uri="{FF2B5EF4-FFF2-40B4-BE49-F238E27FC236}">
                  <a16:creationId xmlns:a16="http://schemas.microsoft.com/office/drawing/2014/main" id="{8EC404B6-D94F-7BE9-264D-6681876DDDDB}"/>
                </a:ext>
              </a:extLst>
            </p:cNvPr>
            <p:cNvPicPr>
              <a:picLocks noChangeAspect="1"/>
            </p:cNvPicPr>
            <p:nvPr/>
          </p:nvPicPr>
          <p:blipFill>
            <a:blip r:embed="rId3"/>
            <a:stretch>
              <a:fillRect/>
            </a:stretch>
          </p:blipFill>
          <p:spPr>
            <a:xfrm>
              <a:off x="5694047" y="2123624"/>
              <a:ext cx="659128" cy="764122"/>
            </a:xfrm>
            <a:prstGeom prst="rect">
              <a:avLst/>
            </a:prstGeom>
          </p:spPr>
        </p:pic>
        <p:pic>
          <p:nvPicPr>
            <p:cNvPr id="53" name="Picture 52">
              <a:extLst>
                <a:ext uri="{FF2B5EF4-FFF2-40B4-BE49-F238E27FC236}">
                  <a16:creationId xmlns:a16="http://schemas.microsoft.com/office/drawing/2014/main" id="{66456E82-E420-3935-6DF2-0194A68368C5}"/>
                </a:ext>
              </a:extLst>
            </p:cNvPr>
            <p:cNvPicPr>
              <a:picLocks noChangeAspect="1"/>
            </p:cNvPicPr>
            <p:nvPr/>
          </p:nvPicPr>
          <p:blipFill>
            <a:blip r:embed="rId4"/>
            <a:stretch>
              <a:fillRect/>
            </a:stretch>
          </p:blipFill>
          <p:spPr>
            <a:xfrm>
              <a:off x="7784849" y="2103686"/>
              <a:ext cx="738188" cy="792202"/>
            </a:xfrm>
            <a:prstGeom prst="rect">
              <a:avLst/>
            </a:prstGeom>
          </p:spPr>
        </p:pic>
        <p:pic>
          <p:nvPicPr>
            <p:cNvPr id="54" name="Picture 53">
              <a:extLst>
                <a:ext uri="{FF2B5EF4-FFF2-40B4-BE49-F238E27FC236}">
                  <a16:creationId xmlns:a16="http://schemas.microsoft.com/office/drawing/2014/main" id="{74E5B06B-B856-C37A-6333-EFCE71A50EF2}"/>
                </a:ext>
              </a:extLst>
            </p:cNvPr>
            <p:cNvPicPr>
              <a:picLocks noChangeAspect="1"/>
            </p:cNvPicPr>
            <p:nvPr/>
          </p:nvPicPr>
          <p:blipFill>
            <a:blip r:embed="rId5"/>
            <a:stretch>
              <a:fillRect/>
            </a:stretch>
          </p:blipFill>
          <p:spPr>
            <a:xfrm>
              <a:off x="3453950" y="2186174"/>
              <a:ext cx="829950" cy="646101"/>
            </a:xfrm>
            <a:prstGeom prst="rect">
              <a:avLst/>
            </a:prstGeom>
          </p:spPr>
        </p:pic>
        <p:pic>
          <p:nvPicPr>
            <p:cNvPr id="55" name="Picture 54">
              <a:extLst>
                <a:ext uri="{FF2B5EF4-FFF2-40B4-BE49-F238E27FC236}">
                  <a16:creationId xmlns:a16="http://schemas.microsoft.com/office/drawing/2014/main" id="{B7DF6B4D-6ED6-7B61-FA41-7E0FBD52AE60}"/>
                </a:ext>
              </a:extLst>
            </p:cNvPr>
            <p:cNvPicPr>
              <a:picLocks noChangeAspect="1"/>
            </p:cNvPicPr>
            <p:nvPr/>
          </p:nvPicPr>
          <p:blipFill>
            <a:blip r:embed="rId6"/>
            <a:stretch>
              <a:fillRect/>
            </a:stretch>
          </p:blipFill>
          <p:spPr>
            <a:xfrm>
              <a:off x="9909082" y="2186174"/>
              <a:ext cx="797178" cy="664315"/>
            </a:xfrm>
            <a:prstGeom prst="rect">
              <a:avLst/>
            </a:prstGeom>
          </p:spPr>
        </p:pic>
      </p:grpSp>
    </p:spTree>
    <p:extLst>
      <p:ext uri="{BB962C8B-B14F-4D97-AF65-F5344CB8AC3E}">
        <p14:creationId xmlns:p14="http://schemas.microsoft.com/office/powerpoint/2010/main" val="3123819751"/>
      </p:ext>
    </p:extLst>
  </p:cSld>
  <p:clrMapOvr>
    <a:masterClrMapping/>
  </p:clrMapOvr>
  <p:transition spd="slow">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EEAE8B62-2DE3-93D6-DFEE-D15940E59362}"/>
              </a:ext>
            </a:extLst>
          </p:cNvPr>
          <p:cNvSpPr txBox="1"/>
          <p:nvPr/>
        </p:nvSpPr>
        <p:spPr>
          <a:xfrm>
            <a:off x="605955" y="18611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Internal Audit Plan – Structure of Audit Report</a:t>
            </a:r>
          </a:p>
        </p:txBody>
      </p:sp>
      <p:graphicFrame>
        <p:nvGraphicFramePr>
          <p:cNvPr id="2" name="Table 1">
            <a:extLst>
              <a:ext uri="{FF2B5EF4-FFF2-40B4-BE49-F238E27FC236}">
                <a16:creationId xmlns:a16="http://schemas.microsoft.com/office/drawing/2014/main" id="{319BA0DC-2FBA-45D6-5DFB-0EA6FC115C9B}"/>
              </a:ext>
            </a:extLst>
          </p:cNvPr>
          <p:cNvGraphicFramePr>
            <a:graphicFrameLocks noGrp="1"/>
          </p:cNvGraphicFramePr>
          <p:nvPr/>
        </p:nvGraphicFramePr>
        <p:xfrm>
          <a:off x="853015" y="1316071"/>
          <a:ext cx="4742591" cy="630795"/>
        </p:xfrm>
        <a:graphic>
          <a:graphicData uri="http://schemas.openxmlformats.org/drawingml/2006/table">
            <a:tbl>
              <a:tblPr firstRow="1" firstCol="1" lastRow="1" lastCol="1" bandRow="1" bandCol="1"/>
              <a:tblGrid>
                <a:gridCol w="1293433">
                  <a:extLst>
                    <a:ext uri="{9D8B030D-6E8A-4147-A177-3AD203B41FA5}">
                      <a16:colId xmlns:a16="http://schemas.microsoft.com/office/drawing/2014/main" val="3393100231"/>
                    </a:ext>
                  </a:extLst>
                </a:gridCol>
                <a:gridCol w="1034747">
                  <a:extLst>
                    <a:ext uri="{9D8B030D-6E8A-4147-A177-3AD203B41FA5}">
                      <a16:colId xmlns:a16="http://schemas.microsoft.com/office/drawing/2014/main" val="258294166"/>
                    </a:ext>
                  </a:extLst>
                </a:gridCol>
                <a:gridCol w="1034747">
                  <a:extLst>
                    <a:ext uri="{9D8B030D-6E8A-4147-A177-3AD203B41FA5}">
                      <a16:colId xmlns:a16="http://schemas.microsoft.com/office/drawing/2014/main" val="1385525183"/>
                    </a:ext>
                  </a:extLst>
                </a:gridCol>
                <a:gridCol w="1379664">
                  <a:extLst>
                    <a:ext uri="{9D8B030D-6E8A-4147-A177-3AD203B41FA5}">
                      <a16:colId xmlns:a16="http://schemas.microsoft.com/office/drawing/2014/main" val="2149488288"/>
                    </a:ext>
                  </a:extLst>
                </a:gridCol>
              </a:tblGrid>
              <a:tr h="355349">
                <a:tc gridSpan="4">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gn="just">
                        <a:lnSpc>
                          <a:spcPct val="115000"/>
                        </a:lnSpc>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Observation – [Title of Observation]</a:t>
                      </a:r>
                      <a:endParaRPr lang="en-SG" sz="14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73025" marR="73025" marT="18415" marB="1841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endParaRPr lang="en-SG"/>
                    </a:p>
                  </a:txBody>
                  <a:tcPr/>
                </a:tc>
                <a:tc hMerge="1">
                  <a:txBody>
                    <a:bodyPr/>
                    <a:lstStyle/>
                    <a:p>
                      <a:endParaRPr lang="en-SG"/>
                    </a:p>
                  </a:txBody>
                  <a:tcPr/>
                </a:tc>
                <a:tc hMerge="1">
                  <a:txBody>
                    <a:bodyPr/>
                    <a:lstStyle/>
                    <a:p>
                      <a:endParaRPr lang="en-SG"/>
                    </a:p>
                  </a:txBody>
                  <a:tcPr/>
                </a:tc>
                <a:extLst>
                  <a:ext uri="{0D108BD9-81ED-4DB2-BD59-A6C34878D82A}">
                    <a16:rowId xmlns:a16="http://schemas.microsoft.com/office/drawing/2014/main" val="429960778"/>
                  </a:ext>
                </a:extLst>
              </a:tr>
              <a:tr h="275446">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nSpc>
                          <a:spcPct val="115000"/>
                        </a:lnSpc>
                        <a:spcBef>
                          <a:spcPts val="0"/>
                        </a:spcBef>
                        <a:spcAft>
                          <a:spcPts val="0"/>
                        </a:spcAft>
                      </a:pPr>
                      <a:r>
                        <a:rPr lang="en-US" sz="1200" dirty="0">
                          <a:solidFill>
                            <a:schemeClr val="tx1"/>
                          </a:solidFill>
                          <a:effectLst/>
                          <a:latin typeface="Arial" panose="020B0604020202020204" pitchFamily="34" charset="0"/>
                          <a:cs typeface="Arial" panose="020B0604020202020204" pitchFamily="34" charset="0"/>
                        </a:rPr>
                        <a:t>Risk Ranking</a:t>
                      </a:r>
                      <a:endParaRPr lang="en-SG" sz="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73025" marR="73025" marT="18415" marB="1841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gn="ctr">
                        <a:lnSpc>
                          <a:spcPct val="115000"/>
                        </a:lnSpc>
                        <a:spcBef>
                          <a:spcPts val="0"/>
                        </a:spcBef>
                        <a:spcAft>
                          <a:spcPts val="0"/>
                        </a:spcAft>
                      </a:pPr>
                      <a:r>
                        <a:rPr lang="en-US" sz="1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High</a:t>
                      </a:r>
                      <a:endParaRPr lang="en-SG" sz="1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txBody>
                  <a:tcPr marL="73025" marR="73025" marT="18415" marB="1841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gn="ctr">
                        <a:lnSpc>
                          <a:spcPct val="115000"/>
                        </a:lnSpc>
                        <a:spcBef>
                          <a:spcPts val="0"/>
                        </a:spcBef>
                        <a:spcAft>
                          <a:spcPts val="0"/>
                        </a:spcAft>
                      </a:pPr>
                      <a:r>
                        <a:rPr lang="en-US" sz="1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Medium</a:t>
                      </a:r>
                      <a:endParaRPr lang="en-SG" sz="1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txBody>
                  <a:tcPr marL="73025" marR="73025" marT="18415" marB="1841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28B1A"/>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gn="ctr">
                        <a:lnSpc>
                          <a:spcPct val="115000"/>
                        </a:lnSpc>
                        <a:spcBef>
                          <a:spcPts val="0"/>
                        </a:spcBef>
                        <a:spcAft>
                          <a:spcPts val="0"/>
                        </a:spcAft>
                      </a:pPr>
                      <a:r>
                        <a:rPr lang="en-US" sz="1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Low</a:t>
                      </a:r>
                      <a:endParaRPr lang="en-SG" sz="1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txBody>
                  <a:tcPr marL="73025" marR="73025" marT="18415" marB="1841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088286320"/>
                  </a:ext>
                </a:extLst>
              </a:tr>
            </a:tbl>
          </a:graphicData>
        </a:graphic>
      </p:graphicFrame>
      <p:graphicFrame>
        <p:nvGraphicFramePr>
          <p:cNvPr id="6" name="Table 5">
            <a:extLst>
              <a:ext uri="{FF2B5EF4-FFF2-40B4-BE49-F238E27FC236}">
                <a16:creationId xmlns:a16="http://schemas.microsoft.com/office/drawing/2014/main" id="{95A18850-582F-65D0-B968-971D9A974D36}"/>
              </a:ext>
            </a:extLst>
          </p:cNvPr>
          <p:cNvGraphicFramePr>
            <a:graphicFrameLocks noGrp="1"/>
          </p:cNvGraphicFramePr>
          <p:nvPr/>
        </p:nvGraphicFramePr>
        <p:xfrm>
          <a:off x="853014" y="4743650"/>
          <a:ext cx="4742592" cy="329127"/>
        </p:xfrm>
        <a:graphic>
          <a:graphicData uri="http://schemas.openxmlformats.org/drawingml/2006/table">
            <a:tbl>
              <a:tblPr firstRow="1" firstCol="1" lastRow="1" lastCol="1" bandRow="1" bandCol="1"/>
              <a:tblGrid>
                <a:gridCol w="4742592">
                  <a:extLst>
                    <a:ext uri="{9D8B030D-6E8A-4147-A177-3AD203B41FA5}">
                      <a16:colId xmlns:a16="http://schemas.microsoft.com/office/drawing/2014/main" val="1312928361"/>
                    </a:ext>
                  </a:extLst>
                </a:gridCol>
              </a:tblGrid>
              <a:tr h="32912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nSpc>
                          <a:spcPct val="115000"/>
                        </a:lnSpc>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Possible Implications </a:t>
                      </a:r>
                      <a:endParaRPr lang="en-SG"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73025" marR="73025" marT="18415" marB="1841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040578088"/>
                  </a:ext>
                </a:extLst>
              </a:tr>
            </a:tbl>
          </a:graphicData>
        </a:graphic>
      </p:graphicFrame>
      <p:graphicFrame>
        <p:nvGraphicFramePr>
          <p:cNvPr id="7" name="Table 6">
            <a:extLst>
              <a:ext uri="{FF2B5EF4-FFF2-40B4-BE49-F238E27FC236}">
                <a16:creationId xmlns:a16="http://schemas.microsoft.com/office/drawing/2014/main" id="{B07C066C-6AA6-451B-B069-9111F990F17E}"/>
              </a:ext>
            </a:extLst>
          </p:cNvPr>
          <p:cNvGraphicFramePr>
            <a:graphicFrameLocks noGrp="1"/>
          </p:cNvGraphicFramePr>
          <p:nvPr/>
        </p:nvGraphicFramePr>
        <p:xfrm>
          <a:off x="857026" y="2173224"/>
          <a:ext cx="4708100" cy="363741"/>
        </p:xfrm>
        <a:graphic>
          <a:graphicData uri="http://schemas.openxmlformats.org/drawingml/2006/table">
            <a:tbl>
              <a:tblPr firstRow="1" firstCol="1" lastRow="1" lastCol="1" bandRow="1" bandCol="1"/>
              <a:tblGrid>
                <a:gridCol w="4708100">
                  <a:extLst>
                    <a:ext uri="{9D8B030D-6E8A-4147-A177-3AD203B41FA5}">
                      <a16:colId xmlns:a16="http://schemas.microsoft.com/office/drawing/2014/main" val="1312928361"/>
                    </a:ext>
                  </a:extLst>
                </a:gridCol>
              </a:tblGrid>
              <a:tr h="363741">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nSpc>
                          <a:spcPct val="115000"/>
                        </a:lnSpc>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Summary, Criteria and Current Reality</a:t>
                      </a:r>
                      <a:endParaRPr lang="en-SG"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73025" marR="73025" marT="18415" marB="1841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040578088"/>
                  </a:ext>
                </a:extLst>
              </a:tr>
            </a:tbl>
          </a:graphicData>
        </a:graphic>
      </p:graphicFrame>
      <p:graphicFrame>
        <p:nvGraphicFramePr>
          <p:cNvPr id="8" name="Table 7">
            <a:extLst>
              <a:ext uri="{FF2B5EF4-FFF2-40B4-BE49-F238E27FC236}">
                <a16:creationId xmlns:a16="http://schemas.microsoft.com/office/drawing/2014/main" id="{B590E941-43F3-8AD4-0D61-B8EA773B09C1}"/>
              </a:ext>
            </a:extLst>
          </p:cNvPr>
          <p:cNvGraphicFramePr>
            <a:graphicFrameLocks noGrp="1"/>
          </p:cNvGraphicFramePr>
          <p:nvPr/>
        </p:nvGraphicFramePr>
        <p:xfrm>
          <a:off x="6169232" y="2216118"/>
          <a:ext cx="5143500" cy="363741"/>
        </p:xfrm>
        <a:graphic>
          <a:graphicData uri="http://schemas.openxmlformats.org/drawingml/2006/table">
            <a:tbl>
              <a:tblPr firstRow="1" firstCol="1" lastRow="1" lastCol="1" bandRow="1" bandCol="1"/>
              <a:tblGrid>
                <a:gridCol w="5143500">
                  <a:extLst>
                    <a:ext uri="{9D8B030D-6E8A-4147-A177-3AD203B41FA5}">
                      <a16:colId xmlns:a16="http://schemas.microsoft.com/office/drawing/2014/main" val="1312928361"/>
                    </a:ext>
                  </a:extLst>
                </a:gridCol>
              </a:tblGrid>
              <a:tr h="363741">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nSpc>
                          <a:spcPct val="115000"/>
                        </a:lnSpc>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Management Comments</a:t>
                      </a:r>
                      <a:endParaRPr lang="en-SG"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73025" marR="73025" marT="18415" marB="1841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040578088"/>
                  </a:ext>
                </a:extLst>
              </a:tr>
            </a:tbl>
          </a:graphicData>
        </a:graphic>
      </p:graphicFrame>
      <p:graphicFrame>
        <p:nvGraphicFramePr>
          <p:cNvPr id="9" name="Table 8">
            <a:extLst>
              <a:ext uri="{FF2B5EF4-FFF2-40B4-BE49-F238E27FC236}">
                <a16:creationId xmlns:a16="http://schemas.microsoft.com/office/drawing/2014/main" id="{8A41EB8F-6E4F-80C7-3449-FA34B8015457}"/>
              </a:ext>
            </a:extLst>
          </p:cNvPr>
          <p:cNvGraphicFramePr>
            <a:graphicFrameLocks noGrp="1"/>
          </p:cNvGraphicFramePr>
          <p:nvPr/>
        </p:nvGraphicFramePr>
        <p:xfrm>
          <a:off x="6169232" y="3671096"/>
          <a:ext cx="5143500" cy="363741"/>
        </p:xfrm>
        <a:graphic>
          <a:graphicData uri="http://schemas.openxmlformats.org/drawingml/2006/table">
            <a:tbl>
              <a:tblPr firstRow="1" firstCol="1" lastRow="1" lastCol="1" bandRow="1" bandCol="1"/>
              <a:tblGrid>
                <a:gridCol w="5143500">
                  <a:extLst>
                    <a:ext uri="{9D8B030D-6E8A-4147-A177-3AD203B41FA5}">
                      <a16:colId xmlns:a16="http://schemas.microsoft.com/office/drawing/2014/main" val="1312928361"/>
                    </a:ext>
                  </a:extLst>
                </a:gridCol>
              </a:tblGrid>
              <a:tr h="363741">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nSpc>
                          <a:spcPct val="115000"/>
                        </a:lnSpc>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Target Implementation Date</a:t>
                      </a:r>
                      <a:endParaRPr lang="en-SG"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73025" marR="73025" marT="18415" marB="1841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040578088"/>
                  </a:ext>
                </a:extLst>
              </a:tr>
            </a:tbl>
          </a:graphicData>
        </a:graphic>
      </p:graphicFrame>
      <p:graphicFrame>
        <p:nvGraphicFramePr>
          <p:cNvPr id="10" name="Table 9">
            <a:extLst>
              <a:ext uri="{FF2B5EF4-FFF2-40B4-BE49-F238E27FC236}">
                <a16:creationId xmlns:a16="http://schemas.microsoft.com/office/drawing/2014/main" id="{FEEC1036-2CF0-F987-29AE-933DCB76E100}"/>
              </a:ext>
            </a:extLst>
          </p:cNvPr>
          <p:cNvGraphicFramePr>
            <a:graphicFrameLocks noGrp="1"/>
          </p:cNvGraphicFramePr>
          <p:nvPr/>
        </p:nvGraphicFramePr>
        <p:xfrm>
          <a:off x="872507" y="3213896"/>
          <a:ext cx="4742592" cy="329127"/>
        </p:xfrm>
        <a:graphic>
          <a:graphicData uri="http://schemas.openxmlformats.org/drawingml/2006/table">
            <a:tbl>
              <a:tblPr firstRow="1" firstCol="1" lastRow="1" lastCol="1" bandRow="1" bandCol="1"/>
              <a:tblGrid>
                <a:gridCol w="4742592">
                  <a:extLst>
                    <a:ext uri="{9D8B030D-6E8A-4147-A177-3AD203B41FA5}">
                      <a16:colId xmlns:a16="http://schemas.microsoft.com/office/drawing/2014/main" val="1312928361"/>
                    </a:ext>
                  </a:extLst>
                </a:gridCol>
              </a:tblGrid>
              <a:tr h="32912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nSpc>
                          <a:spcPct val="115000"/>
                        </a:lnSpc>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Root Cause</a:t>
                      </a:r>
                      <a:endParaRPr lang="en-SG"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73025" marR="73025" marT="18415" marB="1841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040578088"/>
                  </a:ext>
                </a:extLst>
              </a:tr>
            </a:tbl>
          </a:graphicData>
        </a:graphic>
      </p:graphicFrame>
      <p:sp>
        <p:nvSpPr>
          <p:cNvPr id="11" name="Rectangle: Rounded Corners 10">
            <a:extLst>
              <a:ext uri="{FF2B5EF4-FFF2-40B4-BE49-F238E27FC236}">
                <a16:creationId xmlns:a16="http://schemas.microsoft.com/office/drawing/2014/main" id="{FECD35FB-E177-452A-2B0C-F6D05F4238B4}"/>
              </a:ext>
            </a:extLst>
          </p:cNvPr>
          <p:cNvSpPr/>
          <p:nvPr/>
        </p:nvSpPr>
        <p:spPr>
          <a:xfrm>
            <a:off x="6169232" y="2666143"/>
            <a:ext cx="5143500" cy="890434"/>
          </a:xfrm>
          <a:prstGeom prst="roundRect">
            <a:avLst/>
          </a:prstGeom>
          <a:solidFill>
            <a:sysClr val="window" lastClr="FFFFFF"/>
          </a:solidFill>
          <a:ln w="28575" cap="flat" cmpd="sng" algn="ctr">
            <a:solidFill>
              <a:srgbClr val="C00000"/>
            </a:solidFill>
            <a:prstDash val="solid"/>
            <a:miter lim="800000"/>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Details on Management’s explanations and rectification actions on the observations. These should also address the root cause of the observations</a:t>
            </a:r>
            <a:endParaRPr kumimoji="0" lang="en-SG"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2" name="Rectangle: Rounded Corners 11">
            <a:extLst>
              <a:ext uri="{FF2B5EF4-FFF2-40B4-BE49-F238E27FC236}">
                <a16:creationId xmlns:a16="http://schemas.microsoft.com/office/drawing/2014/main" id="{29BF6E16-AA46-D2F7-2E0C-4440DF446C3A}"/>
              </a:ext>
            </a:extLst>
          </p:cNvPr>
          <p:cNvSpPr/>
          <p:nvPr/>
        </p:nvSpPr>
        <p:spPr>
          <a:xfrm>
            <a:off x="6162675" y="4147355"/>
            <a:ext cx="5143500" cy="547753"/>
          </a:xfrm>
          <a:prstGeom prst="roundRect">
            <a:avLst/>
          </a:prstGeom>
          <a:solidFill>
            <a:sysClr val="window" lastClr="FFFFFF"/>
          </a:solidFill>
          <a:ln w="28575" cap="flat" cmpd="sng" algn="ctr">
            <a:solidFill>
              <a:srgbClr val="C00000"/>
            </a:solidFill>
            <a:prstDash val="solid"/>
            <a:miter lim="800000"/>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Date should show commitment of when the rectification actions would be completed</a:t>
            </a:r>
            <a:endParaRPr kumimoji="0" lang="en-SG"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3" name="Rectangle: Rounded Corners 12">
            <a:extLst>
              <a:ext uri="{FF2B5EF4-FFF2-40B4-BE49-F238E27FC236}">
                <a16:creationId xmlns:a16="http://schemas.microsoft.com/office/drawing/2014/main" id="{13C63175-715D-1FB0-1599-2DA577799BA0}"/>
              </a:ext>
            </a:extLst>
          </p:cNvPr>
          <p:cNvSpPr/>
          <p:nvPr/>
        </p:nvSpPr>
        <p:spPr>
          <a:xfrm>
            <a:off x="837774" y="2656850"/>
            <a:ext cx="4742592" cy="424565"/>
          </a:xfrm>
          <a:prstGeom prst="roundRect">
            <a:avLst/>
          </a:prstGeom>
          <a:solidFill>
            <a:sysClr val="window" lastClr="FFFFFF"/>
          </a:solidFill>
          <a:ln w="28575" cap="flat" cmpd="sng" algn="ctr">
            <a:solidFill>
              <a:srgbClr val="C00000"/>
            </a:solidFill>
            <a:prstDash val="solid"/>
            <a:miter lim="800000"/>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Details of audit observation (including Condition, Criteria, Cause and Effect)</a:t>
            </a:r>
            <a:endParaRPr kumimoji="0" lang="en-SG"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4" name="Rectangle: Rounded Corners 13">
            <a:extLst>
              <a:ext uri="{FF2B5EF4-FFF2-40B4-BE49-F238E27FC236}">
                <a16:creationId xmlns:a16="http://schemas.microsoft.com/office/drawing/2014/main" id="{9DF72A4E-D394-99B2-9A39-ECB7A58A4397}"/>
              </a:ext>
            </a:extLst>
          </p:cNvPr>
          <p:cNvSpPr/>
          <p:nvPr/>
        </p:nvSpPr>
        <p:spPr>
          <a:xfrm>
            <a:off x="837774" y="3645931"/>
            <a:ext cx="4742592" cy="977778"/>
          </a:xfrm>
          <a:prstGeom prst="roundRect">
            <a:avLst/>
          </a:prstGeom>
          <a:solidFill>
            <a:sysClr val="window" lastClr="FFFFFF"/>
          </a:solidFill>
          <a:ln w="28575" cap="flat" cmpd="sng" algn="ctr">
            <a:solidFill>
              <a:srgbClr val="C00000"/>
            </a:solidFill>
            <a:prstDash val="solid"/>
            <a:miter lim="800000"/>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Root cause analysis relating to the following areas:</a:t>
            </a:r>
          </a:p>
          <a:p>
            <a:pPr marL="228600" marR="0" lvl="0" indent="-228600" defTabSz="914400" eaLnBrk="1" fontAlgn="base" latinLnBrk="0" hangingPunct="1">
              <a:lnSpc>
                <a:spcPct val="100000"/>
              </a:lnSpc>
              <a:spcBef>
                <a:spcPct val="0"/>
              </a:spcBef>
              <a:spcAft>
                <a:spcPct val="0"/>
              </a:spcAft>
              <a:buClrTx/>
              <a:buSzTx/>
              <a:buFontTx/>
              <a:buAutoNum type="alphaLcPeriod"/>
              <a:tabLst/>
              <a:defRPr/>
            </a:pPr>
            <a:r>
              <a:rPr kumimoji="0" lang="en-US"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Process</a:t>
            </a:r>
          </a:p>
          <a:p>
            <a:pPr marL="228600" marR="0" lvl="0" indent="-228600" defTabSz="914400" eaLnBrk="1" fontAlgn="base" latinLnBrk="0" hangingPunct="1">
              <a:lnSpc>
                <a:spcPct val="100000"/>
              </a:lnSpc>
              <a:spcBef>
                <a:spcPct val="0"/>
              </a:spcBef>
              <a:spcAft>
                <a:spcPct val="0"/>
              </a:spcAft>
              <a:buClrTx/>
              <a:buSzTx/>
              <a:buFontTx/>
              <a:buAutoNum type="alphaLcPeriod"/>
              <a:tabLst/>
              <a:defRPr/>
            </a:pPr>
            <a:r>
              <a:rPr kumimoji="0" lang="en-US"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People</a:t>
            </a:r>
          </a:p>
          <a:p>
            <a:pPr marL="228600" marR="0" lvl="0" indent="-228600" defTabSz="914400" eaLnBrk="1" fontAlgn="base" latinLnBrk="0" hangingPunct="1">
              <a:lnSpc>
                <a:spcPct val="100000"/>
              </a:lnSpc>
              <a:spcBef>
                <a:spcPct val="0"/>
              </a:spcBef>
              <a:spcAft>
                <a:spcPct val="0"/>
              </a:spcAft>
              <a:buClrTx/>
              <a:buSzTx/>
              <a:buFontTx/>
              <a:buAutoNum type="alphaLcPeriod"/>
              <a:tabLst/>
              <a:defRPr/>
            </a:pPr>
            <a:r>
              <a:rPr kumimoji="0" lang="en-US"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Technology</a:t>
            </a:r>
            <a:endParaRPr kumimoji="0" lang="en-SG"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5" name="Rectangle: Rounded Corners 14">
            <a:extLst>
              <a:ext uri="{FF2B5EF4-FFF2-40B4-BE49-F238E27FC236}">
                <a16:creationId xmlns:a16="http://schemas.microsoft.com/office/drawing/2014/main" id="{41FB4B78-20A8-71EE-7965-460FB265C108}"/>
              </a:ext>
            </a:extLst>
          </p:cNvPr>
          <p:cNvSpPr/>
          <p:nvPr/>
        </p:nvSpPr>
        <p:spPr>
          <a:xfrm>
            <a:off x="837774" y="5148342"/>
            <a:ext cx="4742592" cy="363741"/>
          </a:xfrm>
          <a:prstGeom prst="roundRect">
            <a:avLst/>
          </a:prstGeom>
          <a:solidFill>
            <a:sysClr val="window" lastClr="FFFFFF"/>
          </a:solidFill>
          <a:ln w="28575" cap="flat" cmpd="sng" algn="ctr">
            <a:solidFill>
              <a:srgbClr val="C00000"/>
            </a:solidFill>
            <a:prstDash val="solid"/>
            <a:miter lim="800000"/>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Possible risk / effects arising from the observation</a:t>
            </a:r>
            <a:endParaRPr kumimoji="0" lang="en-SG"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graphicFrame>
        <p:nvGraphicFramePr>
          <p:cNvPr id="16" name="Table 15">
            <a:extLst>
              <a:ext uri="{FF2B5EF4-FFF2-40B4-BE49-F238E27FC236}">
                <a16:creationId xmlns:a16="http://schemas.microsoft.com/office/drawing/2014/main" id="{F4CF6BFB-5CC8-AFB3-011F-96D4BCF5BC7E}"/>
              </a:ext>
            </a:extLst>
          </p:cNvPr>
          <p:cNvGraphicFramePr>
            <a:graphicFrameLocks noGrp="1"/>
          </p:cNvGraphicFramePr>
          <p:nvPr/>
        </p:nvGraphicFramePr>
        <p:xfrm>
          <a:off x="6162675" y="1297236"/>
          <a:ext cx="5143500" cy="329127"/>
        </p:xfrm>
        <a:graphic>
          <a:graphicData uri="http://schemas.openxmlformats.org/drawingml/2006/table">
            <a:tbl>
              <a:tblPr firstRow="1" firstCol="1" lastRow="1" lastCol="1" bandRow="1" bandCol="1"/>
              <a:tblGrid>
                <a:gridCol w="5143500">
                  <a:extLst>
                    <a:ext uri="{9D8B030D-6E8A-4147-A177-3AD203B41FA5}">
                      <a16:colId xmlns:a16="http://schemas.microsoft.com/office/drawing/2014/main" val="1312928361"/>
                    </a:ext>
                  </a:extLst>
                </a:gridCol>
              </a:tblGrid>
              <a:tr h="32912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nSpc>
                          <a:spcPct val="115000"/>
                        </a:lnSpc>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Recommendations</a:t>
                      </a:r>
                      <a:endParaRPr lang="en-SG"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73025" marR="73025" marT="18415" marB="1841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040578088"/>
                  </a:ext>
                </a:extLst>
              </a:tr>
            </a:tbl>
          </a:graphicData>
        </a:graphic>
      </p:graphicFrame>
      <p:sp>
        <p:nvSpPr>
          <p:cNvPr id="17" name="Rectangle: Rounded Corners 16">
            <a:extLst>
              <a:ext uri="{FF2B5EF4-FFF2-40B4-BE49-F238E27FC236}">
                <a16:creationId xmlns:a16="http://schemas.microsoft.com/office/drawing/2014/main" id="{1E3ABC15-6C56-DD11-2C19-709E42587894}"/>
              </a:ext>
            </a:extLst>
          </p:cNvPr>
          <p:cNvSpPr/>
          <p:nvPr/>
        </p:nvSpPr>
        <p:spPr>
          <a:xfrm>
            <a:off x="6162674" y="1731476"/>
            <a:ext cx="5100873" cy="398358"/>
          </a:xfrm>
          <a:prstGeom prst="roundRect">
            <a:avLst/>
          </a:prstGeom>
          <a:solidFill>
            <a:sysClr val="window" lastClr="FFFFFF"/>
          </a:solidFill>
          <a:ln w="28575" cap="flat" cmpd="sng" algn="ctr">
            <a:solidFill>
              <a:srgbClr val="C00000"/>
            </a:solidFill>
            <a:prstDash val="solid"/>
            <a:miter lim="800000"/>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Proposed recommendations</a:t>
            </a:r>
            <a:endParaRPr kumimoji="0" lang="en-SG"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graphicFrame>
        <p:nvGraphicFramePr>
          <p:cNvPr id="18" name="Table 17">
            <a:extLst>
              <a:ext uri="{FF2B5EF4-FFF2-40B4-BE49-F238E27FC236}">
                <a16:creationId xmlns:a16="http://schemas.microsoft.com/office/drawing/2014/main" id="{5E45BCDE-42A1-D108-7F51-39F3C60FAF90}"/>
              </a:ext>
            </a:extLst>
          </p:cNvPr>
          <p:cNvGraphicFramePr>
            <a:graphicFrameLocks noGrp="1"/>
          </p:cNvGraphicFramePr>
          <p:nvPr/>
        </p:nvGraphicFramePr>
        <p:xfrm>
          <a:off x="6198118" y="4830619"/>
          <a:ext cx="5143500" cy="363741"/>
        </p:xfrm>
        <a:graphic>
          <a:graphicData uri="http://schemas.openxmlformats.org/drawingml/2006/table">
            <a:tbl>
              <a:tblPr firstRow="1" firstCol="1" lastRow="1" lastCol="1" bandRow="1" bandCol="1"/>
              <a:tblGrid>
                <a:gridCol w="5143500">
                  <a:extLst>
                    <a:ext uri="{9D8B030D-6E8A-4147-A177-3AD203B41FA5}">
                      <a16:colId xmlns:a16="http://schemas.microsoft.com/office/drawing/2014/main" val="1312928361"/>
                    </a:ext>
                  </a:extLst>
                </a:gridCol>
              </a:tblGrid>
              <a:tr h="363741">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nSpc>
                          <a:spcPct val="115000"/>
                        </a:lnSpc>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Person / Unit Responsible</a:t>
                      </a:r>
                      <a:endParaRPr lang="en-SG"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73025" marR="73025" marT="18415" marB="1841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040578088"/>
                  </a:ext>
                </a:extLst>
              </a:tr>
            </a:tbl>
          </a:graphicData>
        </a:graphic>
      </p:graphicFrame>
      <p:sp>
        <p:nvSpPr>
          <p:cNvPr id="19" name="Rectangle: Rounded Corners 18">
            <a:extLst>
              <a:ext uri="{FF2B5EF4-FFF2-40B4-BE49-F238E27FC236}">
                <a16:creationId xmlns:a16="http://schemas.microsoft.com/office/drawing/2014/main" id="{6D671591-057C-0AF9-07B7-CFBC955AE38E}"/>
              </a:ext>
            </a:extLst>
          </p:cNvPr>
          <p:cNvSpPr/>
          <p:nvPr/>
        </p:nvSpPr>
        <p:spPr>
          <a:xfrm>
            <a:off x="6198118" y="5309784"/>
            <a:ext cx="5143500" cy="547753"/>
          </a:xfrm>
          <a:prstGeom prst="roundRect">
            <a:avLst/>
          </a:prstGeom>
          <a:solidFill>
            <a:sysClr val="window" lastClr="FFFFFF"/>
          </a:solidFill>
          <a:ln w="28575" cap="flat" cmpd="sng" algn="ctr">
            <a:solidFill>
              <a:srgbClr val="C00000"/>
            </a:solidFill>
            <a:prstDash val="solid"/>
            <a:miter lim="800000"/>
          </a:ln>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An appropriate person with a senior level of seniority or the accountable unit should be identified</a:t>
            </a:r>
            <a:endParaRPr kumimoji="0" lang="en-SG" sz="1200" b="1" i="0" u="none" strike="noStrike" kern="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30105676"/>
      </p:ext>
    </p:extLst>
  </p:cSld>
  <p:clrMapOvr>
    <a:masterClrMapping/>
  </p:clrMapOvr>
  <p:transition spd="slow">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B7FB1A5-8DC2-7200-9A31-E756A3EFD6B4}"/>
              </a:ext>
            </a:extLst>
          </p:cNvPr>
          <p:cNvGrpSpPr/>
          <p:nvPr/>
        </p:nvGrpSpPr>
        <p:grpSpPr>
          <a:xfrm>
            <a:off x="134779" y="1413164"/>
            <a:ext cx="4416437" cy="5017884"/>
            <a:chOff x="134779" y="893954"/>
            <a:chExt cx="4608809" cy="5471506"/>
          </a:xfrm>
        </p:grpSpPr>
        <p:pic>
          <p:nvPicPr>
            <p:cNvPr id="6" name="Picture 2" descr="a drawing of a tree with roots that has the roots cut out">
              <a:extLst>
                <a:ext uri="{FF2B5EF4-FFF2-40B4-BE49-F238E27FC236}">
                  <a16:creationId xmlns:a16="http://schemas.microsoft.com/office/drawing/2014/main" id="{99685DDF-9663-954C-A437-BEC9567AB0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168" b="1902"/>
            <a:stretch/>
          </p:blipFill>
          <p:spPr bwMode="auto">
            <a:xfrm>
              <a:off x="232726" y="893954"/>
              <a:ext cx="4390159" cy="526819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3FC1B5A-7645-3B78-713A-275B7ACD8094}"/>
                </a:ext>
              </a:extLst>
            </p:cNvPr>
            <p:cNvSpPr txBox="1"/>
            <p:nvPr/>
          </p:nvSpPr>
          <p:spPr>
            <a:xfrm>
              <a:off x="134779" y="5718900"/>
              <a:ext cx="942352" cy="402720"/>
            </a:xfrm>
            <a:prstGeom prst="rect">
              <a:avLst/>
            </a:prstGeom>
            <a:noFill/>
          </p:spPr>
          <p:txBody>
            <a:bodyPr wrap="square" rtlCol="0" anchor="ctr">
              <a:spAutoFit/>
            </a:bodyPr>
            <a:lstStyle/>
            <a:p>
              <a:pPr algn="ctr"/>
              <a:r>
                <a:rPr lang="en-SG" b="1" dirty="0">
                  <a:solidFill>
                    <a:srgbClr val="6B8442"/>
                  </a:solidFill>
                  <a:latin typeface="Roboto" panose="02000000000000000000" pitchFamily="2" charset="0"/>
                  <a:ea typeface="Roboto" panose="02000000000000000000" pitchFamily="2" charset="0"/>
                  <a:cs typeface="Roboto" panose="02000000000000000000" pitchFamily="2" charset="0"/>
                </a:rPr>
                <a:t>People</a:t>
              </a:r>
            </a:p>
          </p:txBody>
        </p:sp>
        <p:sp>
          <p:nvSpPr>
            <p:cNvPr id="9" name="TextBox 8">
              <a:extLst>
                <a:ext uri="{FF2B5EF4-FFF2-40B4-BE49-F238E27FC236}">
                  <a16:creationId xmlns:a16="http://schemas.microsoft.com/office/drawing/2014/main" id="{9BB18B89-4B00-F385-F71A-F5F3C0014EC7}"/>
                </a:ext>
              </a:extLst>
            </p:cNvPr>
            <p:cNvSpPr txBox="1"/>
            <p:nvPr/>
          </p:nvSpPr>
          <p:spPr>
            <a:xfrm>
              <a:off x="1813039" y="5962740"/>
              <a:ext cx="1091880" cy="402720"/>
            </a:xfrm>
            <a:prstGeom prst="rect">
              <a:avLst/>
            </a:prstGeom>
            <a:noFill/>
          </p:spPr>
          <p:txBody>
            <a:bodyPr wrap="square" rtlCol="0" anchor="ctr">
              <a:spAutoFit/>
            </a:bodyPr>
            <a:lstStyle/>
            <a:p>
              <a:pPr algn="ctr"/>
              <a:r>
                <a:rPr lang="en-SG" b="1" dirty="0">
                  <a:solidFill>
                    <a:srgbClr val="6B8442"/>
                  </a:solidFill>
                  <a:latin typeface="Roboto" panose="02000000000000000000" pitchFamily="2" charset="0"/>
                  <a:ea typeface="Roboto" panose="02000000000000000000" pitchFamily="2" charset="0"/>
                  <a:cs typeface="Roboto" panose="02000000000000000000" pitchFamily="2" charset="0"/>
                </a:rPr>
                <a:t>Process</a:t>
              </a:r>
            </a:p>
          </p:txBody>
        </p:sp>
        <p:sp>
          <p:nvSpPr>
            <p:cNvPr id="10" name="TextBox 9">
              <a:extLst>
                <a:ext uri="{FF2B5EF4-FFF2-40B4-BE49-F238E27FC236}">
                  <a16:creationId xmlns:a16="http://schemas.microsoft.com/office/drawing/2014/main" id="{4A09EA22-C12C-D75E-78E3-9CA7BEB0921F}"/>
                </a:ext>
              </a:extLst>
            </p:cNvPr>
            <p:cNvSpPr txBox="1"/>
            <p:nvPr/>
          </p:nvSpPr>
          <p:spPr>
            <a:xfrm>
              <a:off x="3268873" y="5718899"/>
              <a:ext cx="1474715" cy="402720"/>
            </a:xfrm>
            <a:prstGeom prst="rect">
              <a:avLst/>
            </a:prstGeom>
            <a:noFill/>
          </p:spPr>
          <p:txBody>
            <a:bodyPr wrap="square" rtlCol="0" anchor="ctr">
              <a:spAutoFit/>
            </a:bodyPr>
            <a:lstStyle/>
            <a:p>
              <a:pPr algn="ctr"/>
              <a:r>
                <a:rPr lang="en-SG" b="1" dirty="0">
                  <a:solidFill>
                    <a:srgbClr val="6B8442"/>
                  </a:solidFill>
                  <a:latin typeface="Roboto" panose="02000000000000000000" pitchFamily="2" charset="0"/>
                  <a:ea typeface="Roboto" panose="02000000000000000000" pitchFamily="2" charset="0"/>
                  <a:cs typeface="Roboto" panose="02000000000000000000" pitchFamily="2" charset="0"/>
                </a:rPr>
                <a:t>Technology</a:t>
              </a:r>
            </a:p>
          </p:txBody>
        </p:sp>
      </p:grpSp>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G" sz="3599"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Google Shape;190;p2">
            <a:extLst>
              <a:ext uri="{FF2B5EF4-FFF2-40B4-BE49-F238E27FC236}">
                <a16:creationId xmlns:a16="http://schemas.microsoft.com/office/drawing/2014/main" id="{EEAE8B62-2DE3-93D6-DFEE-D15940E59362}"/>
              </a:ext>
            </a:extLst>
          </p:cNvPr>
          <p:cNvSpPr txBox="1"/>
          <p:nvPr/>
        </p:nvSpPr>
        <p:spPr>
          <a:xfrm>
            <a:off x="605955" y="186112"/>
            <a:ext cx="11348566" cy="520851"/>
          </a:xfrm>
          <a:prstGeom prst="rect">
            <a:avLst/>
          </a:prstGeom>
          <a:noFill/>
          <a:ln>
            <a:noFill/>
          </a:ln>
        </p:spPr>
        <p:txBody>
          <a:bodyPr spcFirstLastPara="1" wrap="square" lIns="89116" tIns="44547" rIns="89116" bIns="44547" anchor="t" anchorCtr="0">
            <a:spAutoFit/>
          </a:bodyPr>
          <a:lstStyle/>
          <a:p>
            <a:pPr lvl="0"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Internal Audit </a:t>
            </a:r>
            <a:r>
              <a:rPr kumimoji="0" lang="en-US" sz="27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Plan </a:t>
            </a:r>
            <a:r>
              <a:rPr kumimoji="0" lang="en-US" sz="24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 </a:t>
            </a:r>
            <a:r>
              <a:rPr kumimoji="0" lang="en-US" sz="27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Root Cause Analysis</a:t>
            </a:r>
          </a:p>
        </p:txBody>
      </p:sp>
      <p:sp>
        <p:nvSpPr>
          <p:cNvPr id="7" name="TextBox 6">
            <a:extLst>
              <a:ext uri="{FF2B5EF4-FFF2-40B4-BE49-F238E27FC236}">
                <a16:creationId xmlns:a16="http://schemas.microsoft.com/office/drawing/2014/main" id="{9157DABF-90F1-9130-6351-EF0FBA318ABC}"/>
              </a:ext>
            </a:extLst>
          </p:cNvPr>
          <p:cNvSpPr txBox="1"/>
          <p:nvPr/>
        </p:nvSpPr>
        <p:spPr>
          <a:xfrm>
            <a:off x="893484" y="953975"/>
            <a:ext cx="11180752" cy="492443"/>
          </a:xfrm>
          <a:prstGeom prst="rect">
            <a:avLst/>
          </a:prstGeom>
          <a:noFill/>
        </p:spPr>
        <p:txBody>
          <a:bodyPr wrap="square">
            <a:spAutoFit/>
          </a:bodyPr>
          <a:lstStyle/>
          <a:p>
            <a:pPr algn="just"/>
            <a:r>
              <a:rPr lang="en-US" sz="1300" b="0" i="0" dirty="0">
                <a:solidFill>
                  <a:srgbClr val="474747"/>
                </a:solidFill>
                <a:effectLst/>
                <a:latin typeface="Roboto" panose="02000000000000000000" pitchFamily="2" charset="0"/>
                <a:ea typeface="Roboto" panose="02000000000000000000" pitchFamily="2" charset="0"/>
                <a:cs typeface="Roboto" panose="02000000000000000000" pitchFamily="2" charset="0"/>
              </a:rPr>
              <a:t>Root cause analysis is </a:t>
            </a:r>
            <a:r>
              <a:rPr lang="en-US" sz="1300" b="0" i="0" dirty="0">
                <a:solidFill>
                  <a:srgbClr val="040C28"/>
                </a:solidFill>
                <a:effectLst/>
                <a:latin typeface="Roboto" panose="02000000000000000000" pitchFamily="2" charset="0"/>
                <a:ea typeface="Roboto" panose="02000000000000000000" pitchFamily="2" charset="0"/>
                <a:cs typeface="Roboto" panose="02000000000000000000" pitchFamily="2" charset="0"/>
              </a:rPr>
              <a:t>a process for understanding </a:t>
            </a:r>
            <a:r>
              <a:rPr lang="en-US" sz="1300" b="1" i="0" u="sng" dirty="0">
                <a:solidFill>
                  <a:srgbClr val="040C28"/>
                </a:solidFill>
                <a:effectLst/>
                <a:latin typeface="Roboto" panose="02000000000000000000" pitchFamily="2" charset="0"/>
                <a:ea typeface="Roboto" panose="02000000000000000000" pitchFamily="2" charset="0"/>
                <a:cs typeface="Roboto" panose="02000000000000000000" pitchFamily="2" charset="0"/>
              </a:rPr>
              <a:t>'what happened' </a:t>
            </a:r>
            <a:r>
              <a:rPr lang="en-US" sz="1300" b="0" i="0" dirty="0">
                <a:solidFill>
                  <a:srgbClr val="040C28"/>
                </a:solidFill>
                <a:effectLst/>
                <a:latin typeface="Roboto" panose="02000000000000000000" pitchFamily="2" charset="0"/>
                <a:ea typeface="Roboto" panose="02000000000000000000" pitchFamily="2" charset="0"/>
                <a:cs typeface="Roboto" panose="02000000000000000000" pitchFamily="2" charset="0"/>
              </a:rPr>
              <a:t>and solving a problem by looking back and drilling down to find out </a:t>
            </a:r>
            <a:r>
              <a:rPr lang="en-US" sz="1300" b="1" i="0" u="sng" dirty="0">
                <a:solidFill>
                  <a:srgbClr val="040C28"/>
                </a:solidFill>
                <a:effectLst/>
                <a:latin typeface="Roboto" panose="02000000000000000000" pitchFamily="2" charset="0"/>
                <a:ea typeface="Roboto" panose="02000000000000000000" pitchFamily="2" charset="0"/>
                <a:cs typeface="Roboto" panose="02000000000000000000" pitchFamily="2" charset="0"/>
              </a:rPr>
              <a:t>'why it happened' </a:t>
            </a:r>
            <a:r>
              <a:rPr lang="en-US" sz="1300" b="0" i="0" dirty="0">
                <a:solidFill>
                  <a:srgbClr val="040C28"/>
                </a:solidFill>
                <a:effectLst/>
                <a:latin typeface="Roboto" panose="02000000000000000000" pitchFamily="2" charset="0"/>
                <a:ea typeface="Roboto" panose="02000000000000000000" pitchFamily="2" charset="0"/>
                <a:cs typeface="Roboto" panose="02000000000000000000" pitchFamily="2" charset="0"/>
              </a:rPr>
              <a:t>in the first place</a:t>
            </a:r>
            <a:r>
              <a:rPr lang="en-US" sz="1300" b="0" i="0" dirty="0">
                <a:solidFill>
                  <a:srgbClr val="474747"/>
                </a:solidFill>
                <a:effectLst/>
                <a:latin typeface="Roboto" panose="02000000000000000000" pitchFamily="2" charset="0"/>
                <a:ea typeface="Roboto" panose="02000000000000000000" pitchFamily="2" charset="0"/>
                <a:cs typeface="Roboto" panose="02000000000000000000" pitchFamily="2" charset="0"/>
              </a:rPr>
              <a:t>. Then, rectify the issue(s) so that it does not happen again or reduce the likelihood of it happening again.</a:t>
            </a:r>
          </a:p>
        </p:txBody>
      </p:sp>
      <p:pic>
        <p:nvPicPr>
          <p:cNvPr id="14" name="Picture 13">
            <a:extLst>
              <a:ext uri="{FF2B5EF4-FFF2-40B4-BE49-F238E27FC236}">
                <a16:creationId xmlns:a16="http://schemas.microsoft.com/office/drawing/2014/main" id="{5CC0AF0D-F51D-DB29-91DD-7E767D0FD453}"/>
              </a:ext>
            </a:extLst>
          </p:cNvPr>
          <p:cNvPicPr>
            <a:picLocks noChangeAspect="1"/>
          </p:cNvPicPr>
          <p:nvPr/>
        </p:nvPicPr>
        <p:blipFill>
          <a:blip r:embed="rId3"/>
          <a:srcRect l="10753" t="3911" r="13685" b="1347"/>
          <a:stretch/>
        </p:blipFill>
        <p:spPr>
          <a:xfrm>
            <a:off x="458669" y="909433"/>
            <a:ext cx="434815" cy="738665"/>
          </a:xfrm>
          <a:prstGeom prst="rect">
            <a:avLst/>
          </a:prstGeom>
        </p:spPr>
      </p:pic>
      <p:graphicFrame>
        <p:nvGraphicFramePr>
          <p:cNvPr id="11" name="Table 10">
            <a:extLst>
              <a:ext uri="{FF2B5EF4-FFF2-40B4-BE49-F238E27FC236}">
                <a16:creationId xmlns:a16="http://schemas.microsoft.com/office/drawing/2014/main" id="{2AA7CC5A-A21E-1286-B660-F9E3477DECE6}"/>
              </a:ext>
            </a:extLst>
          </p:cNvPr>
          <p:cNvGraphicFramePr>
            <a:graphicFrameLocks noGrp="1"/>
          </p:cNvGraphicFramePr>
          <p:nvPr/>
        </p:nvGraphicFramePr>
        <p:xfrm>
          <a:off x="4551216" y="1598677"/>
          <a:ext cx="7506006" cy="4817924"/>
        </p:xfrm>
        <a:graphic>
          <a:graphicData uri="http://schemas.openxmlformats.org/drawingml/2006/table">
            <a:tbl>
              <a:tblPr/>
              <a:tblGrid>
                <a:gridCol w="1571111">
                  <a:extLst>
                    <a:ext uri="{9D8B030D-6E8A-4147-A177-3AD203B41FA5}">
                      <a16:colId xmlns:a16="http://schemas.microsoft.com/office/drawing/2014/main" val="4063122700"/>
                    </a:ext>
                  </a:extLst>
                </a:gridCol>
                <a:gridCol w="2067852">
                  <a:extLst>
                    <a:ext uri="{9D8B030D-6E8A-4147-A177-3AD203B41FA5}">
                      <a16:colId xmlns:a16="http://schemas.microsoft.com/office/drawing/2014/main" val="919825736"/>
                    </a:ext>
                  </a:extLst>
                </a:gridCol>
                <a:gridCol w="3867043">
                  <a:extLst>
                    <a:ext uri="{9D8B030D-6E8A-4147-A177-3AD203B41FA5}">
                      <a16:colId xmlns:a16="http://schemas.microsoft.com/office/drawing/2014/main" val="2431399216"/>
                    </a:ext>
                  </a:extLst>
                </a:gridCol>
              </a:tblGrid>
              <a:tr h="353454">
                <a:tc>
                  <a:txBody>
                    <a:bodyPr/>
                    <a:lstStyle/>
                    <a:p>
                      <a:pPr algn="ctr" fontAlgn="b"/>
                      <a:r>
                        <a:rPr lang="en-US" sz="105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Root Cause Category (Level 1)</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B8442"/>
                    </a:solidFill>
                  </a:tcPr>
                </a:tc>
                <a:tc>
                  <a:txBody>
                    <a:bodyPr/>
                    <a:lstStyle/>
                    <a:p>
                      <a:pPr algn="ctr" fontAlgn="b"/>
                      <a:r>
                        <a:rPr lang="en-US" sz="105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Root Cause Category </a:t>
                      </a:r>
                    </a:p>
                    <a:p>
                      <a:pPr algn="ctr" fontAlgn="b"/>
                      <a:r>
                        <a:rPr lang="en-US" sz="105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(Level 2) </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B8442"/>
                    </a:solidFill>
                  </a:tcPr>
                </a:tc>
                <a:tc>
                  <a:txBody>
                    <a:bodyPr/>
                    <a:lstStyle/>
                    <a:p>
                      <a:pPr algn="ctr" fontAlgn="b"/>
                      <a:r>
                        <a:rPr lang="en-US" sz="105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Root Cause Category </a:t>
                      </a:r>
                    </a:p>
                    <a:p>
                      <a:pPr algn="ctr" fontAlgn="b"/>
                      <a:r>
                        <a:rPr lang="en-US" sz="105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(Level 3)</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B8442"/>
                    </a:solidFill>
                  </a:tcPr>
                </a:tc>
                <a:extLst>
                  <a:ext uri="{0D108BD9-81ED-4DB2-BD59-A6C34878D82A}">
                    <a16:rowId xmlns:a16="http://schemas.microsoft.com/office/drawing/2014/main" val="2192063807"/>
                  </a:ext>
                </a:extLst>
              </a:tr>
              <a:tr h="161646">
                <a:tc rowSpan="12">
                  <a:txBody>
                    <a:bodyPr/>
                    <a:lstStyle/>
                    <a:p>
                      <a:pPr algn="ctr" fontAlgn="t"/>
                      <a:r>
                        <a:rPr lang="en-SG" sz="105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People</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Skill / Knowledge </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fontAlgn="t">
                        <a:buFont typeface="Wingdings" panose="05000000000000000000" pitchFamily="2" charset="2"/>
                        <a:buChar char="§"/>
                      </a:pPr>
                      <a:r>
                        <a:rPr lang="en-US"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Lack of relevant skills, expertise, and experience</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5735573"/>
                  </a:ext>
                </a:extLst>
              </a:tr>
              <a:tr h="161646">
                <a:tc vMerge="1">
                  <a:txBody>
                    <a:bodyPr/>
                    <a:lstStyle/>
                    <a:p>
                      <a:endParaRP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dirty="0"/>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US"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Lack of awareness, including risk awareness</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9471301"/>
                  </a:ext>
                </a:extLst>
              </a:tr>
              <a:tr h="317015">
                <a:tc vMerge="1">
                  <a:txBody>
                    <a:bodyPr/>
                    <a:lstStyle/>
                    <a:p>
                      <a:endParaRP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Oversight / Attention failure/ </a:t>
                      </a:r>
                    </a:p>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Misperception in senses</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US"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Carelessness (e.g. missing / incorrect / timeliness of action)</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9879472"/>
                  </a:ext>
                </a:extLst>
              </a:tr>
              <a:tr h="303904">
                <a:tc vMerge="1">
                  <a:txBody>
                    <a:bodyPr/>
                    <a:lstStyle/>
                    <a:p>
                      <a:endParaRP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Deliberate / malicious intent</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US"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Omitting action or procedure with deliberate intention</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8230148"/>
                  </a:ext>
                </a:extLst>
              </a:tr>
              <a:tr h="161646">
                <a:tc vMerge="1">
                  <a:txBody>
                    <a:bodyPr/>
                    <a:lstStyle/>
                    <a:p>
                      <a:endParaRP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dirty="0"/>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SG"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Collusion / Fraud</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470057"/>
                  </a:ext>
                </a:extLst>
              </a:tr>
              <a:tr h="202866">
                <a:tc vMerge="1">
                  <a:txBody>
                    <a:bodyPr/>
                    <a:lstStyle/>
                    <a:p>
                      <a:endParaRP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Assessment / Consideration / Judgement</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SG"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Poor planning</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4922128"/>
                  </a:ext>
                </a:extLst>
              </a:tr>
              <a:tr h="202866">
                <a:tc vMerge="1">
                  <a:txBody>
                    <a:bodyPr/>
                    <a:lstStyle/>
                    <a:p>
                      <a:endParaRP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dirty="0"/>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SG"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Failure to note or analyse applicable information</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3155631"/>
                  </a:ext>
                </a:extLst>
              </a:tr>
              <a:tr h="161646">
                <a:tc vMerge="1">
                  <a:txBody>
                    <a:bodyPr/>
                    <a:lstStyle/>
                    <a:p>
                      <a:endParaRP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Execution / Implementation</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US"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Misunderstanding of procedures or instructions</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0246019"/>
                  </a:ext>
                </a:extLst>
              </a:tr>
              <a:tr h="162570">
                <a:tc vMerge="1">
                  <a:txBody>
                    <a:bodyPr/>
                    <a:lstStyle/>
                    <a:p>
                      <a:endParaRP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dirty="0"/>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SG"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Insufficient resources (e.g. financial or manpower)</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321965"/>
                  </a:ext>
                </a:extLst>
              </a:tr>
              <a:tr h="161646">
                <a:tc vMerge="1">
                  <a:txBody>
                    <a:bodyPr/>
                    <a:lstStyle/>
                    <a:p>
                      <a:endParaRP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Communication</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SG"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Insufficient communication </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3790307"/>
                  </a:ext>
                </a:extLst>
              </a:tr>
              <a:tr h="317015">
                <a:tc vMerge="1">
                  <a:txBody>
                    <a:bodyPr/>
                    <a:lstStyle/>
                    <a:p>
                      <a:endParaRP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Leadership/Culture</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US"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Lack of emphasis towards governance, risk, and internal control</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6443597"/>
                  </a:ext>
                </a:extLst>
              </a:tr>
              <a:tr h="317015">
                <a:tc vMerge="1">
                  <a:txBody>
                    <a:bodyPr/>
                    <a:lstStyle/>
                    <a:p>
                      <a:endParaRPr dirty="0"/>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dirty="0"/>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US"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Management override (includes the conduct of activities that are not in line with guidelines)</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5280679"/>
                  </a:ext>
                </a:extLst>
              </a:tr>
              <a:tr h="303904">
                <a:tc rowSpan="4">
                  <a:txBody>
                    <a:bodyPr/>
                    <a:lstStyle/>
                    <a:p>
                      <a:pPr algn="ctr" fontAlgn="t"/>
                      <a:r>
                        <a:rPr lang="en-SG" sz="105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Process</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Design</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US"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Insufficient or lack of relevant tools / controls implemented</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5849076"/>
                  </a:ext>
                </a:extLst>
              </a:tr>
              <a:tr h="317015">
                <a:tc vMerge="1">
                  <a:txBody>
                    <a:bodyPr/>
                    <a:lstStyle/>
                    <a:p>
                      <a:endParaRP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dirty="0"/>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US"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SOPs, procedures, processes, workflow not clearly/correctly defined</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1458535"/>
                  </a:ext>
                </a:extLst>
              </a:tr>
              <a:tr h="317015">
                <a:tc vMerge="1">
                  <a:txBody>
                    <a:bodyPr/>
                    <a:lstStyle/>
                    <a:p>
                      <a:endParaRP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Implementation</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US"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Controls/Automated tools not implemented adequately or correctly</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1661597"/>
                  </a:ext>
                </a:extLst>
              </a:tr>
              <a:tr h="317015">
                <a:tc vMerge="1">
                  <a:txBody>
                    <a:bodyPr/>
                    <a:lstStyle/>
                    <a:p>
                      <a:endParaRPr dirty="0"/>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Monitoring</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US"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Insufficient monitoring or testing scenarios by relevant authority and/or 3rd party vendor(s)</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523366"/>
                  </a:ext>
                </a:extLst>
              </a:tr>
              <a:tr h="317015">
                <a:tc rowSpan="2">
                  <a:txBody>
                    <a:bodyPr/>
                    <a:lstStyle/>
                    <a:p>
                      <a:pPr algn="ctr" fontAlgn="t"/>
                      <a:r>
                        <a:rPr lang="en-SG" sz="105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Technology </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Hardware / Premises</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US"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Inadequate Physical Security (Unauthorized access, theft, sabotage, etc.)</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082915"/>
                  </a:ext>
                </a:extLst>
              </a:tr>
              <a:tr h="161646">
                <a:tc vMerge="1">
                  <a:txBody>
                    <a:bodyPr/>
                    <a:lstStyle/>
                    <a:p>
                      <a:endParaRPr dirty="0"/>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SG" sz="105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Data</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60350" indent="-171450" algn="l" defTabSz="914400" rtl="0" eaLnBrk="1" fontAlgn="t" latinLnBrk="0" hangingPunct="1">
                        <a:buFont typeface="Wingdings" panose="05000000000000000000" pitchFamily="2" charset="2"/>
                        <a:buChar char="§"/>
                      </a:pPr>
                      <a:r>
                        <a:rPr lang="en-SG" sz="105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Inadequate data management practices</a:t>
                      </a:r>
                    </a:p>
                  </a:txBody>
                  <a:tcPr marL="6465" marR="6465" marT="64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1449840"/>
                  </a:ext>
                </a:extLst>
              </a:tr>
            </a:tbl>
          </a:graphicData>
        </a:graphic>
      </p:graphicFrame>
    </p:spTree>
    <p:extLst>
      <p:ext uri="{BB962C8B-B14F-4D97-AF65-F5344CB8AC3E}">
        <p14:creationId xmlns:p14="http://schemas.microsoft.com/office/powerpoint/2010/main" val="440414998"/>
      </p:ext>
    </p:extLst>
  </p:cSld>
  <p:clrMapOvr>
    <a:masterClrMapping/>
  </p:clrMapOvr>
  <p:transition spd="slow">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EEAE8B62-2DE3-93D6-DFEE-D15940E59362}"/>
              </a:ext>
            </a:extLst>
          </p:cNvPr>
          <p:cNvSpPr txBox="1"/>
          <p:nvPr/>
        </p:nvSpPr>
        <p:spPr>
          <a:xfrm>
            <a:off x="605955" y="18611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Internal Audit Plan – Audit Risk Rating System</a:t>
            </a:r>
          </a:p>
        </p:txBody>
      </p:sp>
      <p:graphicFrame>
        <p:nvGraphicFramePr>
          <p:cNvPr id="2" name="Table 1">
            <a:extLst>
              <a:ext uri="{FF2B5EF4-FFF2-40B4-BE49-F238E27FC236}">
                <a16:creationId xmlns:a16="http://schemas.microsoft.com/office/drawing/2014/main" id="{843E260C-F46E-F5E3-1BE1-DCCD19FF676C}"/>
              </a:ext>
            </a:extLst>
          </p:cNvPr>
          <p:cNvGraphicFramePr>
            <a:graphicFrameLocks noGrp="1"/>
          </p:cNvGraphicFramePr>
          <p:nvPr/>
        </p:nvGraphicFramePr>
        <p:xfrm>
          <a:off x="605955" y="1089242"/>
          <a:ext cx="10833571" cy="5241633"/>
        </p:xfrm>
        <a:graphic>
          <a:graphicData uri="http://schemas.openxmlformats.org/drawingml/2006/table">
            <a:tbl>
              <a:tblPr firstRow="1" bandRow="1"/>
              <a:tblGrid>
                <a:gridCol w="1513110">
                  <a:extLst>
                    <a:ext uri="{9D8B030D-6E8A-4147-A177-3AD203B41FA5}">
                      <a16:colId xmlns:a16="http://schemas.microsoft.com/office/drawing/2014/main" val="1259848505"/>
                    </a:ext>
                  </a:extLst>
                </a:gridCol>
                <a:gridCol w="3005385">
                  <a:extLst>
                    <a:ext uri="{9D8B030D-6E8A-4147-A177-3AD203B41FA5}">
                      <a16:colId xmlns:a16="http://schemas.microsoft.com/office/drawing/2014/main" val="4275075671"/>
                    </a:ext>
                  </a:extLst>
                </a:gridCol>
                <a:gridCol w="3257550">
                  <a:extLst>
                    <a:ext uri="{9D8B030D-6E8A-4147-A177-3AD203B41FA5}">
                      <a16:colId xmlns:a16="http://schemas.microsoft.com/office/drawing/2014/main" val="261113605"/>
                    </a:ext>
                  </a:extLst>
                </a:gridCol>
                <a:gridCol w="3057526">
                  <a:extLst>
                    <a:ext uri="{9D8B030D-6E8A-4147-A177-3AD203B41FA5}">
                      <a16:colId xmlns:a16="http://schemas.microsoft.com/office/drawing/2014/main" val="1875047730"/>
                    </a:ext>
                  </a:extLst>
                </a:gridCol>
              </a:tblGrid>
              <a:tr h="32304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600" b="1" dirty="0">
                          <a:solidFill>
                            <a:schemeClr val="tx1"/>
                          </a:solidFill>
                          <a:latin typeface="Roboto" panose="02000000000000000000" pitchFamily="2" charset="0"/>
                          <a:ea typeface="Roboto" panose="02000000000000000000" pitchFamily="2" charset="0"/>
                          <a:cs typeface="Roboto" panose="02000000000000000000" pitchFamily="2" charset="0"/>
                        </a:rPr>
                        <a:t>Category</a:t>
                      </a:r>
                      <a:endParaRPr lang="en-SG" sz="1600" b="1"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600" b="1" dirty="0">
                          <a:solidFill>
                            <a:schemeClr val="bg1"/>
                          </a:solidFill>
                          <a:latin typeface="Roboto" panose="02000000000000000000" pitchFamily="2" charset="0"/>
                          <a:ea typeface="Roboto" panose="02000000000000000000" pitchFamily="2" charset="0"/>
                          <a:cs typeface="Roboto" panose="02000000000000000000" pitchFamily="2" charset="0"/>
                        </a:rPr>
                        <a:t>Low</a:t>
                      </a:r>
                      <a:endParaRPr lang="en-SG" sz="16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600" b="1" dirty="0">
                          <a:solidFill>
                            <a:schemeClr val="bg1"/>
                          </a:solidFill>
                          <a:latin typeface="Roboto" panose="02000000000000000000" pitchFamily="2" charset="0"/>
                          <a:ea typeface="Roboto" panose="02000000000000000000" pitchFamily="2" charset="0"/>
                          <a:cs typeface="Roboto" panose="02000000000000000000" pitchFamily="2" charset="0"/>
                        </a:rPr>
                        <a:t>Medium</a:t>
                      </a:r>
                      <a:endParaRPr lang="en-SG" sz="16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28B1A"/>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600" b="1" dirty="0">
                          <a:solidFill>
                            <a:schemeClr val="bg1"/>
                          </a:solidFill>
                          <a:latin typeface="Roboto" panose="02000000000000000000" pitchFamily="2" charset="0"/>
                          <a:ea typeface="Roboto" panose="02000000000000000000" pitchFamily="2" charset="0"/>
                          <a:cs typeface="Roboto" panose="02000000000000000000" pitchFamily="2" charset="0"/>
                        </a:rPr>
                        <a:t>High</a:t>
                      </a:r>
                      <a:endParaRPr lang="en-SG" sz="16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692745232"/>
                  </a:ext>
                </a:extLst>
              </a:tr>
              <a:tr h="177781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600" b="1" dirty="0">
                          <a:solidFill>
                            <a:schemeClr val="tx1"/>
                          </a:solidFill>
                          <a:latin typeface="Roboto" panose="02000000000000000000" pitchFamily="2" charset="0"/>
                          <a:ea typeface="Roboto" panose="02000000000000000000" pitchFamily="2" charset="0"/>
                          <a:cs typeface="Roboto" panose="02000000000000000000" pitchFamily="2" charset="0"/>
                        </a:rPr>
                        <a:t>Compliance</a:t>
                      </a:r>
                      <a:endParaRPr lang="en-SG" sz="1600" b="1"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Controls are generally in place; and/or</a:t>
                      </a:r>
                    </a:p>
                    <a:p>
                      <a:pPr marL="285750" indent="-285750" algn="l">
                        <a:buFont typeface="Wingdings" panose="05000000000000000000" pitchFamily="2" charset="2"/>
                        <a:buChar cha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Minor deviation from established policies and procedures resulting in minimal impact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Where sampling is conducted, the number of erroneous samples does not exceed 10% of the total sample size</a:t>
                      </a:r>
                      <a:endParaRPr lang="en-SG" sz="12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Minor control weaknesses exist; and/or</a:t>
                      </a:r>
                    </a:p>
                    <a:p>
                      <a:pPr marL="285750" indent="-285750" algn="l">
                        <a:buFont typeface="Wingdings" panose="05000000000000000000" pitchFamily="2" charset="2"/>
                        <a:buChar cha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Moderate deviation / non-compliance from established policies and procedures resulting in moderate impact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Where sampling is conducted, the number of erroneous samples is between 10% to 50% of the total sample size</a:t>
                      </a:r>
                      <a:endParaRPr lang="en-SG" sz="12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Significant control weaknesses exist; and/or</a:t>
                      </a:r>
                    </a:p>
                    <a:p>
                      <a:pPr marL="285750" indent="-285750" algn="l">
                        <a:buFont typeface="Wingdings" panose="05000000000000000000" pitchFamily="2" charset="2"/>
                        <a:buChar cha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Significant deviation / non-compliance from established policies and procedures resulting in significant impact</a:t>
                      </a:r>
                    </a:p>
                    <a:p>
                      <a:pPr marL="285750" indent="-285750" algn="l">
                        <a:buFont typeface="Wingdings" panose="05000000000000000000" pitchFamily="2" charset="2"/>
                        <a:buChar cha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Where sampling is conducted, the number of erroneous samples exceeds 50% of the total sample size</a:t>
                      </a:r>
                      <a:endParaRPr lang="en-SG" sz="12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285974621"/>
                  </a:ext>
                </a:extLst>
              </a:tr>
              <a:tr h="8468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600" b="1" dirty="0">
                          <a:solidFill>
                            <a:schemeClr val="tx1"/>
                          </a:solidFill>
                          <a:latin typeface="Roboto" panose="02000000000000000000" pitchFamily="2" charset="0"/>
                          <a:ea typeface="Roboto" panose="02000000000000000000" pitchFamily="2" charset="0"/>
                          <a:cs typeface="Roboto" panose="02000000000000000000" pitchFamily="2" charset="0"/>
                        </a:rPr>
                        <a:t>Operational</a:t>
                      </a:r>
                      <a:endParaRPr lang="en-SG" sz="1600" b="1"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Minor disruptions to the core operations; and/or</a:t>
                      </a:r>
                    </a:p>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Minimal operational ineffectiveness and inefficiency</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Moderate disruption to the core operations; and/or</a:t>
                      </a:r>
                    </a:p>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Moderate operational ineffectiveness and inefficiency</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Major disruption to the core operations; and/or</a:t>
                      </a:r>
                    </a:p>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Significant operational ineffectiveness and inefficiency</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44531427"/>
                  </a:ext>
                </a:extLst>
              </a:tr>
              <a:tr h="45996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600" b="1" dirty="0">
                          <a:solidFill>
                            <a:schemeClr val="tx1"/>
                          </a:solidFill>
                          <a:latin typeface="Roboto" panose="02000000000000000000" pitchFamily="2" charset="0"/>
                          <a:ea typeface="Roboto" panose="02000000000000000000" pitchFamily="2" charset="0"/>
                          <a:cs typeface="Roboto" panose="02000000000000000000" pitchFamily="2" charset="0"/>
                        </a:rPr>
                        <a:t>Financial</a:t>
                      </a:r>
                      <a:endParaRPr lang="en-SG" sz="1600" b="1"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Minor losses relative to the process, i.e. &lt;10%</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Moderate losses relative to the process, i.e. &lt;40%</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Significant losses relative to the process, i.e. &gt;40%</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359903740"/>
                  </a:ext>
                </a:extLst>
              </a:tr>
              <a:tr h="88803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600" b="1" dirty="0">
                          <a:solidFill>
                            <a:schemeClr val="tx1"/>
                          </a:solidFill>
                          <a:latin typeface="Roboto" panose="02000000000000000000" pitchFamily="2" charset="0"/>
                          <a:ea typeface="Roboto" panose="02000000000000000000" pitchFamily="2" charset="0"/>
                          <a:cs typeface="Roboto" panose="02000000000000000000" pitchFamily="2" charset="0"/>
                        </a:rPr>
                        <a:t>Legal</a:t>
                      </a:r>
                      <a:endParaRPr lang="en-SG" sz="1600" b="1"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Minor breaches of statutory/regulatory requirements and/or contractual provisions resulting in minimal impact</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Moderate breaches of statutory/regulatory requirements and/or contractual provisions resulting in moderate impact</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Significant breaches / non-compliance of statutory /regulatory requirements and/or contractual provisions resulting in significant impact</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56047139"/>
                  </a:ext>
                </a:extLst>
              </a:tr>
              <a:tr h="559511">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600" b="1" dirty="0">
                          <a:solidFill>
                            <a:schemeClr val="tx1"/>
                          </a:solidFill>
                          <a:latin typeface="Roboto" panose="02000000000000000000" pitchFamily="2" charset="0"/>
                          <a:ea typeface="Roboto" panose="02000000000000000000" pitchFamily="2" charset="0"/>
                          <a:cs typeface="Roboto" panose="02000000000000000000" pitchFamily="2" charset="0"/>
                        </a:rPr>
                        <a:t>Reputational</a:t>
                      </a:r>
                      <a:endParaRPr lang="en-SG" sz="1600" b="1"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Unlikely loss of stakeholders’ trust and/or confidence</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Negative media publicity or possible loss of stakeholders’ trust and/or  confidence</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Adverse media publicity or likely loss of stakeholders’ trust and/or confidence</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365331702"/>
                  </a:ext>
                </a:extLst>
              </a:tr>
              <a:tr h="32304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600" b="1" dirty="0">
                          <a:solidFill>
                            <a:schemeClr val="tx1"/>
                          </a:solidFill>
                          <a:latin typeface="Roboto" panose="02000000000000000000" pitchFamily="2" charset="0"/>
                          <a:ea typeface="Roboto" panose="02000000000000000000" pitchFamily="2" charset="0"/>
                          <a:cs typeface="Roboto" panose="02000000000000000000" pitchFamily="2" charset="0"/>
                        </a:rPr>
                        <a:t>Safety</a:t>
                      </a:r>
                      <a:endParaRPr lang="en-SG" sz="1600" b="1"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Negligible safety threat</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Moderate safety threat</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285750" indent="-285750" algn="l">
                        <a:buFont typeface="Wingdings" panose="05000000000000000000"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Serious safety threat</a:t>
                      </a:r>
                      <a:endParaRPr lang="en-SG" sz="1200" dirty="0">
                        <a:latin typeface="Roboto" panose="02000000000000000000" pitchFamily="2" charset="0"/>
                        <a:ea typeface="Roboto" panose="02000000000000000000" pitchFamily="2" charset="0"/>
                        <a:cs typeface="Roboto" panose="02000000000000000000" pitchFamily="2" charset="0"/>
                      </a:endParaRPr>
                    </a:p>
                  </a:txBody>
                  <a:tcPr marL="74295" marR="74295" marT="37148" marB="3714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52202114"/>
                  </a:ext>
                </a:extLst>
              </a:tr>
            </a:tbl>
          </a:graphicData>
        </a:graphic>
      </p:graphicFrame>
    </p:spTree>
    <p:extLst>
      <p:ext uri="{BB962C8B-B14F-4D97-AF65-F5344CB8AC3E}">
        <p14:creationId xmlns:p14="http://schemas.microsoft.com/office/powerpoint/2010/main" val="1574880129"/>
      </p:ext>
    </p:extLst>
  </p:cSld>
  <p:clrMapOvr>
    <a:masterClrMapping/>
  </p:clrMapOvr>
  <p:transition spd="slow">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EEAE8B62-2DE3-93D6-DFEE-D15940E59362}"/>
              </a:ext>
            </a:extLst>
          </p:cNvPr>
          <p:cNvSpPr txBox="1"/>
          <p:nvPr/>
        </p:nvSpPr>
        <p:spPr>
          <a:xfrm>
            <a:off x="605955" y="186112"/>
            <a:ext cx="11348566" cy="490074"/>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6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Internal Audit </a:t>
            </a:r>
            <a:r>
              <a:rPr kumimoji="0" lang="en-US" sz="2600" b="1" i="0" u="none" strike="noStrike" kern="0" cap="none" spc="0" normalizeH="0" baseline="0" noProof="0" dirty="0">
                <a:ln>
                  <a:noFill/>
                </a:ln>
                <a:solidFill>
                  <a:prstClr val="black">
                    <a:lumMod val="75000"/>
                    <a:lumOff val="25000"/>
                  </a:prstClr>
                </a:solidFill>
                <a:effectLst/>
                <a:uLnTx/>
                <a:uFillTx/>
                <a:latin typeface="Roboto" panose="02000000000000000000" pitchFamily="2" charset="0"/>
                <a:ea typeface="Roboto" panose="02000000000000000000" pitchFamily="2" charset="0"/>
                <a:cs typeface="Roboto"/>
                <a:sym typeface="Roboto"/>
              </a:rPr>
              <a:t>Plan </a:t>
            </a:r>
            <a:r>
              <a:rPr lang="en-US" sz="2600" b="1" kern="0" dirty="0">
                <a:solidFill>
                  <a:schemeClr val="tx1">
                    <a:lumMod val="75000"/>
                    <a:lumOff val="25000"/>
                  </a:schemeClr>
                </a:solidFill>
                <a:latin typeface="Roboto" panose="02000000000000000000" pitchFamily="2" charset="0"/>
                <a:ea typeface="Roboto" panose="02000000000000000000" pitchFamily="2" charset="0"/>
                <a:cs typeface="Roboto"/>
                <a:sym typeface="Roboto"/>
              </a:rPr>
              <a:t>– Proposed Engagement Conclusion</a:t>
            </a:r>
          </a:p>
        </p:txBody>
      </p:sp>
      <p:graphicFrame>
        <p:nvGraphicFramePr>
          <p:cNvPr id="2" name="Table 1">
            <a:extLst>
              <a:ext uri="{FF2B5EF4-FFF2-40B4-BE49-F238E27FC236}">
                <a16:creationId xmlns:a16="http://schemas.microsoft.com/office/drawing/2014/main" id="{0B1433EE-E487-D58F-C21B-0D3DDF3A61AA}"/>
              </a:ext>
            </a:extLst>
          </p:cNvPr>
          <p:cNvGraphicFramePr>
            <a:graphicFrameLocks noGrp="1"/>
          </p:cNvGraphicFramePr>
          <p:nvPr/>
        </p:nvGraphicFramePr>
        <p:xfrm>
          <a:off x="605955" y="1073947"/>
          <a:ext cx="10928820" cy="5203027"/>
        </p:xfrm>
        <a:graphic>
          <a:graphicData uri="http://schemas.openxmlformats.org/drawingml/2006/table">
            <a:tbl>
              <a:tblPr firstRow="1" firstCol="1" bandRow="1"/>
              <a:tblGrid>
                <a:gridCol w="1727670">
                  <a:extLst>
                    <a:ext uri="{9D8B030D-6E8A-4147-A177-3AD203B41FA5}">
                      <a16:colId xmlns:a16="http://schemas.microsoft.com/office/drawing/2014/main" val="1715707517"/>
                    </a:ext>
                  </a:extLst>
                </a:gridCol>
                <a:gridCol w="1581150">
                  <a:extLst>
                    <a:ext uri="{9D8B030D-6E8A-4147-A177-3AD203B41FA5}">
                      <a16:colId xmlns:a16="http://schemas.microsoft.com/office/drawing/2014/main" val="2423586741"/>
                    </a:ext>
                  </a:extLst>
                </a:gridCol>
                <a:gridCol w="4914900">
                  <a:extLst>
                    <a:ext uri="{9D8B030D-6E8A-4147-A177-3AD203B41FA5}">
                      <a16:colId xmlns:a16="http://schemas.microsoft.com/office/drawing/2014/main" val="3727069079"/>
                    </a:ext>
                  </a:extLst>
                </a:gridCol>
                <a:gridCol w="2705100">
                  <a:extLst>
                    <a:ext uri="{9D8B030D-6E8A-4147-A177-3AD203B41FA5}">
                      <a16:colId xmlns:a16="http://schemas.microsoft.com/office/drawing/2014/main" val="1549163474"/>
                    </a:ext>
                  </a:extLst>
                </a:gridCol>
              </a:tblGrid>
              <a:tr h="29054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15000"/>
                        </a:lnSpc>
                      </a:pPr>
                      <a:r>
                        <a:rPr lang="en-GB" sz="1100" b="1" kern="1200" dirty="0">
                          <a:solidFill>
                            <a:schemeClr val="bg1"/>
                          </a:solidFill>
                          <a:effectLst/>
                          <a:latin typeface="Roboto" panose="02000000000000000000" pitchFamily="2" charset="0"/>
                          <a:ea typeface="Roboto" panose="02000000000000000000" pitchFamily="2" charset="0"/>
                          <a:cs typeface="Roboto" panose="02000000000000000000" pitchFamily="2" charset="0"/>
                        </a:rPr>
                        <a:t>Engagement Conclusion</a:t>
                      </a:r>
                      <a:endParaRPr lang="en-SG" sz="160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10918" marR="10918" marT="194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BB212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15000"/>
                        </a:lnSpc>
                      </a:pPr>
                      <a:r>
                        <a:rPr lang="en-GB" sz="1100" b="1" kern="1200" dirty="0">
                          <a:solidFill>
                            <a:schemeClr val="bg1"/>
                          </a:solidFill>
                          <a:effectLst/>
                          <a:latin typeface="Roboto" panose="02000000000000000000" pitchFamily="2" charset="0"/>
                          <a:ea typeface="Roboto" panose="02000000000000000000" pitchFamily="2" charset="0"/>
                          <a:cs typeface="Roboto" panose="02000000000000000000" pitchFamily="2" charset="0"/>
                        </a:rPr>
                        <a:t>Evaluation Criteria</a:t>
                      </a:r>
                      <a:endParaRPr lang="en-SG" sz="160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10918" marR="10918" marT="194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BB212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15000"/>
                        </a:lnSpc>
                      </a:pPr>
                      <a:r>
                        <a:rPr lang="en-GB" sz="1100" b="1" kern="1200" dirty="0">
                          <a:solidFill>
                            <a:schemeClr val="bg1"/>
                          </a:solidFill>
                          <a:effectLst/>
                          <a:latin typeface="Roboto" panose="02000000000000000000" pitchFamily="2" charset="0"/>
                          <a:ea typeface="Roboto" panose="02000000000000000000" pitchFamily="2" charset="0"/>
                          <a:cs typeface="Roboto" panose="02000000000000000000" pitchFamily="2" charset="0"/>
                        </a:rPr>
                        <a:t>Basis and Implications of Rating</a:t>
                      </a:r>
                      <a:endParaRPr lang="en-SG" sz="160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10918" marR="10918" marT="194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BB212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15000"/>
                        </a:lnSpc>
                      </a:pPr>
                      <a:r>
                        <a:rPr lang="en-SG" sz="1100" b="1" kern="1200" dirty="0">
                          <a:solidFill>
                            <a:schemeClr val="bg1"/>
                          </a:solidFill>
                          <a:effectLst/>
                          <a:latin typeface="Roboto" panose="02000000000000000000" pitchFamily="2" charset="0"/>
                          <a:ea typeface="Roboto" panose="02000000000000000000" pitchFamily="2" charset="0"/>
                          <a:cs typeface="Roboto" panose="02000000000000000000" pitchFamily="2" charset="0"/>
                        </a:rPr>
                        <a:t>Management Actions Needed</a:t>
                      </a:r>
                      <a:endParaRPr lang="en-SG" sz="160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10918" marR="10918" marT="194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BB2121"/>
                    </a:solidFill>
                  </a:tcPr>
                </a:tc>
                <a:extLst>
                  <a:ext uri="{0D108BD9-81ED-4DB2-BD59-A6C34878D82A}">
                    <a16:rowId xmlns:a16="http://schemas.microsoft.com/office/drawing/2014/main" val="2125346577"/>
                  </a:ext>
                </a:extLst>
              </a:tr>
              <a:tr h="1151503">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15000"/>
                        </a:lnSpc>
                      </a:pPr>
                      <a:r>
                        <a:rPr lang="en-GB" sz="1100" b="1"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Adequate and</a:t>
                      </a:r>
                      <a:endParaRPr lang="en-SG" sz="1600" dirty="0">
                        <a:effectLst/>
                        <a:latin typeface="Roboto" panose="02000000000000000000" pitchFamily="2" charset="0"/>
                        <a:ea typeface="Roboto" panose="02000000000000000000" pitchFamily="2" charset="0"/>
                        <a:cs typeface="Roboto" panose="02000000000000000000" pitchFamily="2" charset="0"/>
                      </a:endParaRPr>
                    </a:p>
                    <a:p>
                      <a:pPr algn="ctr">
                        <a:lnSpc>
                          <a:spcPct val="115000"/>
                        </a:lnSpc>
                      </a:pPr>
                      <a:r>
                        <a:rPr lang="en-GB" sz="1100" b="1"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Effective</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10918" marR="10918"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No High or Medium finding</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just">
                        <a:lnSpc>
                          <a:spcPct val="115000"/>
                        </a:lnSpc>
                      </a:pPr>
                      <a:r>
                        <a:rPr lang="en-GB" sz="1100" i="1" u="sng" kern="1200" dirty="0">
                          <a:solidFill>
                            <a:srgbClr val="002060"/>
                          </a:solidFill>
                          <a:effectLst/>
                          <a:latin typeface="Roboto" panose="02000000000000000000" pitchFamily="2" charset="0"/>
                          <a:ea typeface="Roboto" panose="02000000000000000000" pitchFamily="2" charset="0"/>
                          <a:cs typeface="Roboto" panose="02000000000000000000" pitchFamily="2" charset="0"/>
                        </a:rPr>
                        <a:t>If there were no finding</a:t>
                      </a:r>
                      <a:endParaRPr lang="en-SG" sz="1600" dirty="0">
                        <a:effectLst/>
                        <a:latin typeface="Roboto" panose="02000000000000000000" pitchFamily="2" charset="0"/>
                        <a:ea typeface="Roboto" panose="02000000000000000000" pitchFamily="2" charset="0"/>
                        <a:cs typeface="Roboto" panose="02000000000000000000" pitchFamily="2" charset="0"/>
                      </a:endParaRPr>
                    </a:p>
                    <a:p>
                      <a:pPr algn="just">
                        <a:lnSpc>
                          <a:spcPct val="115000"/>
                        </a:lnSpc>
                      </a:pPr>
                      <a:r>
                        <a:rPr lang="en-GB" sz="1100" i="1"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SG" sz="1600" dirty="0">
                        <a:effectLst/>
                        <a:latin typeface="Roboto" panose="02000000000000000000" pitchFamily="2" charset="0"/>
                        <a:ea typeface="Roboto" panose="02000000000000000000" pitchFamily="2" charset="0"/>
                        <a:cs typeface="Roboto" panose="02000000000000000000" pitchFamily="2" charset="0"/>
                      </a:endParaRPr>
                    </a:p>
                    <a:p>
                      <a:pPr algn="just">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Our review indicates that the organisation has designed controls that are generally adequate, effective and operating as intended to provide reasonable assurance that risks are being managed and objectives should be met.</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rowSpan="2">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just">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Continual monitoring and on-going compliance with internal controls.</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69384151"/>
                  </a:ext>
                </a:extLst>
              </a:tr>
              <a:tr h="955039">
                <a:tc vMerge="1">
                  <a:txBody>
                    <a:bodyPr/>
                    <a:lstStyle/>
                    <a:p>
                      <a:endParaRPr lang="en-SG"/>
                    </a:p>
                  </a:txBody>
                  <a:tcPr/>
                </a:tc>
                <a:tc vMerge="1">
                  <a:txBody>
                    <a:bodyPr/>
                    <a:lstStyle/>
                    <a:p>
                      <a:endParaRPr lang="en-SG"/>
                    </a:p>
                  </a:txBody>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just">
                        <a:lnSpc>
                          <a:spcPct val="115000"/>
                        </a:lnSpc>
                      </a:pPr>
                      <a:r>
                        <a:rPr lang="en-GB" sz="1100" i="1" u="sng" kern="1200" dirty="0">
                          <a:solidFill>
                            <a:srgbClr val="002060"/>
                          </a:solidFill>
                          <a:effectLst/>
                          <a:latin typeface="Roboto" panose="02000000000000000000" pitchFamily="2" charset="0"/>
                          <a:ea typeface="Roboto" panose="02000000000000000000" pitchFamily="2" charset="0"/>
                          <a:cs typeface="Roboto" panose="02000000000000000000" pitchFamily="2" charset="0"/>
                        </a:rPr>
                        <a:t>If there were only Low findings</a:t>
                      </a:r>
                      <a:endParaRPr lang="en-SG" sz="1600" dirty="0">
                        <a:effectLst/>
                        <a:latin typeface="Roboto" panose="02000000000000000000" pitchFamily="2" charset="0"/>
                        <a:ea typeface="Roboto" panose="02000000000000000000" pitchFamily="2" charset="0"/>
                        <a:cs typeface="Roboto" panose="02000000000000000000" pitchFamily="2" charset="0"/>
                      </a:endParaRPr>
                    </a:p>
                    <a:p>
                      <a:pPr algn="just">
                        <a:lnSpc>
                          <a:spcPct val="115000"/>
                        </a:lnSpc>
                      </a:pPr>
                      <a:r>
                        <a:rPr lang="en-GB" sz="1100" i="1"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SG" sz="1600" dirty="0">
                        <a:effectLst/>
                        <a:latin typeface="Roboto" panose="02000000000000000000" pitchFamily="2" charset="0"/>
                        <a:ea typeface="Roboto" panose="02000000000000000000" pitchFamily="2" charset="0"/>
                        <a:cs typeface="Roboto" panose="02000000000000000000" pitchFamily="2" charset="0"/>
                      </a:endParaRPr>
                    </a:p>
                    <a:p>
                      <a:pPr algn="just">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Our review indicates that the organisation has designed controls that are generally adequate and effective in achieving their intended objectives, some controls are not consistently applied, with potential low risk impact.</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lang="en-SG"/>
                    </a:p>
                  </a:txBody>
                  <a:tcPr/>
                </a:tc>
                <a:extLst>
                  <a:ext uri="{0D108BD9-81ED-4DB2-BD59-A6C34878D82A}">
                    <a16:rowId xmlns:a16="http://schemas.microsoft.com/office/drawing/2014/main" val="223003135"/>
                  </a:ext>
                </a:extLst>
              </a:tr>
              <a:tr h="891568">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15000"/>
                        </a:lnSpc>
                      </a:pPr>
                      <a:r>
                        <a:rPr lang="en-SG" sz="1100" b="1"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Acceptable with Isolated Exceptions</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10918" marR="10918"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No High finding; and 1 - 5 Medium findings</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just">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Our review indicates that although the organisation has designed controls that are fairly adequate and effective in achieving their intended objectives, a couple of controls are not consistently applied, with potential low to medium risk impact.</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just">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Prompt actions to address the control deficiencies and/ operating effectiveness exceptions noted while continuing to monitor and comply with internal controls.</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70514076"/>
                  </a:ext>
                </a:extLst>
              </a:tr>
              <a:tr h="95718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15000"/>
                        </a:lnSpc>
                      </a:pPr>
                      <a:r>
                        <a:rPr lang="en-GB" sz="1100" b="1"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Some Improvements</a:t>
                      </a:r>
                      <a:endParaRPr lang="en-SG" sz="1600" dirty="0">
                        <a:effectLst/>
                        <a:latin typeface="Roboto" panose="02000000000000000000" pitchFamily="2" charset="0"/>
                        <a:ea typeface="Roboto" panose="02000000000000000000" pitchFamily="2" charset="0"/>
                        <a:cs typeface="Roboto" panose="02000000000000000000" pitchFamily="2" charset="0"/>
                      </a:endParaRPr>
                    </a:p>
                    <a:p>
                      <a:pPr algn="ctr">
                        <a:lnSpc>
                          <a:spcPct val="115000"/>
                        </a:lnSpc>
                      </a:pPr>
                      <a:r>
                        <a:rPr lang="en-GB" sz="1100" b="1"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Needed</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10918" marR="10918"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No High finding; and 6 - 10 Medium findings</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just">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Our review indicates that although the organisation has designed controls in place in achieving their intended objectives, several controls are inadequate/ineffective or are not consistently applied, with potential medium risk impact.</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just">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Management should follow up promptly on the audit recommendations by the agreed implementation dates and to assess if any additional internal controls need to be established.</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294225502"/>
                  </a:ext>
                </a:extLst>
              </a:tr>
              <a:tr h="95718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15000"/>
                        </a:lnSpc>
                      </a:pPr>
                      <a:r>
                        <a:rPr lang="en-GB" sz="1100" b="1"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Requires Prompt Management Attention</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10918" marR="10918"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High finding; or 11 or more Medium findings</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just">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Our review indicates that although the organisation has designed controls in place in achieving their intended objectives, there are one or more critical controls and/or many controls that are inadequate/ineffective or are not consistently applied, with potential medium to high-risk impact to the organisation.</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just">
                        <a:lnSpc>
                          <a:spcPct val="115000"/>
                        </a:lnSpc>
                      </a:pPr>
                      <a:r>
                        <a:rPr lang="en-GB" sz="11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Management should follow up on the audit recommendations on an immediate basis and to conduct further reviews to improve the overall control environment.</a:t>
                      </a:r>
                      <a:endParaRPr lang="en-SG" sz="1600" dirty="0">
                        <a:effectLst/>
                        <a:latin typeface="Roboto" panose="02000000000000000000" pitchFamily="2" charset="0"/>
                        <a:ea typeface="Roboto" panose="02000000000000000000" pitchFamily="2" charset="0"/>
                        <a:cs typeface="Roboto" panose="02000000000000000000" pitchFamily="2" charset="0"/>
                      </a:endParaRPr>
                    </a:p>
                  </a:txBody>
                  <a:tcPr marL="36000" marR="36000" marT="194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38572270"/>
                  </a:ext>
                </a:extLst>
              </a:tr>
            </a:tbl>
          </a:graphicData>
        </a:graphic>
      </p:graphicFrame>
      <p:sp>
        <p:nvSpPr>
          <p:cNvPr id="6" name="Oval 5">
            <a:extLst>
              <a:ext uri="{FF2B5EF4-FFF2-40B4-BE49-F238E27FC236}">
                <a16:creationId xmlns:a16="http://schemas.microsoft.com/office/drawing/2014/main" id="{C751EEE7-CA85-FC35-7D97-154234A12CBE}"/>
              </a:ext>
            </a:extLst>
          </p:cNvPr>
          <p:cNvSpPr/>
          <p:nvPr/>
        </p:nvSpPr>
        <p:spPr>
          <a:xfrm>
            <a:off x="1209630" y="1797177"/>
            <a:ext cx="371520" cy="374523"/>
          </a:xfrm>
          <a:prstGeom prst="ellipse">
            <a:avLst/>
          </a:prstGeom>
          <a:solidFill>
            <a:schemeClr val="accent6">
              <a:lumMod val="60000"/>
              <a:lumOff val="40000"/>
            </a:schemeClr>
          </a:solidFill>
          <a:ln w="12700" cap="flat" cmpd="sng" algn="ctr">
            <a:solidFill>
              <a:sysClr val="windowText" lastClr="000000"/>
            </a:soli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SG"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7" name="Oval 6">
            <a:extLst>
              <a:ext uri="{FF2B5EF4-FFF2-40B4-BE49-F238E27FC236}">
                <a16:creationId xmlns:a16="http://schemas.microsoft.com/office/drawing/2014/main" id="{CDE65482-50E8-EC7A-44D4-8C64DAE40723}"/>
              </a:ext>
            </a:extLst>
          </p:cNvPr>
          <p:cNvSpPr/>
          <p:nvPr/>
        </p:nvSpPr>
        <p:spPr>
          <a:xfrm>
            <a:off x="1209630" y="3881241"/>
            <a:ext cx="371520" cy="374523"/>
          </a:xfrm>
          <a:prstGeom prst="ellipse">
            <a:avLst/>
          </a:prstGeom>
          <a:solidFill>
            <a:schemeClr val="accent4">
              <a:lumMod val="60000"/>
              <a:lumOff val="40000"/>
            </a:schemeClr>
          </a:solidFill>
          <a:ln w="12700" cap="flat" cmpd="sng" algn="ctr">
            <a:solidFill>
              <a:sysClr val="windowText" lastClr="000000"/>
            </a:soli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SG"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15F9A5C4-3DA1-4A5A-D606-53767D8326D6}"/>
              </a:ext>
            </a:extLst>
          </p:cNvPr>
          <p:cNvSpPr/>
          <p:nvPr/>
        </p:nvSpPr>
        <p:spPr>
          <a:xfrm>
            <a:off x="1223830" y="4795988"/>
            <a:ext cx="359432" cy="374523"/>
          </a:xfrm>
          <a:prstGeom prst="ellipse">
            <a:avLst/>
          </a:prstGeom>
          <a:solidFill>
            <a:srgbClr val="FB8605"/>
          </a:solidFill>
          <a:ln w="12700" cap="flat" cmpd="sng" algn="ctr">
            <a:solidFill>
              <a:sysClr val="windowText" lastClr="000000"/>
            </a:soli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SG"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95384AB2-72A3-C3CB-8109-23A0DF1014A2}"/>
              </a:ext>
            </a:extLst>
          </p:cNvPr>
          <p:cNvSpPr/>
          <p:nvPr/>
        </p:nvSpPr>
        <p:spPr>
          <a:xfrm>
            <a:off x="1223830" y="5783760"/>
            <a:ext cx="371519" cy="374523"/>
          </a:xfrm>
          <a:prstGeom prst="ellipse">
            <a:avLst/>
          </a:prstGeom>
          <a:solidFill>
            <a:srgbClr val="FF0000"/>
          </a:solidFill>
          <a:ln w="12700" cap="flat" cmpd="sng" algn="ctr">
            <a:solidFill>
              <a:sysClr val="windowText" lastClr="000000"/>
            </a:solidFill>
            <a:prstDash val="solid"/>
            <a:miter lim="800000"/>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SG"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6576841"/>
      </p:ext>
    </p:extLst>
  </p:cSld>
  <p:clrMapOvr>
    <a:masterClrMapping/>
  </p:clrMapOvr>
  <p:transition spd="slow">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5" name="Google Shape;190;p2">
            <a:extLst>
              <a:ext uri="{FF2B5EF4-FFF2-40B4-BE49-F238E27FC236}">
                <a16:creationId xmlns:a16="http://schemas.microsoft.com/office/drawing/2014/main" id="{EEAE8B62-2DE3-93D6-DFEE-D15940E59362}"/>
              </a:ext>
            </a:extLst>
          </p:cNvPr>
          <p:cNvSpPr txBox="1"/>
          <p:nvPr/>
        </p:nvSpPr>
        <p:spPr>
          <a:xfrm>
            <a:off x="605955" y="18611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Internal Audit Plan – Proposed Timeline</a:t>
            </a:r>
          </a:p>
        </p:txBody>
      </p:sp>
      <p:graphicFrame>
        <p:nvGraphicFramePr>
          <p:cNvPr id="2" name="Table 1">
            <a:extLst>
              <a:ext uri="{FF2B5EF4-FFF2-40B4-BE49-F238E27FC236}">
                <a16:creationId xmlns:a16="http://schemas.microsoft.com/office/drawing/2014/main" id="{C799E569-5FA4-8142-B1D7-64C749748FD9}"/>
              </a:ext>
            </a:extLst>
          </p:cNvPr>
          <p:cNvGraphicFramePr>
            <a:graphicFrameLocks noGrp="1"/>
          </p:cNvGraphicFramePr>
          <p:nvPr/>
        </p:nvGraphicFramePr>
        <p:xfrm>
          <a:off x="605955" y="1159661"/>
          <a:ext cx="10966915" cy="5041109"/>
        </p:xfrm>
        <a:graphic>
          <a:graphicData uri="http://schemas.openxmlformats.org/drawingml/2006/table">
            <a:tbl>
              <a:tblPr firstRow="1" bandRow="1">
                <a:tableStyleId>{5940675A-B579-460E-94D1-54222C63F5DA}</a:tableStyleId>
              </a:tblPr>
              <a:tblGrid>
                <a:gridCol w="2511426">
                  <a:extLst>
                    <a:ext uri="{9D8B030D-6E8A-4147-A177-3AD203B41FA5}">
                      <a16:colId xmlns:a16="http://schemas.microsoft.com/office/drawing/2014/main" val="20000"/>
                    </a:ext>
                  </a:extLst>
                </a:gridCol>
                <a:gridCol w="552727">
                  <a:extLst>
                    <a:ext uri="{9D8B030D-6E8A-4147-A177-3AD203B41FA5}">
                      <a16:colId xmlns:a16="http://schemas.microsoft.com/office/drawing/2014/main" val="924709123"/>
                    </a:ext>
                  </a:extLst>
                </a:gridCol>
                <a:gridCol w="564483">
                  <a:extLst>
                    <a:ext uri="{9D8B030D-6E8A-4147-A177-3AD203B41FA5}">
                      <a16:colId xmlns:a16="http://schemas.microsoft.com/office/drawing/2014/main" val="20002"/>
                    </a:ext>
                  </a:extLst>
                </a:gridCol>
                <a:gridCol w="564483">
                  <a:extLst>
                    <a:ext uri="{9D8B030D-6E8A-4147-A177-3AD203B41FA5}">
                      <a16:colId xmlns:a16="http://schemas.microsoft.com/office/drawing/2014/main" val="3541928592"/>
                    </a:ext>
                  </a:extLst>
                </a:gridCol>
                <a:gridCol w="564483">
                  <a:extLst>
                    <a:ext uri="{9D8B030D-6E8A-4147-A177-3AD203B41FA5}">
                      <a16:colId xmlns:a16="http://schemas.microsoft.com/office/drawing/2014/main" val="3199651354"/>
                    </a:ext>
                  </a:extLst>
                </a:gridCol>
                <a:gridCol w="564483">
                  <a:extLst>
                    <a:ext uri="{9D8B030D-6E8A-4147-A177-3AD203B41FA5}">
                      <a16:colId xmlns:a16="http://schemas.microsoft.com/office/drawing/2014/main" val="599469764"/>
                    </a:ext>
                  </a:extLst>
                </a:gridCol>
                <a:gridCol w="564483">
                  <a:extLst>
                    <a:ext uri="{9D8B030D-6E8A-4147-A177-3AD203B41FA5}">
                      <a16:colId xmlns:a16="http://schemas.microsoft.com/office/drawing/2014/main" val="1268374171"/>
                    </a:ext>
                  </a:extLst>
                </a:gridCol>
                <a:gridCol w="564483">
                  <a:extLst>
                    <a:ext uri="{9D8B030D-6E8A-4147-A177-3AD203B41FA5}">
                      <a16:colId xmlns:a16="http://schemas.microsoft.com/office/drawing/2014/main" val="2723081348"/>
                    </a:ext>
                  </a:extLst>
                </a:gridCol>
                <a:gridCol w="564483">
                  <a:extLst>
                    <a:ext uri="{9D8B030D-6E8A-4147-A177-3AD203B41FA5}">
                      <a16:colId xmlns:a16="http://schemas.microsoft.com/office/drawing/2014/main" val="20008"/>
                    </a:ext>
                  </a:extLst>
                </a:gridCol>
                <a:gridCol w="564483">
                  <a:extLst>
                    <a:ext uri="{9D8B030D-6E8A-4147-A177-3AD203B41FA5}">
                      <a16:colId xmlns:a16="http://schemas.microsoft.com/office/drawing/2014/main" val="2631438703"/>
                    </a:ext>
                  </a:extLst>
                </a:gridCol>
                <a:gridCol w="564483">
                  <a:extLst>
                    <a:ext uri="{9D8B030D-6E8A-4147-A177-3AD203B41FA5}">
                      <a16:colId xmlns:a16="http://schemas.microsoft.com/office/drawing/2014/main" val="20009"/>
                    </a:ext>
                  </a:extLst>
                </a:gridCol>
                <a:gridCol w="564483">
                  <a:extLst>
                    <a:ext uri="{9D8B030D-6E8A-4147-A177-3AD203B41FA5}">
                      <a16:colId xmlns:a16="http://schemas.microsoft.com/office/drawing/2014/main" val="615157800"/>
                    </a:ext>
                  </a:extLst>
                </a:gridCol>
                <a:gridCol w="564483">
                  <a:extLst>
                    <a:ext uri="{9D8B030D-6E8A-4147-A177-3AD203B41FA5}">
                      <a16:colId xmlns:a16="http://schemas.microsoft.com/office/drawing/2014/main" val="370961055"/>
                    </a:ext>
                  </a:extLst>
                </a:gridCol>
                <a:gridCol w="564483">
                  <a:extLst>
                    <a:ext uri="{9D8B030D-6E8A-4147-A177-3AD203B41FA5}">
                      <a16:colId xmlns:a16="http://schemas.microsoft.com/office/drawing/2014/main" val="2008379917"/>
                    </a:ext>
                  </a:extLst>
                </a:gridCol>
                <a:gridCol w="564483">
                  <a:extLst>
                    <a:ext uri="{9D8B030D-6E8A-4147-A177-3AD203B41FA5}">
                      <a16:colId xmlns:a16="http://schemas.microsoft.com/office/drawing/2014/main" val="1573595745"/>
                    </a:ext>
                  </a:extLst>
                </a:gridCol>
                <a:gridCol w="564483">
                  <a:extLst>
                    <a:ext uri="{9D8B030D-6E8A-4147-A177-3AD203B41FA5}">
                      <a16:colId xmlns:a16="http://schemas.microsoft.com/office/drawing/2014/main" val="3581774486"/>
                    </a:ext>
                  </a:extLst>
                </a:gridCol>
              </a:tblGrid>
              <a:tr h="257409">
                <a:tc rowSpan="2">
                  <a:txBody>
                    <a:bodyPr/>
                    <a:lstStyle/>
                    <a:p>
                      <a:pPr marL="0" marR="0" lvl="0" indent="0" algn="l" defTabSz="371475" rtl="0" eaLnBrk="1" fontAlgn="auto" latinLnBrk="0" hangingPunct="1">
                        <a:lnSpc>
                          <a:spcPct val="100000"/>
                        </a:lnSpc>
                        <a:spcBef>
                          <a:spcPts val="0"/>
                        </a:spcBef>
                        <a:spcAft>
                          <a:spcPts val="0"/>
                        </a:spcAft>
                        <a:buClrTx/>
                        <a:buSzTx/>
                        <a:buFontTx/>
                        <a:buNone/>
                        <a:tabLst/>
                        <a:defRPr/>
                      </a:pPr>
                      <a:r>
                        <a:rPr lang="en-US" altLang="en-US" sz="1400" b="1" dirty="0">
                          <a:solidFill>
                            <a:schemeClr val="bg1"/>
                          </a:solidFill>
                          <a:latin typeface="Roboto" panose="02000000000000000000" pitchFamily="2" charset="0"/>
                          <a:ea typeface="Roboto" panose="02000000000000000000" pitchFamily="2" charset="0"/>
                          <a:cs typeface="Arial" pitchFamily="34" charset="0"/>
                        </a:rPr>
                        <a:t>Internal Audit</a:t>
                      </a:r>
                    </a:p>
                  </a:txBody>
                  <a:tcPr marL="74295" marR="74295" marT="37148" marB="37148" anchor="ctr">
                    <a:lnT w="12700" cap="flat" cmpd="sng" algn="ctr">
                      <a:solidFill>
                        <a:schemeClr val="tx1"/>
                      </a:solidFill>
                      <a:prstDash val="solid"/>
                      <a:round/>
                      <a:headEnd type="none" w="med" len="med"/>
                      <a:tailEnd type="none" w="med" len="med"/>
                    </a:lnT>
                    <a:solidFill>
                      <a:srgbClr val="C00000"/>
                    </a:solidFill>
                  </a:tcPr>
                </a:tc>
                <a:tc gridSpan="15">
                  <a:txBody>
                    <a:bodyPr/>
                    <a:lstStyle/>
                    <a:p>
                      <a:pPr marL="0" marR="0" indent="0" algn="ctr" defTabSz="371475" rtl="0" eaLnBrk="1" fontAlgn="auto" latinLnBrk="0" hangingPunct="1">
                        <a:lnSpc>
                          <a:spcPct val="100000"/>
                        </a:lnSpc>
                        <a:spcBef>
                          <a:spcPts val="0"/>
                        </a:spcBef>
                        <a:spcAft>
                          <a:spcPts val="0"/>
                        </a:spcAft>
                        <a:buClrTx/>
                        <a:buSzTx/>
                        <a:buFontTx/>
                        <a:buNone/>
                        <a:tabLst/>
                        <a:defRPr/>
                      </a:pPr>
                      <a:r>
                        <a:rPr lang="en-US" sz="1100" b="1" dirty="0">
                          <a:solidFill>
                            <a:schemeClr val="bg1"/>
                          </a:solidFill>
                          <a:latin typeface="Roboto" panose="02000000000000000000" pitchFamily="2" charset="0"/>
                          <a:ea typeface="Roboto" panose="02000000000000000000" pitchFamily="2" charset="0"/>
                          <a:cs typeface="Arial" pitchFamily="34" charset="0"/>
                        </a:rPr>
                        <a:t>Timeline</a:t>
                      </a:r>
                    </a:p>
                  </a:txBody>
                  <a:tcPr marL="74295" marR="74295" marT="37148" marB="37148" anchor="ctr">
                    <a:lnT w="12700" cap="flat" cmpd="sng" algn="ctr">
                      <a:solidFill>
                        <a:schemeClr val="tx1"/>
                      </a:solidFill>
                      <a:prstDash val="solid"/>
                      <a:round/>
                      <a:headEnd type="none" w="med" len="med"/>
                      <a:tailEnd type="none" w="med" len="med"/>
                    </a:lnT>
                    <a:solidFill>
                      <a:srgbClr val="C00000"/>
                    </a:solidFill>
                  </a:tcPr>
                </a:tc>
                <a:tc hMerge="1">
                  <a:txBody>
                    <a:bodyPr/>
                    <a:lstStyle/>
                    <a:p>
                      <a:endParaRPr lang="en-SG"/>
                    </a:p>
                  </a:txBody>
                  <a:tcPr/>
                </a:tc>
                <a:tc hMerge="1">
                  <a:txBody>
                    <a:bodyPr/>
                    <a:lstStyle/>
                    <a:p>
                      <a:endParaRPr lang="en-SG"/>
                    </a:p>
                  </a:txBody>
                  <a:tcPr/>
                </a:tc>
                <a:tc hMerge="1">
                  <a:txBody>
                    <a:bodyPr/>
                    <a:lstStyle/>
                    <a:p>
                      <a:endParaRPr lang="en-SG"/>
                    </a:p>
                  </a:txBody>
                  <a:tcPr/>
                </a:tc>
                <a:tc hMerge="1">
                  <a:txBody>
                    <a:bodyPr/>
                    <a:lstStyle/>
                    <a:p>
                      <a:endParaRPr lang="en-SG"/>
                    </a:p>
                  </a:txBody>
                  <a:tcPr/>
                </a:tc>
                <a:tc hMerge="1">
                  <a:txBody>
                    <a:bodyPr/>
                    <a:lstStyle/>
                    <a:p>
                      <a:endParaRPr lang="en-SG"/>
                    </a:p>
                  </a:txBody>
                  <a:tcPr/>
                </a:tc>
                <a:tc hMerge="1">
                  <a:txBody>
                    <a:bodyPr/>
                    <a:lstStyle/>
                    <a:p>
                      <a:endParaRPr lang="en-SG"/>
                    </a:p>
                  </a:txBody>
                  <a:tcPr/>
                </a:tc>
                <a:tc hMerge="1">
                  <a:txBody>
                    <a:bodyPr/>
                    <a:lstStyle/>
                    <a:p>
                      <a:endParaRPr lang="en-SG"/>
                    </a:p>
                  </a:txBody>
                  <a:tcPr/>
                </a:tc>
                <a:tc hMerge="1">
                  <a:txBody>
                    <a:bodyPr/>
                    <a:lstStyle/>
                    <a:p>
                      <a:endParaRPr lang="en-SG"/>
                    </a:p>
                  </a:txBody>
                  <a:tcPr/>
                </a:tc>
                <a:tc hMerge="1">
                  <a:txBody>
                    <a:bodyPr/>
                    <a:lstStyle/>
                    <a:p>
                      <a:endParaRPr lang="en-SG"/>
                    </a:p>
                  </a:txBody>
                  <a:tcPr/>
                </a:tc>
                <a:tc hMerge="1">
                  <a:txBody>
                    <a:bodyPr/>
                    <a:lstStyle/>
                    <a:p>
                      <a:pPr marL="0" marR="0" indent="0" algn="ctr" defTabSz="371475" rtl="0" eaLnBrk="1" fontAlgn="auto" latinLnBrk="0" hangingPunct="1">
                        <a:lnSpc>
                          <a:spcPct val="100000"/>
                        </a:lnSpc>
                        <a:spcBef>
                          <a:spcPts val="0"/>
                        </a:spcBef>
                        <a:spcAft>
                          <a:spcPts val="0"/>
                        </a:spcAft>
                        <a:buClrTx/>
                        <a:buSzTx/>
                        <a:buFontTx/>
                        <a:buNone/>
                        <a:tabLst/>
                        <a:defRPr/>
                      </a:pPr>
                      <a:endParaRPr lang="en-US" sz="1200" b="1" dirty="0">
                        <a:solidFill>
                          <a:schemeClr val="tx1"/>
                        </a:solidFill>
                        <a:latin typeface="Arial" pitchFamily="34" charset="0"/>
                        <a:cs typeface="Arial" pitchFamily="34" charset="0"/>
                      </a:endParaRPr>
                    </a:p>
                  </a:txBody>
                  <a:tcPr>
                    <a:lnT w="12700" cap="flat" cmpd="sng" algn="ctr">
                      <a:solidFill>
                        <a:schemeClr val="tx1"/>
                      </a:solidFill>
                      <a:prstDash val="solid"/>
                      <a:round/>
                      <a:headEnd type="none" w="med" len="med"/>
                      <a:tailEnd type="none" w="med" len="med"/>
                    </a:lnT>
                    <a:solidFill>
                      <a:schemeClr val="bg1">
                        <a:lumMod val="85000"/>
                      </a:schemeClr>
                    </a:solidFill>
                  </a:tcPr>
                </a:tc>
                <a:tc hMerge="1">
                  <a:txBody>
                    <a:bodyPr/>
                    <a:lstStyle/>
                    <a:p>
                      <a:endParaRPr lang="en-SG"/>
                    </a:p>
                  </a:txBody>
                  <a:tcPr/>
                </a:tc>
                <a:tc hMerge="1">
                  <a:txBody>
                    <a:bodyPr/>
                    <a:lstStyle/>
                    <a:p>
                      <a:endParaRPr lang="en-SG"/>
                    </a:p>
                  </a:txBody>
                  <a:tcPr/>
                </a:tc>
                <a:tc hMerge="1">
                  <a:txBody>
                    <a:bodyPr/>
                    <a:lstStyle/>
                    <a:p>
                      <a:endParaRPr lang="en-SG"/>
                    </a:p>
                  </a:txBody>
                  <a:tcPr/>
                </a:tc>
                <a:tc hMerge="1">
                  <a:txBody>
                    <a:bodyPr/>
                    <a:lstStyle/>
                    <a:p>
                      <a:pPr marL="0" marR="0" indent="0" algn="ctr" defTabSz="371475" rtl="0" eaLnBrk="1" fontAlgn="auto" latinLnBrk="0" hangingPunct="1">
                        <a:lnSpc>
                          <a:spcPct val="100000"/>
                        </a:lnSpc>
                        <a:spcBef>
                          <a:spcPts val="0"/>
                        </a:spcBef>
                        <a:spcAft>
                          <a:spcPts val="0"/>
                        </a:spcAft>
                        <a:buClrTx/>
                        <a:buSzTx/>
                        <a:buFontTx/>
                        <a:buNone/>
                        <a:tabLst/>
                        <a:defRPr/>
                      </a:pPr>
                      <a:endParaRPr lang="en-US" sz="2000" b="1" dirty="0">
                        <a:solidFill>
                          <a:schemeClr val="tx1"/>
                        </a:solidFill>
                        <a:latin typeface="Arial" pitchFamily="34" charset="0"/>
                        <a:cs typeface="Arial" pitchFamily="34" charset="0"/>
                      </a:endParaRPr>
                    </a:p>
                  </a:txBody>
                  <a:tcPr>
                    <a:lnT w="12700"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36176796"/>
                  </a:ext>
                </a:extLst>
              </a:tr>
              <a:tr h="246859">
                <a:tc vMerge="1">
                  <a:txBody>
                    <a:bodyPr/>
                    <a:lstStyle/>
                    <a:p>
                      <a:endParaRPr lang="en-US" b="1" dirty="0">
                        <a:solidFill>
                          <a:schemeClr val="bg1"/>
                        </a:solidFill>
                        <a:latin typeface="Arial" pitchFamily="34" charset="0"/>
                        <a:cs typeface="Arial" pitchFamily="34" charset="0"/>
                      </a:endParaRPr>
                    </a:p>
                  </a:txBody>
                  <a:tcPr>
                    <a:solidFill>
                      <a:schemeClr val="tx1">
                        <a:lumMod val="75000"/>
                        <a:lumOff val="25000"/>
                      </a:schemeClr>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1</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2</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3</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4</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5</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6</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7</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8</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9</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10</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11</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12</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13</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14</a:t>
                      </a:r>
                    </a:p>
                  </a:txBody>
                  <a:tcPr marL="74295" marR="74295" marT="37148" marB="37148" anchor="ctr">
                    <a:solidFill>
                      <a:srgbClr val="C00000"/>
                    </a:solidFill>
                  </a:tcPr>
                </a:tc>
                <a:tc>
                  <a:txBody>
                    <a:bodyPr/>
                    <a:lstStyle/>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Arial" pitchFamily="34" charset="0"/>
                        </a:rPr>
                        <a:t>Wk 15</a:t>
                      </a:r>
                    </a:p>
                  </a:txBody>
                  <a:tcPr marL="74295" marR="74295" marT="37148" marB="37148" anchor="ctr">
                    <a:solidFill>
                      <a:srgbClr val="C00000"/>
                    </a:solidFill>
                  </a:tcPr>
                </a:tc>
                <a:extLst>
                  <a:ext uri="{0D108BD9-81ED-4DB2-BD59-A6C34878D82A}">
                    <a16:rowId xmlns:a16="http://schemas.microsoft.com/office/drawing/2014/main" val="10001"/>
                  </a:ext>
                </a:extLst>
              </a:tr>
              <a:tr h="480371">
                <a:tc>
                  <a:txBody>
                    <a:bodyPr/>
                    <a:lstStyle/>
                    <a:p>
                      <a:r>
                        <a:rPr lang="en-US" sz="1050" b="0" kern="1200" baseline="0" dirty="0">
                          <a:solidFill>
                            <a:schemeClr val="tx1"/>
                          </a:solidFill>
                          <a:latin typeface="Roboto" panose="02000000000000000000" pitchFamily="2" charset="0"/>
                          <a:ea typeface="Roboto" panose="02000000000000000000" pitchFamily="2" charset="0"/>
                          <a:cs typeface="Arial" pitchFamily="34" charset="0"/>
                        </a:rPr>
                        <a:t>Entrance Meeting to Kick-start the Audit</a:t>
                      </a:r>
                    </a:p>
                  </a:txBody>
                  <a:tcPr anchor="ctr">
                    <a:solidFill>
                      <a:srgbClr val="F2F2F2"/>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00B050"/>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extLst>
                  <a:ext uri="{0D108BD9-81ED-4DB2-BD59-A6C34878D82A}">
                    <a16:rowId xmlns:a16="http://schemas.microsoft.com/office/drawing/2014/main" val="10003"/>
                  </a:ext>
                </a:extLst>
              </a:tr>
              <a:tr h="480371">
                <a:tc>
                  <a:txBody>
                    <a:bodyPr/>
                    <a:lstStyle/>
                    <a:p>
                      <a:pPr algn="l"/>
                      <a:r>
                        <a:rPr lang="en-US" sz="1050" b="0" kern="0" dirty="0">
                          <a:solidFill>
                            <a:schemeClr val="tx1"/>
                          </a:solidFill>
                          <a:latin typeface="Roboto" panose="02000000000000000000" pitchFamily="2" charset="0"/>
                          <a:ea typeface="Roboto" panose="02000000000000000000" pitchFamily="2" charset="0"/>
                          <a:cs typeface="Arial" pitchFamily="34" charset="0"/>
                        </a:rPr>
                        <a:t>Request for Information and selection of samples</a:t>
                      </a:r>
                    </a:p>
                  </a:txBody>
                  <a:tcPr anchor="ctr">
                    <a:solidFill>
                      <a:srgbClr val="F2F2F2"/>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CC0099"/>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extLst>
                  <a:ext uri="{0D108BD9-81ED-4DB2-BD59-A6C34878D82A}">
                    <a16:rowId xmlns:a16="http://schemas.microsoft.com/office/drawing/2014/main" val="1125082841"/>
                  </a:ext>
                </a:extLst>
              </a:tr>
              <a:tr h="480371">
                <a:tc>
                  <a:txBody>
                    <a:bodyPr/>
                    <a:lstStyle/>
                    <a:p>
                      <a:pPr algn="l"/>
                      <a:r>
                        <a:rPr lang="en-US" sz="1050" b="0" kern="0" dirty="0">
                          <a:solidFill>
                            <a:schemeClr val="tx1"/>
                          </a:solidFill>
                          <a:latin typeface="Roboto" panose="02000000000000000000" pitchFamily="2" charset="0"/>
                          <a:ea typeface="Roboto" panose="02000000000000000000" pitchFamily="2" charset="0"/>
                          <a:cs typeface="Arial" pitchFamily="34" charset="0"/>
                        </a:rPr>
                        <a:t>Conduct Process Walkthroughs and perform fieldwork and clarifications</a:t>
                      </a:r>
                    </a:p>
                  </a:txBody>
                  <a:tcPr anchor="ctr">
                    <a:solidFill>
                      <a:srgbClr val="F2F2F2"/>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FFCC00"/>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FFCC00"/>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FFCC00"/>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extLst>
                  <a:ext uri="{0D108BD9-81ED-4DB2-BD59-A6C34878D82A}">
                    <a16:rowId xmlns:a16="http://schemas.microsoft.com/office/drawing/2014/main" val="10004"/>
                  </a:ext>
                </a:extLst>
              </a:tr>
              <a:tr h="480371">
                <a:tc>
                  <a:txBody>
                    <a:bodyPr/>
                    <a:lstStyle/>
                    <a:p>
                      <a:r>
                        <a:rPr lang="en-US" sz="1050" b="0" kern="1200" baseline="0" dirty="0">
                          <a:solidFill>
                            <a:schemeClr val="tx1"/>
                          </a:solidFill>
                          <a:latin typeface="Roboto" panose="02000000000000000000" pitchFamily="2" charset="0"/>
                          <a:ea typeface="Roboto" panose="02000000000000000000" pitchFamily="2" charset="0"/>
                          <a:cs typeface="Arial" pitchFamily="34" charset="0"/>
                        </a:rPr>
                        <a:t>Internal Discussions and Reviews of Potential Audit Observations</a:t>
                      </a:r>
                    </a:p>
                  </a:txBody>
                  <a:tcPr anchor="ctr">
                    <a:solidFill>
                      <a:srgbClr val="F2F2F2"/>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7030A0"/>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extLst>
                  <a:ext uri="{0D108BD9-81ED-4DB2-BD59-A6C34878D82A}">
                    <a16:rowId xmlns:a16="http://schemas.microsoft.com/office/drawing/2014/main" val="10005"/>
                  </a:ext>
                </a:extLst>
              </a:tr>
              <a:tr h="293561">
                <a:tc>
                  <a:txBody>
                    <a:bodyPr/>
                    <a:lstStyle/>
                    <a:p>
                      <a:pPr marL="0" marR="0" indent="0" algn="l" defTabSz="371475" rtl="0" eaLnBrk="1" fontAlgn="auto" latinLnBrk="0" hangingPunct="1">
                        <a:lnSpc>
                          <a:spcPct val="100000"/>
                        </a:lnSpc>
                        <a:spcBef>
                          <a:spcPts val="0"/>
                        </a:spcBef>
                        <a:spcAft>
                          <a:spcPts val="0"/>
                        </a:spcAft>
                        <a:buClrTx/>
                        <a:buSzTx/>
                        <a:buFontTx/>
                        <a:buNone/>
                        <a:tabLst/>
                        <a:defRPr/>
                      </a:pPr>
                      <a:r>
                        <a:rPr lang="en-US" sz="1050" b="0" kern="1200" dirty="0">
                          <a:solidFill>
                            <a:schemeClr val="tx1"/>
                          </a:solidFill>
                          <a:latin typeface="Roboto" panose="02000000000000000000" pitchFamily="2" charset="0"/>
                          <a:ea typeface="Roboto" panose="02000000000000000000" pitchFamily="2" charset="0"/>
                          <a:cs typeface="Arial" pitchFamily="34" charset="0"/>
                        </a:rPr>
                        <a:t>Discuss Potential Observations</a:t>
                      </a:r>
                    </a:p>
                  </a:txBody>
                  <a:tcPr anchor="ctr">
                    <a:solidFill>
                      <a:srgbClr val="F2F2F2"/>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113663"/>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extLst>
                  <a:ext uri="{0D108BD9-81ED-4DB2-BD59-A6C34878D82A}">
                    <a16:rowId xmlns:a16="http://schemas.microsoft.com/office/drawing/2014/main" val="10006"/>
                  </a:ext>
                </a:extLst>
              </a:tr>
              <a:tr h="480371">
                <a:tc>
                  <a:txBody>
                    <a:bodyPr/>
                    <a:lstStyle/>
                    <a:p>
                      <a:pPr marL="0" marR="0" indent="0" algn="l" defTabSz="371475" rtl="0" eaLnBrk="1" fontAlgn="auto" latinLnBrk="0" hangingPunct="1">
                        <a:lnSpc>
                          <a:spcPct val="100000"/>
                        </a:lnSpc>
                        <a:spcBef>
                          <a:spcPts val="0"/>
                        </a:spcBef>
                        <a:spcAft>
                          <a:spcPts val="0"/>
                        </a:spcAft>
                        <a:buClrTx/>
                        <a:buSzTx/>
                        <a:buFontTx/>
                        <a:buNone/>
                        <a:tabLst/>
                        <a:defRPr/>
                      </a:pPr>
                      <a:r>
                        <a:rPr lang="en-US" sz="1050" b="0" dirty="0">
                          <a:solidFill>
                            <a:schemeClr val="tx1"/>
                          </a:solidFill>
                          <a:latin typeface="Roboto" panose="02000000000000000000" pitchFamily="2" charset="0"/>
                          <a:ea typeface="Roboto" panose="02000000000000000000" pitchFamily="2" charset="0"/>
                          <a:cs typeface="Arial" pitchFamily="34" charset="0"/>
                        </a:rPr>
                        <a:t>Draft Observations and Recommendations</a:t>
                      </a:r>
                    </a:p>
                  </a:txBody>
                  <a:tcPr anchor="ctr">
                    <a:solidFill>
                      <a:srgbClr val="F2F2F2"/>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FF0066"/>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FF0066"/>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extLst>
                  <a:ext uri="{0D108BD9-81ED-4DB2-BD59-A6C34878D82A}">
                    <a16:rowId xmlns:a16="http://schemas.microsoft.com/office/drawing/2014/main" val="10007"/>
                  </a:ext>
                </a:extLst>
              </a:tr>
              <a:tr h="480371">
                <a:tc>
                  <a:txBody>
                    <a:bodyPr/>
                    <a:lstStyle/>
                    <a:p>
                      <a:pPr marL="0" marR="0" indent="0" algn="l" defTabSz="371475" rtl="0" eaLnBrk="1" fontAlgn="auto" latinLnBrk="0" hangingPunct="1">
                        <a:lnSpc>
                          <a:spcPct val="100000"/>
                        </a:lnSpc>
                        <a:spcBef>
                          <a:spcPts val="0"/>
                        </a:spcBef>
                        <a:spcAft>
                          <a:spcPts val="0"/>
                        </a:spcAft>
                        <a:buClrTx/>
                        <a:buSzTx/>
                        <a:buFontTx/>
                        <a:buNone/>
                        <a:tabLst/>
                        <a:defRPr/>
                      </a:pPr>
                      <a:r>
                        <a:rPr lang="en-US" sz="1050" b="0" kern="1200" dirty="0">
                          <a:solidFill>
                            <a:schemeClr val="tx1"/>
                          </a:solidFill>
                          <a:latin typeface="Roboto" panose="02000000000000000000" pitchFamily="2" charset="0"/>
                          <a:ea typeface="Roboto" panose="02000000000000000000" pitchFamily="2" charset="0"/>
                          <a:cs typeface="Arial" pitchFamily="34" charset="0"/>
                        </a:rPr>
                        <a:t>Submit Draft Audit</a:t>
                      </a:r>
                      <a:r>
                        <a:rPr lang="en-US" sz="1050" b="0" kern="1200" baseline="0" dirty="0">
                          <a:solidFill>
                            <a:schemeClr val="tx1"/>
                          </a:solidFill>
                          <a:latin typeface="Roboto" panose="02000000000000000000" pitchFamily="2" charset="0"/>
                          <a:ea typeface="Roboto" panose="02000000000000000000" pitchFamily="2" charset="0"/>
                          <a:cs typeface="Arial" pitchFamily="34" charset="0"/>
                        </a:rPr>
                        <a:t> Report and Conduct Exit Meetings</a:t>
                      </a:r>
                      <a:endParaRPr lang="en-US" sz="1050" b="0" kern="1200" dirty="0">
                        <a:solidFill>
                          <a:schemeClr val="tx1"/>
                        </a:solidFill>
                        <a:latin typeface="Roboto" panose="02000000000000000000" pitchFamily="2" charset="0"/>
                        <a:ea typeface="Roboto" panose="02000000000000000000" pitchFamily="2" charset="0"/>
                        <a:cs typeface="Arial" pitchFamily="34" charset="0"/>
                      </a:endParaRPr>
                    </a:p>
                  </a:txBody>
                  <a:tcPr anchor="ctr">
                    <a:solidFill>
                      <a:srgbClr val="F2F2F2"/>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92D050"/>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extLst>
                  <a:ext uri="{0D108BD9-81ED-4DB2-BD59-A6C34878D82A}">
                    <a16:rowId xmlns:a16="http://schemas.microsoft.com/office/drawing/2014/main" val="10008"/>
                  </a:ext>
                </a:extLst>
              </a:tr>
              <a:tr h="293561">
                <a:tc>
                  <a:txBody>
                    <a:bodyPr/>
                    <a:lstStyle/>
                    <a:p>
                      <a:r>
                        <a:rPr lang="en-US" sz="1050" b="0" dirty="0">
                          <a:solidFill>
                            <a:schemeClr val="tx1"/>
                          </a:solidFill>
                          <a:latin typeface="Roboto" panose="02000000000000000000" pitchFamily="2" charset="0"/>
                          <a:ea typeface="Roboto" panose="02000000000000000000" pitchFamily="2" charset="0"/>
                          <a:cs typeface="Arial" pitchFamily="34" charset="0"/>
                        </a:rPr>
                        <a:t>Obtain Management</a:t>
                      </a:r>
                      <a:r>
                        <a:rPr lang="en-US" sz="1050" b="0" baseline="0" dirty="0">
                          <a:solidFill>
                            <a:schemeClr val="tx1"/>
                          </a:solidFill>
                          <a:latin typeface="Roboto" panose="02000000000000000000" pitchFamily="2" charset="0"/>
                          <a:ea typeface="Roboto" panose="02000000000000000000" pitchFamily="2" charset="0"/>
                          <a:cs typeface="Arial" pitchFamily="34" charset="0"/>
                        </a:rPr>
                        <a:t> Responses</a:t>
                      </a:r>
                      <a:endParaRPr lang="en-US" sz="1050" b="0" dirty="0">
                        <a:solidFill>
                          <a:schemeClr val="tx1"/>
                        </a:solidFill>
                        <a:latin typeface="Roboto" panose="02000000000000000000" pitchFamily="2" charset="0"/>
                        <a:ea typeface="Roboto" panose="02000000000000000000" pitchFamily="2" charset="0"/>
                        <a:cs typeface="Arial" pitchFamily="34" charset="0"/>
                      </a:endParaRPr>
                    </a:p>
                  </a:txBody>
                  <a:tcPr anchor="ctr">
                    <a:solidFill>
                      <a:srgbClr val="F2F2F2"/>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FFFF00"/>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FFFF00"/>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extLst>
                  <a:ext uri="{0D108BD9-81ED-4DB2-BD59-A6C34878D82A}">
                    <a16:rowId xmlns:a16="http://schemas.microsoft.com/office/drawing/2014/main" val="10009"/>
                  </a:ext>
                </a:extLst>
              </a:tr>
              <a:tr h="293561">
                <a:tc>
                  <a:txBody>
                    <a:bodyPr/>
                    <a:lstStyle/>
                    <a:p>
                      <a:pPr marL="0" marR="0" indent="0" algn="l" defTabSz="371475" rtl="0" eaLnBrk="1" fontAlgn="auto" latinLnBrk="0" hangingPunct="1">
                        <a:lnSpc>
                          <a:spcPct val="100000"/>
                        </a:lnSpc>
                        <a:spcBef>
                          <a:spcPts val="0"/>
                        </a:spcBef>
                        <a:spcAft>
                          <a:spcPts val="0"/>
                        </a:spcAft>
                        <a:buClrTx/>
                        <a:buSzTx/>
                        <a:buFontTx/>
                        <a:buNone/>
                        <a:tabLst/>
                        <a:defRPr/>
                      </a:pPr>
                      <a:r>
                        <a:rPr lang="en-US" sz="1050" b="0" dirty="0">
                          <a:solidFill>
                            <a:schemeClr val="tx1"/>
                          </a:solidFill>
                          <a:latin typeface="Roboto" panose="02000000000000000000" pitchFamily="2" charset="0"/>
                          <a:ea typeface="Roboto" panose="02000000000000000000" pitchFamily="2" charset="0"/>
                          <a:cs typeface="Arial" pitchFamily="34" charset="0"/>
                        </a:rPr>
                        <a:t>Review</a:t>
                      </a:r>
                      <a:r>
                        <a:rPr lang="en-US" sz="1050" b="0" baseline="0" dirty="0">
                          <a:solidFill>
                            <a:schemeClr val="tx1"/>
                          </a:solidFill>
                          <a:latin typeface="Roboto" panose="02000000000000000000" pitchFamily="2" charset="0"/>
                          <a:ea typeface="Roboto" panose="02000000000000000000" pitchFamily="2" charset="0"/>
                          <a:cs typeface="Arial" pitchFamily="34" charset="0"/>
                        </a:rPr>
                        <a:t> Management Responses</a:t>
                      </a:r>
                      <a:endParaRPr lang="en-US" sz="1050" b="0" dirty="0">
                        <a:solidFill>
                          <a:schemeClr val="tx1"/>
                        </a:solidFill>
                        <a:latin typeface="Roboto" panose="02000000000000000000" pitchFamily="2" charset="0"/>
                        <a:ea typeface="Roboto" panose="02000000000000000000" pitchFamily="2" charset="0"/>
                        <a:cs typeface="Arial" pitchFamily="34" charset="0"/>
                      </a:endParaRPr>
                    </a:p>
                  </a:txBody>
                  <a:tcPr anchor="ctr">
                    <a:solidFill>
                      <a:srgbClr val="F2F2F2"/>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00B0F0"/>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extLst>
                  <a:ext uri="{0D108BD9-81ED-4DB2-BD59-A6C34878D82A}">
                    <a16:rowId xmlns:a16="http://schemas.microsoft.com/office/drawing/2014/main" val="10010"/>
                  </a:ext>
                </a:extLst>
              </a:tr>
              <a:tr h="293561">
                <a:tc>
                  <a:txBody>
                    <a:bodyPr/>
                    <a:lstStyle/>
                    <a:p>
                      <a:pPr marL="0" marR="0" indent="0" algn="l" defTabSz="371475" rtl="0" eaLnBrk="1" fontAlgn="auto" latinLnBrk="0" hangingPunct="1">
                        <a:lnSpc>
                          <a:spcPct val="100000"/>
                        </a:lnSpc>
                        <a:spcBef>
                          <a:spcPts val="0"/>
                        </a:spcBef>
                        <a:spcAft>
                          <a:spcPts val="0"/>
                        </a:spcAft>
                        <a:buClrTx/>
                        <a:buSzTx/>
                        <a:buFontTx/>
                        <a:buNone/>
                        <a:tabLst/>
                        <a:defRPr/>
                      </a:pPr>
                      <a:r>
                        <a:rPr lang="en-US" sz="1050" b="0" baseline="0" dirty="0">
                          <a:solidFill>
                            <a:schemeClr val="tx1"/>
                          </a:solidFill>
                          <a:latin typeface="Roboto" panose="02000000000000000000" pitchFamily="2" charset="0"/>
                          <a:ea typeface="Roboto" panose="02000000000000000000" pitchFamily="2" charset="0"/>
                          <a:cs typeface="Arial" pitchFamily="34" charset="0"/>
                        </a:rPr>
                        <a:t>Submit Final Report</a:t>
                      </a:r>
                      <a:endParaRPr lang="en-US" sz="1050" b="0" dirty="0">
                        <a:solidFill>
                          <a:schemeClr val="tx1"/>
                        </a:solidFill>
                        <a:latin typeface="Roboto" panose="02000000000000000000" pitchFamily="2" charset="0"/>
                        <a:ea typeface="Roboto" panose="02000000000000000000" pitchFamily="2" charset="0"/>
                        <a:cs typeface="Arial" pitchFamily="34" charset="0"/>
                      </a:endParaRPr>
                    </a:p>
                  </a:txBody>
                  <a:tcPr anchor="ctr">
                    <a:solidFill>
                      <a:srgbClr val="F2F2F2"/>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FF9999"/>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extLst>
                  <a:ext uri="{0D108BD9-81ED-4DB2-BD59-A6C34878D82A}">
                    <a16:rowId xmlns:a16="http://schemas.microsoft.com/office/drawing/2014/main" val="1638207652"/>
                  </a:ext>
                </a:extLst>
              </a:tr>
              <a:tr h="480371">
                <a:tc>
                  <a:txBody>
                    <a:bodyPr/>
                    <a:lstStyle/>
                    <a:p>
                      <a:pPr marL="0" marR="0" indent="0" algn="l" defTabSz="371475" rtl="0" eaLnBrk="1" fontAlgn="auto" latinLnBrk="0" hangingPunct="1">
                        <a:lnSpc>
                          <a:spcPct val="100000"/>
                        </a:lnSpc>
                        <a:spcBef>
                          <a:spcPts val="0"/>
                        </a:spcBef>
                        <a:spcAft>
                          <a:spcPts val="0"/>
                        </a:spcAft>
                        <a:buClrTx/>
                        <a:buSzTx/>
                        <a:buFontTx/>
                        <a:buNone/>
                        <a:tabLst/>
                        <a:defRPr/>
                      </a:pPr>
                      <a:r>
                        <a:rPr lang="en-US" sz="1050" b="0" dirty="0">
                          <a:solidFill>
                            <a:schemeClr val="tx1"/>
                          </a:solidFill>
                          <a:latin typeface="Roboto" panose="02000000000000000000" pitchFamily="2" charset="0"/>
                          <a:ea typeface="Roboto" panose="02000000000000000000" pitchFamily="2" charset="0"/>
                          <a:cs typeface="Arial" pitchFamily="34" charset="0"/>
                        </a:rPr>
                        <a:t>Present to Management/Board (where applicable)</a:t>
                      </a:r>
                    </a:p>
                  </a:txBody>
                  <a:tcPr anchor="ctr">
                    <a:solidFill>
                      <a:srgbClr val="F2F2F2"/>
                    </a:solid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noFill/>
                  </a:tcPr>
                </a:tc>
                <a:tc>
                  <a:txBody>
                    <a:bodyPr/>
                    <a:lstStyle/>
                    <a:p>
                      <a:endParaRPr lang="en-US" sz="900" dirty="0">
                        <a:latin typeface="Roboto" panose="02000000000000000000" pitchFamily="2" charset="0"/>
                        <a:ea typeface="Roboto" panose="02000000000000000000" pitchFamily="2" charset="0"/>
                        <a:cs typeface="Arial" pitchFamily="34" charset="0"/>
                      </a:endParaRPr>
                    </a:p>
                  </a:txBody>
                  <a:tcPr marL="74295" marR="74295" marT="37148" marB="37148">
                    <a:solidFill>
                      <a:srgbClr val="C00000"/>
                    </a:solidFill>
                  </a:tcPr>
                </a:tc>
                <a:extLst>
                  <a:ext uri="{0D108BD9-81ED-4DB2-BD59-A6C34878D82A}">
                    <a16:rowId xmlns:a16="http://schemas.microsoft.com/office/drawing/2014/main" val="2369455118"/>
                  </a:ext>
                </a:extLst>
              </a:tr>
            </a:tbl>
          </a:graphicData>
        </a:graphic>
      </p:graphicFrame>
    </p:spTree>
    <p:extLst>
      <p:ext uri="{BB962C8B-B14F-4D97-AF65-F5344CB8AC3E}">
        <p14:creationId xmlns:p14="http://schemas.microsoft.com/office/powerpoint/2010/main" val="4008664760"/>
      </p:ext>
    </p:extLst>
  </p:cSld>
  <p:clrMapOvr>
    <a:masterClrMapping/>
  </p:clrMapOvr>
  <p:transition spd="slow">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7157BD-6843-E674-9696-E8674CC5FBDD}"/>
              </a:ext>
            </a:extLst>
          </p:cNvPr>
          <p:cNvGrpSpPr/>
          <p:nvPr/>
        </p:nvGrpSpPr>
        <p:grpSpPr>
          <a:xfrm>
            <a:off x="650415" y="1372015"/>
            <a:ext cx="4858288" cy="4858288"/>
            <a:chOff x="3415423" y="748423"/>
            <a:chExt cx="5361153" cy="5361153"/>
          </a:xfrm>
        </p:grpSpPr>
        <p:sp>
          <p:nvSpPr>
            <p:cNvPr id="5" name="Oval 4">
              <a:extLst>
                <a:ext uri="{FF2B5EF4-FFF2-40B4-BE49-F238E27FC236}">
                  <a16:creationId xmlns:a16="http://schemas.microsoft.com/office/drawing/2014/main" id="{3F0D58C7-F113-0B5F-AB34-8ACAA72E3C3F}"/>
                </a:ext>
              </a:extLst>
            </p:cNvPr>
            <p:cNvSpPr/>
            <p:nvPr/>
          </p:nvSpPr>
          <p:spPr>
            <a:xfrm>
              <a:off x="3415423" y="748423"/>
              <a:ext cx="5361153" cy="5361153"/>
            </a:xfrm>
            <a:prstGeom prst="ellipse">
              <a:avLst/>
            </a:prstGeom>
            <a:blipFill>
              <a:blip r:embed="rId2"/>
              <a:stretch>
                <a:fillRect l="1042" r="-104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6" name="Group 5">
              <a:extLst>
                <a:ext uri="{FF2B5EF4-FFF2-40B4-BE49-F238E27FC236}">
                  <a16:creationId xmlns:a16="http://schemas.microsoft.com/office/drawing/2014/main" id="{B8A568BB-B5DE-B9F3-B0A7-2EA033F8255A}"/>
                </a:ext>
              </a:extLst>
            </p:cNvPr>
            <p:cNvGrpSpPr/>
            <p:nvPr/>
          </p:nvGrpSpPr>
          <p:grpSpPr>
            <a:xfrm>
              <a:off x="3595551" y="890338"/>
              <a:ext cx="5091249" cy="5078723"/>
              <a:chOff x="3595551" y="890338"/>
              <a:chExt cx="5091249" cy="5078723"/>
            </a:xfrm>
          </p:grpSpPr>
          <p:sp>
            <p:nvSpPr>
              <p:cNvPr id="7" name="Oval 6">
                <a:extLst>
                  <a:ext uri="{FF2B5EF4-FFF2-40B4-BE49-F238E27FC236}">
                    <a16:creationId xmlns:a16="http://schemas.microsoft.com/office/drawing/2014/main" id="{97018C85-1181-28FF-CB27-EE1680996151}"/>
                  </a:ext>
                </a:extLst>
              </p:cNvPr>
              <p:cNvSpPr/>
              <p:nvPr/>
            </p:nvSpPr>
            <p:spPr>
              <a:xfrm>
                <a:off x="3608076" y="890338"/>
                <a:ext cx="5078724" cy="5078723"/>
              </a:xfrm>
              <a:prstGeom prst="ellipse">
                <a:avLst/>
              </a:prstGeom>
              <a:solidFill>
                <a:srgbClr val="CC0000">
                  <a:alpha val="58000"/>
                </a:srgb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Title 4">
                <a:extLst>
                  <a:ext uri="{FF2B5EF4-FFF2-40B4-BE49-F238E27FC236}">
                    <a16:creationId xmlns:a16="http://schemas.microsoft.com/office/drawing/2014/main" id="{97C6FD05-3DCD-0FFF-CED8-677EEF19662A}"/>
                  </a:ext>
                </a:extLst>
              </p:cNvPr>
              <p:cNvSpPr txBox="1">
                <a:spLocks/>
              </p:cNvSpPr>
              <p:nvPr/>
            </p:nvSpPr>
            <p:spPr>
              <a:xfrm>
                <a:off x="3595551" y="2821302"/>
                <a:ext cx="5078723" cy="1325563"/>
              </a:xfrm>
              <a:prstGeom prst="rect">
                <a:avLst/>
              </a:prstGeom>
            </p:spPr>
            <p:txBody>
              <a:bodyPr anchor="ctr" anchorCtr="1">
                <a:noAutofit/>
              </a:bodyPr>
              <a:lstStyle>
                <a:lvl1pPr algn="l" defTabSz="914377" rtl="0" eaLnBrk="1" latinLnBrk="0" hangingPunct="1">
                  <a:lnSpc>
                    <a:spcPct val="90000"/>
                  </a:lnSpc>
                  <a:spcBef>
                    <a:spcPct val="0"/>
                  </a:spcBef>
                  <a:buNone/>
                  <a:defRPr sz="4000" b="1" kern="1200">
                    <a:solidFill>
                      <a:schemeClr val="tx1"/>
                    </a:solidFill>
                    <a:latin typeface="Roboto" panose="02000000000000000000" pitchFamily="2" charset="0"/>
                    <a:ea typeface="Roboto" panose="02000000000000000000" pitchFamily="2" charset="0"/>
                    <a:cs typeface="+mj-cs"/>
                  </a:defRPr>
                </a:lvl1pPr>
              </a:lstStyle>
              <a:p>
                <a:pPr algn="ctr"/>
                <a:r>
                  <a:rPr lang="en-US" sz="4400" dirty="0">
                    <a:solidFill>
                      <a:schemeClr val="bg1"/>
                    </a:solidFill>
                  </a:rPr>
                  <a:t>Professional Fees</a:t>
                </a:r>
              </a:p>
            </p:txBody>
          </p:sp>
        </p:grpSp>
      </p:grpSp>
    </p:spTree>
    <p:extLst>
      <p:ext uri="{BB962C8B-B14F-4D97-AF65-F5344CB8AC3E}">
        <p14:creationId xmlns:p14="http://schemas.microsoft.com/office/powerpoint/2010/main" val="26287292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9" dirty="0"/>
          </a:p>
        </p:txBody>
      </p:sp>
      <p:sp>
        <p:nvSpPr>
          <p:cNvPr id="2" name="Google Shape;190;p2">
            <a:extLst>
              <a:ext uri="{FF2B5EF4-FFF2-40B4-BE49-F238E27FC236}">
                <a16:creationId xmlns:a16="http://schemas.microsoft.com/office/drawing/2014/main" id="{3B02D254-5A93-E566-1342-1AD88247D30B}"/>
              </a:ext>
            </a:extLst>
          </p:cNvPr>
          <p:cNvSpPr txBox="1"/>
          <p:nvPr/>
        </p:nvSpPr>
        <p:spPr>
          <a:xfrm>
            <a:off x="605955" y="186112"/>
            <a:ext cx="11348566" cy="520851"/>
          </a:xfrm>
          <a:prstGeom prst="rect">
            <a:avLst/>
          </a:prstGeom>
          <a:noFill/>
          <a:ln>
            <a:noFill/>
          </a:ln>
        </p:spPr>
        <p:txBody>
          <a:bodyPr spcFirstLastPara="1" wrap="square" lIns="89116" tIns="44547" rIns="89116" bIns="44547" anchor="t" anchorCtr="0">
            <a:spAutoFit/>
          </a:bodyPr>
          <a:lstStyle/>
          <a:p>
            <a:pPr defTabSz="891317">
              <a:buClr>
                <a:srgbClr val="000000"/>
              </a:buClr>
              <a:defRPr/>
            </a:pPr>
            <a:r>
              <a:rPr lang="en-US" sz="2700" b="1" kern="0" dirty="0">
                <a:solidFill>
                  <a:schemeClr val="tx1">
                    <a:lumMod val="75000"/>
                    <a:lumOff val="25000"/>
                  </a:schemeClr>
                </a:solidFill>
                <a:highlight>
                  <a:srgbClr val="FFFF00"/>
                </a:highlight>
                <a:latin typeface="Roboto" panose="02000000000000000000" pitchFamily="2" charset="0"/>
                <a:ea typeface="Roboto" panose="02000000000000000000" pitchFamily="2" charset="0"/>
                <a:cs typeface="Roboto"/>
                <a:sym typeface="Roboto"/>
              </a:rPr>
              <a:t>Professional Fees</a:t>
            </a:r>
          </a:p>
        </p:txBody>
      </p:sp>
      <p:sp>
        <p:nvSpPr>
          <p:cNvPr id="5" name="Content Placeholder 2">
            <a:extLst>
              <a:ext uri="{FF2B5EF4-FFF2-40B4-BE49-F238E27FC236}">
                <a16:creationId xmlns:a16="http://schemas.microsoft.com/office/drawing/2014/main" id="{1B2168B4-7748-934C-91E4-3D8A22B9EADB}"/>
              </a:ext>
            </a:extLst>
          </p:cNvPr>
          <p:cNvSpPr txBox="1">
            <a:spLocks/>
          </p:cNvSpPr>
          <p:nvPr/>
        </p:nvSpPr>
        <p:spPr bwMode="auto">
          <a:xfrm>
            <a:off x="605955" y="1076121"/>
            <a:ext cx="10704694" cy="344640"/>
          </a:xfrm>
          <a:prstGeom prst="rect">
            <a:avLst/>
          </a:prstGeom>
          <a:noFill/>
          <a:ln w="9525">
            <a:noFill/>
            <a:miter lim="800000"/>
            <a:headEnd/>
            <a:tailEnd/>
          </a:ln>
        </p:spPr>
        <p:txBody>
          <a:bodyPr/>
          <a:lstStyle/>
          <a:p>
            <a:pPr marL="0" marR="0" lvl="0" indent="0" algn="just" defTabSz="457200" rtl="0" eaLnBrk="1" fontAlgn="auto" latinLnBrk="0" hangingPunct="1">
              <a:lnSpc>
                <a:spcPct val="100000"/>
              </a:lnSpc>
              <a:spcBef>
                <a:spcPts val="325"/>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The proposed fee in Singapore dollars for our professional services is set out below:</a:t>
            </a:r>
          </a:p>
        </p:txBody>
      </p:sp>
      <p:sp>
        <p:nvSpPr>
          <p:cNvPr id="47" name="Content Placeholder 2">
            <a:extLst>
              <a:ext uri="{FF2B5EF4-FFF2-40B4-BE49-F238E27FC236}">
                <a16:creationId xmlns:a16="http://schemas.microsoft.com/office/drawing/2014/main" id="{3381ABDA-8C5E-7702-EE51-8B8EDA94B24B}"/>
              </a:ext>
            </a:extLst>
          </p:cNvPr>
          <p:cNvSpPr txBox="1">
            <a:spLocks/>
          </p:cNvSpPr>
          <p:nvPr/>
        </p:nvSpPr>
        <p:spPr bwMode="auto">
          <a:xfrm>
            <a:off x="605955" y="4792465"/>
            <a:ext cx="10848776" cy="1510905"/>
          </a:xfrm>
          <a:prstGeom prst="rect">
            <a:avLst/>
          </a:prstGeom>
          <a:noFill/>
          <a:ln w="9525">
            <a:noFill/>
            <a:miter lim="800000"/>
            <a:headEnd/>
            <a:tailEnd/>
          </a:ln>
        </p:spPr>
        <p:txBody>
          <a:bodyPr/>
          <a:lstStyle/>
          <a:p>
            <a:pPr algn="just">
              <a:spcBef>
                <a:spcPts val="324"/>
              </a:spcBef>
              <a:defRPr/>
            </a:pPr>
            <a:r>
              <a:rPr lang="en-US" sz="1400" u="sng" dirty="0">
                <a:solidFill>
                  <a:prstClr val="black"/>
                </a:solidFill>
                <a:latin typeface="Roboto" panose="02000000000000000000" pitchFamily="2" charset="0"/>
                <a:ea typeface="Roboto" panose="02000000000000000000" pitchFamily="2" charset="0"/>
              </a:rPr>
              <a:t>Notes</a:t>
            </a:r>
          </a:p>
          <a:p>
            <a:pPr marL="228600" indent="-228600" algn="just">
              <a:spcBef>
                <a:spcPts val="324"/>
              </a:spcBef>
              <a:buFontTx/>
              <a:buAutoNum type="arabicPeriod"/>
              <a:defRPr/>
            </a:pPr>
            <a:r>
              <a:rPr lang="en-US" sz="1400" dirty="0">
                <a:solidFill>
                  <a:prstClr val="black"/>
                </a:solidFill>
                <a:latin typeface="Roboto" panose="02000000000000000000" pitchFamily="2" charset="0"/>
                <a:ea typeface="Roboto" panose="02000000000000000000" pitchFamily="2" charset="0"/>
              </a:rPr>
              <a:t>Our proposed fee </a:t>
            </a:r>
            <a:r>
              <a:rPr lang="en-US" sz="1400" b="1" dirty="0">
                <a:solidFill>
                  <a:prstClr val="black"/>
                </a:solidFill>
                <a:latin typeface="Roboto" panose="02000000000000000000" pitchFamily="2" charset="0"/>
                <a:ea typeface="Roboto" panose="02000000000000000000" pitchFamily="2" charset="0"/>
              </a:rPr>
              <a:t>excludes</a:t>
            </a:r>
            <a:r>
              <a:rPr lang="en-US" sz="1400" dirty="0">
                <a:solidFill>
                  <a:prstClr val="black"/>
                </a:solidFill>
                <a:latin typeface="Roboto" panose="02000000000000000000" pitchFamily="2" charset="0"/>
                <a:ea typeface="Roboto" panose="02000000000000000000" pitchFamily="2" charset="0"/>
              </a:rPr>
              <a:t> goods and services tax (GST) and reasonable out-of-pocket expenses which will be billed as incurred.</a:t>
            </a:r>
          </a:p>
          <a:p>
            <a:pPr marL="228600" indent="-228600" algn="just">
              <a:spcBef>
                <a:spcPts val="324"/>
              </a:spcBef>
              <a:buFontTx/>
              <a:buAutoNum type="arabicPeriod"/>
              <a:defRPr/>
            </a:pPr>
            <a:r>
              <a:rPr lang="en-US" sz="1400" dirty="0">
                <a:solidFill>
                  <a:prstClr val="black"/>
                </a:solidFill>
                <a:latin typeface="Roboto" panose="02000000000000000000" pitchFamily="2" charset="0"/>
                <a:ea typeface="Roboto" panose="02000000000000000000" pitchFamily="2" charset="0"/>
              </a:rPr>
              <a:t>The Internal Audit Services will be engaged on a year-on-year renewal.</a:t>
            </a:r>
          </a:p>
          <a:p>
            <a:pPr marL="228600" indent="-228600" algn="just">
              <a:spcBef>
                <a:spcPts val="324"/>
              </a:spcBef>
              <a:buFontTx/>
              <a:buAutoNum type="arabicPeriod"/>
              <a:defRPr/>
            </a:pPr>
            <a:r>
              <a:rPr lang="en-US" sz="1400" dirty="0">
                <a:latin typeface="Roboto" panose="02000000000000000000" pitchFamily="2" charset="0"/>
                <a:ea typeface="Roboto" panose="02000000000000000000" pitchFamily="2" charset="0"/>
              </a:rPr>
              <a:t>Fees will be payable 30 days upon issuance of invoice by In.Corp. In.Corp shall issue invoices for the Services as follows:</a:t>
            </a:r>
            <a:endParaRPr lang="en-SG" sz="1400" dirty="0">
              <a:latin typeface="Roboto" panose="02000000000000000000" pitchFamily="2" charset="0"/>
              <a:ea typeface="Roboto" panose="02000000000000000000" pitchFamily="2" charset="0"/>
            </a:endParaRPr>
          </a:p>
          <a:p>
            <a:pPr marL="403225" indent="-174625" algn="just">
              <a:buFont typeface="Wingdings" panose="05000000000000000000" pitchFamily="2" charset="2"/>
              <a:buChar char="§"/>
            </a:pPr>
            <a:r>
              <a:rPr lang="en-US" sz="1400" dirty="0">
                <a:latin typeface="Roboto" panose="02000000000000000000" pitchFamily="2" charset="0"/>
                <a:ea typeface="Roboto" panose="02000000000000000000" pitchFamily="2" charset="0"/>
              </a:rPr>
              <a:t>30% of the fees upon commencement of fieldwork, 50% of the fees upon issuance of the draft report; and</a:t>
            </a:r>
            <a:endParaRPr lang="en-SG" sz="1400" dirty="0">
              <a:latin typeface="Roboto" panose="02000000000000000000" pitchFamily="2" charset="0"/>
              <a:ea typeface="Roboto" panose="02000000000000000000" pitchFamily="2" charset="0"/>
            </a:endParaRPr>
          </a:p>
          <a:p>
            <a:pPr marL="403225" indent="-174625" algn="just">
              <a:buFont typeface="Wingdings" panose="05000000000000000000" pitchFamily="2" charset="2"/>
              <a:buChar char="§"/>
            </a:pPr>
            <a:r>
              <a:rPr lang="en-US" sz="1400" dirty="0">
                <a:latin typeface="Roboto" panose="02000000000000000000" pitchFamily="2" charset="0"/>
                <a:ea typeface="Roboto" panose="02000000000000000000" pitchFamily="2" charset="0"/>
              </a:rPr>
              <a:t>Balance upon issuance of the final report or one month after issuance of the draft report, whichever is earlier.</a:t>
            </a:r>
          </a:p>
        </p:txBody>
      </p:sp>
      <p:graphicFrame>
        <p:nvGraphicFramePr>
          <p:cNvPr id="7" name="Table 6">
            <a:extLst>
              <a:ext uri="{FF2B5EF4-FFF2-40B4-BE49-F238E27FC236}">
                <a16:creationId xmlns:a16="http://schemas.microsoft.com/office/drawing/2014/main" id="{C8AAD90B-4D27-CACF-5108-1DA3BFB4A304}"/>
              </a:ext>
            </a:extLst>
          </p:cNvPr>
          <p:cNvGraphicFramePr>
            <a:graphicFrameLocks noGrp="1"/>
          </p:cNvGraphicFramePr>
          <p:nvPr>
            <p:extLst>
              <p:ext uri="{D42A27DB-BD31-4B8C-83A1-F6EECF244321}">
                <p14:modId xmlns:p14="http://schemas.microsoft.com/office/powerpoint/2010/main" val="2600355691"/>
              </p:ext>
            </p:extLst>
          </p:nvPr>
        </p:nvGraphicFramePr>
        <p:xfrm>
          <a:off x="707704" y="1660587"/>
          <a:ext cx="11003226" cy="2735142"/>
        </p:xfrm>
        <a:graphic>
          <a:graphicData uri="http://schemas.openxmlformats.org/drawingml/2006/table">
            <a:tbl>
              <a:tblPr firstRow="1" firstCol="1" bandRow="1">
                <a:tableStyleId>{5940675A-B579-460E-94D1-54222C63F5DA}</a:tableStyleId>
              </a:tblPr>
              <a:tblGrid>
                <a:gridCol w="1954537">
                  <a:extLst>
                    <a:ext uri="{9D8B030D-6E8A-4147-A177-3AD203B41FA5}">
                      <a16:colId xmlns:a16="http://schemas.microsoft.com/office/drawing/2014/main" val="3737663088"/>
                    </a:ext>
                  </a:extLst>
                </a:gridCol>
                <a:gridCol w="7223417">
                  <a:extLst>
                    <a:ext uri="{9D8B030D-6E8A-4147-A177-3AD203B41FA5}">
                      <a16:colId xmlns:a16="http://schemas.microsoft.com/office/drawing/2014/main" val="1741740722"/>
                    </a:ext>
                  </a:extLst>
                </a:gridCol>
                <a:gridCol w="1825272">
                  <a:extLst>
                    <a:ext uri="{9D8B030D-6E8A-4147-A177-3AD203B41FA5}">
                      <a16:colId xmlns:a16="http://schemas.microsoft.com/office/drawing/2014/main" val="3470756358"/>
                    </a:ext>
                  </a:extLst>
                </a:gridCol>
              </a:tblGrid>
              <a:tr h="559419">
                <a:tc>
                  <a:txBody>
                    <a:bodyPr/>
                    <a:lstStyle/>
                    <a:p>
                      <a:pPr algn="ctr">
                        <a:buNone/>
                      </a:pPr>
                      <a:r>
                        <a:rPr lang="en-US" sz="1400" b="1" dirty="0">
                          <a:solidFill>
                            <a:schemeClr val="bg1"/>
                          </a:solidFill>
                          <a:effectLst/>
                          <a:latin typeface="Roboto" panose="02000000000000000000" pitchFamily="2" charset="0"/>
                          <a:ea typeface="Roboto" panose="02000000000000000000" pitchFamily="2" charset="0"/>
                          <a:cs typeface="Roboto" panose="02000000000000000000" pitchFamily="2" charset="0"/>
                        </a:rPr>
                        <a:t>Year</a:t>
                      </a:r>
                      <a:endParaRPr lang="en-SG" sz="2000" b="1"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solidFill>
                      <a:schemeClr val="tx2"/>
                    </a:solidFill>
                  </a:tcPr>
                </a:tc>
                <a:tc>
                  <a:txBody>
                    <a:bodyPr/>
                    <a:lstStyle/>
                    <a:p>
                      <a:pPr algn="ctr">
                        <a:buNone/>
                      </a:pPr>
                      <a:r>
                        <a:rPr lang="en-US" sz="1400" b="1" dirty="0">
                          <a:solidFill>
                            <a:schemeClr val="bg1"/>
                          </a:solidFill>
                          <a:effectLst/>
                          <a:latin typeface="Roboto" panose="02000000000000000000" pitchFamily="2" charset="0"/>
                          <a:ea typeface="Roboto" panose="02000000000000000000" pitchFamily="2" charset="0"/>
                          <a:cs typeface="Roboto" panose="02000000000000000000" pitchFamily="2" charset="0"/>
                        </a:rPr>
                        <a:t>Description</a:t>
                      </a:r>
                      <a:endParaRPr lang="en-SG" sz="2000" b="1"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solidFill>
                      <a:schemeClr val="tx2"/>
                    </a:solidFill>
                  </a:tcPr>
                </a:tc>
                <a:tc>
                  <a:txBody>
                    <a:bodyPr/>
                    <a:lstStyle/>
                    <a:p>
                      <a:pPr algn="ctr">
                        <a:buNone/>
                      </a:pPr>
                      <a:r>
                        <a:rPr lang="en-US" sz="1400" b="1" dirty="0">
                          <a:solidFill>
                            <a:schemeClr val="bg1"/>
                          </a:solidFill>
                          <a:effectLst/>
                          <a:latin typeface="Roboto" panose="02000000000000000000" pitchFamily="2" charset="0"/>
                          <a:ea typeface="Roboto" panose="02000000000000000000" pitchFamily="2" charset="0"/>
                          <a:cs typeface="Roboto" panose="02000000000000000000" pitchFamily="2" charset="0"/>
                        </a:rPr>
                        <a:t>Professional Fees</a:t>
                      </a:r>
                      <a:endParaRPr lang="en-SG" sz="2000" b="1"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p>
                      <a:pPr algn="ctr">
                        <a:buNone/>
                      </a:pPr>
                      <a:r>
                        <a:rPr lang="en-US" sz="1400" b="1" dirty="0">
                          <a:solidFill>
                            <a:schemeClr val="bg1"/>
                          </a:solidFill>
                          <a:effectLst/>
                          <a:latin typeface="Roboto" panose="02000000000000000000" pitchFamily="2" charset="0"/>
                          <a:ea typeface="Roboto" panose="02000000000000000000" pitchFamily="2" charset="0"/>
                          <a:cs typeface="Roboto" panose="02000000000000000000" pitchFamily="2" charset="0"/>
                        </a:rPr>
                        <a:t>(S$)</a:t>
                      </a:r>
                      <a:endParaRPr lang="en-SG" sz="2000" b="1"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solidFill>
                      <a:schemeClr val="tx2"/>
                    </a:solidFill>
                  </a:tcPr>
                </a:tc>
                <a:extLst>
                  <a:ext uri="{0D108BD9-81ED-4DB2-BD59-A6C34878D82A}">
                    <a16:rowId xmlns:a16="http://schemas.microsoft.com/office/drawing/2014/main" val="4031170724"/>
                  </a:ext>
                </a:extLst>
              </a:tr>
              <a:tr h="498079">
                <a:tc>
                  <a:txBody>
                    <a:bodyPr/>
                    <a:lstStyle/>
                    <a:p>
                      <a:pPr algn="ctr">
                        <a:buNone/>
                      </a:pPr>
                      <a:r>
                        <a:rPr lang="en-US" sz="1400" dirty="0">
                          <a:effectLst/>
                          <a:latin typeface="Roboto" panose="02000000000000000000" pitchFamily="2" charset="0"/>
                          <a:ea typeface="Roboto" panose="02000000000000000000" pitchFamily="2" charset="0"/>
                          <a:cs typeface="Roboto" panose="02000000000000000000" pitchFamily="2" charset="0"/>
                        </a:rPr>
                        <a:t>Year 1 (2026)</a:t>
                      </a:r>
                      <a:endParaRPr lang="en-SG" sz="20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tc>
                <a:tc>
                  <a:txBody>
                    <a:bodyPr/>
                    <a:lstStyle/>
                    <a:p>
                      <a:pPr marL="342900" lvl="0" indent="-342900" algn="just">
                        <a:buFont typeface="Wingdings" panose="05000000000000000000" pitchFamily="2" charset="2"/>
                        <a:buChar char=""/>
                      </a:pPr>
                      <a:r>
                        <a:rPr lang="en-US" sz="1400" dirty="0">
                          <a:effectLst/>
                          <a:latin typeface="Roboto" panose="02000000000000000000" pitchFamily="2" charset="0"/>
                          <a:ea typeface="Roboto" panose="02000000000000000000" pitchFamily="2" charset="0"/>
                          <a:cs typeface="Roboto" panose="02000000000000000000" pitchFamily="2" charset="0"/>
                        </a:rPr>
                        <a:t>Provision of Internal Audit Services for ABC (3 audit areas)</a:t>
                      </a:r>
                      <a:endParaRPr lang="en-SG" sz="20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tc>
                <a:tc>
                  <a:txBody>
                    <a:bodyPr/>
                    <a:lstStyle/>
                    <a:p>
                      <a:pPr algn="ctr">
                        <a:buNone/>
                      </a:pPr>
                      <a:endParaRPr lang="en-SG" sz="20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tc>
                <a:extLst>
                  <a:ext uri="{0D108BD9-81ED-4DB2-BD59-A6C34878D82A}">
                    <a16:rowId xmlns:a16="http://schemas.microsoft.com/office/drawing/2014/main" val="1770735540"/>
                  </a:ext>
                </a:extLst>
              </a:tr>
              <a:tr h="443487">
                <a:tc rowSpan="2">
                  <a:txBody>
                    <a:bodyPr/>
                    <a:lstStyle/>
                    <a:p>
                      <a:pPr algn="ctr">
                        <a:buNone/>
                      </a:pPr>
                      <a:r>
                        <a:rPr lang="en-US" sz="1400" dirty="0">
                          <a:effectLst/>
                          <a:latin typeface="Roboto" panose="02000000000000000000" pitchFamily="2" charset="0"/>
                          <a:ea typeface="Roboto" panose="02000000000000000000" pitchFamily="2" charset="0"/>
                          <a:cs typeface="Roboto" panose="02000000000000000000" pitchFamily="2" charset="0"/>
                        </a:rPr>
                        <a:t>Year 2 (2027)</a:t>
                      </a:r>
                      <a:endParaRPr lang="en-SG" sz="20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tc>
                <a:tc>
                  <a:txBody>
                    <a:bodyPr/>
                    <a:lstStyle/>
                    <a:p>
                      <a:pPr marL="342900" lvl="0" indent="-342900" algn="just">
                        <a:buFont typeface="Wingdings" panose="05000000000000000000" pitchFamily="2" charset="2"/>
                        <a:buChar char=""/>
                      </a:pPr>
                      <a:r>
                        <a:rPr lang="en-US" sz="1400" dirty="0">
                          <a:effectLst/>
                          <a:latin typeface="Roboto" panose="02000000000000000000" pitchFamily="2" charset="0"/>
                          <a:ea typeface="Roboto" panose="02000000000000000000" pitchFamily="2" charset="0"/>
                          <a:cs typeface="Roboto" panose="02000000000000000000" pitchFamily="2" charset="0"/>
                        </a:rPr>
                        <a:t>Provision of Internal Audit Services for ABC (3 audit areas)</a:t>
                      </a:r>
                      <a:endParaRPr lang="en-SG" sz="20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tc>
                <a:tc>
                  <a:txBody>
                    <a:bodyPr/>
                    <a:lstStyle/>
                    <a:p>
                      <a:pPr algn="ctr">
                        <a:buNone/>
                      </a:pPr>
                      <a:endParaRPr lang="en-SG" sz="20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tc>
                <a:extLst>
                  <a:ext uri="{0D108BD9-81ED-4DB2-BD59-A6C34878D82A}">
                    <a16:rowId xmlns:a16="http://schemas.microsoft.com/office/drawing/2014/main" val="4265813975"/>
                  </a:ext>
                </a:extLst>
              </a:tr>
              <a:tr h="736078">
                <a:tc vMerge="1">
                  <a:txBody>
                    <a:bodyPr/>
                    <a:lstStyle/>
                    <a:p>
                      <a:endParaRPr lang="en-SG"/>
                    </a:p>
                  </a:txBody>
                  <a:tcPr/>
                </a:tc>
                <a:tc>
                  <a:txBody>
                    <a:bodyPr/>
                    <a:lstStyle/>
                    <a:p>
                      <a:pPr marL="342900" lvl="0" indent="-342900" algn="just">
                        <a:buFont typeface="Wingdings" panose="05000000000000000000" pitchFamily="2" charset="2"/>
                        <a:buChar char=""/>
                      </a:pPr>
                      <a:r>
                        <a:rPr lang="en-US" sz="1400" dirty="0">
                          <a:effectLst/>
                          <a:latin typeface="Roboto" panose="02000000000000000000" pitchFamily="2" charset="0"/>
                          <a:ea typeface="Roboto" panose="02000000000000000000" pitchFamily="2" charset="0"/>
                          <a:cs typeface="Roboto" panose="02000000000000000000" pitchFamily="2" charset="0"/>
                        </a:rPr>
                        <a:t>Review existing risks and update Risk Registers and ERM Policy Manual for ABC</a:t>
                      </a:r>
                      <a:endParaRPr lang="en-SG" sz="20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tc>
                <a:tc>
                  <a:txBody>
                    <a:bodyPr/>
                    <a:lstStyle/>
                    <a:p>
                      <a:pPr algn="ctr">
                        <a:buNone/>
                      </a:pPr>
                      <a:endParaRPr lang="en-SG" sz="20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tc>
                <a:extLst>
                  <a:ext uri="{0D108BD9-81ED-4DB2-BD59-A6C34878D82A}">
                    <a16:rowId xmlns:a16="http://schemas.microsoft.com/office/drawing/2014/main" val="3986825296"/>
                  </a:ext>
                </a:extLst>
              </a:tr>
              <a:tr h="498079">
                <a:tc>
                  <a:txBody>
                    <a:bodyPr/>
                    <a:lstStyle/>
                    <a:p>
                      <a:pPr algn="ctr">
                        <a:buNone/>
                      </a:pPr>
                      <a:r>
                        <a:rPr lang="en-US" sz="1400" dirty="0">
                          <a:effectLst/>
                          <a:latin typeface="Roboto" panose="02000000000000000000" pitchFamily="2" charset="0"/>
                          <a:ea typeface="Roboto" panose="02000000000000000000" pitchFamily="2" charset="0"/>
                          <a:cs typeface="Roboto" panose="02000000000000000000" pitchFamily="2" charset="0"/>
                        </a:rPr>
                        <a:t>Year 3 (2028)</a:t>
                      </a:r>
                      <a:endParaRPr lang="en-SG" sz="20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tc>
                <a:tc>
                  <a:txBody>
                    <a:bodyPr/>
                    <a:lstStyle/>
                    <a:p>
                      <a:pPr marL="342900" lvl="0" indent="-342900" algn="just">
                        <a:buFont typeface="Wingdings" panose="05000000000000000000" pitchFamily="2" charset="2"/>
                        <a:buChar char=""/>
                      </a:pPr>
                      <a:r>
                        <a:rPr lang="en-US" sz="1400" dirty="0">
                          <a:effectLst/>
                          <a:latin typeface="Roboto" panose="02000000000000000000" pitchFamily="2" charset="0"/>
                          <a:ea typeface="Roboto" panose="02000000000000000000" pitchFamily="2" charset="0"/>
                          <a:cs typeface="Roboto" panose="02000000000000000000" pitchFamily="2" charset="0"/>
                        </a:rPr>
                        <a:t>Provision of Internal Audit Services for ABC (3 audit areas)</a:t>
                      </a:r>
                      <a:endParaRPr lang="en-SG" sz="20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tc>
                <a:tc>
                  <a:txBody>
                    <a:bodyPr/>
                    <a:lstStyle/>
                    <a:p>
                      <a:pPr algn="ctr">
                        <a:buNone/>
                      </a:pPr>
                      <a:endParaRPr lang="en-SG" sz="2000" dirty="0">
                        <a:effectLst/>
                        <a:latin typeface="Roboto" panose="02000000000000000000" pitchFamily="2" charset="0"/>
                        <a:ea typeface="Roboto" panose="02000000000000000000" pitchFamily="2" charset="0"/>
                        <a:cs typeface="Roboto" panose="02000000000000000000" pitchFamily="2" charset="0"/>
                      </a:endParaRPr>
                    </a:p>
                  </a:txBody>
                  <a:tcPr marL="68580" marR="68580" marT="0" marB="0" anchor="ctr"/>
                </a:tc>
                <a:extLst>
                  <a:ext uri="{0D108BD9-81ED-4DB2-BD59-A6C34878D82A}">
                    <a16:rowId xmlns:a16="http://schemas.microsoft.com/office/drawing/2014/main" val="3181190828"/>
                  </a:ext>
                </a:extLst>
              </a:tr>
            </a:tbl>
          </a:graphicData>
        </a:graphic>
      </p:graphicFrame>
    </p:spTree>
    <p:extLst>
      <p:ext uri="{BB962C8B-B14F-4D97-AF65-F5344CB8AC3E}">
        <p14:creationId xmlns:p14="http://schemas.microsoft.com/office/powerpoint/2010/main" val="2225280541"/>
      </p:ext>
    </p:extLst>
  </p:cSld>
  <p:clrMapOvr>
    <a:masterClrMapping/>
  </p:clrMapOvr>
  <p:transition spd="slow">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60309-CB3A-993F-E5ED-A84462311548}"/>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D8DA14C-F65D-04A7-206F-B3F5E15BD324}"/>
              </a:ext>
            </a:extLst>
          </p:cNvPr>
          <p:cNvGrpSpPr/>
          <p:nvPr/>
        </p:nvGrpSpPr>
        <p:grpSpPr>
          <a:xfrm>
            <a:off x="650415" y="1372015"/>
            <a:ext cx="4858288" cy="4858288"/>
            <a:chOff x="3415423" y="748423"/>
            <a:chExt cx="5361153" cy="5361153"/>
          </a:xfrm>
        </p:grpSpPr>
        <p:sp>
          <p:nvSpPr>
            <p:cNvPr id="5" name="Oval 4">
              <a:extLst>
                <a:ext uri="{FF2B5EF4-FFF2-40B4-BE49-F238E27FC236}">
                  <a16:creationId xmlns:a16="http://schemas.microsoft.com/office/drawing/2014/main" id="{CB81E57B-2015-DEEB-AF58-030153C5DF8D}"/>
                </a:ext>
              </a:extLst>
            </p:cNvPr>
            <p:cNvSpPr/>
            <p:nvPr/>
          </p:nvSpPr>
          <p:spPr>
            <a:xfrm>
              <a:off x="3415423" y="748423"/>
              <a:ext cx="5361153" cy="5361153"/>
            </a:xfrm>
            <a:prstGeom prst="ellipse">
              <a:avLst/>
            </a:prstGeom>
            <a:blipFill>
              <a:blip r:embed="rId2"/>
              <a:stretch>
                <a:fillRect l="1042" r="-104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6" name="Group 5">
              <a:extLst>
                <a:ext uri="{FF2B5EF4-FFF2-40B4-BE49-F238E27FC236}">
                  <a16:creationId xmlns:a16="http://schemas.microsoft.com/office/drawing/2014/main" id="{89EB408F-A03E-D8F2-E496-461D4D11DBAA}"/>
                </a:ext>
              </a:extLst>
            </p:cNvPr>
            <p:cNvGrpSpPr/>
            <p:nvPr/>
          </p:nvGrpSpPr>
          <p:grpSpPr>
            <a:xfrm>
              <a:off x="3595551" y="890338"/>
              <a:ext cx="5091249" cy="5078723"/>
              <a:chOff x="3595551" y="890338"/>
              <a:chExt cx="5091249" cy="5078723"/>
            </a:xfrm>
          </p:grpSpPr>
          <p:sp>
            <p:nvSpPr>
              <p:cNvPr id="7" name="Oval 6">
                <a:extLst>
                  <a:ext uri="{FF2B5EF4-FFF2-40B4-BE49-F238E27FC236}">
                    <a16:creationId xmlns:a16="http://schemas.microsoft.com/office/drawing/2014/main" id="{12B7A29E-1A85-2BDE-7412-E8C2D8C7BC8F}"/>
                  </a:ext>
                </a:extLst>
              </p:cNvPr>
              <p:cNvSpPr/>
              <p:nvPr/>
            </p:nvSpPr>
            <p:spPr>
              <a:xfrm>
                <a:off x="3608076" y="890338"/>
                <a:ext cx="5078724" cy="5078723"/>
              </a:xfrm>
              <a:prstGeom prst="ellipse">
                <a:avLst/>
              </a:prstGeom>
              <a:solidFill>
                <a:srgbClr val="CC0000">
                  <a:alpha val="58000"/>
                </a:srgb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Title 4">
                <a:extLst>
                  <a:ext uri="{FF2B5EF4-FFF2-40B4-BE49-F238E27FC236}">
                    <a16:creationId xmlns:a16="http://schemas.microsoft.com/office/drawing/2014/main" id="{A53A525D-7BE9-3FED-CFB7-8D989873B4A4}"/>
                  </a:ext>
                </a:extLst>
              </p:cNvPr>
              <p:cNvSpPr txBox="1">
                <a:spLocks/>
              </p:cNvSpPr>
              <p:nvPr/>
            </p:nvSpPr>
            <p:spPr>
              <a:xfrm>
                <a:off x="3595551" y="2821302"/>
                <a:ext cx="5078723" cy="1325563"/>
              </a:xfrm>
              <a:prstGeom prst="rect">
                <a:avLst/>
              </a:prstGeom>
            </p:spPr>
            <p:txBody>
              <a:bodyPr anchor="ctr" anchorCtr="1">
                <a:noAutofit/>
              </a:bodyPr>
              <a:lstStyle>
                <a:lvl1pPr algn="l" defTabSz="914377" rtl="0" eaLnBrk="1" latinLnBrk="0" hangingPunct="1">
                  <a:lnSpc>
                    <a:spcPct val="90000"/>
                  </a:lnSpc>
                  <a:spcBef>
                    <a:spcPct val="0"/>
                  </a:spcBef>
                  <a:buNone/>
                  <a:defRPr sz="4000" b="1" kern="1200">
                    <a:solidFill>
                      <a:schemeClr val="tx1"/>
                    </a:solidFill>
                    <a:latin typeface="Roboto" panose="02000000000000000000" pitchFamily="2" charset="0"/>
                    <a:ea typeface="Roboto" panose="02000000000000000000" pitchFamily="2" charset="0"/>
                    <a:cs typeface="+mj-cs"/>
                  </a:defRPr>
                </a:lvl1pPr>
              </a:lstStyle>
              <a:p>
                <a:pPr algn="ctr"/>
                <a:r>
                  <a:rPr lang="en-US" sz="4400" dirty="0">
                    <a:solidFill>
                      <a:schemeClr val="bg1"/>
                    </a:solidFill>
                  </a:rPr>
                  <a:t>InCorp’s Strengths and Differentiators</a:t>
                </a:r>
              </a:p>
            </p:txBody>
          </p:sp>
        </p:grpSp>
      </p:grpSp>
    </p:spTree>
    <p:extLst>
      <p:ext uri="{BB962C8B-B14F-4D97-AF65-F5344CB8AC3E}">
        <p14:creationId xmlns:p14="http://schemas.microsoft.com/office/powerpoint/2010/main" val="30687282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60137" y="84968"/>
            <a:ext cx="0" cy="724696"/>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2741" y="74811"/>
            <a:ext cx="335632" cy="724696"/>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3598" dirty="0"/>
          </a:p>
        </p:txBody>
      </p:sp>
      <p:sp>
        <p:nvSpPr>
          <p:cNvPr id="6" name="Google Shape;190;p2">
            <a:extLst>
              <a:ext uri="{FF2B5EF4-FFF2-40B4-BE49-F238E27FC236}">
                <a16:creationId xmlns:a16="http://schemas.microsoft.com/office/drawing/2014/main" id="{0CB029FE-F2F6-C274-60B2-405C5E12C0A1}"/>
              </a:ext>
            </a:extLst>
          </p:cNvPr>
          <p:cNvSpPr txBox="1"/>
          <p:nvPr/>
        </p:nvSpPr>
        <p:spPr>
          <a:xfrm>
            <a:off x="607385" y="186957"/>
            <a:ext cx="8421551" cy="505440"/>
          </a:xfrm>
          <a:prstGeom prst="rect">
            <a:avLst/>
          </a:prstGeom>
          <a:noFill/>
          <a:ln>
            <a:noFill/>
          </a:ln>
        </p:spPr>
        <p:txBody>
          <a:bodyPr spcFirstLastPara="1" wrap="square" lIns="89093" tIns="44536" rIns="89093" bIns="44536" anchor="t" anchorCtr="0">
            <a:spAutoFit/>
          </a:bodyPr>
          <a:lstStyle/>
          <a:p>
            <a:pPr defTabSz="891094">
              <a:buClr>
                <a:srgbClr val="000000"/>
              </a:buClr>
              <a:defRPr/>
            </a:pPr>
            <a:r>
              <a:rPr lang="en-US" sz="2700" b="1" kern="0" dirty="0">
                <a:solidFill>
                  <a:prstClr val="black">
                    <a:lumMod val="75000"/>
                    <a:lumOff val="25000"/>
                  </a:prstClr>
                </a:solidFill>
                <a:highlight>
                  <a:srgbClr val="FFFF00"/>
                </a:highlight>
                <a:latin typeface="Roboto" panose="02000000000000000000" pitchFamily="2" charset="0"/>
                <a:ea typeface="Roboto" panose="02000000000000000000" pitchFamily="2" charset="0"/>
                <a:cs typeface="Roboto"/>
                <a:sym typeface="Roboto"/>
              </a:rPr>
              <a:t>InCorp’s Strengths and Differentiators</a:t>
            </a:r>
            <a:endParaRPr lang="en-US" sz="2200" b="1" kern="0" dirty="0">
              <a:solidFill>
                <a:prstClr val="black">
                  <a:lumMod val="75000"/>
                  <a:lumOff val="25000"/>
                </a:prstClr>
              </a:solidFill>
              <a:highlight>
                <a:srgbClr val="FFFF00"/>
              </a:highlight>
              <a:latin typeface="Roboto" panose="02000000000000000000" pitchFamily="2" charset="0"/>
              <a:ea typeface="Roboto" panose="02000000000000000000" pitchFamily="2" charset="0"/>
              <a:cs typeface="Roboto"/>
              <a:sym typeface="Roboto"/>
            </a:endParaRPr>
          </a:p>
        </p:txBody>
      </p:sp>
      <p:pic>
        <p:nvPicPr>
          <p:cNvPr id="4098" name="Picture 2" descr="Business growth and strategy concept illustration">
            <a:extLst>
              <a:ext uri="{FF2B5EF4-FFF2-40B4-BE49-F238E27FC236}">
                <a16:creationId xmlns:a16="http://schemas.microsoft.com/office/drawing/2014/main" id="{35337966-39BA-A4FE-6F28-9F60AD11D0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968" t="7082" r="8118" b="5406"/>
          <a:stretch/>
        </p:blipFill>
        <p:spPr bwMode="auto">
          <a:xfrm>
            <a:off x="858300" y="5092933"/>
            <a:ext cx="1410199" cy="10440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B2AEB5CA-CDDA-3558-700A-91E8784ED062}"/>
              </a:ext>
            </a:extLst>
          </p:cNvPr>
          <p:cNvGraphicFramePr>
            <a:graphicFrameLocks noGrp="1"/>
          </p:cNvGraphicFramePr>
          <p:nvPr>
            <p:extLst>
              <p:ext uri="{D42A27DB-BD31-4B8C-83A1-F6EECF244321}">
                <p14:modId xmlns:p14="http://schemas.microsoft.com/office/powerpoint/2010/main" val="1300021928"/>
              </p:ext>
            </p:extLst>
          </p:nvPr>
        </p:nvGraphicFramePr>
        <p:xfrm>
          <a:off x="2447925" y="1000164"/>
          <a:ext cx="9400774" cy="5206302"/>
        </p:xfrm>
        <a:graphic>
          <a:graphicData uri="http://schemas.openxmlformats.org/drawingml/2006/table">
            <a:tbl>
              <a:tblPr firstRow="1" bandRow="1">
                <a:tableStyleId>{5940675A-B579-460E-94D1-54222C63F5DA}</a:tableStyleId>
              </a:tblPr>
              <a:tblGrid>
                <a:gridCol w="9400774">
                  <a:extLst>
                    <a:ext uri="{9D8B030D-6E8A-4147-A177-3AD203B41FA5}">
                      <a16:colId xmlns:a16="http://schemas.microsoft.com/office/drawing/2014/main" val="3828256071"/>
                    </a:ext>
                  </a:extLst>
                </a:gridCol>
              </a:tblGrid>
              <a:tr h="1277168">
                <a:tc>
                  <a:txBody>
                    <a:bodyPr/>
                    <a:lstStyle/>
                    <a:p>
                      <a:pPr algn="just"/>
                      <a:r>
                        <a:rPr lang="en-US" sz="1600" dirty="0">
                          <a:latin typeface="Roboto" panose="02000000000000000000" pitchFamily="2" charset="0"/>
                          <a:ea typeface="Roboto" panose="02000000000000000000" pitchFamily="2" charset="0"/>
                          <a:cs typeface="Roboto" panose="02000000000000000000" pitchFamily="2" charset="0"/>
                        </a:rPr>
                        <a:t>InCorp has served over 30 Charities/IPCs and 12 Welfare Homes over the last five years. As such, the firm and service team have institutional knowledge of the code of governance and operations for Charities/IPCs and Welfare Homes.</a:t>
                      </a:r>
                    </a:p>
                  </a:txBody>
                  <a:tcPr marL="91416" marR="91416" marT="45708" marB="45708"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4042140"/>
                  </a:ext>
                </a:extLst>
              </a:tr>
              <a:tr h="1123093">
                <a:tc>
                  <a:txBody>
                    <a:bodyPr/>
                    <a:lstStyle/>
                    <a:p>
                      <a:pPr algn="just"/>
                      <a:r>
                        <a:rPr lang="en-SG" sz="1600" dirty="0">
                          <a:latin typeface="Roboto" panose="02000000000000000000" pitchFamily="2" charset="0"/>
                          <a:ea typeface="Roboto" panose="02000000000000000000" pitchFamily="2" charset="0"/>
                          <a:cs typeface="Roboto" panose="02000000000000000000" pitchFamily="2" charset="0"/>
                        </a:rPr>
                        <a:t>InCorp has supported the Institute of Internal Auditors (IIA) for the Charity Transparency Awards (CTA) assessment validations in 2020, 2022 and 2024.</a:t>
                      </a:r>
                    </a:p>
                  </a:txBody>
                  <a:tcPr marL="91416" marR="91416" marT="45708" marB="45708"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44094047"/>
                  </a:ext>
                </a:extLst>
              </a:tr>
              <a:tr h="1495425">
                <a:tc>
                  <a:txBody>
                    <a:bodyPr/>
                    <a:lstStyle/>
                    <a:p>
                      <a:pPr algn="just"/>
                      <a:r>
                        <a:rPr lang="en-US" sz="1600" dirty="0">
                          <a:latin typeface="Roboto" panose="02000000000000000000" pitchFamily="2" charset="0"/>
                          <a:ea typeface="Roboto" panose="02000000000000000000" pitchFamily="2" charset="0"/>
                          <a:cs typeface="Roboto" panose="02000000000000000000" pitchFamily="2" charset="0"/>
                        </a:rPr>
                        <a:t>InCorp utilises data analytics and visualisation tools such as TeamMate Analytics and PowerBI for improved understanding of the data and communication.</a:t>
                      </a:r>
                      <a:endParaRPr lang="en-SG" sz="1600" dirty="0">
                        <a:latin typeface="Roboto" panose="02000000000000000000" pitchFamily="2" charset="0"/>
                        <a:ea typeface="Roboto" panose="02000000000000000000" pitchFamily="2" charset="0"/>
                        <a:cs typeface="Roboto" panose="02000000000000000000" pitchFamily="2" charset="0"/>
                      </a:endParaRPr>
                    </a:p>
                  </a:txBody>
                  <a:tcPr marL="91416" marR="91416" marT="45708" marB="45708"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42179665"/>
                  </a:ext>
                </a:extLst>
              </a:tr>
              <a:tr h="94485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dirty="0">
                          <a:latin typeface="Roboto" panose="02000000000000000000" pitchFamily="2" charset="0"/>
                          <a:ea typeface="Roboto" panose="02000000000000000000" pitchFamily="2" charset="0"/>
                          <a:cs typeface="Roboto" panose="02000000000000000000" pitchFamily="2" charset="0"/>
                        </a:rPr>
                        <a:t>InCorp has been appointed to the ISCA Charities Anti-Money Laundering and Countering the Financing of Terrorism (AML/CFT) Services Panel in October 2024. In collaboration with the Office of the Commissioner of Charities, ISCA set up a Charities Anti-Money Laundering and Countering the Financing of Terrorism (AML/CFT) Services Panel to provide charities with subsidised services to help strengthen their AML/CFT measures.</a:t>
                      </a:r>
                    </a:p>
                  </a:txBody>
                  <a:tcPr marL="91416" marR="91416" marT="45708" marB="45708"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9938143"/>
                  </a:ext>
                </a:extLst>
              </a:tr>
            </a:tbl>
          </a:graphicData>
        </a:graphic>
      </p:graphicFrame>
      <p:pic>
        <p:nvPicPr>
          <p:cNvPr id="8" name="Picture 7">
            <a:extLst>
              <a:ext uri="{FF2B5EF4-FFF2-40B4-BE49-F238E27FC236}">
                <a16:creationId xmlns:a16="http://schemas.microsoft.com/office/drawing/2014/main" id="{380C1309-0959-7BB8-1EF0-DF3412D982CB}"/>
              </a:ext>
            </a:extLst>
          </p:cNvPr>
          <p:cNvPicPr>
            <a:picLocks noChangeAspect="1"/>
          </p:cNvPicPr>
          <p:nvPr/>
        </p:nvPicPr>
        <p:blipFill>
          <a:blip r:embed="rId3">
            <a:extLst>
              <a:ext uri="{28A0092B-C50C-407E-A947-70E740481C1C}">
                <a14:useLocalDpi xmlns:a14="http://schemas.microsoft.com/office/drawing/2010/main" val="0"/>
              </a:ext>
            </a:extLst>
          </a:blip>
          <a:srcRect l="12273" t="5271" r="10341" b="2679"/>
          <a:stretch/>
        </p:blipFill>
        <p:spPr>
          <a:xfrm>
            <a:off x="783399" y="1204230"/>
            <a:ext cx="1273384" cy="851384"/>
          </a:xfrm>
          <a:prstGeom prst="rect">
            <a:avLst/>
          </a:prstGeom>
        </p:spPr>
      </p:pic>
      <p:pic>
        <p:nvPicPr>
          <p:cNvPr id="4100" name="Picture 4" descr="Online courses and tutorials illustration concept background">
            <a:extLst>
              <a:ext uri="{FF2B5EF4-FFF2-40B4-BE49-F238E27FC236}">
                <a16:creationId xmlns:a16="http://schemas.microsoft.com/office/drawing/2014/main" id="{2E628FC6-0F63-D995-B3B6-6BEF758CAA5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305" t="11888" r="22902" b="12572"/>
          <a:stretch/>
        </p:blipFill>
        <p:spPr bwMode="auto">
          <a:xfrm>
            <a:off x="842963" y="2393465"/>
            <a:ext cx="1273384" cy="103553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Business audit. Financial specialist cartoon character with magnifier. Examination of statistical graphic information. Statistics, diagram, chart. Vector isolated concept metaphor illustration">
            <a:extLst>
              <a:ext uri="{FF2B5EF4-FFF2-40B4-BE49-F238E27FC236}">
                <a16:creationId xmlns:a16="http://schemas.microsoft.com/office/drawing/2014/main" id="{14F0ECDE-CC3A-7E0E-4865-92942708420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931" t="7480" r="6549" b="8350"/>
          <a:stretch/>
        </p:blipFill>
        <p:spPr bwMode="auto">
          <a:xfrm>
            <a:off x="948596" y="3717864"/>
            <a:ext cx="1041512" cy="1037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485348"/>
      </p:ext>
    </p:extLst>
  </p:cSld>
  <p:clrMapOvr>
    <a:masterClrMapping/>
  </p:clrMapOvr>
  <p:transition spd="slow">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7BB75-9C0F-235D-A9E1-3EE76B1367F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FA797758-97FC-2CA8-B465-D3B37FEDC93C}"/>
              </a:ext>
            </a:extLst>
          </p:cNvPr>
          <p:cNvGrpSpPr/>
          <p:nvPr/>
        </p:nvGrpSpPr>
        <p:grpSpPr>
          <a:xfrm>
            <a:off x="650415" y="1372015"/>
            <a:ext cx="4858288" cy="4858288"/>
            <a:chOff x="3415423" y="748423"/>
            <a:chExt cx="5361153" cy="5361153"/>
          </a:xfrm>
        </p:grpSpPr>
        <p:sp>
          <p:nvSpPr>
            <p:cNvPr id="5" name="Oval 4">
              <a:extLst>
                <a:ext uri="{FF2B5EF4-FFF2-40B4-BE49-F238E27FC236}">
                  <a16:creationId xmlns:a16="http://schemas.microsoft.com/office/drawing/2014/main" id="{844D2F8D-19E6-9128-1F05-264CDD7B35EB}"/>
                </a:ext>
              </a:extLst>
            </p:cNvPr>
            <p:cNvSpPr/>
            <p:nvPr/>
          </p:nvSpPr>
          <p:spPr>
            <a:xfrm>
              <a:off x="3415423" y="748423"/>
              <a:ext cx="5361153" cy="5361153"/>
            </a:xfrm>
            <a:prstGeom prst="ellipse">
              <a:avLst/>
            </a:prstGeom>
            <a:blipFill>
              <a:blip r:embed="rId2"/>
              <a:stretch>
                <a:fillRect l="1042" r="-104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6" name="Group 5">
              <a:extLst>
                <a:ext uri="{FF2B5EF4-FFF2-40B4-BE49-F238E27FC236}">
                  <a16:creationId xmlns:a16="http://schemas.microsoft.com/office/drawing/2014/main" id="{0D9CD4D4-C44A-3B67-71C4-179939B3BB3E}"/>
                </a:ext>
              </a:extLst>
            </p:cNvPr>
            <p:cNvGrpSpPr/>
            <p:nvPr/>
          </p:nvGrpSpPr>
          <p:grpSpPr>
            <a:xfrm>
              <a:off x="3608076" y="890338"/>
              <a:ext cx="5123612" cy="5078723"/>
              <a:chOff x="3608076" y="890338"/>
              <a:chExt cx="5123612" cy="5078723"/>
            </a:xfrm>
          </p:grpSpPr>
          <p:sp>
            <p:nvSpPr>
              <p:cNvPr id="7" name="Oval 6">
                <a:extLst>
                  <a:ext uri="{FF2B5EF4-FFF2-40B4-BE49-F238E27FC236}">
                    <a16:creationId xmlns:a16="http://schemas.microsoft.com/office/drawing/2014/main" id="{0D1A014D-CD91-F7D6-A40A-45A26CCDB9FD}"/>
                  </a:ext>
                </a:extLst>
              </p:cNvPr>
              <p:cNvSpPr/>
              <p:nvPr/>
            </p:nvSpPr>
            <p:spPr>
              <a:xfrm>
                <a:off x="3608076" y="890338"/>
                <a:ext cx="5078724" cy="5078723"/>
              </a:xfrm>
              <a:prstGeom prst="ellipse">
                <a:avLst/>
              </a:prstGeom>
              <a:solidFill>
                <a:srgbClr val="CC0000">
                  <a:alpha val="58000"/>
                </a:srgb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Title 4">
                <a:extLst>
                  <a:ext uri="{FF2B5EF4-FFF2-40B4-BE49-F238E27FC236}">
                    <a16:creationId xmlns:a16="http://schemas.microsoft.com/office/drawing/2014/main" id="{E82DB8D4-EEE8-B70B-560A-F5EB6437999C}"/>
                  </a:ext>
                </a:extLst>
              </p:cNvPr>
              <p:cNvSpPr txBox="1">
                <a:spLocks/>
              </p:cNvSpPr>
              <p:nvPr/>
            </p:nvSpPr>
            <p:spPr>
              <a:xfrm>
                <a:off x="3652965" y="2705682"/>
                <a:ext cx="5078723" cy="1773653"/>
              </a:xfrm>
              <a:prstGeom prst="rect">
                <a:avLst/>
              </a:prstGeom>
            </p:spPr>
            <p:txBody>
              <a:bodyPr anchor="ctr" anchorCtr="1">
                <a:noAutofit/>
              </a:bodyPr>
              <a:lstStyle>
                <a:lvl1pPr algn="l" defTabSz="914377" rtl="0" eaLnBrk="1" latinLnBrk="0" hangingPunct="1">
                  <a:lnSpc>
                    <a:spcPct val="90000"/>
                  </a:lnSpc>
                  <a:spcBef>
                    <a:spcPct val="0"/>
                  </a:spcBef>
                  <a:buNone/>
                  <a:defRPr sz="4000" b="1" kern="1200">
                    <a:solidFill>
                      <a:schemeClr val="tx1"/>
                    </a:solidFill>
                    <a:latin typeface="Roboto" panose="02000000000000000000" pitchFamily="2" charset="0"/>
                    <a:ea typeface="Roboto" panose="02000000000000000000" pitchFamily="2" charset="0"/>
                    <a:cs typeface="+mj-cs"/>
                  </a:defRPr>
                </a:lvl1pPr>
              </a:lstStyle>
              <a:p>
                <a:pPr algn="ctr"/>
                <a:r>
                  <a:rPr lang="en-US" sz="4400" dirty="0">
                    <a:solidFill>
                      <a:schemeClr val="bg1"/>
                    </a:solidFill>
                  </a:rPr>
                  <a:t>Value-added Services</a:t>
                </a:r>
              </a:p>
            </p:txBody>
          </p:sp>
        </p:grpSp>
      </p:grpSp>
    </p:spTree>
    <p:extLst>
      <p:ext uri="{BB962C8B-B14F-4D97-AF65-F5344CB8AC3E}">
        <p14:creationId xmlns:p14="http://schemas.microsoft.com/office/powerpoint/2010/main" val="412849739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5BDC61-7623-CACD-29CB-5AAC412872F5}"/>
              </a:ext>
            </a:extLst>
          </p:cNvPr>
          <p:cNvCxnSpPr>
            <a:cxnSpLocks/>
          </p:cNvCxnSpPr>
          <p:nvPr/>
        </p:nvCxnSpPr>
        <p:spPr>
          <a:xfrm>
            <a:off x="458669" y="84096"/>
            <a:ext cx="0" cy="724885"/>
          </a:xfrm>
          <a:prstGeom prst="line">
            <a:avLst/>
          </a:prstGeom>
          <a:ln w="76200">
            <a:solidFill>
              <a:srgbClr val="2F465A"/>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4D0334D-64F3-8037-984E-290FC0C2B6F7}"/>
              </a:ext>
            </a:extLst>
          </p:cNvPr>
          <p:cNvSpPr/>
          <p:nvPr/>
        </p:nvSpPr>
        <p:spPr>
          <a:xfrm>
            <a:off x="-24335" y="73936"/>
            <a:ext cx="335719" cy="724885"/>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SG" sz="3599"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BC48AC2C-3844-F15A-CDB8-F5B3E5782E16}"/>
              </a:ext>
            </a:extLst>
          </p:cNvPr>
          <p:cNvSpPr txBox="1"/>
          <p:nvPr/>
        </p:nvSpPr>
        <p:spPr>
          <a:xfrm>
            <a:off x="3913282" y="974613"/>
            <a:ext cx="8143876" cy="4355038"/>
          </a:xfrm>
          <a:prstGeom prst="rect">
            <a:avLst/>
          </a:prstGeom>
          <a:noFill/>
        </p:spPr>
        <p:txBody>
          <a:bodyPr wrap="square" rtlCol="0">
            <a:spAutoFit/>
          </a:bodyPr>
          <a:lstStyle/>
          <a:p>
            <a:r>
              <a:rPr lang="en-US" b="1" dirty="0">
                <a:latin typeface="Roboto" panose="02000000000000000000" pitchFamily="2" charset="0"/>
                <a:ea typeface="Roboto" panose="02000000000000000000" pitchFamily="2" charset="0"/>
                <a:cs typeface="Roboto" panose="02000000000000000000" pitchFamily="2" charset="0"/>
              </a:rPr>
              <a:t>Advisory of Emerging Risks for Charities and Controls to Mitigate Identified Risks</a:t>
            </a:r>
          </a:p>
          <a:p>
            <a:endParaRPr lang="en-US" sz="1000" dirty="0">
              <a:latin typeface="Roboto" panose="02000000000000000000" pitchFamily="2" charset="0"/>
              <a:ea typeface="Roboto" panose="02000000000000000000" pitchFamily="2" charset="0"/>
              <a:cs typeface="Roboto" panose="02000000000000000000" pitchFamily="2" charset="0"/>
            </a:endParaRPr>
          </a:p>
          <a:p>
            <a:pPr marL="1076325" lvl="1" indent="-361950">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Identify emerging risks specific to the religious sector (financial, governance, reputational, operational, and external).</a:t>
            </a:r>
          </a:p>
          <a:p>
            <a:pPr marL="714375" lvl="1">
              <a:lnSpc>
                <a:spcPct val="200000"/>
              </a:lnSpc>
            </a:pPr>
            <a:endParaRPr lang="en-US" dirty="0">
              <a:latin typeface="Roboto" panose="02000000000000000000" pitchFamily="2" charset="0"/>
              <a:ea typeface="Roboto" panose="02000000000000000000" pitchFamily="2" charset="0"/>
              <a:cs typeface="Roboto" panose="02000000000000000000" pitchFamily="2" charset="0"/>
            </a:endParaRPr>
          </a:p>
          <a:p>
            <a:pPr marL="1076325" lvl="1" indent="-361950">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Assess current control frameworks and benchmark them against best practices.</a:t>
            </a:r>
          </a:p>
          <a:p>
            <a:pPr marL="1076325" lvl="1" indent="-361950">
              <a:lnSpc>
                <a:spcPct val="200000"/>
              </a:lnSpc>
              <a:buFont typeface="Courier New" panose="02070309020205020404" pitchFamily="49" charset="0"/>
              <a:buChar char="o"/>
            </a:pPr>
            <a:endParaRPr lang="en-US" dirty="0">
              <a:latin typeface="Roboto" panose="02000000000000000000" pitchFamily="2" charset="0"/>
              <a:ea typeface="Roboto" panose="02000000000000000000" pitchFamily="2" charset="0"/>
              <a:cs typeface="Roboto" panose="02000000000000000000" pitchFamily="2" charset="0"/>
            </a:endParaRPr>
          </a:p>
          <a:p>
            <a:pPr marL="1076325" lvl="1" indent="-361950">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Advise Board, Audit Committee and Management on key emerging risks and controls.</a:t>
            </a:r>
          </a:p>
        </p:txBody>
      </p:sp>
      <p:sp>
        <p:nvSpPr>
          <p:cNvPr id="5" name="Rectangle 4">
            <a:extLst>
              <a:ext uri="{FF2B5EF4-FFF2-40B4-BE49-F238E27FC236}">
                <a16:creationId xmlns:a16="http://schemas.microsoft.com/office/drawing/2014/main" id="{C5555A79-7829-4102-7A2F-2B35F9E94C53}"/>
              </a:ext>
            </a:extLst>
          </p:cNvPr>
          <p:cNvSpPr>
            <a:spLocks noChangeArrowheads="1"/>
          </p:cNvSpPr>
          <p:nvPr/>
        </p:nvSpPr>
        <p:spPr bwMode="auto">
          <a:xfrm>
            <a:off x="527256" y="246483"/>
            <a:ext cx="111374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6699"/>
              </a:buClr>
              <a:buFont typeface="Wingdings" panose="05000000000000000000" pitchFamily="2" charset="2"/>
              <a:buChar char="§"/>
              <a:defRPr sz="3200">
                <a:solidFill>
                  <a:schemeClr val="tx1"/>
                </a:solidFill>
                <a:latin typeface="Times New Roman" panose="02020603050405020304" pitchFamily="18" charset="0"/>
              </a:defRPr>
            </a:lvl1pPr>
            <a:lvl2pPr marL="742950" indent="-285750">
              <a:spcBef>
                <a:spcPct val="20000"/>
              </a:spcBef>
              <a:buClr>
                <a:srgbClr val="336699"/>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rgbClr val="336699"/>
              </a:buClr>
              <a:buFont typeface="Wingdings" panose="05000000000000000000" pitchFamily="2" charset="2"/>
              <a:buChar char="§"/>
              <a:defRPr sz="2800">
                <a:solidFill>
                  <a:schemeClr val="tx1"/>
                </a:solidFill>
                <a:latin typeface="Times New Roman" panose="02020603050405020304" pitchFamily="18" charset="0"/>
              </a:defRPr>
            </a:lvl3pPr>
            <a:lvl4pPr marL="1600200" indent="-228600">
              <a:spcBef>
                <a:spcPct val="20000"/>
              </a:spcBef>
              <a:buClr>
                <a:srgbClr val="336699"/>
              </a:buClr>
              <a:buFont typeface="Wingdings" panose="05000000000000000000" pitchFamily="2" charset="2"/>
              <a:buChar char="§"/>
              <a:defRPr sz="2400">
                <a:solidFill>
                  <a:schemeClr val="tx1"/>
                </a:solidFill>
                <a:latin typeface="Times New Roman" panose="02020603050405020304" pitchFamily="18" charset="0"/>
              </a:defRPr>
            </a:lvl4pPr>
            <a:lvl5pPr marL="2057400" indent="-228600">
              <a:spcBef>
                <a:spcPct val="20000"/>
              </a:spcBef>
              <a:buClr>
                <a:srgbClr val="336699"/>
              </a:buClr>
              <a:buFont typeface="Wingdings" panose="05000000000000000000" pitchFamily="2" charset="2"/>
              <a:buChar char="§"/>
              <a:defRPr sz="24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rgbClr val="336699"/>
              </a:buClr>
              <a:buFont typeface="Wingdings" panose="05000000000000000000" pitchFamily="2" charset="2"/>
              <a:buChar char="§"/>
              <a:defRPr sz="24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rgbClr val="336699"/>
              </a:buClr>
              <a:buFont typeface="Wingdings" panose="05000000000000000000" pitchFamily="2" charset="2"/>
              <a:buChar char="§"/>
              <a:defRPr sz="24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rgbClr val="336699"/>
              </a:buClr>
              <a:buFont typeface="Wingdings" panose="05000000000000000000" pitchFamily="2" charset="2"/>
              <a:buChar char="§"/>
              <a:defRPr sz="24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rgbClr val="336699"/>
              </a:buClr>
              <a:buFont typeface="Wingdings" panose="05000000000000000000" pitchFamily="2" charset="2"/>
              <a:buChar char="§"/>
              <a:defRPr sz="2400">
                <a:solidFill>
                  <a:schemeClr val="tx1"/>
                </a:solidFill>
                <a:latin typeface="Times New Roman" panose="02020603050405020304" pitchFamily="18" charset="0"/>
              </a:defRPr>
            </a:lvl9pPr>
          </a:lstStyle>
          <a:p>
            <a:pPr defTabSz="557213" eaLnBrk="0" hangingPunct="0">
              <a:spcBef>
                <a:spcPct val="0"/>
              </a:spcBef>
              <a:buClrTx/>
              <a:buNone/>
            </a:pPr>
            <a:r>
              <a:rPr lang="en-US" altLang="en-US" sz="2000" b="1" dirty="0">
                <a:solidFill>
                  <a:srgbClr val="2F465A"/>
                </a:solidFill>
                <a:highlight>
                  <a:srgbClr val="FFFF00"/>
                </a:highlight>
                <a:latin typeface="Roboto" panose="02000000000000000000" pitchFamily="2" charset="0"/>
                <a:ea typeface="Roboto" panose="02000000000000000000" pitchFamily="2" charset="0"/>
                <a:cs typeface="Arial" panose="020B0604020202020204" pitchFamily="34" charset="0"/>
              </a:rPr>
              <a:t>Value Added Services - Advisory </a:t>
            </a:r>
          </a:p>
        </p:txBody>
      </p:sp>
      <p:pic>
        <p:nvPicPr>
          <p:cNvPr id="7" name="Picture 6" descr="A person pushing a domino&#10;&#10;AI-generated content may be incorrect.">
            <a:extLst>
              <a:ext uri="{FF2B5EF4-FFF2-40B4-BE49-F238E27FC236}">
                <a16:creationId xmlns:a16="http://schemas.microsoft.com/office/drawing/2014/main" id="{7BA73103-47C5-D67A-6CE3-F9093A2BB2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95350"/>
            <a:ext cx="3727135" cy="5591175"/>
          </a:xfrm>
          <a:prstGeom prst="rect">
            <a:avLst/>
          </a:prstGeom>
        </p:spPr>
      </p:pic>
      <p:pic>
        <p:nvPicPr>
          <p:cNvPr id="12" name="Picture 11">
            <a:extLst>
              <a:ext uri="{FF2B5EF4-FFF2-40B4-BE49-F238E27FC236}">
                <a16:creationId xmlns:a16="http://schemas.microsoft.com/office/drawing/2014/main" id="{A56DBFCF-0C4F-0993-A8BA-780869686B0D}"/>
              </a:ext>
            </a:extLst>
          </p:cNvPr>
          <p:cNvPicPr>
            <a:picLocks noChangeAspect="1"/>
          </p:cNvPicPr>
          <p:nvPr/>
        </p:nvPicPr>
        <p:blipFill>
          <a:blip r:embed="rId3"/>
          <a:stretch>
            <a:fillRect/>
          </a:stretch>
        </p:blipFill>
        <p:spPr>
          <a:xfrm>
            <a:off x="4199033" y="1729640"/>
            <a:ext cx="831866" cy="806910"/>
          </a:xfrm>
          <a:prstGeom prst="rect">
            <a:avLst/>
          </a:prstGeom>
        </p:spPr>
      </p:pic>
      <p:pic>
        <p:nvPicPr>
          <p:cNvPr id="15" name="Picture 14">
            <a:extLst>
              <a:ext uri="{FF2B5EF4-FFF2-40B4-BE49-F238E27FC236}">
                <a16:creationId xmlns:a16="http://schemas.microsoft.com/office/drawing/2014/main" id="{C0155B29-F83F-36A7-6B03-DBC54274A3A4}"/>
              </a:ext>
            </a:extLst>
          </p:cNvPr>
          <p:cNvPicPr>
            <a:picLocks noChangeAspect="1"/>
          </p:cNvPicPr>
          <p:nvPr/>
        </p:nvPicPr>
        <p:blipFill>
          <a:blip r:embed="rId4"/>
          <a:stretch>
            <a:fillRect/>
          </a:stretch>
        </p:blipFill>
        <p:spPr>
          <a:xfrm>
            <a:off x="4199033" y="3096304"/>
            <a:ext cx="831866" cy="808323"/>
          </a:xfrm>
          <a:prstGeom prst="rect">
            <a:avLst/>
          </a:prstGeom>
        </p:spPr>
      </p:pic>
      <p:pic>
        <p:nvPicPr>
          <p:cNvPr id="18" name="Picture 17">
            <a:extLst>
              <a:ext uri="{FF2B5EF4-FFF2-40B4-BE49-F238E27FC236}">
                <a16:creationId xmlns:a16="http://schemas.microsoft.com/office/drawing/2014/main" id="{AE61111D-9174-225A-CD50-8A24054929DA}"/>
              </a:ext>
            </a:extLst>
          </p:cNvPr>
          <p:cNvPicPr>
            <a:picLocks noChangeAspect="1"/>
          </p:cNvPicPr>
          <p:nvPr/>
        </p:nvPicPr>
        <p:blipFill>
          <a:blip r:embed="rId5"/>
          <a:stretch>
            <a:fillRect/>
          </a:stretch>
        </p:blipFill>
        <p:spPr>
          <a:xfrm>
            <a:off x="4219195" y="4427738"/>
            <a:ext cx="791541" cy="806910"/>
          </a:xfrm>
          <a:prstGeom prst="rect">
            <a:avLst/>
          </a:prstGeom>
        </p:spPr>
      </p:pic>
      <p:sp>
        <p:nvSpPr>
          <p:cNvPr id="6" name="TextBox 5">
            <a:extLst>
              <a:ext uri="{FF2B5EF4-FFF2-40B4-BE49-F238E27FC236}">
                <a16:creationId xmlns:a16="http://schemas.microsoft.com/office/drawing/2014/main" id="{2D937B4A-E6A4-BE60-E6D0-AC5F5EF8F0D9}"/>
              </a:ext>
            </a:extLst>
          </p:cNvPr>
          <p:cNvSpPr txBox="1"/>
          <p:nvPr/>
        </p:nvSpPr>
        <p:spPr>
          <a:xfrm>
            <a:off x="4001647" y="5467888"/>
            <a:ext cx="7967146" cy="830997"/>
          </a:xfrm>
          <a:prstGeom prst="rect">
            <a:avLst/>
          </a:prstGeom>
          <a:noFill/>
        </p:spPr>
        <p:txBody>
          <a:bodyPr wrap="square">
            <a:spAutoFit/>
          </a:bodyPr>
          <a:lstStyle/>
          <a:p>
            <a:r>
              <a:rPr lang="en-US" sz="1600" dirty="0">
                <a:solidFill>
                  <a:srgbClr val="002060"/>
                </a:solidFill>
                <a:effectLst/>
                <a:latin typeface="Roboto" panose="02000000000000000000" pitchFamily="2" charset="0"/>
                <a:ea typeface="Roboto" panose="02000000000000000000" pitchFamily="2" charset="0"/>
                <a:cs typeface="Roboto" panose="02000000000000000000" pitchFamily="2" charset="0"/>
              </a:rPr>
              <a:t>The Advisory of Emerging Risks for Charities and Controls to Mitigate Identified Risks, as a value-added service, is to share insights about the charity environment and also learning lessons gathered from other charities.</a:t>
            </a:r>
            <a:endParaRPr lang="en-SG" sz="1600" dirty="0">
              <a:solidFill>
                <a:srgbClr val="002060"/>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268427083"/>
      </p:ext>
    </p:extLst>
  </p:cSld>
  <p:clrMapOvr>
    <a:masterClrMapping/>
  </p:clrMapOvr>
  <p:transition spd="slow">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AD1CE-47E7-4669-A2A3-10112AAF8A67}"/>
              </a:ext>
            </a:extLst>
          </p:cNvPr>
          <p:cNvSpPr>
            <a:spLocks noGrp="1"/>
          </p:cNvSpPr>
          <p:nvPr>
            <p:ph type="title"/>
          </p:nvPr>
        </p:nvSpPr>
        <p:spPr>
          <a:xfrm>
            <a:off x="761010" y="2910380"/>
            <a:ext cx="3561608" cy="664093"/>
          </a:xfrm>
        </p:spPr>
        <p:txBody>
          <a:bodyPr/>
          <a:lstStyle/>
          <a:p>
            <a:r>
              <a:rPr lang="en-IN" dirty="0"/>
              <a:t>Thank You!</a:t>
            </a:r>
          </a:p>
        </p:txBody>
      </p:sp>
      <p:sp>
        <p:nvSpPr>
          <p:cNvPr id="5" name="TextBox 4">
            <a:extLst>
              <a:ext uri="{FF2B5EF4-FFF2-40B4-BE49-F238E27FC236}">
                <a16:creationId xmlns:a16="http://schemas.microsoft.com/office/drawing/2014/main" id="{5D33F9E9-F0F1-7EBF-F55E-79341F0F5459}"/>
              </a:ext>
            </a:extLst>
          </p:cNvPr>
          <p:cNvSpPr txBox="1"/>
          <p:nvPr/>
        </p:nvSpPr>
        <p:spPr>
          <a:xfrm>
            <a:off x="840210" y="3947620"/>
            <a:ext cx="4401182" cy="646331"/>
          </a:xfrm>
          <a:prstGeom prst="rect">
            <a:avLst/>
          </a:prstGeom>
          <a:noFill/>
        </p:spPr>
        <p:txBody>
          <a:bodyPr wrap="square">
            <a:spAutoFit/>
          </a:bodyPr>
          <a:lstStyle/>
          <a:p>
            <a:r>
              <a:rPr lang="en-US" dirty="0">
                <a:solidFill>
                  <a:schemeClr val="bg1"/>
                </a:solidFill>
                <a:latin typeface="Roboto Medium" panose="02000000000000000000" pitchFamily="2" charset="0"/>
                <a:ea typeface="Roboto Medium" panose="02000000000000000000" pitchFamily="2" charset="0"/>
              </a:rPr>
              <a:t>Group HQ’s website</a:t>
            </a:r>
          </a:p>
          <a:p>
            <a:r>
              <a:rPr lang="en-SG" u="sng" dirty="0">
                <a:solidFill>
                  <a:srgbClr val="E60000"/>
                </a:solidFill>
                <a:latin typeface="Roboto" panose="02000000000000000000" pitchFamily="2" charset="0"/>
                <a:ea typeface="Roboto" panose="02000000000000000000" pitchFamily="2" charset="0"/>
                <a:hlinkClick r:id="rId2">
                  <a:extLst>
                    <a:ext uri="{A12FA001-AC4F-418D-AE19-62706E023703}">
                      <ahyp:hlinkClr xmlns:ahyp="http://schemas.microsoft.com/office/drawing/2018/hyperlinkcolor" val="tx"/>
                    </a:ext>
                  </a:extLst>
                </a:hlinkClick>
              </a:rPr>
              <a:t>www.incorp.asia</a:t>
            </a:r>
            <a:endParaRPr lang="en-SG" u="sng" dirty="0">
              <a:solidFill>
                <a:srgbClr val="E60000"/>
              </a:solidFill>
              <a:latin typeface="Roboto" panose="02000000000000000000" pitchFamily="2" charset="0"/>
              <a:ea typeface="Roboto" panose="02000000000000000000" pitchFamily="2" charset="0"/>
            </a:endParaRPr>
          </a:p>
        </p:txBody>
      </p:sp>
      <p:pic>
        <p:nvPicPr>
          <p:cNvPr id="3" name="Picture 2">
            <a:extLst>
              <a:ext uri="{FF2B5EF4-FFF2-40B4-BE49-F238E27FC236}">
                <a16:creationId xmlns:a16="http://schemas.microsoft.com/office/drawing/2014/main" id="{BECC167D-0DC2-4D2A-636F-72B8FBF23719}"/>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739738" y="893057"/>
            <a:ext cx="2122230" cy="915196"/>
          </a:xfrm>
          <a:prstGeom prst="rect">
            <a:avLst/>
          </a:prstGeom>
        </p:spPr>
      </p:pic>
    </p:spTree>
    <p:extLst>
      <p:ext uri="{BB962C8B-B14F-4D97-AF65-F5344CB8AC3E}">
        <p14:creationId xmlns:p14="http://schemas.microsoft.com/office/powerpoint/2010/main" val="108963878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up)">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theme/theme1.xml><?xml version="1.0" encoding="utf-8"?>
<a:theme xmlns:a="http://schemas.openxmlformats.org/drawingml/2006/main" name="Cover and Ba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18f084f-d73e-40b0-871f-c168e1ba0d73" xsi:nil="true"/>
    <lcf76f155ced4ddcb4097134ff3c332f xmlns="7c568a97-444a-4826-8ec2-29fc440c330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A4EAE74E96D3F42B6443BE2C7F23088" ma:contentTypeVersion="13" ma:contentTypeDescription="Create a new document." ma:contentTypeScope="" ma:versionID="96c7bc0970e908e34189c51148bf043d">
  <xsd:schema xmlns:xsd="http://www.w3.org/2001/XMLSchema" xmlns:xs="http://www.w3.org/2001/XMLSchema" xmlns:p="http://schemas.microsoft.com/office/2006/metadata/properties" xmlns:ns2="218f084f-d73e-40b0-871f-c168e1ba0d73" xmlns:ns3="7c568a97-444a-4826-8ec2-29fc440c3308" targetNamespace="http://schemas.microsoft.com/office/2006/metadata/properties" ma:root="true" ma:fieldsID="dc4c9f73e6724d6a13ebfc4de5ed81af" ns2:_="" ns3:_="">
    <xsd:import namespace="218f084f-d73e-40b0-871f-c168e1ba0d73"/>
    <xsd:import namespace="7c568a97-444a-4826-8ec2-29fc440c3308"/>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DateTaken" minOccurs="0"/>
                <xsd:element ref="ns3:MediaServiceGenerationTime" minOccurs="0"/>
                <xsd:element ref="ns3:MediaServiceEventHashCode" minOccurs="0"/>
                <xsd:element ref="ns3:MediaServiceOCR"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8f084f-d73e-40b0-871f-c168e1ba0d73"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3250fe67-ef96-4983-9f6c-49ff33d206a8}" ma:internalName="TaxCatchAll" ma:showField="CatchAllData" ma:web="218f084f-d73e-40b0-871f-c168e1ba0d7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c568a97-444a-4826-8ec2-29fc440c3308"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b8cb200c-6b14-4473-aeda-b6b613f45126"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731E24-CC16-4F7C-99AB-8C208D333DE7}">
  <ds:schemaRefs>
    <ds:schemaRef ds:uri="http://schemas.microsoft.com/office/2006/documentManagement/types"/>
    <ds:schemaRef ds:uri="http://purl.org/dc/terms/"/>
    <ds:schemaRef ds:uri="218f084f-d73e-40b0-871f-c168e1ba0d73"/>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7c568a97-444a-4826-8ec2-29fc440c3308"/>
    <ds:schemaRef ds:uri="http://www.w3.org/XML/1998/namespace"/>
    <ds:schemaRef ds:uri="http://purl.org/dc/dcmitype/"/>
  </ds:schemaRefs>
</ds:datastoreItem>
</file>

<file path=customXml/itemProps2.xml><?xml version="1.0" encoding="utf-8"?>
<ds:datastoreItem xmlns:ds="http://schemas.openxmlformats.org/officeDocument/2006/customXml" ds:itemID="{78D60DF4-16C8-4F17-967F-A35D7312F0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8f084f-d73e-40b0-871f-c168e1ba0d73"/>
    <ds:schemaRef ds:uri="7c568a97-444a-4826-8ec2-29fc440c330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E96D287-C110-4C35-98AE-ED0A5AAA894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34996</TotalTime>
  <Words>8150</Words>
  <Application>Microsoft Office PowerPoint</Application>
  <PresentationFormat>Widescreen</PresentationFormat>
  <Paragraphs>1176</Paragraphs>
  <Slides>60</Slides>
  <Notes>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60</vt:i4>
      </vt:variant>
    </vt:vector>
  </HeadingPairs>
  <TitlesOfParts>
    <vt:vector size="74" baseType="lpstr">
      <vt:lpstr>Poppins</vt:lpstr>
      <vt:lpstr>Arial Black</vt:lpstr>
      <vt:lpstr>Gill Sans MT</vt:lpstr>
      <vt:lpstr>Wingdings</vt:lpstr>
      <vt:lpstr>Courier New</vt:lpstr>
      <vt:lpstr>Roboto Medium</vt:lpstr>
      <vt:lpstr>Lato Light</vt:lpstr>
      <vt:lpstr>Roboto</vt:lpstr>
      <vt:lpstr>Roboto Black</vt:lpstr>
      <vt:lpstr>Open Sans Semibold</vt:lpstr>
      <vt:lpstr>Calibri</vt:lpstr>
      <vt:lpstr>Bebas Neue</vt:lpstr>
      <vt:lpstr>Arial</vt:lpstr>
      <vt:lpstr>Cover and Back</vt:lpstr>
      <vt:lpstr>PowerPoint Presentation</vt:lpstr>
      <vt:lpstr>PowerPoint Presentation</vt:lpstr>
      <vt:lpstr>PowerPoint Presentation</vt:lpstr>
      <vt:lpstr>PowerPoint Presentation</vt:lpstr>
      <vt:lpstr>InCorp Global</vt:lpstr>
      <vt:lpstr>About InCorp</vt:lpstr>
      <vt:lpstr>Why InCorp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InCorp IA Proposal</dc:title>
  <dc:creator>Dale Toloza</dc:creator>
  <cp:lastModifiedBy>Ruby Rouben</cp:lastModifiedBy>
  <cp:revision>1768</cp:revision>
  <cp:lastPrinted>2018-05-22T06:45:06Z</cp:lastPrinted>
  <dcterms:created xsi:type="dcterms:W3CDTF">2017-06-07T05:01:00Z</dcterms:created>
  <dcterms:modified xsi:type="dcterms:W3CDTF">2026-03-12T09:46:57Z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2024-04-11T08:01:02Z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c452f820-be39-479f-a6df-ec2dfc758b60</vt:lpwstr>
  </property>
  <property fmtid="{D5CDD505-2E9C-101B-9397-08002B2CF9AE}" pid="7" name="MSIP_Label_defa4170-0d19-0005-0004-bc88714345d2_ActionId">
    <vt:lpwstr>3950f872-d09d-43c4-8749-9c2e3b39e77c</vt:lpwstr>
  </property>
  <property fmtid="{D5CDD505-2E9C-101B-9397-08002B2CF9AE}" pid="8" name="MSIP_Label_defa4170-0d19-0005-0004-bc88714345d2_ContentBits">
    <vt:lpwstr>0</vt:lpwstr>
  </property>
  <property fmtid="{D5CDD505-2E9C-101B-9397-08002B2CF9AE}" pid="9" name="ContentTypeId">
    <vt:lpwstr>0x0101008A4EAE74E96D3F42B6443BE2C7F23088</vt:lpwstr>
  </property>
</Properties>
</file>